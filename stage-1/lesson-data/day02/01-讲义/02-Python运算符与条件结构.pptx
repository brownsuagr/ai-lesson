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51"/>
  </p:notesMasterIdLst>
  <p:handoutMasterIdLst>
    <p:handoutMasterId r:id="rId52"/>
  </p:handoutMasterIdLst>
  <p:sldIdLst>
    <p:sldId id="462" r:id="rId8"/>
    <p:sldId id="463" r:id="rId9"/>
    <p:sldId id="464" r:id="rId10"/>
    <p:sldId id="530" r:id="rId11"/>
    <p:sldId id="529" r:id="rId12"/>
    <p:sldId id="531" r:id="rId13"/>
    <p:sldId id="532" r:id="rId14"/>
    <p:sldId id="533" r:id="rId15"/>
    <p:sldId id="565" r:id="rId16"/>
    <p:sldId id="506" r:id="rId17"/>
    <p:sldId id="534" r:id="rId18"/>
    <p:sldId id="535" r:id="rId19"/>
    <p:sldId id="536" r:id="rId20"/>
    <p:sldId id="537" r:id="rId21"/>
    <p:sldId id="538" r:id="rId22"/>
    <p:sldId id="539" r:id="rId23"/>
    <p:sldId id="540" r:id="rId24"/>
    <p:sldId id="546" r:id="rId25"/>
    <p:sldId id="541" r:id="rId26"/>
    <p:sldId id="542" r:id="rId27"/>
    <p:sldId id="543" r:id="rId28"/>
    <p:sldId id="544" r:id="rId29"/>
    <p:sldId id="545" r:id="rId30"/>
    <p:sldId id="547" r:id="rId31"/>
    <p:sldId id="564" r:id="rId32"/>
    <p:sldId id="562" r:id="rId33"/>
    <p:sldId id="563" r:id="rId34"/>
    <p:sldId id="461" r:id="rId35"/>
    <p:sldId id="549" r:id="rId36"/>
    <p:sldId id="507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9" r:id="rId46"/>
    <p:sldId id="560" r:id="rId47"/>
    <p:sldId id="561" r:id="rId48"/>
    <p:sldId id="452" r:id="rId49"/>
    <p:sldId id="264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AD2B26"/>
    <a:srgbClr val="49504F"/>
    <a:srgbClr val="B70006"/>
    <a:srgbClr val="FFFFE4"/>
    <a:srgbClr val="919191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 autoAdjust="0"/>
    <p:restoredTop sz="90554" autoAdjust="0"/>
  </p:normalViewPr>
  <p:slideViewPr>
    <p:cSldViewPr snapToGrid="0">
      <p:cViewPr varScale="1">
        <p:scale>
          <a:sx n="78" d="100"/>
          <a:sy n="78" d="100"/>
        </p:scale>
        <p:origin x="5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26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777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370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25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968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469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379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309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639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036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Python</a:t>
            </a:r>
            <a:r>
              <a:rPr lang="zh-CN" altLang="en-US" dirty="0"/>
              <a:t>运算符与</a:t>
            </a:r>
            <a:r>
              <a:rPr lang="en-US" altLang="zh-CN" dirty="0"/>
              <a:t>if</a:t>
            </a:r>
            <a:r>
              <a:rPr lang="zh-CN" altLang="en-US" dirty="0"/>
              <a:t>判断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728180"/>
            <a:ext cx="5973761" cy="4256405"/>
          </a:xfrm>
        </p:spPr>
        <p:txBody>
          <a:bodyPr/>
          <a:lstStyle/>
          <a:p>
            <a:r>
              <a:rPr lang="zh-CN" altLang="en-US" dirty="0"/>
              <a:t>数据类型转化</a:t>
            </a:r>
            <a:endParaRPr lang="en-US" altLang="zh-CN" dirty="0"/>
          </a:p>
          <a:p>
            <a:r>
              <a:rPr lang="zh-CN" altLang="en-US" dirty="0">
                <a:solidFill>
                  <a:srgbClr val="B60206"/>
                </a:solidFill>
              </a:rPr>
              <a:t>运算符的使用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en-US" altLang="zh-CN" dirty="0">
                <a:solidFill>
                  <a:srgbClr val="B60206"/>
                </a:solidFill>
              </a:rPr>
              <a:t>if</a:t>
            </a:r>
            <a:r>
              <a:rPr lang="zh-CN" altLang="en-US" dirty="0">
                <a:solidFill>
                  <a:srgbClr val="B60206"/>
                </a:solidFill>
              </a:rPr>
              <a:t>选择结构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kumimoji="1" lang="en-US" altLang="zh-CN" dirty="0"/>
              <a:t>if</a:t>
            </a:r>
            <a:r>
              <a:rPr kumimoji="1" lang="zh-CN" altLang="en-US" dirty="0"/>
              <a:t>嵌套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B60206"/>
                </a:solidFill>
              </a:rPr>
              <a:t>案例：猜拳游戏</a:t>
            </a:r>
            <a:endParaRPr kumimoji="1" lang="en-US" altLang="zh-CN" dirty="0">
              <a:solidFill>
                <a:srgbClr val="B60206"/>
              </a:solidFill>
            </a:endParaRPr>
          </a:p>
          <a:p>
            <a:r>
              <a:rPr kumimoji="1" lang="zh-CN" altLang="en-US" dirty="0">
                <a:solidFill>
                  <a:srgbClr val="B60206"/>
                </a:solidFill>
              </a:rPr>
              <a:t>三目运算符</a:t>
            </a: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7141" y="401955"/>
            <a:ext cx="6298881" cy="4855845"/>
          </a:xfrm>
        </p:spPr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</a:rPr>
              <a:t>掌握常见数据类型转化函数及其应用</a:t>
            </a:r>
            <a:endParaRPr lang="en-US" altLang="zh-CN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rgbClr val="AD2B26"/>
                </a:solidFill>
              </a:rPr>
              <a:t>掌握常见运算符的使用</a:t>
            </a:r>
            <a:endParaRPr lang="en-US" altLang="zh-CN" dirty="0">
              <a:solidFill>
                <a:srgbClr val="AD2B26"/>
              </a:solidFill>
            </a:endParaRPr>
          </a:p>
          <a:p>
            <a:r>
              <a:rPr lang="zh-CN" altLang="en-US" dirty="0"/>
              <a:t>了解条件语句的作用</a:t>
            </a:r>
            <a:endParaRPr lang="en-US" altLang="zh-CN" dirty="0"/>
          </a:p>
          <a:p>
            <a:r>
              <a:rPr lang="zh-CN" altLang="en-US" dirty="0">
                <a:solidFill>
                  <a:srgbClr val="AD2B26"/>
                </a:solidFill>
              </a:rPr>
              <a:t>掌握</a:t>
            </a:r>
            <a:r>
              <a:rPr lang="en-US" altLang="zh-CN" dirty="0">
                <a:solidFill>
                  <a:srgbClr val="AD2B26"/>
                </a:solidFill>
              </a:rPr>
              <a:t>if</a:t>
            </a:r>
            <a:r>
              <a:rPr lang="zh-CN" altLang="en-US" dirty="0">
                <a:solidFill>
                  <a:srgbClr val="AD2B26"/>
                </a:solidFill>
              </a:rPr>
              <a:t>结构、</a:t>
            </a:r>
            <a:r>
              <a:rPr lang="en-US" altLang="zh-CN" dirty="0">
                <a:solidFill>
                  <a:srgbClr val="AD2B26"/>
                </a:solidFill>
              </a:rPr>
              <a:t>if...else…</a:t>
            </a:r>
            <a:r>
              <a:rPr lang="zh-CN" altLang="en-US" dirty="0">
                <a:solidFill>
                  <a:srgbClr val="AD2B26"/>
                </a:solidFill>
              </a:rPr>
              <a:t>结构的使用</a:t>
            </a:r>
            <a:endParaRPr lang="en-US" altLang="zh-CN" dirty="0">
              <a:solidFill>
                <a:srgbClr val="AD2B26"/>
              </a:solidFill>
            </a:endParaRPr>
          </a:p>
          <a:p>
            <a:r>
              <a:rPr lang="zh-CN" altLang="en-US" dirty="0"/>
              <a:t>掌握</a:t>
            </a:r>
            <a:r>
              <a:rPr lang="en-US" altLang="zh-CN" dirty="0"/>
              <a:t>if</a:t>
            </a:r>
            <a:r>
              <a:rPr lang="zh-CN" altLang="en-US" dirty="0"/>
              <a:t>嵌套结构</a:t>
            </a:r>
            <a:endParaRPr lang="en-US" altLang="zh-CN" dirty="0"/>
          </a:p>
          <a:p>
            <a:r>
              <a:rPr lang="zh-CN" altLang="en-US" dirty="0">
                <a:solidFill>
                  <a:srgbClr val="AD2B26"/>
                </a:solidFill>
              </a:rPr>
              <a:t>掌握三目运算符的使用</a:t>
            </a: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Python</a:t>
            </a:r>
            <a:r>
              <a:rPr kumimoji="1" lang="zh-CN" altLang="en-US" dirty="0"/>
              <a:t>数据类型转换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24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Python</a:t>
            </a:r>
            <a:r>
              <a:rPr lang="zh-CN" altLang="en-US" dirty="0"/>
              <a:t>中一共有多少种数据类型？分别是什么？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：为什么需要这么多数据类型？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答：在日常生活中，我们经常会出门买东西，每个买的商品都有自己的属性。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回顾</a:t>
            </a:r>
            <a:r>
              <a:rPr lang="en-US" altLang="zh-CN" dirty="0"/>
              <a:t>Python</a:t>
            </a:r>
            <a:r>
              <a:rPr lang="zh-CN" altLang="en-US" dirty="0"/>
              <a:t>数据类型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08" y="3492593"/>
            <a:ext cx="8179728" cy="293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7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超市收银系统案例：</a:t>
            </a:r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94" y="1457271"/>
            <a:ext cx="8462043" cy="2737244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5794" y="4445336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/>
              <a:t>name = input('</a:t>
            </a:r>
            <a:r>
              <a:rPr lang="zh-CN" altLang="en-US" sz="1400" dirty="0"/>
              <a:t>请输入您购买商品名称：</a:t>
            </a:r>
            <a:r>
              <a:rPr lang="en-US" altLang="zh-CN" sz="1400" dirty="0"/>
              <a:t>')</a:t>
            </a:r>
            <a:br>
              <a:rPr lang="en-US" altLang="zh-CN" sz="1400" dirty="0"/>
            </a:br>
            <a:r>
              <a:rPr lang="en-US" altLang="zh-CN" sz="1400" dirty="0"/>
              <a:t>id = input('</a:t>
            </a:r>
            <a:r>
              <a:rPr lang="zh-CN" altLang="en-US" sz="1400" dirty="0"/>
              <a:t>请输入您购买商品编号：</a:t>
            </a:r>
            <a:r>
              <a:rPr lang="en-US" altLang="zh-CN" sz="1400" dirty="0"/>
              <a:t>')</a:t>
            </a:r>
            <a:br>
              <a:rPr lang="en-US" altLang="zh-CN" sz="1400" dirty="0"/>
            </a:br>
            <a:r>
              <a:rPr lang="en-US" altLang="zh-CN" sz="1400" dirty="0"/>
              <a:t>price = input('</a:t>
            </a:r>
            <a:r>
              <a:rPr lang="zh-CN" altLang="en-US" sz="1400" dirty="0"/>
              <a:t>请输入您购买商品价格：</a:t>
            </a:r>
            <a:r>
              <a:rPr lang="en-US" altLang="zh-CN" sz="1400" dirty="0"/>
              <a:t>')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dirty="0"/>
              <a:t>print(f'</a:t>
            </a:r>
            <a:r>
              <a:rPr lang="zh-CN" altLang="en-US" sz="1400" dirty="0"/>
              <a:t>您购买了</a:t>
            </a:r>
            <a:r>
              <a:rPr lang="en-US" altLang="zh-CN" sz="1400" dirty="0"/>
              <a:t>{name}</a:t>
            </a:r>
            <a:r>
              <a:rPr lang="zh-CN" altLang="en-US" sz="1400" dirty="0"/>
              <a:t>，商品编号为</a:t>
            </a:r>
            <a:r>
              <a:rPr lang="en-US" altLang="zh-CN" sz="1400" dirty="0"/>
              <a:t>{id}</a:t>
            </a:r>
            <a:r>
              <a:rPr lang="zh-CN" altLang="en-US" sz="1400" dirty="0"/>
              <a:t>，商品价格为</a:t>
            </a:r>
            <a:r>
              <a:rPr lang="en-US" altLang="zh-CN" sz="1400" dirty="0"/>
              <a:t>{price}</a:t>
            </a:r>
            <a:r>
              <a:rPr lang="zh-CN" altLang="en-US" sz="1400" dirty="0"/>
              <a:t>，欢迎下次光临！</a:t>
            </a:r>
            <a:r>
              <a:rPr lang="en-US" altLang="zh-CN" sz="1400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44842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、为什么需要数据类型转换呢？</a:t>
            </a:r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863281" y="17985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问：以超市收银系统为例，</a:t>
            </a:r>
            <a:r>
              <a:rPr lang="en-US" altLang="zh-CN" dirty="0"/>
              <a:t>input()</a:t>
            </a:r>
            <a:r>
              <a:rPr lang="zh-CN" altLang="en-US" dirty="0"/>
              <a:t>接收用户输入的数据都是字符串类型，如果用户输入商品价格为</a:t>
            </a:r>
            <a:r>
              <a:rPr lang="en-US" altLang="zh-CN" dirty="0"/>
              <a:t>18.5</a:t>
            </a:r>
            <a:r>
              <a:rPr lang="zh-CN" altLang="en-US" dirty="0"/>
              <a:t>，想得到浮点型数据该如何操作呢？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</a:t>
            </a:r>
            <a:r>
              <a:rPr lang="zh-CN" altLang="en-US" dirty="0">
                <a:solidFill>
                  <a:srgbClr val="B60206"/>
                </a:solidFill>
              </a:rPr>
              <a:t>转换数据类型即可，即将字符串类型转换成浮点类型。</a:t>
            </a:r>
          </a:p>
        </p:txBody>
      </p:sp>
    </p:spTree>
    <p:extLst>
      <p:ext uri="{BB962C8B-B14F-4D97-AF65-F5344CB8AC3E}">
        <p14:creationId xmlns:p14="http://schemas.microsoft.com/office/powerpoint/2010/main" val="288330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、数据类型转换函数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766575"/>
              </p:ext>
            </p:extLst>
          </p:nvPr>
        </p:nvGraphicFramePr>
        <p:xfrm>
          <a:off x="834885" y="1556660"/>
          <a:ext cx="10823714" cy="4842725"/>
        </p:xfrm>
        <a:graphic>
          <a:graphicData uri="http://schemas.openxmlformats.org/drawingml/2006/table">
            <a:tbl>
              <a:tblPr/>
              <a:tblGrid>
                <a:gridCol w="3160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3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2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函数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说明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3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AD2B26"/>
                          </a:solidFill>
                          <a:effectLst/>
                        </a:rPr>
                        <a:t>int(x [,base ])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将</a:t>
                      </a:r>
                      <a:r>
                        <a:rPr lang="en-US" altLang="zh-CN" sz="1600" dirty="0">
                          <a:solidFill>
                            <a:srgbClr val="AD2B26"/>
                          </a:solidFill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转换为一个整数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D2B26"/>
                          </a:solidFill>
                          <a:effectLst/>
                        </a:rPr>
                        <a:t>float(x)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将</a:t>
                      </a:r>
                      <a:r>
                        <a:rPr lang="en-US" altLang="zh-CN" sz="1600" dirty="0">
                          <a:solidFill>
                            <a:srgbClr val="AD2B26"/>
                          </a:solidFill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转换为一个浮点数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complex(real [,</a:t>
                      </a:r>
                      <a:r>
                        <a:rPr lang="en-US" sz="1600" dirty="0" err="1">
                          <a:effectLst/>
                        </a:rPr>
                        <a:t>imag</a:t>
                      </a:r>
                      <a:r>
                        <a:rPr lang="en-US" sz="1600" dirty="0">
                          <a:effectLst/>
                        </a:rPr>
                        <a:t> ])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创建一个复数，</a:t>
                      </a:r>
                      <a:r>
                        <a:rPr lang="en-US" altLang="zh-CN" sz="1600" dirty="0">
                          <a:effectLst/>
                        </a:rPr>
                        <a:t>real</a:t>
                      </a:r>
                      <a:r>
                        <a:rPr lang="zh-CN" altLang="en-US" sz="1600" dirty="0">
                          <a:effectLst/>
                        </a:rPr>
                        <a:t>为实部，</a:t>
                      </a:r>
                      <a:r>
                        <a:rPr lang="en-US" altLang="zh-CN" sz="1600" dirty="0" err="1">
                          <a:effectLst/>
                        </a:rPr>
                        <a:t>imag</a:t>
                      </a:r>
                      <a:r>
                        <a:rPr lang="zh-CN" altLang="en-US" sz="1600" dirty="0">
                          <a:effectLst/>
                        </a:rPr>
                        <a:t>为虚部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AD2B26"/>
                          </a:solidFill>
                          <a:effectLst/>
                        </a:rPr>
                        <a:t>str</a:t>
                      </a:r>
                      <a:r>
                        <a:rPr lang="en-US" sz="1600" dirty="0">
                          <a:solidFill>
                            <a:srgbClr val="AD2B26"/>
                          </a:solidFill>
                          <a:effectLst/>
                        </a:rPr>
                        <a:t>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将对象 </a:t>
                      </a:r>
                      <a:r>
                        <a:rPr lang="en-US" altLang="zh-CN" sz="1600" dirty="0">
                          <a:solidFill>
                            <a:srgbClr val="AD2B26"/>
                          </a:solidFill>
                          <a:effectLst/>
                        </a:rPr>
                        <a:t>x </a:t>
                      </a:r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转换为字符串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effectLst/>
                        </a:rPr>
                        <a:t>repr</a:t>
                      </a:r>
                      <a:r>
                        <a:rPr lang="en-US" sz="1600" dirty="0">
                          <a:effectLst/>
                        </a:rPr>
                        <a:t>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将对象 </a:t>
                      </a:r>
                      <a:r>
                        <a:rPr lang="en-US" altLang="zh-CN" sz="1600" dirty="0">
                          <a:effectLst/>
                        </a:rPr>
                        <a:t>x </a:t>
                      </a:r>
                      <a:r>
                        <a:rPr lang="zh-CN" altLang="en-US" sz="1600" dirty="0">
                          <a:effectLst/>
                        </a:rPr>
                        <a:t>转换为表达式字符串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1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AD2B26"/>
                          </a:solidFill>
                          <a:effectLst/>
                        </a:rPr>
                        <a:t>eval</a:t>
                      </a:r>
                      <a:r>
                        <a:rPr lang="en-US" sz="1600" dirty="0">
                          <a:solidFill>
                            <a:srgbClr val="AD2B26"/>
                          </a:solidFill>
                          <a:effectLst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AD2B26"/>
                          </a:solidFill>
                          <a:effectLst/>
                        </a:rPr>
                        <a:t>str</a:t>
                      </a:r>
                      <a:r>
                        <a:rPr lang="en-US" sz="1600" dirty="0">
                          <a:solidFill>
                            <a:srgbClr val="AD2B26"/>
                          </a:solidFill>
                          <a:effectLst/>
                        </a:rPr>
                        <a:t>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用来计算在字符串中的有效</a:t>
                      </a:r>
                      <a:r>
                        <a:rPr lang="en-US" altLang="zh-CN" sz="1600" dirty="0">
                          <a:solidFill>
                            <a:srgbClr val="AD2B26"/>
                          </a:solidFill>
                          <a:effectLst/>
                        </a:rPr>
                        <a:t>Python</a:t>
                      </a:r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表达式</a:t>
                      </a:r>
                      <a:r>
                        <a:rPr lang="en-US" altLang="zh-CN" sz="1600" dirty="0">
                          <a:solidFill>
                            <a:srgbClr val="AD2B26"/>
                          </a:solidFill>
                          <a:effectLst/>
                        </a:rPr>
                        <a:t>,</a:t>
                      </a:r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并返回一个对象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D2B26"/>
                          </a:solidFill>
                          <a:effectLst/>
                        </a:rPr>
                        <a:t>tuple(s)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将序列 </a:t>
                      </a:r>
                      <a:r>
                        <a:rPr lang="en-US" altLang="zh-CN" sz="1600" dirty="0">
                          <a:solidFill>
                            <a:srgbClr val="AD2B26"/>
                          </a:solidFill>
                          <a:effectLst/>
                        </a:rPr>
                        <a:t>s </a:t>
                      </a:r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转换为一个元组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AD2B26"/>
                          </a:solidFill>
                          <a:effectLst/>
                        </a:rPr>
                        <a:t>list(s)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将序列 </a:t>
                      </a:r>
                      <a:r>
                        <a:rPr lang="en-US" altLang="zh-CN" sz="1600" dirty="0">
                          <a:solidFill>
                            <a:srgbClr val="AD2B26"/>
                          </a:solidFill>
                          <a:effectLst/>
                        </a:rPr>
                        <a:t>s </a:t>
                      </a:r>
                      <a:r>
                        <a:rPr lang="zh-CN" altLang="en-US" sz="1600" dirty="0">
                          <a:solidFill>
                            <a:srgbClr val="AD2B26"/>
                          </a:solidFill>
                          <a:effectLst/>
                        </a:rPr>
                        <a:t>转换为一个列表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effectLst/>
                        </a:rPr>
                        <a:t>chr</a:t>
                      </a:r>
                      <a:r>
                        <a:rPr lang="en-US" sz="1600" dirty="0">
                          <a:effectLst/>
                        </a:rPr>
                        <a:t>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将一个整数转换为一个</a:t>
                      </a:r>
                      <a:r>
                        <a:rPr lang="en-US" altLang="zh-CN" sz="1600" dirty="0">
                          <a:effectLst/>
                        </a:rPr>
                        <a:t>Unicode</a:t>
                      </a:r>
                      <a:r>
                        <a:rPr lang="zh-CN" altLang="en-US" sz="1600" dirty="0">
                          <a:effectLst/>
                        </a:rPr>
                        <a:t>字符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effectLst/>
                        </a:rPr>
                        <a:t>ord</a:t>
                      </a:r>
                      <a:r>
                        <a:rPr lang="en-US" sz="1600" dirty="0">
                          <a:effectLst/>
                        </a:rPr>
                        <a:t>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将一个字符转换为它的</a:t>
                      </a:r>
                      <a:r>
                        <a:rPr lang="en-US" altLang="zh-CN" sz="1600" dirty="0">
                          <a:effectLst/>
                        </a:rPr>
                        <a:t>ASCII</a:t>
                      </a:r>
                      <a:r>
                        <a:rPr lang="zh-CN" altLang="en-US" sz="1600" dirty="0">
                          <a:effectLst/>
                        </a:rPr>
                        <a:t>整数值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hex(x)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将一个整数转换为一个十六进制字符串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effectLst/>
                        </a:rPr>
                        <a:t>oct</a:t>
                      </a:r>
                      <a:r>
                        <a:rPr lang="en-US" sz="1600" dirty="0">
                          <a:effectLst/>
                        </a:rPr>
                        <a:t>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将一个整数转换为一个八进制字符串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81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bin(x)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将一个整数转换为一个二进制字符串</a:t>
                      </a:r>
                    </a:p>
                  </a:txBody>
                  <a:tcPr marL="38639" marR="38639" marT="17833" marB="1783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292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、数据类型转换函数总结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635973"/>
            <a:ext cx="9691984" cy="434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7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  <a:endParaRPr kumimoji="1" lang="zh-CN" altLang="en-US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案例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input</a:t>
            </a:r>
            <a:r>
              <a:rPr kumimoji="1" lang="zh-CN" altLang="en-US" dirty="0"/>
              <a:t>接收用户输入，用户输入“</a:t>
            </a:r>
            <a:r>
              <a:rPr kumimoji="1" lang="en-US" altLang="zh-CN" dirty="0"/>
              <a:t>1”</a:t>
            </a:r>
            <a:r>
              <a:rPr kumimoji="1" lang="zh-CN" altLang="en-US" dirty="0"/>
              <a:t>，将这个数据</a:t>
            </a:r>
            <a:r>
              <a:rPr kumimoji="1" lang="en-US" altLang="zh-CN" dirty="0"/>
              <a:t>1</a:t>
            </a:r>
            <a:r>
              <a:rPr kumimoji="1" lang="zh-CN" altLang="en-US" dirty="0"/>
              <a:t>转换成整型。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1635973"/>
            <a:ext cx="10666853" cy="313932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# 1. </a:t>
            </a:r>
            <a:r>
              <a:rPr lang="zh-CN" altLang="en-US" dirty="0"/>
              <a:t>接收用户输入</a:t>
            </a:r>
          </a:p>
          <a:p>
            <a:r>
              <a:rPr lang="en-US" altLang="zh-CN" dirty="0" err="1"/>
              <a:t>num</a:t>
            </a:r>
            <a:r>
              <a:rPr lang="en-US" altLang="zh-CN" dirty="0"/>
              <a:t> = input('</a:t>
            </a:r>
            <a:r>
              <a:rPr lang="zh-CN" altLang="en-US" dirty="0"/>
              <a:t>请输入您的幸运数字：</a:t>
            </a:r>
            <a:r>
              <a:rPr lang="en-US" altLang="zh-CN" dirty="0"/>
              <a:t>')</a:t>
            </a:r>
          </a:p>
          <a:p>
            <a:endParaRPr lang="en-US" altLang="zh-CN" dirty="0"/>
          </a:p>
          <a:p>
            <a:r>
              <a:rPr lang="en-US" altLang="zh-CN" dirty="0"/>
              <a:t># 2. </a:t>
            </a:r>
            <a:r>
              <a:rPr lang="zh-CN" altLang="en-US" dirty="0"/>
              <a:t>打印结果</a:t>
            </a:r>
          </a:p>
          <a:p>
            <a:r>
              <a:rPr lang="en-US" altLang="zh-CN" dirty="0"/>
              <a:t>print(f"</a:t>
            </a:r>
            <a:r>
              <a:rPr lang="zh-CN" altLang="en-US" dirty="0"/>
              <a:t>您的幸运数字是</a:t>
            </a:r>
            <a:r>
              <a:rPr lang="en-US" altLang="zh-CN" dirty="0"/>
              <a:t>{</a:t>
            </a:r>
            <a:r>
              <a:rPr lang="en-US" altLang="zh-CN" dirty="0" err="1"/>
              <a:t>num</a:t>
            </a:r>
            <a:r>
              <a:rPr lang="en-US" altLang="zh-CN" dirty="0"/>
              <a:t>}")</a:t>
            </a:r>
          </a:p>
          <a:p>
            <a:endParaRPr lang="en-US" altLang="zh-CN" dirty="0"/>
          </a:p>
          <a:p>
            <a:r>
              <a:rPr lang="en-US" altLang="zh-CN" dirty="0"/>
              <a:t># 3. </a:t>
            </a:r>
            <a:r>
              <a:rPr lang="zh-CN" altLang="en-US" dirty="0"/>
              <a:t>检测接收到的用户输入的数据类型 </a:t>
            </a:r>
            <a:r>
              <a:rPr lang="en-US" altLang="zh-CN" dirty="0"/>
              <a:t>-- </a:t>
            </a:r>
            <a:r>
              <a:rPr lang="en-US" altLang="zh-CN" dirty="0" err="1"/>
              <a:t>str</a:t>
            </a:r>
            <a:r>
              <a:rPr lang="zh-CN" altLang="en-US" dirty="0"/>
              <a:t>类型</a:t>
            </a:r>
          </a:p>
          <a:p>
            <a:r>
              <a:rPr lang="en-US" altLang="zh-CN" dirty="0"/>
              <a:t>print(type(</a:t>
            </a:r>
            <a:r>
              <a:rPr lang="en-US" altLang="zh-CN" dirty="0" err="1"/>
              <a:t>num</a:t>
            </a:r>
            <a:r>
              <a:rPr lang="en-US" altLang="zh-CN" dirty="0"/>
              <a:t>))</a:t>
            </a:r>
          </a:p>
          <a:p>
            <a:endParaRPr lang="en-US" altLang="zh-CN" dirty="0"/>
          </a:p>
          <a:p>
            <a:r>
              <a:rPr lang="en-US" altLang="zh-CN" dirty="0"/>
              <a:t># 4. </a:t>
            </a:r>
            <a:r>
              <a:rPr lang="zh-CN" altLang="en-US" dirty="0"/>
              <a:t>转换数据类型为整型 </a:t>
            </a:r>
            <a:r>
              <a:rPr lang="en-US" altLang="zh-CN" dirty="0"/>
              <a:t>-- </a:t>
            </a:r>
            <a:r>
              <a:rPr lang="en-US" altLang="zh-CN" dirty="0" err="1"/>
              <a:t>int</a:t>
            </a:r>
            <a:r>
              <a:rPr lang="zh-CN" altLang="en-US" dirty="0"/>
              <a:t>类型</a:t>
            </a:r>
          </a:p>
          <a:p>
            <a:r>
              <a:rPr lang="en-US" altLang="zh-CN" dirty="0"/>
              <a:t>print(type(</a:t>
            </a:r>
            <a:r>
              <a:rPr lang="en-US" altLang="zh-CN" dirty="0" err="1"/>
              <a:t>int</a:t>
            </a:r>
            <a:r>
              <a:rPr lang="en-US" altLang="zh-CN" dirty="0"/>
              <a:t>(</a:t>
            </a:r>
            <a:r>
              <a:rPr lang="en-US" altLang="zh-CN" dirty="0" err="1"/>
              <a:t>num</a:t>
            </a:r>
            <a:r>
              <a:rPr lang="en-US" altLang="zh-CN" dirty="0"/>
              <a:t>)))</a:t>
            </a:r>
          </a:p>
        </p:txBody>
      </p:sp>
    </p:spTree>
    <p:extLst>
      <p:ext uri="{BB962C8B-B14F-4D97-AF65-F5344CB8AC3E}">
        <p14:creationId xmlns:p14="http://schemas.microsoft.com/office/powerpoint/2010/main" val="66302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  <a:endParaRPr kumimoji="1" lang="zh-CN" altLang="en-US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案例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：多种数据类型转化演示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1635973"/>
            <a:ext cx="10666853" cy="424731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# 1</a:t>
            </a:r>
            <a:r>
              <a:rPr lang="zh-CN" altLang="en-US" dirty="0"/>
              <a:t>、把整数类型转换为浮点类型 </a:t>
            </a:r>
            <a:r>
              <a:rPr lang="en-US" altLang="zh-CN" dirty="0"/>
              <a:t>=&gt; float()</a:t>
            </a:r>
            <a:br>
              <a:rPr lang="en-US" altLang="zh-CN" dirty="0"/>
            </a:br>
            <a:r>
              <a:rPr lang="en-US" altLang="zh-CN" dirty="0"/>
              <a:t>num1 = 1</a:t>
            </a:r>
            <a:br>
              <a:rPr lang="en-US" altLang="zh-CN" dirty="0"/>
            </a:br>
            <a:r>
              <a:rPr lang="en-US" altLang="zh-CN" dirty="0"/>
              <a:t>print(type(num1))</a:t>
            </a:r>
            <a:br>
              <a:rPr lang="en-US" altLang="zh-CN" dirty="0"/>
            </a:br>
            <a:r>
              <a:rPr lang="en-US" altLang="zh-CN" dirty="0"/>
              <a:t>print(type(float(num1)))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# 2</a:t>
            </a:r>
            <a:r>
              <a:rPr lang="zh-CN" altLang="en-US" dirty="0"/>
              <a:t>、把整数类型转换为字符串类型 </a:t>
            </a:r>
            <a:r>
              <a:rPr lang="en-US" altLang="zh-CN" dirty="0"/>
              <a:t>=&gt; </a:t>
            </a:r>
            <a:r>
              <a:rPr lang="en-US" altLang="zh-CN" dirty="0" err="1"/>
              <a:t>str</a:t>
            </a:r>
            <a:r>
              <a:rPr lang="en-US" altLang="zh-CN" dirty="0"/>
              <a:t>()</a:t>
            </a:r>
            <a:br>
              <a:rPr lang="en-US" altLang="zh-CN" dirty="0"/>
            </a:br>
            <a:r>
              <a:rPr lang="en-US" altLang="zh-CN" dirty="0"/>
              <a:t>num2 = 10</a:t>
            </a:r>
            <a:br>
              <a:rPr lang="en-US" altLang="zh-CN" dirty="0"/>
            </a:br>
            <a:r>
              <a:rPr lang="en-US" altLang="zh-CN" dirty="0"/>
              <a:t>print(type(num2))</a:t>
            </a:r>
            <a:br>
              <a:rPr lang="en-US" altLang="zh-CN" dirty="0"/>
            </a:br>
            <a:r>
              <a:rPr lang="en-US" altLang="zh-CN" dirty="0"/>
              <a:t>print(type(</a:t>
            </a:r>
            <a:r>
              <a:rPr lang="en-US" altLang="zh-CN" dirty="0" err="1"/>
              <a:t>str</a:t>
            </a:r>
            <a:r>
              <a:rPr lang="en-US" altLang="zh-CN" dirty="0"/>
              <a:t>(num2)))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# 3</a:t>
            </a:r>
            <a:r>
              <a:rPr lang="zh-CN" altLang="en-US" dirty="0"/>
              <a:t>、将字符串中的数据转换成</a:t>
            </a:r>
            <a:r>
              <a:rPr lang="en-US" altLang="zh-CN" dirty="0"/>
              <a:t>Python</a:t>
            </a:r>
            <a:r>
              <a:rPr lang="zh-CN" altLang="en-US" dirty="0"/>
              <a:t>表达式原本类型 </a:t>
            </a:r>
            <a:r>
              <a:rPr lang="en-US" altLang="zh-CN" dirty="0"/>
              <a:t>=&gt; </a:t>
            </a:r>
            <a:r>
              <a:rPr lang="en-US" altLang="zh-CN" dirty="0" err="1"/>
              <a:t>eval</a:t>
            </a:r>
            <a:r>
              <a:rPr lang="en-US" altLang="zh-CN" dirty="0"/>
              <a:t>()</a:t>
            </a:r>
            <a:br>
              <a:rPr lang="en-US" altLang="zh-CN" dirty="0"/>
            </a:br>
            <a:r>
              <a:rPr lang="en-US" altLang="zh-CN" dirty="0"/>
              <a:t>str1 = '10'</a:t>
            </a:r>
            <a:br>
              <a:rPr lang="en-US" altLang="zh-CN" dirty="0"/>
            </a:br>
            <a:r>
              <a:rPr lang="en-US" altLang="zh-CN" dirty="0"/>
              <a:t>str2 = '10.88'</a:t>
            </a:r>
            <a:br>
              <a:rPr lang="en-US" altLang="zh-CN" dirty="0"/>
            </a:br>
            <a:r>
              <a:rPr lang="en-US" altLang="zh-CN" dirty="0"/>
              <a:t>print(type(</a:t>
            </a:r>
            <a:r>
              <a:rPr lang="en-US" altLang="zh-CN" dirty="0" err="1"/>
              <a:t>eval</a:t>
            </a:r>
            <a:r>
              <a:rPr lang="en-US" altLang="zh-CN" dirty="0"/>
              <a:t>(str1)))</a:t>
            </a:r>
            <a:br>
              <a:rPr lang="en-US" altLang="zh-CN" dirty="0"/>
            </a:br>
            <a:r>
              <a:rPr lang="en-US" altLang="zh-CN" dirty="0"/>
              <a:t>print(type(</a:t>
            </a:r>
            <a:r>
              <a:rPr lang="en-US" altLang="zh-CN" dirty="0" err="1"/>
              <a:t>eval</a:t>
            </a:r>
            <a:r>
              <a:rPr lang="en-US" altLang="zh-CN" dirty="0"/>
              <a:t>(str2)))</a:t>
            </a:r>
          </a:p>
        </p:txBody>
      </p:sp>
    </p:spTree>
    <p:extLst>
      <p:ext uri="{BB962C8B-B14F-4D97-AF65-F5344CB8AC3E}">
        <p14:creationId xmlns:p14="http://schemas.microsoft.com/office/powerpoint/2010/main" val="2577715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数据类型转换</a:t>
            </a:r>
            <a:endParaRPr kumimoji="1" lang="zh-CN" altLang="en-US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案例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：超市收银系统案例升级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1635973"/>
            <a:ext cx="10666853" cy="147732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name = input('</a:t>
            </a:r>
            <a:r>
              <a:rPr lang="zh-CN" altLang="en-US" dirty="0"/>
              <a:t>请输入您购买商品名称：</a:t>
            </a:r>
            <a:r>
              <a:rPr lang="en-US" altLang="zh-CN" dirty="0"/>
              <a:t>')</a:t>
            </a:r>
            <a:br>
              <a:rPr lang="en-US" altLang="zh-CN" dirty="0"/>
            </a:br>
            <a:r>
              <a:rPr lang="en-US" altLang="zh-CN" dirty="0"/>
              <a:t>id = </a:t>
            </a:r>
            <a:r>
              <a:rPr lang="en-US" altLang="zh-CN" dirty="0" err="1"/>
              <a:t>int</a:t>
            </a:r>
            <a:r>
              <a:rPr lang="en-US" altLang="zh-CN" dirty="0"/>
              <a:t>(input('</a:t>
            </a:r>
            <a:r>
              <a:rPr lang="zh-CN" altLang="en-US" dirty="0"/>
              <a:t>请输入您购买商品编号：</a:t>
            </a:r>
            <a:r>
              <a:rPr lang="en-US" altLang="zh-CN" dirty="0"/>
              <a:t>'))</a:t>
            </a:r>
            <a:br>
              <a:rPr lang="en-US" altLang="zh-CN" dirty="0"/>
            </a:br>
            <a:r>
              <a:rPr lang="en-US" altLang="zh-CN" dirty="0"/>
              <a:t>price = float(input('</a:t>
            </a:r>
            <a:r>
              <a:rPr lang="zh-CN" altLang="en-US" dirty="0"/>
              <a:t>请输入您购买商品价格：</a:t>
            </a:r>
            <a:r>
              <a:rPr lang="en-US" altLang="zh-CN" dirty="0"/>
              <a:t>'))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print('</a:t>
            </a:r>
            <a:r>
              <a:rPr lang="zh-CN" altLang="en-US" dirty="0"/>
              <a:t>您够买了</a:t>
            </a:r>
            <a:r>
              <a:rPr lang="en-US" altLang="zh-CN" dirty="0"/>
              <a:t>%s</a:t>
            </a:r>
            <a:r>
              <a:rPr lang="zh-CN" altLang="en-US" dirty="0"/>
              <a:t>，商品编号为</a:t>
            </a:r>
            <a:r>
              <a:rPr lang="en-US" altLang="zh-CN" dirty="0"/>
              <a:t>%s</a:t>
            </a:r>
            <a:r>
              <a:rPr lang="zh-CN" altLang="en-US" dirty="0"/>
              <a:t>，商品价格为</a:t>
            </a:r>
            <a:r>
              <a:rPr lang="en-US" altLang="zh-CN" dirty="0"/>
              <a:t>%.2f</a:t>
            </a:r>
            <a:r>
              <a:rPr lang="zh-CN" altLang="en-US" dirty="0"/>
              <a:t>，欢迎下次光临！</a:t>
            </a:r>
            <a:r>
              <a:rPr lang="en-US" altLang="zh-CN" dirty="0"/>
              <a:t>' % (name, id, price))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20" y="3418639"/>
            <a:ext cx="10669459" cy="250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36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运算符的使用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7490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算术运算符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赋值运算符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复合赋值运算符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比较运算符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逻辑运算符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、运算符分类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05" y="3875189"/>
            <a:ext cx="8199747" cy="256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46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、举个栗子：使用</a:t>
            </a:r>
            <a:r>
              <a:rPr lang="en-US" altLang="zh-CN" dirty="0"/>
              <a:t>Python</a:t>
            </a:r>
            <a:r>
              <a:rPr lang="zh-CN" altLang="en-US" dirty="0"/>
              <a:t>求梯形的面积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457271"/>
            <a:ext cx="10619729" cy="49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需求分析：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709997"/>
            <a:ext cx="10947720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63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、算术运算符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379420"/>
              </p:ext>
            </p:extLst>
          </p:nvPr>
        </p:nvGraphicFramePr>
        <p:xfrm>
          <a:off x="710880" y="1537707"/>
          <a:ext cx="10878147" cy="3382163"/>
        </p:xfrm>
        <a:graphic>
          <a:graphicData uri="http://schemas.openxmlformats.org/drawingml/2006/table">
            <a:tbl>
              <a:tblPr/>
              <a:tblGrid>
                <a:gridCol w="1342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4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运算符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描述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实例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+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加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1 + 1 </a:t>
                      </a:r>
                      <a:r>
                        <a:rPr lang="zh-CN" altLang="en-US" sz="1600">
                          <a:effectLst/>
                        </a:rPr>
                        <a:t>输出结果为 </a:t>
                      </a:r>
                      <a:r>
                        <a:rPr lang="en-US" altLang="zh-CN" sz="1600">
                          <a:effectLst/>
                        </a:rPr>
                        <a:t>2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-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</a:rPr>
                        <a:t>减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1 - 1  </a:t>
                      </a:r>
                      <a:r>
                        <a:rPr lang="zh-CN" altLang="en-US" sz="1600" dirty="0">
                          <a:effectLst/>
                        </a:rPr>
                        <a:t>输出结果为 </a:t>
                      </a:r>
                      <a:r>
                        <a:rPr lang="en-US" altLang="zh-CN" sz="1600" dirty="0">
                          <a:effectLst/>
                        </a:rPr>
                        <a:t>0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5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*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</a:rPr>
                        <a:t>乘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2 * 2 </a:t>
                      </a:r>
                      <a:r>
                        <a:rPr lang="zh-CN" altLang="en-US" sz="1600" dirty="0">
                          <a:effectLst/>
                        </a:rPr>
                        <a:t>输出结果为 </a:t>
                      </a:r>
                      <a:r>
                        <a:rPr lang="en-US" altLang="zh-CN" sz="1600" dirty="0">
                          <a:effectLst/>
                        </a:rPr>
                        <a:t>4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/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</a:rPr>
                        <a:t>除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10 / 2 </a:t>
                      </a:r>
                      <a:r>
                        <a:rPr lang="zh-CN" altLang="en-US" sz="1600">
                          <a:effectLst/>
                        </a:rPr>
                        <a:t>输出结果为 </a:t>
                      </a:r>
                      <a:r>
                        <a:rPr lang="en-US" altLang="zh-CN" sz="1600">
                          <a:effectLst/>
                        </a:rPr>
                        <a:t>5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//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</a:rPr>
                        <a:t>整除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9 // 4 </a:t>
                      </a:r>
                      <a:r>
                        <a:rPr lang="zh-CN" altLang="en-US" sz="1600">
                          <a:effectLst/>
                        </a:rPr>
                        <a:t>输出结果为</a:t>
                      </a:r>
                      <a:r>
                        <a:rPr lang="en-US" altLang="zh-CN" sz="1600">
                          <a:effectLst/>
                        </a:rPr>
                        <a:t>2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%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</a:rPr>
                        <a:t>取余（取模）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9 % 4 </a:t>
                      </a:r>
                      <a:r>
                        <a:rPr lang="zh-CN" altLang="en-US" sz="1600" dirty="0">
                          <a:effectLst/>
                        </a:rPr>
                        <a:t>输出结果为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**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</a:rPr>
                        <a:t>幂指数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2 ** 4 </a:t>
                      </a:r>
                      <a:r>
                        <a:rPr lang="zh-CN" altLang="en-US" sz="1600" dirty="0">
                          <a:effectLst/>
                        </a:rPr>
                        <a:t>输出结果为 </a:t>
                      </a:r>
                      <a:r>
                        <a:rPr lang="en-US" altLang="zh-CN" sz="1600" dirty="0">
                          <a:effectLst/>
                        </a:rPr>
                        <a:t>16</a:t>
                      </a:r>
                      <a:r>
                        <a:rPr lang="zh-CN" altLang="en-US" sz="1600" dirty="0">
                          <a:effectLst/>
                        </a:rPr>
                        <a:t>，即 </a:t>
                      </a:r>
                      <a:r>
                        <a:rPr lang="en-US" altLang="zh-CN" sz="1600" dirty="0">
                          <a:effectLst/>
                        </a:rPr>
                        <a:t>2 * 2 * 2 * 2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()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effectLst/>
                        </a:rPr>
                        <a:t>小括号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小括号用来提高运算优先级，即 </a:t>
                      </a:r>
                      <a:r>
                        <a:rPr lang="en-US" altLang="zh-CN" sz="1600" dirty="0">
                          <a:effectLst/>
                        </a:rPr>
                        <a:t>(1 + 2) * 3 </a:t>
                      </a:r>
                      <a:r>
                        <a:rPr lang="zh-CN" altLang="en-US" sz="1600" dirty="0">
                          <a:effectLst/>
                        </a:rPr>
                        <a:t>输出结果为 </a:t>
                      </a:r>
                      <a:r>
                        <a:rPr lang="en-US" altLang="zh-CN" sz="1600" dirty="0">
                          <a:effectLst/>
                        </a:rPr>
                        <a:t>9</a:t>
                      </a:r>
                    </a:p>
                  </a:txBody>
                  <a:tcPr marL="52966" marR="52966" marT="24446" marB="24446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三角形 9">
            <a:extLst>
              <a:ext uri="{FF2B5EF4-FFF2-40B4-BE49-F238E27FC236}">
                <a16:creationId xmlns:a16="http://schemas.microsoft.com/office/drawing/2014/main" id="{6C3710E9-2588-F946-B755-060464DABD9F}"/>
              </a:ext>
            </a:extLst>
          </p:cNvPr>
          <p:cNvSpPr/>
          <p:nvPr/>
        </p:nvSpPr>
        <p:spPr>
          <a:xfrm rot="2651319">
            <a:off x="607406" y="561393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CCE8B-9629-7E4B-B3A9-E87708BF9B85}"/>
              </a:ext>
            </a:extLst>
          </p:cNvPr>
          <p:cNvSpPr txBox="1"/>
          <p:nvPr/>
        </p:nvSpPr>
        <p:spPr>
          <a:xfrm>
            <a:off x="975357" y="5667696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混合运算优先级顺序：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 )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高于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**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高于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*  /  //  % 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高于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+  -  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A4F270-7F30-AE46-96EF-656D6943C707}"/>
              </a:ext>
            </a:extLst>
          </p:cNvPr>
          <p:cNvSpPr/>
          <p:nvPr/>
        </p:nvSpPr>
        <p:spPr>
          <a:xfrm>
            <a:off x="710880" y="5254475"/>
            <a:ext cx="10302240" cy="95504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3E04DF-C15D-7146-95A9-19AF703E9900}"/>
              </a:ext>
            </a:extLst>
          </p:cNvPr>
          <p:cNvSpPr/>
          <p:nvPr/>
        </p:nvSpPr>
        <p:spPr>
          <a:xfrm>
            <a:off x="600792" y="5329825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2118825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、算术运算符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635973"/>
            <a:ext cx="11245894" cy="411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54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2415209"/>
            <a:ext cx="10749598" cy="3351108"/>
          </a:xfrm>
        </p:spPr>
        <p:txBody>
          <a:bodyPr/>
          <a:lstStyle/>
          <a:p>
            <a:r>
              <a:rPr lang="zh-CN" altLang="en-US" dirty="0"/>
              <a:t>单个变量赋值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多个变量赋值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多变量赋相同值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、赋值运算符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580090"/>
              </p:ext>
            </p:extLst>
          </p:nvPr>
        </p:nvGraphicFramePr>
        <p:xfrm>
          <a:off x="710880" y="1635973"/>
          <a:ext cx="10749600" cy="731520"/>
        </p:xfrm>
        <a:graphic>
          <a:graphicData uri="http://schemas.openxmlformats.org/drawingml/2006/table">
            <a:tbl>
              <a:tblPr/>
              <a:tblGrid>
                <a:gridCol w="176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7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运算符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描述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</a:rPr>
                        <a:t>实例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>
                          <a:effectLst/>
                        </a:rPr>
                        <a:t>=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effectLst/>
                        </a:rPr>
                        <a:t>赋值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effectLst/>
                        </a:rPr>
                        <a:t>将</a:t>
                      </a:r>
                      <a:r>
                        <a:rPr lang="en-US" altLang="zh-CN" sz="1800" dirty="0">
                          <a:effectLst/>
                        </a:rPr>
                        <a:t>=</a:t>
                      </a:r>
                      <a:r>
                        <a:rPr lang="zh-CN" altLang="en-US" sz="1800" dirty="0">
                          <a:effectLst/>
                        </a:rPr>
                        <a:t>右侧的结果赋值给等号左侧的变量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928061"/>
            <a:ext cx="10749599" cy="64633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/>
              <a:t>num = 1</a:t>
            </a:r>
          </a:p>
          <a:p>
            <a:r>
              <a:rPr lang="en-US" altLang="zh-CN"/>
              <a:t>print(num)</a:t>
            </a:r>
            <a:endParaRPr lang="en-US" altLang="zh-CN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4170056"/>
            <a:ext cx="10749599" cy="120032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num1, float1, str1 = 10, 0.5, 'hello world'</a:t>
            </a:r>
          </a:p>
          <a:p>
            <a:r>
              <a:rPr lang="en-US" altLang="zh-CN" dirty="0"/>
              <a:t>print(num1)</a:t>
            </a:r>
          </a:p>
          <a:p>
            <a:r>
              <a:rPr lang="en-US" altLang="zh-CN" dirty="0"/>
              <a:t>print(float1)</a:t>
            </a:r>
          </a:p>
          <a:p>
            <a:r>
              <a:rPr lang="en-US" altLang="zh-CN" dirty="0"/>
              <a:t>print(str1)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5766317"/>
            <a:ext cx="10749599" cy="9233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 = b = 10</a:t>
            </a:r>
          </a:p>
          <a:p>
            <a:r>
              <a:rPr lang="en-US" altLang="zh-CN" dirty="0"/>
              <a:t>print(a)</a:t>
            </a:r>
          </a:p>
          <a:p>
            <a:r>
              <a:rPr lang="en-US" altLang="zh-CN" dirty="0"/>
              <a:t>print(b)</a:t>
            </a:r>
          </a:p>
        </p:txBody>
      </p:sp>
    </p:spTree>
    <p:extLst>
      <p:ext uri="{BB962C8B-B14F-4D97-AF65-F5344CB8AC3E}">
        <p14:creationId xmlns:p14="http://schemas.microsoft.com/office/powerpoint/2010/main" val="2684615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、复合赋值运算符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9" y="1635973"/>
            <a:ext cx="10749599" cy="489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05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、复合赋值运算符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1546522"/>
            <a:ext cx="10749599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 = 100</a:t>
            </a:r>
          </a:p>
          <a:p>
            <a:r>
              <a:rPr lang="en-US" altLang="zh-CN" dirty="0"/>
              <a:t>a += 1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输出</a:t>
            </a:r>
            <a:r>
              <a:rPr lang="en-US" altLang="zh-CN" dirty="0"/>
              <a:t>101  a = a + 1,</a:t>
            </a:r>
            <a:r>
              <a:rPr lang="zh-CN" altLang="en-US" dirty="0"/>
              <a:t>最终</a:t>
            </a:r>
            <a:r>
              <a:rPr lang="en-US" altLang="zh-CN" dirty="0"/>
              <a:t>a = 100 + 1</a:t>
            </a:r>
          </a:p>
          <a:p>
            <a:r>
              <a:rPr lang="en-US" altLang="zh-CN" dirty="0"/>
              <a:t>print(a)</a:t>
            </a:r>
          </a:p>
          <a:p>
            <a:endParaRPr lang="en-US" altLang="zh-CN" dirty="0"/>
          </a:p>
          <a:p>
            <a:r>
              <a:rPr lang="en-US" altLang="zh-CN" dirty="0"/>
              <a:t>b = 2</a:t>
            </a:r>
          </a:p>
          <a:p>
            <a:r>
              <a:rPr lang="en-US" altLang="zh-CN" dirty="0"/>
              <a:t>b *= 3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输出</a:t>
            </a:r>
            <a:r>
              <a:rPr lang="en-US" altLang="zh-CN" dirty="0"/>
              <a:t>6  b = b * 3,</a:t>
            </a:r>
            <a:r>
              <a:rPr lang="zh-CN" altLang="en-US" dirty="0"/>
              <a:t>最终</a:t>
            </a:r>
            <a:r>
              <a:rPr lang="en-US" altLang="zh-CN" dirty="0"/>
              <a:t>b = 2 * 3</a:t>
            </a:r>
          </a:p>
          <a:p>
            <a:r>
              <a:rPr lang="en-US" altLang="zh-CN" dirty="0"/>
              <a:t>print(b)</a:t>
            </a:r>
          </a:p>
          <a:p>
            <a:endParaRPr lang="en-US" altLang="zh-CN" dirty="0"/>
          </a:p>
          <a:p>
            <a:r>
              <a:rPr lang="en-US" altLang="zh-CN" dirty="0"/>
              <a:t>c = 10</a:t>
            </a:r>
          </a:p>
          <a:p>
            <a:r>
              <a:rPr lang="en-US" altLang="zh-CN" dirty="0"/>
              <a:t>c += 1 + 2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输出</a:t>
            </a:r>
            <a:r>
              <a:rPr lang="en-US" altLang="zh-CN" dirty="0"/>
              <a:t>13, </a:t>
            </a:r>
            <a:r>
              <a:rPr lang="zh-CN" altLang="en-US" dirty="0"/>
              <a:t>先算运算符右侧</a:t>
            </a:r>
            <a:r>
              <a:rPr lang="en-US" altLang="zh-CN" dirty="0"/>
              <a:t>1 + 2 = 3</a:t>
            </a:r>
            <a:r>
              <a:rPr lang="zh-CN" altLang="en-US" dirty="0"/>
              <a:t>， </a:t>
            </a:r>
            <a:r>
              <a:rPr lang="en-US" altLang="zh-CN" dirty="0"/>
              <a:t>c += 3 , </a:t>
            </a:r>
            <a:r>
              <a:rPr lang="zh-CN" altLang="en-US" dirty="0"/>
              <a:t>推导出</a:t>
            </a:r>
            <a:r>
              <a:rPr lang="en-US" altLang="zh-CN" dirty="0"/>
              <a:t>c = 10 + 3</a:t>
            </a:r>
          </a:p>
          <a:p>
            <a:r>
              <a:rPr lang="en-US" altLang="zh-CN" dirty="0"/>
              <a:t>print(c)</a:t>
            </a:r>
          </a:p>
        </p:txBody>
      </p:sp>
    </p:spTree>
    <p:extLst>
      <p:ext uri="{BB962C8B-B14F-4D97-AF65-F5344CB8AC3E}">
        <p14:creationId xmlns:p14="http://schemas.microsoft.com/office/powerpoint/2010/main" val="1610831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、比较运算符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9" y="1457271"/>
            <a:ext cx="9844477" cy="49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39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、比较运算符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2456938"/>
            <a:ext cx="10749599" cy="34778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# </a:t>
            </a:r>
            <a:r>
              <a:rPr lang="zh-CN" altLang="en-US" sz="2000" dirty="0"/>
              <a:t>定义变量</a:t>
            </a:r>
            <a:r>
              <a:rPr lang="en-US" altLang="zh-CN" sz="2000" dirty="0"/>
              <a:t>a</a:t>
            </a:r>
            <a:r>
              <a:rPr lang="zh-CN" altLang="en-US" sz="2000" dirty="0"/>
              <a:t>与</a:t>
            </a:r>
            <a:r>
              <a:rPr lang="en-US" altLang="zh-CN" sz="2000" dirty="0"/>
              <a:t>b</a:t>
            </a:r>
          </a:p>
          <a:p>
            <a:r>
              <a:rPr lang="en-US" altLang="zh-CN" sz="2000" dirty="0"/>
              <a:t>a = 7</a:t>
            </a:r>
          </a:p>
          <a:p>
            <a:r>
              <a:rPr lang="en-US" altLang="zh-CN" sz="2000" dirty="0"/>
              <a:t>b = 5</a:t>
            </a:r>
          </a:p>
          <a:p>
            <a:endParaRPr lang="en-US" altLang="zh-CN" sz="2000" dirty="0"/>
          </a:p>
          <a:p>
            <a:r>
              <a:rPr lang="en-US" altLang="zh-CN" sz="2000" dirty="0"/>
              <a:t>#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与</a:t>
            </a:r>
            <a:r>
              <a:rPr lang="en-US" altLang="zh-CN" sz="2000" dirty="0"/>
              <a:t>b</a:t>
            </a:r>
            <a:r>
              <a:rPr lang="zh-CN" altLang="en-US" sz="2000" dirty="0"/>
              <a:t>比较运算结果</a:t>
            </a:r>
            <a:endParaRPr lang="en-US" altLang="zh-CN" sz="2000" dirty="0"/>
          </a:p>
          <a:p>
            <a:r>
              <a:rPr lang="en-US" altLang="zh-CN" sz="2000" dirty="0"/>
              <a:t>print(a == b)  # False</a:t>
            </a:r>
          </a:p>
          <a:p>
            <a:r>
              <a:rPr lang="en-US" altLang="zh-CN" sz="2000" dirty="0"/>
              <a:t>print(a != b)   # True</a:t>
            </a:r>
          </a:p>
          <a:p>
            <a:r>
              <a:rPr lang="en-US" altLang="zh-CN" sz="2000" dirty="0"/>
              <a:t>print(a &lt; b)    # False</a:t>
            </a:r>
          </a:p>
          <a:p>
            <a:r>
              <a:rPr lang="en-US" altLang="zh-CN" sz="2000" dirty="0"/>
              <a:t>print(a &gt; b)    # True</a:t>
            </a:r>
          </a:p>
          <a:p>
            <a:r>
              <a:rPr lang="en-US" altLang="zh-CN" sz="2000" dirty="0"/>
              <a:t>print(a &lt;= b)  # False</a:t>
            </a:r>
          </a:p>
          <a:p>
            <a:r>
              <a:rPr lang="en-US" altLang="zh-CN" sz="2000" dirty="0"/>
              <a:t>print(a &gt;= b)  # True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79" y="1939748"/>
            <a:ext cx="10749599" cy="517190"/>
          </a:xfrm>
        </p:spPr>
        <p:txBody>
          <a:bodyPr/>
          <a:lstStyle/>
          <a:p>
            <a:r>
              <a:rPr lang="zh-CN" altLang="en-US" b="0" dirty="0"/>
              <a:t>案例演示：</a:t>
            </a:r>
          </a:p>
        </p:txBody>
      </p:sp>
    </p:spTree>
    <p:extLst>
      <p:ext uri="{BB962C8B-B14F-4D97-AF65-F5344CB8AC3E}">
        <p14:creationId xmlns:p14="http://schemas.microsoft.com/office/powerpoint/2010/main" val="1192661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、逻辑运算符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9" y="1635973"/>
            <a:ext cx="9069225" cy="222041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4035085"/>
            <a:ext cx="10749599" cy="25545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a = 1</a:t>
            </a:r>
          </a:p>
          <a:p>
            <a:r>
              <a:rPr lang="en-US" altLang="zh-CN" sz="2000" dirty="0"/>
              <a:t>b = 2</a:t>
            </a:r>
          </a:p>
          <a:p>
            <a:r>
              <a:rPr lang="en-US" altLang="zh-CN" sz="2000" dirty="0"/>
              <a:t>c = 3</a:t>
            </a:r>
          </a:p>
          <a:p>
            <a:endParaRPr lang="en-US" altLang="zh-CN" sz="2000" dirty="0"/>
          </a:p>
          <a:p>
            <a:r>
              <a:rPr lang="en-US" altLang="zh-CN" sz="2000" dirty="0"/>
              <a:t>print((a &lt; b) and (b &lt; c))  # True</a:t>
            </a:r>
          </a:p>
          <a:p>
            <a:r>
              <a:rPr lang="en-US" altLang="zh-CN" sz="2000" dirty="0"/>
              <a:t>print((a &gt; b) and (b &lt; c))  # False</a:t>
            </a:r>
          </a:p>
          <a:p>
            <a:r>
              <a:rPr lang="en-US" altLang="zh-CN" sz="2000" dirty="0"/>
              <a:t>print((a &gt; b) or (b &lt; c))     # True</a:t>
            </a:r>
          </a:p>
          <a:p>
            <a:r>
              <a:rPr lang="en-US" altLang="zh-CN" sz="2000" dirty="0"/>
              <a:t>print(not (a &gt; b))               # True</a:t>
            </a:r>
          </a:p>
        </p:txBody>
      </p:sp>
    </p:spTree>
    <p:extLst>
      <p:ext uri="{BB962C8B-B14F-4D97-AF65-F5344CB8AC3E}">
        <p14:creationId xmlns:p14="http://schemas.microsoft.com/office/powerpoint/2010/main" val="3483743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、短路运算</a:t>
            </a:r>
          </a:p>
        </p:txBody>
      </p:sp>
      <p:sp>
        <p:nvSpPr>
          <p:cNvPr id="6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36613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Python</a:t>
            </a:r>
            <a:r>
              <a:rPr lang="zh-CN" altLang="en-US" dirty="0">
                <a:solidFill>
                  <a:srgbClr val="B60206"/>
                </a:solidFill>
              </a:rPr>
              <a:t>把</a:t>
            </a:r>
            <a:r>
              <a:rPr lang="en-US" altLang="zh-CN" dirty="0">
                <a:solidFill>
                  <a:srgbClr val="B60206"/>
                </a:solidFill>
              </a:rPr>
              <a:t>0</a:t>
            </a:r>
            <a:r>
              <a:rPr lang="zh-CN" altLang="en-US" dirty="0">
                <a:solidFill>
                  <a:srgbClr val="B60206"/>
                </a:solidFill>
              </a:rPr>
              <a:t>、空字符串”和</a:t>
            </a:r>
            <a:r>
              <a:rPr lang="en-US" altLang="zh-CN" dirty="0">
                <a:solidFill>
                  <a:srgbClr val="B60206"/>
                </a:solidFill>
              </a:rPr>
              <a:t>None</a:t>
            </a:r>
            <a:r>
              <a:rPr lang="zh-CN" altLang="en-US" dirty="0">
                <a:solidFill>
                  <a:srgbClr val="B60206"/>
                </a:solidFill>
              </a:rPr>
              <a:t>看成 </a:t>
            </a:r>
            <a:r>
              <a:rPr lang="en-US" altLang="zh-CN" dirty="0">
                <a:solidFill>
                  <a:srgbClr val="B60206"/>
                </a:solidFill>
              </a:rPr>
              <a:t>False</a:t>
            </a:r>
            <a:r>
              <a:rPr lang="zh-CN" altLang="en-US" dirty="0">
                <a:solidFill>
                  <a:srgbClr val="B60206"/>
                </a:solidFill>
              </a:rPr>
              <a:t>，其他数值和非空字符串都看成 </a:t>
            </a:r>
            <a:r>
              <a:rPr lang="en-US" altLang="zh-CN" dirty="0">
                <a:solidFill>
                  <a:srgbClr val="B60206"/>
                </a:solidFill>
              </a:rPr>
              <a:t>True</a:t>
            </a:r>
            <a:r>
              <a:rPr lang="zh-CN" altLang="en-US" dirty="0"/>
              <a:t>，所以：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① </a:t>
            </a:r>
            <a:r>
              <a:rPr lang="zh-CN" altLang="en-US" dirty="0">
                <a:solidFill>
                  <a:srgbClr val="B60206"/>
                </a:solidFill>
              </a:rPr>
              <a:t>在计算 </a:t>
            </a:r>
            <a:r>
              <a:rPr lang="en-US" altLang="zh-CN" dirty="0">
                <a:solidFill>
                  <a:srgbClr val="B60206"/>
                </a:solidFill>
              </a:rPr>
              <a:t>a and b </a:t>
            </a:r>
            <a:r>
              <a:rPr lang="zh-CN" altLang="en-US" dirty="0">
                <a:solidFill>
                  <a:srgbClr val="B60206"/>
                </a:solidFill>
              </a:rPr>
              <a:t>时，如果 </a:t>
            </a:r>
            <a:r>
              <a:rPr lang="en-US" altLang="zh-CN" dirty="0">
                <a:solidFill>
                  <a:srgbClr val="B60206"/>
                </a:solidFill>
              </a:rPr>
              <a:t>a </a:t>
            </a:r>
            <a:r>
              <a:rPr lang="zh-CN" altLang="en-US" dirty="0">
                <a:solidFill>
                  <a:srgbClr val="B60206"/>
                </a:solidFill>
              </a:rPr>
              <a:t>是 </a:t>
            </a:r>
            <a:r>
              <a:rPr lang="en-US" altLang="zh-CN" dirty="0">
                <a:solidFill>
                  <a:srgbClr val="B60206"/>
                </a:solidFill>
              </a:rPr>
              <a:t>False</a:t>
            </a:r>
            <a:r>
              <a:rPr lang="zh-CN" altLang="en-US" dirty="0">
                <a:solidFill>
                  <a:srgbClr val="B60206"/>
                </a:solidFill>
              </a:rPr>
              <a:t>，则根据与运算法则，整个结果必定为 </a:t>
            </a:r>
            <a:r>
              <a:rPr lang="en-US" altLang="zh-CN" dirty="0">
                <a:solidFill>
                  <a:srgbClr val="B60206"/>
                </a:solidFill>
              </a:rPr>
              <a:t>False</a:t>
            </a:r>
            <a:r>
              <a:rPr lang="zh-CN" altLang="en-US" dirty="0"/>
              <a:t>，因此返回 </a:t>
            </a:r>
            <a:r>
              <a:rPr lang="en-US" altLang="zh-CN" dirty="0"/>
              <a:t>a</a:t>
            </a:r>
            <a:r>
              <a:rPr lang="zh-CN" altLang="en-US" dirty="0"/>
              <a:t>；如果 </a:t>
            </a:r>
            <a:r>
              <a:rPr lang="en-US" altLang="zh-CN" dirty="0"/>
              <a:t>a </a:t>
            </a:r>
            <a:r>
              <a:rPr lang="zh-CN" altLang="en-US" dirty="0"/>
              <a:t>是 </a:t>
            </a:r>
            <a:r>
              <a:rPr lang="en-US" altLang="zh-CN" dirty="0"/>
              <a:t>True</a:t>
            </a:r>
            <a:r>
              <a:rPr lang="zh-CN" altLang="en-US" dirty="0"/>
              <a:t>，则整个计算结果必定取决与 </a:t>
            </a:r>
            <a:r>
              <a:rPr lang="en-US" altLang="zh-CN" dirty="0"/>
              <a:t>b</a:t>
            </a:r>
            <a:r>
              <a:rPr lang="zh-CN" altLang="en-US" dirty="0"/>
              <a:t>，因此返回 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zh-CN" altLang="en-US" dirty="0"/>
              <a:t>② </a:t>
            </a:r>
            <a:r>
              <a:rPr lang="zh-CN" altLang="en-US" dirty="0">
                <a:solidFill>
                  <a:srgbClr val="B60206"/>
                </a:solidFill>
              </a:rPr>
              <a:t>在计算 </a:t>
            </a:r>
            <a:r>
              <a:rPr lang="en-US" altLang="zh-CN" dirty="0">
                <a:solidFill>
                  <a:srgbClr val="B60206"/>
                </a:solidFill>
              </a:rPr>
              <a:t>a or b </a:t>
            </a:r>
            <a:r>
              <a:rPr lang="zh-CN" altLang="en-US" dirty="0">
                <a:solidFill>
                  <a:srgbClr val="B60206"/>
                </a:solidFill>
              </a:rPr>
              <a:t>时，如果 </a:t>
            </a:r>
            <a:r>
              <a:rPr lang="en-US" altLang="zh-CN" dirty="0">
                <a:solidFill>
                  <a:srgbClr val="B60206"/>
                </a:solidFill>
              </a:rPr>
              <a:t>a </a:t>
            </a:r>
            <a:r>
              <a:rPr lang="zh-CN" altLang="en-US" dirty="0">
                <a:solidFill>
                  <a:srgbClr val="B60206"/>
                </a:solidFill>
              </a:rPr>
              <a:t>是 </a:t>
            </a:r>
            <a:r>
              <a:rPr lang="en-US" altLang="zh-CN" dirty="0">
                <a:solidFill>
                  <a:srgbClr val="B60206"/>
                </a:solidFill>
              </a:rPr>
              <a:t>True</a:t>
            </a:r>
            <a:r>
              <a:rPr lang="zh-CN" altLang="en-US" dirty="0">
                <a:solidFill>
                  <a:srgbClr val="B60206"/>
                </a:solidFill>
              </a:rPr>
              <a:t>，则根据或运算法则，整个计算结果必定为 </a:t>
            </a:r>
            <a:r>
              <a:rPr lang="en-US" altLang="zh-CN" dirty="0">
                <a:solidFill>
                  <a:srgbClr val="B60206"/>
                </a:solidFill>
              </a:rPr>
              <a:t>True</a:t>
            </a:r>
            <a:r>
              <a:rPr lang="zh-CN" altLang="en-US" dirty="0"/>
              <a:t>，因此返回 </a:t>
            </a:r>
            <a:r>
              <a:rPr lang="en-US" altLang="zh-CN" dirty="0"/>
              <a:t>a</a:t>
            </a:r>
            <a:r>
              <a:rPr lang="zh-CN" altLang="en-US" dirty="0"/>
              <a:t>；如果 </a:t>
            </a:r>
            <a:r>
              <a:rPr lang="en-US" altLang="zh-CN" dirty="0"/>
              <a:t>a </a:t>
            </a:r>
            <a:r>
              <a:rPr lang="zh-CN" altLang="en-US" dirty="0"/>
              <a:t>是 </a:t>
            </a:r>
            <a:r>
              <a:rPr lang="en-US" altLang="zh-CN" dirty="0"/>
              <a:t>False</a:t>
            </a:r>
            <a:r>
              <a:rPr lang="zh-CN" altLang="en-US" dirty="0"/>
              <a:t>，则整个计算结果必定取决于 </a:t>
            </a:r>
            <a:r>
              <a:rPr lang="en-US" altLang="zh-CN" dirty="0"/>
              <a:t>b</a:t>
            </a:r>
            <a:r>
              <a:rPr lang="zh-CN" altLang="en-US" dirty="0"/>
              <a:t>，因此返回 </a:t>
            </a:r>
            <a:r>
              <a:rPr lang="en-US" altLang="zh-CN" dirty="0"/>
              <a:t>b</a:t>
            </a:r>
            <a:r>
              <a:rPr lang="zh-CN" altLang="en-US" dirty="0"/>
              <a:t>。 所以</a:t>
            </a:r>
            <a:r>
              <a:rPr lang="en-US" altLang="zh-CN" dirty="0"/>
              <a:t>Python</a:t>
            </a:r>
            <a:r>
              <a:rPr lang="zh-CN" altLang="en-US" dirty="0"/>
              <a:t>解释器在做布尔运算时，只要能提前确定计算结果，它就不会往后算了，直接返回结果。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举个例子：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5396746"/>
            <a:ext cx="10749599" cy="101566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print(3 and 4 and 5)</a:t>
            </a:r>
          </a:p>
          <a:p>
            <a:r>
              <a:rPr lang="en-US" altLang="zh-CN" sz="2000" dirty="0"/>
              <a:t>print(5 and 6 or 7)</a:t>
            </a:r>
          </a:p>
          <a:p>
            <a:r>
              <a:rPr lang="en-US" altLang="zh-CN" sz="2000" dirty="0"/>
              <a:t>4 &gt; 3 and print('hello world')</a:t>
            </a:r>
          </a:p>
        </p:txBody>
      </p:sp>
    </p:spTree>
    <p:extLst>
      <p:ext uri="{BB962C8B-B14F-4D97-AF65-F5344CB8AC3E}">
        <p14:creationId xmlns:p14="http://schemas.microsoft.com/office/powerpoint/2010/main" val="3064901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、运算符的优先级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9004820" y="2159972"/>
            <a:ext cx="2297961" cy="25545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000" dirty="0"/>
              <a:t>a = 20</a:t>
            </a:r>
          </a:p>
          <a:p>
            <a:r>
              <a:rPr lang="pt-BR" altLang="zh-CN" sz="2000" dirty="0"/>
              <a:t>b = 10</a:t>
            </a:r>
          </a:p>
          <a:p>
            <a:r>
              <a:rPr lang="pt-BR" altLang="zh-CN" sz="2000" dirty="0"/>
              <a:t>c = 15</a:t>
            </a:r>
          </a:p>
          <a:p>
            <a:r>
              <a:rPr lang="pt-BR" altLang="zh-CN" sz="2000" dirty="0"/>
              <a:t>d = 5</a:t>
            </a:r>
          </a:p>
          <a:p>
            <a:r>
              <a:rPr lang="pt-BR" altLang="zh-CN" sz="2000" dirty="0"/>
              <a:t>e = 0</a:t>
            </a:r>
          </a:p>
          <a:p>
            <a:endParaRPr lang="pt-BR" altLang="zh-CN" sz="2000" dirty="0"/>
          </a:p>
          <a:p>
            <a:r>
              <a:rPr lang="en-US" altLang="zh-CN" sz="2000" dirty="0"/>
              <a:t>e = (a + b) * c / d</a:t>
            </a:r>
          </a:p>
          <a:p>
            <a:r>
              <a:rPr lang="en-US" altLang="zh-CN" sz="2000" dirty="0"/>
              <a:t>e = (a + b) * (c / d)</a:t>
            </a:r>
          </a:p>
        </p:txBody>
      </p:sp>
      <p:sp>
        <p:nvSpPr>
          <p:cNvPr id="8" name="右箭头 7"/>
          <p:cNvSpPr/>
          <p:nvPr/>
        </p:nvSpPr>
        <p:spPr>
          <a:xfrm>
            <a:off x="8159016" y="3225248"/>
            <a:ext cx="477079" cy="40750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CA3284-FCF3-40E6-AE3E-705D4AB10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825" y="244189"/>
            <a:ext cx="4450466" cy="63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37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运算符的使用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、优先级特别说明</a:t>
            </a:r>
          </a:p>
        </p:txBody>
      </p:sp>
      <p:sp>
        <p:nvSpPr>
          <p:cNvPr id="6" name="三角形 9">
            <a:extLst>
              <a:ext uri="{FF2B5EF4-FFF2-40B4-BE49-F238E27FC236}">
                <a16:creationId xmlns:a16="http://schemas.microsoft.com/office/drawing/2014/main" id="{6C3710E9-2588-F946-B755-060464DABD9F}"/>
              </a:ext>
            </a:extLst>
          </p:cNvPr>
          <p:cNvSpPr/>
          <p:nvPr/>
        </p:nvSpPr>
        <p:spPr>
          <a:xfrm rot="2651319">
            <a:off x="607406" y="411002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CCE8B-9629-7E4B-B3A9-E87708BF9B85}"/>
              </a:ext>
            </a:extLst>
          </p:cNvPr>
          <p:cNvSpPr txBox="1"/>
          <p:nvPr/>
        </p:nvSpPr>
        <p:spPr>
          <a:xfrm>
            <a:off x="975357" y="4163783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在运算符的优先级中，</a:t>
            </a:r>
            <a:r>
              <a:rPr lang="en-US" altLang="zh-CN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 )</a:t>
            </a: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小括号的优先级最高！！！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A4F270-7F30-AE46-96EF-656D6943C707}"/>
              </a:ext>
            </a:extLst>
          </p:cNvPr>
          <p:cNvSpPr/>
          <p:nvPr/>
        </p:nvSpPr>
        <p:spPr>
          <a:xfrm>
            <a:off x="710880" y="3750562"/>
            <a:ext cx="10302240" cy="990403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3E04DF-C15D-7146-95A9-19AF703E9900}"/>
              </a:ext>
            </a:extLst>
          </p:cNvPr>
          <p:cNvSpPr/>
          <p:nvPr/>
        </p:nvSpPr>
        <p:spPr>
          <a:xfrm>
            <a:off x="600792" y="382591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0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200344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虽然 </a:t>
            </a:r>
            <a:r>
              <a:rPr lang="en-US" altLang="zh-CN" dirty="0"/>
              <a:t>Python </a:t>
            </a:r>
            <a:r>
              <a:rPr lang="zh-CN" altLang="en-US" dirty="0"/>
              <a:t>运算符存在优先级的关系，但我不推荐过度依赖运算符的优先级，这会导致程序的可读性降低。因此个人建议：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① 不要把一个表达式写得过于复杂，如果一个表达式过于复杂，可以尝试把它拆分来书写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② 不要过于依赖运算符的优先级来控制表达式的执行顺序，这样可读性太差，应尽量使用</a:t>
            </a:r>
            <a:r>
              <a:rPr lang="en-US" altLang="zh-CN" dirty="0">
                <a:solidFill>
                  <a:srgbClr val="AD2B26"/>
                </a:solidFill>
              </a:rPr>
              <a:t>( )</a:t>
            </a:r>
            <a:r>
              <a:rPr lang="zh-CN" altLang="en-US" dirty="0">
                <a:solidFill>
                  <a:srgbClr val="AD2B26"/>
                </a:solidFill>
              </a:rPr>
              <a:t>来控制表达式的执行顺序</a:t>
            </a:r>
            <a:endParaRPr lang="en-US" altLang="zh-CN" dirty="0">
              <a:solidFill>
                <a:srgbClr val="262626"/>
              </a:solidFill>
            </a:endParaRP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6698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162332D-6E1B-9948-9FF1-126B7A80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上午练习题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968495A-3E7D-644A-9FE8-5D1024F23E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运算符练习题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AB3EF58-A97F-D44C-8815-7D77AAB0C7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1853" y="1911638"/>
            <a:ext cx="10507827" cy="4219575"/>
          </a:xfrm>
        </p:spPr>
        <p:txBody>
          <a:bodyPr/>
          <a:lstStyle/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练习题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：提示用户输入圆的半径，根据公式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 = πr</a:t>
            </a:r>
            <a:r>
              <a:rPr lang="en-US" altLang="zh-CN" baseline="30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求圆的面积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</a:p>
          <a:p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zh-CN" altLang="en-US" dirty="0">
                <a:ea typeface="Alibaba PuHuiTi R" pitchFamily="18" charset="-122"/>
              </a:rPr>
              <a:t>练习题</a:t>
            </a:r>
            <a:r>
              <a:rPr lang="en-US" altLang="zh-CN" dirty="0">
                <a:ea typeface="Alibaba PuHuiTi R" pitchFamily="18" charset="-122"/>
              </a:rPr>
              <a:t>2</a:t>
            </a:r>
            <a:r>
              <a:rPr lang="zh-CN" altLang="en-US" dirty="0">
                <a:ea typeface="Alibaba PuHuiTi R" pitchFamily="18" charset="-122"/>
              </a:rPr>
              <a:t>：赋值运算 </a:t>
            </a:r>
            <a:r>
              <a:rPr lang="en-US" altLang="zh-CN" dirty="0">
                <a:ea typeface="Alibaba PuHuiTi R" pitchFamily="18" charset="-122"/>
              </a:rPr>
              <a:t>=&gt; </a:t>
            </a:r>
            <a:r>
              <a:rPr lang="zh-CN" altLang="en-US" dirty="0">
                <a:ea typeface="Alibaba PuHuiTi R" pitchFamily="18" charset="-122"/>
              </a:rPr>
              <a:t>输入身高，体重，求</a:t>
            </a:r>
            <a:r>
              <a:rPr lang="en-US" altLang="zh-CN" dirty="0">
                <a:ea typeface="Alibaba PuHuiTi R" pitchFamily="18" charset="-122"/>
              </a:rPr>
              <a:t>BMI = </a:t>
            </a:r>
            <a:r>
              <a:rPr lang="zh-CN" altLang="en-US" dirty="0">
                <a:ea typeface="Alibaba PuHuiTi R" pitchFamily="18" charset="-122"/>
              </a:rPr>
              <a:t>体重</a:t>
            </a:r>
            <a:r>
              <a:rPr lang="en-US" altLang="zh-CN" dirty="0">
                <a:ea typeface="Alibaba PuHuiTi R" pitchFamily="18" charset="-122"/>
              </a:rPr>
              <a:t>(kg)/</a:t>
            </a:r>
            <a:r>
              <a:rPr lang="zh-CN" altLang="en-US" dirty="0">
                <a:ea typeface="Alibaba PuHuiTi R" pitchFamily="18" charset="-122"/>
              </a:rPr>
              <a:t>身高</a:t>
            </a:r>
            <a:r>
              <a:rPr lang="en-US" altLang="zh-CN" dirty="0">
                <a:ea typeface="Alibaba PuHuiTi R" pitchFamily="18" charset="-122"/>
              </a:rPr>
              <a:t>(m)</a:t>
            </a:r>
            <a:r>
              <a:rPr lang="zh-CN" altLang="en-US" dirty="0">
                <a:ea typeface="Alibaba PuHuiTi R" pitchFamily="18" charset="-122"/>
              </a:rPr>
              <a:t>的平方。</a:t>
            </a:r>
            <a:endParaRPr lang="en-US" altLang="zh-CN" dirty="0">
              <a:ea typeface="Alibaba PuHuiTi R" pitchFamily="18" charset="-122"/>
            </a:endParaRPr>
          </a:p>
          <a:p>
            <a:endParaRPr lang="en-US" altLang="zh-CN" dirty="0">
              <a:ea typeface="Alibaba PuHuiTi R" pitchFamily="18" charset="-122"/>
            </a:endParaRPr>
          </a:p>
          <a:p>
            <a:r>
              <a:rPr lang="zh-CN" altLang="en-US" dirty="0">
                <a:ea typeface="Alibaba PuHuiTi R" pitchFamily="18" charset="-122"/>
              </a:rPr>
              <a:t>练习题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：逻辑运算 </a:t>
            </a:r>
            <a:r>
              <a:rPr lang="en-US" altLang="zh-CN" dirty="0">
                <a:ea typeface="Alibaba PuHuiTi R" pitchFamily="18" charset="-122"/>
              </a:rPr>
              <a:t>=&gt; </a:t>
            </a:r>
            <a:r>
              <a:rPr lang="zh-CN" altLang="en-US" dirty="0">
                <a:ea typeface="Alibaba PuHuiTi R" pitchFamily="18" charset="-122"/>
              </a:rPr>
              <a:t>输入三角形的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边，如果两边的长度大于第三条边，则代表是一个合法三角形</a:t>
            </a:r>
            <a:endParaRPr lang="en-US" altLang="zh-CN" dirty="0">
              <a:ea typeface="Alibaba PuHuiTi R" pitchFamily="18" charset="-122"/>
            </a:endParaRPr>
          </a:p>
          <a:p>
            <a:endParaRPr lang="en-US" altLang="zh-CN" dirty="0">
              <a:ea typeface="Alibaba PuHuiTi R" pitchFamily="18" charset="-122"/>
            </a:endParaRPr>
          </a:p>
          <a:p>
            <a:r>
              <a:rPr lang="zh-CN" altLang="en-US" dirty="0">
                <a:ea typeface="Alibaba PuHuiTi R" pitchFamily="18" charset="-122"/>
              </a:rPr>
              <a:t>练习题</a:t>
            </a:r>
            <a:r>
              <a:rPr lang="en-US" altLang="zh-CN" dirty="0">
                <a:ea typeface="Alibaba PuHuiTi R" pitchFamily="18" charset="-122"/>
              </a:rPr>
              <a:t>4</a:t>
            </a:r>
            <a:r>
              <a:rPr lang="zh-CN" altLang="en-US" dirty="0">
                <a:ea typeface="Alibaba PuHuiTi R" pitchFamily="18" charset="-122"/>
              </a:rPr>
              <a:t>：比较运算 </a:t>
            </a:r>
            <a:r>
              <a:rPr lang="en-US" altLang="zh-CN" dirty="0">
                <a:ea typeface="Alibaba PuHuiTi R" pitchFamily="18" charset="-122"/>
              </a:rPr>
              <a:t>=&gt; </a:t>
            </a:r>
            <a:r>
              <a:rPr lang="zh-CN" altLang="en-US" dirty="0">
                <a:ea typeface="Alibaba PuHuiTi R" pitchFamily="18" charset="-122"/>
              </a:rPr>
              <a:t>世界杯案例，世界杯小组赛的比赛规则是我们的球队与其他三支球队进行比赛，然后根据总成绩</a:t>
            </a:r>
            <a:r>
              <a:rPr lang="en-US" altLang="zh-CN" dirty="0">
                <a:ea typeface="Alibaba PuHuiTi R" pitchFamily="18" charset="-122"/>
              </a:rPr>
              <a:t>(</a:t>
            </a:r>
            <a:r>
              <a:rPr lang="zh-CN" altLang="en-US" dirty="0">
                <a:ea typeface="Alibaba PuHuiTi R" pitchFamily="18" charset="-122"/>
              </a:rPr>
              <a:t>积分</a:t>
            </a:r>
            <a:r>
              <a:rPr lang="en-US" altLang="zh-CN" dirty="0">
                <a:ea typeface="Alibaba PuHuiTi R" pitchFamily="18" charset="-122"/>
              </a:rPr>
              <a:t>)</a:t>
            </a:r>
            <a:r>
              <a:rPr lang="zh-CN" altLang="en-US" dirty="0">
                <a:ea typeface="Alibaba PuHuiTi R" pitchFamily="18" charset="-122"/>
              </a:rPr>
              <a:t>确定出线资格。小组赛球队实力已知</a:t>
            </a:r>
            <a:r>
              <a:rPr lang="en-US" altLang="zh-CN" dirty="0">
                <a:ea typeface="Alibaba PuHuiTi R" pitchFamily="18" charset="-122"/>
              </a:rPr>
              <a:t>(</a:t>
            </a:r>
            <a:r>
              <a:rPr lang="zh-CN" altLang="en-US" dirty="0">
                <a:ea typeface="Alibaba PuHuiTi R" pitchFamily="18" charset="-122"/>
              </a:rPr>
              <a:t>提示用户输入各球队实力），我们通过一个数字表示。如果我们赢</a:t>
            </a:r>
            <a:r>
              <a:rPr lang="en-US" altLang="zh-CN" dirty="0">
                <a:ea typeface="Alibaba PuHuiTi R" pitchFamily="18" charset="-122"/>
              </a:rPr>
              <a:t>1</a:t>
            </a:r>
            <a:r>
              <a:rPr lang="zh-CN" altLang="en-US" dirty="0">
                <a:ea typeface="Alibaba PuHuiTi R" pitchFamily="18" charset="-122"/>
              </a:rPr>
              <a:t>局得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分，平一局得</a:t>
            </a:r>
            <a:r>
              <a:rPr lang="en-US" altLang="zh-CN" dirty="0">
                <a:ea typeface="Alibaba PuHuiTi R" pitchFamily="18" charset="-122"/>
              </a:rPr>
              <a:t>1</a:t>
            </a:r>
            <a:r>
              <a:rPr lang="zh-CN" altLang="en-US" dirty="0">
                <a:ea typeface="Alibaba PuHuiTi R" pitchFamily="18" charset="-122"/>
              </a:rPr>
              <a:t>分，输一局得</a:t>
            </a:r>
            <a:r>
              <a:rPr lang="en-US" altLang="zh-CN" dirty="0">
                <a:ea typeface="Alibaba PuHuiTi R" pitchFamily="18" charset="-122"/>
              </a:rPr>
              <a:t>0</a:t>
            </a:r>
            <a:r>
              <a:rPr lang="zh-CN" altLang="en-US" dirty="0">
                <a:ea typeface="Alibaba PuHuiTi R" pitchFamily="18" charset="-122"/>
              </a:rPr>
              <a:t>分，最终求球队总成绩。（有难度）</a:t>
            </a:r>
            <a:endParaRPr lang="en-US" altLang="zh-CN" dirty="0">
              <a:ea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3045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世界杯小组赛问题解析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01549" y="3011355"/>
            <a:ext cx="10749599" cy="34163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ea typeface="Alibaba PuHuiTi B"/>
              </a:rPr>
              <a:t>a = </a:t>
            </a:r>
            <a:r>
              <a:rPr lang="en-US" altLang="zh-CN" dirty="0" err="1">
                <a:ea typeface="Alibaba PuHuiTi B"/>
              </a:rPr>
              <a:t>int</a:t>
            </a:r>
            <a:r>
              <a:rPr lang="en-US" altLang="zh-CN" dirty="0">
                <a:ea typeface="Alibaba PuHuiTi B"/>
              </a:rPr>
              <a:t>(input('</a:t>
            </a:r>
            <a:r>
              <a:rPr lang="zh-CN" altLang="en-US" dirty="0">
                <a:ea typeface="Alibaba PuHuiTi B"/>
              </a:rPr>
              <a:t>请输入我们球队的实力：</a:t>
            </a:r>
            <a:r>
              <a:rPr lang="en-US" altLang="zh-CN" dirty="0">
                <a:ea typeface="Alibaba PuHuiTi B"/>
              </a:rPr>
              <a:t>'))</a:t>
            </a:r>
            <a:br>
              <a:rPr lang="en-US" altLang="zh-CN" dirty="0">
                <a:ea typeface="Alibaba PuHuiTi B"/>
              </a:rPr>
            </a:br>
            <a:r>
              <a:rPr lang="en-US" altLang="zh-CN" dirty="0">
                <a:ea typeface="Alibaba PuHuiTi B"/>
              </a:rPr>
              <a:t>b = </a:t>
            </a:r>
            <a:r>
              <a:rPr lang="en-US" altLang="zh-CN" dirty="0" err="1">
                <a:ea typeface="Alibaba PuHuiTi B"/>
              </a:rPr>
              <a:t>int</a:t>
            </a:r>
            <a:r>
              <a:rPr lang="en-US" altLang="zh-CN" dirty="0">
                <a:ea typeface="Alibaba PuHuiTi B"/>
              </a:rPr>
              <a:t>(input('</a:t>
            </a:r>
            <a:r>
              <a:rPr lang="zh-CN" altLang="en-US" dirty="0">
                <a:ea typeface="Alibaba PuHuiTi B"/>
              </a:rPr>
              <a:t>请输入</a:t>
            </a:r>
            <a:r>
              <a:rPr lang="en-US" altLang="zh-CN" dirty="0">
                <a:ea typeface="Alibaba PuHuiTi B"/>
              </a:rPr>
              <a:t>1</a:t>
            </a:r>
            <a:r>
              <a:rPr lang="zh-CN" altLang="en-US" dirty="0">
                <a:ea typeface="Alibaba PuHuiTi B"/>
              </a:rPr>
              <a:t>号球队的实力：</a:t>
            </a:r>
            <a:r>
              <a:rPr lang="en-US" altLang="zh-CN" dirty="0">
                <a:ea typeface="Alibaba PuHuiTi B"/>
              </a:rPr>
              <a:t>'))</a:t>
            </a:r>
            <a:br>
              <a:rPr lang="en-US" altLang="zh-CN" dirty="0">
                <a:ea typeface="Alibaba PuHuiTi B"/>
              </a:rPr>
            </a:br>
            <a:r>
              <a:rPr lang="en-US" altLang="zh-CN" dirty="0">
                <a:ea typeface="Alibaba PuHuiTi B"/>
              </a:rPr>
              <a:t>c = </a:t>
            </a:r>
            <a:r>
              <a:rPr lang="en-US" altLang="zh-CN" dirty="0" err="1">
                <a:ea typeface="Alibaba PuHuiTi B"/>
              </a:rPr>
              <a:t>int</a:t>
            </a:r>
            <a:r>
              <a:rPr lang="en-US" altLang="zh-CN" dirty="0">
                <a:ea typeface="Alibaba PuHuiTi B"/>
              </a:rPr>
              <a:t>(input('</a:t>
            </a:r>
            <a:r>
              <a:rPr lang="zh-CN" altLang="en-US" dirty="0">
                <a:ea typeface="Alibaba PuHuiTi B"/>
              </a:rPr>
              <a:t>请输入</a:t>
            </a:r>
            <a:r>
              <a:rPr lang="en-US" altLang="zh-CN" dirty="0">
                <a:ea typeface="Alibaba PuHuiTi B"/>
              </a:rPr>
              <a:t>2</a:t>
            </a:r>
            <a:r>
              <a:rPr lang="zh-CN" altLang="en-US" dirty="0">
                <a:ea typeface="Alibaba PuHuiTi B"/>
              </a:rPr>
              <a:t>号球队的实力：</a:t>
            </a:r>
            <a:r>
              <a:rPr lang="en-US" altLang="zh-CN" dirty="0">
                <a:ea typeface="Alibaba PuHuiTi B"/>
              </a:rPr>
              <a:t>'))</a:t>
            </a:r>
            <a:br>
              <a:rPr lang="en-US" altLang="zh-CN" dirty="0">
                <a:ea typeface="Alibaba PuHuiTi B"/>
              </a:rPr>
            </a:br>
            <a:r>
              <a:rPr lang="en-US" altLang="zh-CN" dirty="0">
                <a:ea typeface="Alibaba PuHuiTi B"/>
              </a:rPr>
              <a:t>d = </a:t>
            </a:r>
            <a:r>
              <a:rPr lang="en-US" altLang="zh-CN" dirty="0" err="1">
                <a:ea typeface="Alibaba PuHuiTi B"/>
              </a:rPr>
              <a:t>int</a:t>
            </a:r>
            <a:r>
              <a:rPr lang="en-US" altLang="zh-CN" dirty="0">
                <a:ea typeface="Alibaba PuHuiTi B"/>
              </a:rPr>
              <a:t>(input('</a:t>
            </a:r>
            <a:r>
              <a:rPr lang="zh-CN" altLang="en-US" dirty="0">
                <a:ea typeface="Alibaba PuHuiTi B"/>
              </a:rPr>
              <a:t>请输入</a:t>
            </a:r>
            <a:r>
              <a:rPr lang="en-US" altLang="zh-CN" dirty="0">
                <a:ea typeface="Alibaba PuHuiTi B"/>
              </a:rPr>
              <a:t>3</a:t>
            </a:r>
            <a:r>
              <a:rPr lang="zh-CN" altLang="en-US" dirty="0">
                <a:ea typeface="Alibaba PuHuiTi B"/>
              </a:rPr>
              <a:t>号球队的实力：</a:t>
            </a:r>
            <a:r>
              <a:rPr lang="en-US" altLang="zh-CN" dirty="0">
                <a:ea typeface="Alibaba PuHuiTi B"/>
              </a:rPr>
              <a:t>'))</a:t>
            </a:r>
            <a:br>
              <a:rPr lang="en-US" altLang="zh-CN" dirty="0">
                <a:ea typeface="Alibaba PuHuiTi B"/>
              </a:rPr>
            </a:br>
            <a:br>
              <a:rPr lang="en-US" altLang="zh-CN" dirty="0">
                <a:ea typeface="Alibaba PuHuiTi B"/>
              </a:rPr>
            </a:br>
            <a:r>
              <a:rPr lang="en-US" altLang="zh-CN" dirty="0" err="1">
                <a:ea typeface="Alibaba PuHuiTi B"/>
              </a:rPr>
              <a:t>avsb</a:t>
            </a:r>
            <a:r>
              <a:rPr lang="en-US" altLang="zh-CN" dirty="0">
                <a:ea typeface="Alibaba PuHuiTi B"/>
              </a:rPr>
              <a:t> = (a &gt; b) * 3 + (a == b)</a:t>
            </a:r>
            <a:br>
              <a:rPr lang="en-US" altLang="zh-CN" dirty="0">
                <a:ea typeface="Alibaba PuHuiTi B"/>
              </a:rPr>
            </a:br>
            <a:r>
              <a:rPr lang="en-US" altLang="zh-CN" dirty="0" err="1">
                <a:ea typeface="Alibaba PuHuiTi B"/>
              </a:rPr>
              <a:t>avsc</a:t>
            </a:r>
            <a:r>
              <a:rPr lang="en-US" altLang="zh-CN" dirty="0">
                <a:ea typeface="Alibaba PuHuiTi B"/>
              </a:rPr>
              <a:t> = (a &gt; c) * 3 + (a == c)</a:t>
            </a:r>
            <a:br>
              <a:rPr lang="en-US" altLang="zh-CN" dirty="0">
                <a:ea typeface="Alibaba PuHuiTi B"/>
              </a:rPr>
            </a:br>
            <a:r>
              <a:rPr lang="en-US" altLang="zh-CN" dirty="0" err="1">
                <a:ea typeface="Alibaba PuHuiTi B"/>
              </a:rPr>
              <a:t>avsd</a:t>
            </a:r>
            <a:r>
              <a:rPr lang="en-US" altLang="zh-CN" dirty="0">
                <a:ea typeface="Alibaba PuHuiTi B"/>
              </a:rPr>
              <a:t> = (a &gt; d) * 3 + (a == d)</a:t>
            </a:r>
            <a:br>
              <a:rPr lang="en-US" altLang="zh-CN" dirty="0">
                <a:ea typeface="Alibaba PuHuiTi B"/>
              </a:rPr>
            </a:br>
            <a:br>
              <a:rPr lang="en-US" altLang="zh-CN" dirty="0">
                <a:ea typeface="Alibaba PuHuiTi B"/>
              </a:rPr>
            </a:br>
            <a:r>
              <a:rPr lang="en-US" altLang="zh-CN" dirty="0">
                <a:ea typeface="Alibaba PuHuiTi B"/>
              </a:rPr>
              <a:t>score = </a:t>
            </a:r>
            <a:r>
              <a:rPr lang="en-US" altLang="zh-CN" dirty="0" err="1">
                <a:ea typeface="Alibaba PuHuiTi B"/>
              </a:rPr>
              <a:t>avsb</a:t>
            </a:r>
            <a:r>
              <a:rPr lang="en-US" altLang="zh-CN" dirty="0">
                <a:ea typeface="Alibaba PuHuiTi B"/>
              </a:rPr>
              <a:t> + </a:t>
            </a:r>
            <a:r>
              <a:rPr lang="en-US" altLang="zh-CN" dirty="0" err="1">
                <a:ea typeface="Alibaba PuHuiTi B"/>
              </a:rPr>
              <a:t>avsc</a:t>
            </a:r>
            <a:r>
              <a:rPr lang="en-US" altLang="zh-CN" dirty="0">
                <a:ea typeface="Alibaba PuHuiTi B"/>
              </a:rPr>
              <a:t> + </a:t>
            </a:r>
            <a:r>
              <a:rPr lang="en-US" altLang="zh-CN" dirty="0" err="1">
                <a:ea typeface="Alibaba PuHuiTi B"/>
              </a:rPr>
              <a:t>avsd</a:t>
            </a:r>
            <a:br>
              <a:rPr lang="en-US" altLang="zh-CN" dirty="0">
                <a:ea typeface="Alibaba PuHuiTi B"/>
              </a:rPr>
            </a:br>
            <a:br>
              <a:rPr lang="en-US" altLang="zh-CN" dirty="0">
                <a:ea typeface="Alibaba PuHuiTi B"/>
              </a:rPr>
            </a:br>
            <a:r>
              <a:rPr lang="en-US" altLang="zh-CN" dirty="0">
                <a:ea typeface="Alibaba PuHuiTi B"/>
              </a:rPr>
              <a:t>print('</a:t>
            </a:r>
            <a:r>
              <a:rPr lang="zh-CN" altLang="en-US" dirty="0">
                <a:ea typeface="Alibaba PuHuiTi B"/>
              </a:rPr>
              <a:t>小组赛最终结果：</a:t>
            </a:r>
            <a:r>
              <a:rPr lang="en-US" altLang="zh-CN" dirty="0">
                <a:ea typeface="Alibaba PuHuiTi B"/>
              </a:rPr>
              <a:t>%d</a:t>
            </a:r>
            <a:r>
              <a:rPr lang="zh-CN" altLang="en-US" dirty="0">
                <a:ea typeface="Alibaba PuHuiTi B"/>
              </a:rPr>
              <a:t>分</a:t>
            </a:r>
            <a:r>
              <a:rPr lang="en-US" altLang="zh-CN" dirty="0">
                <a:ea typeface="Alibaba PuHuiTi B"/>
              </a:rPr>
              <a:t>' % (score))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746" y="890486"/>
            <a:ext cx="6083933" cy="180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86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if</a:t>
            </a:r>
            <a:r>
              <a:rPr kumimoji="1" lang="zh-CN" altLang="en-US" dirty="0"/>
              <a:t>选择结构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6633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假设一个场景：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同学们这个年龄去过网吧吗？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去网吧进门想要上网必须做的一件事是做什么？（考虑重点）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为什么要把身份证给工作人员？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是不是就是为了判断是否成年？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是不是如果成年可以上网？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如果不成年则不允许上网？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其实这里所谓的判断就是条件语句，即条件成立执行某些代码，条件不成立则不执行这些代码。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、了解</a:t>
            </a:r>
            <a:r>
              <a:rPr lang="en-US" altLang="zh-CN" dirty="0"/>
              <a:t>if</a:t>
            </a:r>
            <a:r>
              <a:rPr lang="zh-CN" altLang="en-US" dirty="0"/>
              <a:t>条件语句</a:t>
            </a:r>
          </a:p>
        </p:txBody>
      </p:sp>
    </p:spTree>
    <p:extLst>
      <p:ext uri="{BB962C8B-B14F-4D97-AF65-F5344CB8AC3E}">
        <p14:creationId xmlns:p14="http://schemas.microsoft.com/office/powerpoint/2010/main" val="1463855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if</a:t>
            </a:r>
            <a:r>
              <a:rPr lang="zh-CN" altLang="en-US" dirty="0"/>
              <a:t>条件语句的基本语法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457271"/>
            <a:ext cx="10749599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if </a:t>
            </a:r>
            <a:r>
              <a:rPr lang="zh-CN" altLang="en-US" sz="1600" dirty="0"/>
              <a:t>条件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条件成立执行的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  <a:r>
              <a:rPr lang="en-US" altLang="zh-CN" sz="1600" dirty="0"/>
              <a:t>1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条件成立执行的代码</a:t>
            </a:r>
            <a:r>
              <a:rPr lang="en-US" altLang="zh-CN" sz="1600" dirty="0"/>
              <a:t>2</a:t>
            </a:r>
          </a:p>
          <a:p>
            <a:r>
              <a:rPr lang="en-US" altLang="zh-CN" sz="1600" dirty="0"/>
              <a:t>    ......</a:t>
            </a:r>
          </a:p>
        </p:txBody>
      </p:sp>
      <p:sp>
        <p:nvSpPr>
          <p:cNvPr id="6" name="矩形 5"/>
          <p:cNvSpPr/>
          <p:nvPr/>
        </p:nvSpPr>
        <p:spPr>
          <a:xfrm>
            <a:off x="641306" y="259790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案例演示：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947940"/>
            <a:ext cx="10749599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True: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条件成立执行的代码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1')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条件成立执行的代码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2')</a:t>
            </a:r>
          </a:p>
          <a:p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下方的代码没有缩进到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语句块，所以和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条件无关</a:t>
            </a: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我是无论条件是否成立都要执行的代码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8" name="矩形 7"/>
          <p:cNvSpPr/>
          <p:nvPr/>
        </p:nvSpPr>
        <p:spPr>
          <a:xfrm>
            <a:off x="641306" y="45176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运行结果：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4893751"/>
            <a:ext cx="8164847" cy="163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78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、上网案例演示（错误版本）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457271"/>
            <a:ext cx="10749599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需求：如果用户年龄大于等于</a:t>
            </a:r>
            <a:r>
              <a:rPr lang="en-US" altLang="zh-CN" sz="1600" dirty="0"/>
              <a:t>18</a:t>
            </a:r>
            <a:r>
              <a:rPr lang="zh-CN" altLang="en-US" sz="1600" dirty="0"/>
              <a:t>岁，即成年，输出</a:t>
            </a:r>
            <a:r>
              <a:rPr lang="en-US" altLang="zh-CN" sz="1600" dirty="0"/>
              <a:t>"</a:t>
            </a:r>
            <a:r>
              <a:rPr lang="zh-CN" altLang="en-US" sz="1600" dirty="0"/>
              <a:t>已经成年，可以上网</a:t>
            </a:r>
            <a:r>
              <a:rPr lang="en-US" altLang="zh-CN" sz="1600" dirty="0"/>
              <a:t>"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age = input('</a:t>
            </a:r>
            <a:r>
              <a:rPr lang="zh-CN" altLang="en-US" sz="1600" dirty="0"/>
              <a:t>请输入您的年龄：</a:t>
            </a:r>
            <a:r>
              <a:rPr lang="en-US" altLang="zh-CN" sz="1600" dirty="0"/>
              <a:t>')</a:t>
            </a:r>
          </a:p>
          <a:p>
            <a:r>
              <a:rPr lang="en-US" altLang="zh-CN" sz="1600" dirty="0"/>
              <a:t>if age &gt;= 18:</a:t>
            </a:r>
          </a:p>
          <a:p>
            <a:r>
              <a:rPr lang="en-US" altLang="zh-CN" sz="1600" dirty="0"/>
              <a:t>    print('</a:t>
            </a:r>
            <a:r>
              <a:rPr lang="zh-CN" altLang="en-US" sz="1600" dirty="0"/>
              <a:t>已经成年，可以上网</a:t>
            </a:r>
            <a:r>
              <a:rPr lang="en-US" altLang="zh-CN" sz="1600" dirty="0"/>
              <a:t>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print('</a:t>
            </a:r>
            <a:r>
              <a:rPr lang="zh-CN" altLang="en-US" sz="1600" dirty="0"/>
              <a:t>系统关闭</a:t>
            </a:r>
            <a:r>
              <a:rPr lang="en-US" altLang="zh-CN" sz="1600" dirty="0"/>
              <a:t>')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4071399"/>
            <a:ext cx="10749599" cy="230832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# input</a:t>
            </a:r>
            <a:r>
              <a:rPr lang="zh-CN" altLang="en-US" sz="1600" dirty="0"/>
              <a:t>接受用户输入的数据是字符串类型，条件是</a:t>
            </a:r>
            <a:r>
              <a:rPr lang="en-US" altLang="zh-CN" sz="1600" dirty="0"/>
              <a:t>age</a:t>
            </a:r>
            <a:r>
              <a:rPr lang="zh-CN" altLang="en-US" sz="1600" dirty="0"/>
              <a:t>和整型</a:t>
            </a:r>
            <a:r>
              <a:rPr lang="en-US" altLang="zh-CN" sz="1600" dirty="0"/>
              <a:t>18</a:t>
            </a:r>
            <a:r>
              <a:rPr lang="zh-CN" altLang="en-US" sz="1600" dirty="0"/>
              <a:t>做判断，所以这里要</a:t>
            </a:r>
            <a:r>
              <a:rPr lang="en-US" altLang="zh-CN" sz="1600" dirty="0" err="1"/>
              <a:t>int</a:t>
            </a:r>
            <a:r>
              <a:rPr lang="zh-CN" altLang="en-US" sz="1600" dirty="0"/>
              <a:t>转换数据类型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en-US" altLang="zh-CN" sz="1600" dirty="0"/>
              <a:t>age = </a:t>
            </a:r>
            <a:r>
              <a:rPr lang="en-US" altLang="zh-CN" sz="1600" dirty="0" err="1">
                <a:solidFill>
                  <a:srgbClr val="B60206"/>
                </a:solidFill>
              </a:rPr>
              <a:t>int</a:t>
            </a:r>
            <a:r>
              <a:rPr lang="en-US" altLang="zh-CN" sz="1600" dirty="0"/>
              <a:t>(input('</a:t>
            </a:r>
            <a:r>
              <a:rPr lang="zh-CN" altLang="en-US" sz="1600" dirty="0"/>
              <a:t>请输入您的年龄：</a:t>
            </a:r>
            <a:r>
              <a:rPr lang="en-US" altLang="zh-CN" sz="1600" dirty="0"/>
              <a:t>'))</a:t>
            </a:r>
          </a:p>
          <a:p>
            <a:endParaRPr lang="en-US" altLang="zh-CN" sz="1600" dirty="0"/>
          </a:p>
          <a:p>
            <a:r>
              <a:rPr lang="en-US" altLang="zh-CN" sz="1600" dirty="0"/>
              <a:t>if age &gt;= 18:</a:t>
            </a:r>
          </a:p>
          <a:p>
            <a:r>
              <a:rPr lang="en-US" altLang="zh-CN" sz="1600" dirty="0"/>
              <a:t>    print(f'</a:t>
            </a:r>
            <a:r>
              <a:rPr lang="zh-CN" altLang="en-US" sz="1600" dirty="0"/>
              <a:t>您的年龄是</a:t>
            </a:r>
            <a:r>
              <a:rPr lang="en-US" altLang="zh-CN" sz="1600" dirty="0"/>
              <a:t>{age},</a:t>
            </a:r>
            <a:r>
              <a:rPr lang="zh-CN" altLang="en-US" sz="1600" dirty="0"/>
              <a:t>已经成年，可以上网</a:t>
            </a:r>
            <a:r>
              <a:rPr lang="en-US" altLang="zh-CN" sz="1600" dirty="0"/>
              <a:t>')</a:t>
            </a:r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print('</a:t>
            </a:r>
            <a:r>
              <a:rPr lang="zh-CN" altLang="en-US" sz="1600" dirty="0"/>
              <a:t>系统关闭</a:t>
            </a:r>
            <a:r>
              <a:rPr lang="en-US" altLang="zh-CN" sz="1600" dirty="0"/>
              <a:t>')</a:t>
            </a:r>
          </a:p>
        </p:txBody>
      </p:sp>
      <p:sp>
        <p:nvSpPr>
          <p:cNvPr id="8" name="矩形 7"/>
          <p:cNvSpPr/>
          <p:nvPr/>
        </p:nvSpPr>
        <p:spPr>
          <a:xfrm>
            <a:off x="641306" y="353310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修正版本：</a:t>
            </a:r>
          </a:p>
        </p:txBody>
      </p:sp>
    </p:spTree>
    <p:extLst>
      <p:ext uri="{BB962C8B-B14F-4D97-AF65-F5344CB8AC3E}">
        <p14:creationId xmlns:p14="http://schemas.microsoft.com/office/powerpoint/2010/main" val="3256072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if…else…</a:t>
            </a:r>
            <a:r>
              <a:rPr lang="zh-CN" altLang="en-US" dirty="0"/>
              <a:t>结构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051679"/>
            <a:ext cx="10749599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age = </a:t>
            </a:r>
            <a:r>
              <a:rPr lang="en-US" altLang="zh-CN" sz="1600" dirty="0" err="1">
                <a:solidFill>
                  <a:srgbClr val="B60206"/>
                </a:solidFill>
              </a:rPr>
              <a:t>int</a:t>
            </a:r>
            <a:r>
              <a:rPr lang="en-US" altLang="zh-CN" sz="1600" dirty="0">
                <a:solidFill>
                  <a:srgbClr val="B60206"/>
                </a:solidFill>
              </a:rPr>
              <a:t>(input('</a:t>
            </a:r>
            <a:r>
              <a:rPr lang="zh-CN" altLang="en-US" sz="1600" dirty="0">
                <a:solidFill>
                  <a:srgbClr val="B60206"/>
                </a:solidFill>
              </a:rPr>
              <a:t>请输入您的年龄：</a:t>
            </a:r>
            <a:r>
              <a:rPr lang="en-US" altLang="zh-CN" sz="1600" dirty="0">
                <a:solidFill>
                  <a:srgbClr val="B60206"/>
                </a:solidFill>
              </a:rPr>
              <a:t>'))</a:t>
            </a:r>
          </a:p>
          <a:p>
            <a:endParaRPr lang="en-US" altLang="zh-CN" sz="1600" dirty="0"/>
          </a:p>
          <a:p>
            <a:r>
              <a:rPr lang="en-US" altLang="zh-CN" sz="1600" dirty="0">
                <a:solidFill>
                  <a:srgbClr val="B60206"/>
                </a:solidFill>
              </a:rPr>
              <a:t>if age &gt;= 18:</a:t>
            </a:r>
          </a:p>
          <a:p>
            <a:r>
              <a:rPr lang="en-US" altLang="zh-CN" sz="1600" dirty="0">
                <a:solidFill>
                  <a:srgbClr val="B60206"/>
                </a:solidFill>
              </a:rPr>
              <a:t>    print(f'</a:t>
            </a:r>
            <a:r>
              <a:rPr lang="zh-CN" altLang="en-US" sz="1600" dirty="0">
                <a:solidFill>
                  <a:srgbClr val="B60206"/>
                </a:solidFill>
              </a:rPr>
              <a:t>您的年龄是</a:t>
            </a:r>
            <a:r>
              <a:rPr lang="en-US" altLang="zh-CN" sz="1600" dirty="0">
                <a:solidFill>
                  <a:srgbClr val="B60206"/>
                </a:solidFill>
              </a:rPr>
              <a:t>{age},</a:t>
            </a:r>
            <a:r>
              <a:rPr lang="zh-CN" altLang="en-US" sz="1600" dirty="0">
                <a:solidFill>
                  <a:srgbClr val="B60206"/>
                </a:solidFill>
              </a:rPr>
              <a:t>已经成年，可以上网</a:t>
            </a:r>
            <a:r>
              <a:rPr lang="en-US" altLang="zh-CN" sz="1600" dirty="0">
                <a:solidFill>
                  <a:srgbClr val="B60206"/>
                </a:solidFill>
              </a:rPr>
              <a:t>')</a:t>
            </a:r>
          </a:p>
          <a:p>
            <a:r>
              <a:rPr lang="en-US" altLang="zh-CN" sz="1600" dirty="0">
                <a:solidFill>
                  <a:srgbClr val="B60206"/>
                </a:solidFill>
              </a:rPr>
              <a:t>else:</a:t>
            </a:r>
          </a:p>
          <a:p>
            <a:r>
              <a:rPr lang="en-US" altLang="zh-CN" sz="1600" dirty="0">
                <a:solidFill>
                  <a:srgbClr val="B60206"/>
                </a:solidFill>
              </a:rPr>
              <a:t>    print(f'</a:t>
            </a:r>
            <a:r>
              <a:rPr lang="zh-CN" altLang="en-US" sz="1600" dirty="0">
                <a:solidFill>
                  <a:srgbClr val="B60206"/>
                </a:solidFill>
              </a:rPr>
              <a:t>您的年龄是</a:t>
            </a:r>
            <a:r>
              <a:rPr lang="en-US" altLang="zh-CN" sz="1600" dirty="0">
                <a:solidFill>
                  <a:srgbClr val="B60206"/>
                </a:solidFill>
              </a:rPr>
              <a:t>{age},</a:t>
            </a:r>
            <a:r>
              <a:rPr lang="zh-CN" altLang="en-US" sz="1600" dirty="0">
                <a:solidFill>
                  <a:srgbClr val="B60206"/>
                </a:solidFill>
              </a:rPr>
              <a:t>未成年，请自行回家写作业</a:t>
            </a:r>
            <a:r>
              <a:rPr lang="en-US" altLang="zh-CN" sz="1600" dirty="0">
                <a:solidFill>
                  <a:srgbClr val="B60206"/>
                </a:solidFill>
              </a:rPr>
              <a:t>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print('</a:t>
            </a:r>
            <a:r>
              <a:rPr lang="zh-CN" altLang="en-US" sz="1600" dirty="0"/>
              <a:t>系统关闭</a:t>
            </a:r>
            <a:r>
              <a:rPr lang="en-US" altLang="zh-CN" sz="1600" dirty="0"/>
              <a:t>')</a:t>
            </a:r>
          </a:p>
        </p:txBody>
      </p:sp>
      <p:sp>
        <p:nvSpPr>
          <p:cNvPr id="9" name="矩形 8"/>
          <p:cNvSpPr/>
          <p:nvPr/>
        </p:nvSpPr>
        <p:spPr>
          <a:xfrm>
            <a:off x="641306" y="26323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全新版本：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457271"/>
            <a:ext cx="10749599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if </a:t>
            </a:r>
            <a:r>
              <a:rPr lang="zh-CN" altLang="en-US" sz="1600" dirty="0"/>
              <a:t>条件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条件成立，执行的代码</a:t>
            </a:r>
            <a:r>
              <a:rPr lang="en-US" altLang="zh-CN" sz="1600" dirty="0"/>
              <a:t>1</a:t>
            </a:r>
          </a:p>
          <a:p>
            <a:r>
              <a:rPr lang="en-US" altLang="zh-CN" sz="1600" dirty="0"/>
              <a:t>else: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条件不成立，执行的代码</a:t>
            </a:r>
            <a:r>
              <a:rPr lang="en-US" altLang="zh-CN" sz="1600" dirty="0"/>
              <a:t>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79" y="5276282"/>
            <a:ext cx="8946153" cy="135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64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if…</a:t>
            </a:r>
            <a:r>
              <a:rPr lang="en-US" altLang="zh-CN" dirty="0" err="1"/>
              <a:t>elif</a:t>
            </a:r>
            <a:r>
              <a:rPr lang="en-US" altLang="zh-CN" dirty="0"/>
              <a:t>…else</a:t>
            </a:r>
            <a:r>
              <a:rPr lang="zh-CN" altLang="en-US" dirty="0"/>
              <a:t>多重判断语句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457271"/>
            <a:ext cx="10749599" cy="280076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B60206"/>
                </a:solidFill>
              </a:rPr>
              <a:t>if </a:t>
            </a:r>
            <a:r>
              <a:rPr lang="zh-CN" altLang="en-US" sz="1600" dirty="0">
                <a:solidFill>
                  <a:srgbClr val="B60206"/>
                </a:solidFill>
              </a:rPr>
              <a:t>条件</a:t>
            </a:r>
            <a:r>
              <a:rPr lang="en-US" altLang="zh-CN" sz="1600" dirty="0">
                <a:solidFill>
                  <a:srgbClr val="B60206"/>
                </a:solidFill>
              </a:rPr>
              <a:t>1: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条件</a:t>
            </a:r>
            <a:r>
              <a:rPr lang="en-US" altLang="zh-CN" sz="1600" dirty="0"/>
              <a:t>1</a:t>
            </a:r>
            <a:r>
              <a:rPr lang="zh-CN" altLang="en-US" sz="1600" dirty="0"/>
              <a:t>成立执行的代码</a:t>
            </a:r>
            <a:r>
              <a:rPr lang="en-US" altLang="zh-CN" sz="1600" dirty="0"/>
              <a:t>1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条件</a:t>
            </a:r>
            <a:r>
              <a:rPr lang="en-US" altLang="zh-CN" sz="1600" dirty="0"/>
              <a:t>1</a:t>
            </a:r>
            <a:r>
              <a:rPr lang="zh-CN" altLang="en-US" sz="1600" dirty="0"/>
              <a:t>成立执行的代码</a:t>
            </a:r>
            <a:r>
              <a:rPr lang="en-US" altLang="zh-CN" sz="1600" dirty="0"/>
              <a:t>2</a:t>
            </a:r>
          </a:p>
          <a:p>
            <a:r>
              <a:rPr lang="en-US" altLang="zh-CN" sz="1600" dirty="0"/>
              <a:t>    ......</a:t>
            </a:r>
          </a:p>
          <a:p>
            <a:r>
              <a:rPr lang="en-US" altLang="zh-CN" sz="1600" dirty="0" err="1">
                <a:solidFill>
                  <a:srgbClr val="B60206"/>
                </a:solidFill>
              </a:rPr>
              <a:t>elif</a:t>
            </a:r>
            <a:r>
              <a:rPr lang="en-US" altLang="zh-CN" sz="1600" dirty="0">
                <a:solidFill>
                  <a:srgbClr val="B60206"/>
                </a:solidFill>
              </a:rPr>
              <a:t> </a:t>
            </a:r>
            <a:r>
              <a:rPr lang="zh-CN" altLang="en-US" sz="1600" dirty="0">
                <a:solidFill>
                  <a:srgbClr val="B60206"/>
                </a:solidFill>
              </a:rPr>
              <a:t>条件</a:t>
            </a:r>
            <a:r>
              <a:rPr lang="en-US" altLang="zh-CN" sz="1600" dirty="0">
                <a:solidFill>
                  <a:srgbClr val="B60206"/>
                </a:solidFill>
              </a:rPr>
              <a:t>2</a:t>
            </a:r>
            <a:r>
              <a:rPr lang="zh-CN" altLang="en-US" sz="1600" dirty="0">
                <a:solidFill>
                  <a:srgbClr val="B60206"/>
                </a:solidFill>
              </a:rPr>
              <a:t>：</a:t>
            </a:r>
          </a:p>
          <a:p>
            <a:r>
              <a:rPr lang="zh-CN" altLang="en-US" sz="1600" dirty="0"/>
              <a:t>    条件</a:t>
            </a:r>
            <a:r>
              <a:rPr lang="en-US" altLang="zh-CN" sz="1600" dirty="0"/>
              <a:t>2</a:t>
            </a:r>
            <a:r>
              <a:rPr lang="zh-CN" altLang="en-US" sz="1600" dirty="0"/>
              <a:t>成立执行的代码</a:t>
            </a:r>
            <a:r>
              <a:rPr lang="en-US" altLang="zh-CN" sz="1600" dirty="0"/>
              <a:t>1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条件</a:t>
            </a:r>
            <a:r>
              <a:rPr lang="en-US" altLang="zh-CN" sz="1600" dirty="0"/>
              <a:t>2</a:t>
            </a:r>
            <a:r>
              <a:rPr lang="zh-CN" altLang="en-US" sz="1600" dirty="0"/>
              <a:t>成立执行的代码</a:t>
            </a:r>
            <a:r>
              <a:rPr lang="en-US" altLang="zh-CN" sz="1600" dirty="0"/>
              <a:t>2</a:t>
            </a:r>
          </a:p>
          <a:p>
            <a:r>
              <a:rPr lang="en-US" altLang="zh-CN" sz="1600" dirty="0"/>
              <a:t>    ......</a:t>
            </a:r>
          </a:p>
          <a:p>
            <a:r>
              <a:rPr lang="en-US" altLang="zh-CN" sz="1600" dirty="0"/>
              <a:t>......</a:t>
            </a:r>
          </a:p>
          <a:p>
            <a:r>
              <a:rPr lang="en-US" altLang="zh-CN" sz="1600" dirty="0">
                <a:solidFill>
                  <a:srgbClr val="B60206"/>
                </a:solidFill>
              </a:rPr>
              <a:t>else:</a:t>
            </a:r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以上条件都不成立执行的代码</a:t>
            </a:r>
            <a:endParaRPr lang="en-US" altLang="zh-CN" sz="1600" dirty="0"/>
          </a:p>
        </p:txBody>
      </p:sp>
      <p:sp>
        <p:nvSpPr>
          <p:cNvPr id="2" name="矩形 1"/>
          <p:cNvSpPr/>
          <p:nvPr/>
        </p:nvSpPr>
        <p:spPr>
          <a:xfrm>
            <a:off x="2766627" y="4915730"/>
            <a:ext cx="86938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思考题：</a:t>
            </a:r>
            <a:endParaRPr lang="en-US" altLang="zh-CN" dirty="0"/>
          </a:p>
          <a:p>
            <a:r>
              <a:rPr lang="zh-CN" altLang="en-US" dirty="0"/>
              <a:t>① 中国合法工作年龄为18-60岁，即如果年龄小于18的情况为童工，不合法；</a:t>
            </a:r>
            <a:endParaRPr lang="en-US" altLang="zh-CN" dirty="0"/>
          </a:p>
          <a:p>
            <a:r>
              <a:rPr lang="zh-CN" altLang="en-US" dirty="0"/>
              <a:t>② 如果年龄在18-60岁之间为合法工龄；</a:t>
            </a:r>
            <a:endParaRPr lang="en-US" altLang="zh-CN" dirty="0"/>
          </a:p>
          <a:p>
            <a:r>
              <a:rPr lang="zh-CN" altLang="en-US" dirty="0"/>
              <a:t>③ 大于60岁为法定退休年龄。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4488022"/>
            <a:ext cx="2055747" cy="205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85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思考题解析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536784"/>
            <a:ext cx="10749599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age = int(input(‘</a:t>
            </a:r>
            <a:r>
              <a:rPr lang="zh-CN" altLang="en-US" sz="1600" dirty="0"/>
              <a:t>请输入员工的年龄：</a:t>
            </a:r>
            <a:r>
              <a:rPr lang="en-US" altLang="zh-CN" sz="1600" dirty="0"/>
              <a:t>’))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if age &lt; 18:</a:t>
            </a:r>
            <a:br>
              <a:rPr lang="en-US" altLang="zh-CN" sz="1600" dirty="0"/>
            </a:br>
            <a:r>
              <a:rPr lang="en-US" altLang="zh-CN" sz="1600" dirty="0"/>
              <a:t>    print(‘</a:t>
            </a:r>
            <a:r>
              <a:rPr lang="zh-CN" altLang="en-US" sz="1600" dirty="0"/>
              <a:t>童工一枚</a:t>
            </a:r>
            <a:r>
              <a:rPr lang="en-US" altLang="zh-CN" sz="1600" dirty="0"/>
              <a:t>’)</a:t>
            </a:r>
            <a:br>
              <a:rPr lang="en-US" altLang="zh-CN" sz="1600" dirty="0"/>
            </a:br>
            <a:r>
              <a:rPr lang="en-US" altLang="zh-CN" sz="1600" dirty="0" err="1"/>
              <a:t>elif</a:t>
            </a:r>
            <a:r>
              <a:rPr lang="en-US" altLang="zh-CN" sz="1600" dirty="0"/>
              <a:t> age &gt;= 18 and age &lt;=60:</a:t>
            </a:r>
            <a:br>
              <a:rPr lang="en-US" altLang="zh-CN" sz="1600" dirty="0"/>
            </a:br>
            <a:r>
              <a:rPr lang="en-US" altLang="zh-CN" sz="1600" dirty="0"/>
              <a:t>    print(‘</a:t>
            </a:r>
            <a:r>
              <a:rPr lang="zh-CN" altLang="en-US" sz="1600" dirty="0"/>
              <a:t>合法年龄</a:t>
            </a:r>
            <a:r>
              <a:rPr lang="en-US" altLang="zh-CN" sz="1600" dirty="0"/>
              <a:t>’)</a:t>
            </a:r>
            <a:br>
              <a:rPr lang="en-US" altLang="zh-CN" sz="1600" dirty="0"/>
            </a:br>
            <a:r>
              <a:rPr lang="en-US" altLang="zh-CN" sz="1600" dirty="0"/>
              <a:t>else:</a:t>
            </a:r>
            <a:br>
              <a:rPr lang="en-US" altLang="zh-CN" sz="1600" dirty="0"/>
            </a:br>
            <a:r>
              <a:rPr lang="en-US" altLang="zh-CN" sz="1600" dirty="0"/>
              <a:t>    print(‘</a:t>
            </a:r>
            <a:r>
              <a:rPr lang="zh-CN" altLang="en-US" sz="1600" dirty="0"/>
              <a:t>退休年龄</a:t>
            </a:r>
            <a:r>
              <a:rPr lang="en-US" altLang="zh-CN" sz="1600" dirty="0"/>
              <a:t>')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4402567"/>
            <a:ext cx="10749599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age =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(input('</a:t>
            </a:r>
            <a:r>
              <a:rPr lang="zh-CN" altLang="en-US" sz="1600" dirty="0"/>
              <a:t>请输入员工的年龄：</a:t>
            </a:r>
            <a:r>
              <a:rPr lang="en-US" altLang="zh-CN" sz="1600" dirty="0"/>
              <a:t>'))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if age &lt; 18:</a:t>
            </a:r>
            <a:br>
              <a:rPr lang="en-US" altLang="zh-CN" sz="1600" dirty="0"/>
            </a:br>
            <a:r>
              <a:rPr lang="en-US" altLang="zh-CN" sz="1600" dirty="0"/>
              <a:t>    print('</a:t>
            </a:r>
            <a:r>
              <a:rPr lang="zh-CN" altLang="en-US" sz="1600" dirty="0"/>
              <a:t>童工一枚</a:t>
            </a:r>
            <a:r>
              <a:rPr lang="en-US" altLang="zh-CN" sz="1600" dirty="0"/>
              <a:t>')</a:t>
            </a:r>
            <a:br>
              <a:rPr lang="en-US" altLang="zh-CN" sz="1600" dirty="0"/>
            </a:br>
            <a:r>
              <a:rPr lang="en-US" altLang="zh-CN" sz="1600" dirty="0" err="1"/>
              <a:t>elif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B60206"/>
                </a:solidFill>
              </a:rPr>
              <a:t>18 &lt;= age &lt;=60:</a:t>
            </a:r>
            <a:br>
              <a:rPr lang="en-US" altLang="zh-CN" sz="1600" dirty="0"/>
            </a:br>
            <a:r>
              <a:rPr lang="en-US" altLang="zh-CN" sz="1600" dirty="0"/>
              <a:t>    print('</a:t>
            </a:r>
            <a:r>
              <a:rPr lang="zh-CN" altLang="en-US" sz="1600" dirty="0"/>
              <a:t>合法年龄</a:t>
            </a:r>
            <a:r>
              <a:rPr lang="en-US" altLang="zh-CN" sz="1600" dirty="0"/>
              <a:t>')</a:t>
            </a:r>
            <a:br>
              <a:rPr lang="en-US" altLang="zh-CN" sz="1600" dirty="0"/>
            </a:br>
            <a:r>
              <a:rPr lang="en-US" altLang="zh-CN" sz="1600" dirty="0"/>
              <a:t>else:</a:t>
            </a:r>
            <a:br>
              <a:rPr lang="en-US" altLang="zh-CN" sz="1600" dirty="0"/>
            </a:br>
            <a:r>
              <a:rPr lang="en-US" altLang="zh-CN" sz="1600" dirty="0"/>
              <a:t>    print('</a:t>
            </a:r>
            <a:r>
              <a:rPr lang="zh-CN" altLang="en-US" sz="1600"/>
              <a:t>退休年龄</a:t>
            </a:r>
            <a:r>
              <a:rPr lang="en-US" altLang="zh-CN" sz="1600"/>
              <a:t>')</a:t>
            </a:r>
            <a:endParaRPr lang="en-US" altLang="zh-CN" sz="1600" dirty="0"/>
          </a:p>
        </p:txBody>
      </p:sp>
      <p:sp>
        <p:nvSpPr>
          <p:cNvPr id="10" name="矩形 9"/>
          <p:cNvSpPr/>
          <p:nvPr/>
        </p:nvSpPr>
        <p:spPr>
          <a:xfrm>
            <a:off x="710880" y="3816061"/>
            <a:ext cx="5311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age &gt;= 18 and age &lt;= 60</a:t>
            </a:r>
            <a:r>
              <a:rPr lang="zh-CN" altLang="en-US" dirty="0"/>
              <a:t>也可以简化为</a:t>
            </a:r>
            <a:r>
              <a:rPr lang="en-US" altLang="zh-CN" dirty="0"/>
              <a:t>18 &lt;= age &lt;= 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5805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if</a:t>
            </a:r>
            <a:r>
              <a:rPr lang="zh-CN" altLang="en-US" dirty="0"/>
              <a:t>嵌套结构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457271"/>
            <a:ext cx="10749599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B60206"/>
                </a:solidFill>
              </a:rPr>
              <a:t>if </a:t>
            </a:r>
            <a:r>
              <a:rPr lang="zh-CN" altLang="en-US" sz="1600" dirty="0">
                <a:solidFill>
                  <a:srgbClr val="B60206"/>
                </a:solidFill>
              </a:rPr>
              <a:t>条件</a:t>
            </a:r>
            <a:r>
              <a:rPr lang="en-US" altLang="zh-CN" sz="1600" dirty="0">
                <a:solidFill>
                  <a:srgbClr val="B60206"/>
                </a:solidFill>
              </a:rPr>
              <a:t>1</a:t>
            </a:r>
            <a:r>
              <a:rPr lang="zh-CN" altLang="en-US" sz="1600" dirty="0">
                <a:solidFill>
                  <a:srgbClr val="B60206"/>
                </a:solidFill>
              </a:rPr>
              <a:t>：</a:t>
            </a:r>
            <a:endParaRPr lang="en-US" altLang="zh-CN" sz="1600" dirty="0">
              <a:solidFill>
                <a:srgbClr val="B60206"/>
              </a:solidFill>
            </a:endParaRPr>
          </a:p>
          <a:p>
            <a:r>
              <a:rPr lang="en-US" altLang="zh-CN" sz="1600" dirty="0">
                <a:solidFill>
                  <a:srgbClr val="B60206"/>
                </a:solidFill>
              </a:rPr>
              <a:t>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成立执行的代码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条件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成立执行的代码</a:t>
            </a:r>
          </a:p>
          <a:p>
            <a:r>
              <a:rPr lang="zh-CN" altLang="en-US" sz="1600" dirty="0">
                <a:solidFill>
                  <a:srgbClr val="B60206"/>
                </a:solidFill>
              </a:rPr>
              <a:t>    </a:t>
            </a:r>
          </a:p>
          <a:p>
            <a:r>
              <a:rPr lang="zh-CN" altLang="en-US" sz="1600" dirty="0">
                <a:solidFill>
                  <a:srgbClr val="B60206"/>
                </a:solidFill>
              </a:rPr>
              <a:t>    </a:t>
            </a:r>
            <a:r>
              <a:rPr lang="en-US" altLang="zh-CN" sz="1600" dirty="0">
                <a:solidFill>
                  <a:srgbClr val="B60206"/>
                </a:solidFill>
              </a:rPr>
              <a:t>if </a:t>
            </a:r>
            <a:r>
              <a:rPr lang="zh-CN" altLang="en-US" sz="1600" dirty="0">
                <a:solidFill>
                  <a:srgbClr val="B60206"/>
                </a:solidFill>
              </a:rPr>
              <a:t>条件</a:t>
            </a:r>
            <a:r>
              <a:rPr lang="en-US" altLang="zh-CN" sz="1600" dirty="0">
                <a:solidFill>
                  <a:srgbClr val="B60206"/>
                </a:solidFill>
              </a:rPr>
              <a:t>2</a:t>
            </a:r>
            <a:r>
              <a:rPr lang="zh-CN" altLang="en-US" sz="1600" dirty="0">
                <a:solidFill>
                  <a:srgbClr val="B60206"/>
                </a:solidFill>
              </a:rPr>
              <a:t>：</a:t>
            </a:r>
          </a:p>
          <a:p>
            <a:r>
              <a:rPr lang="zh-CN" altLang="en-US" sz="1600" dirty="0">
                <a:solidFill>
                  <a:srgbClr val="B60206"/>
                </a:solidFill>
              </a:rPr>
              <a:t>  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成立执行的代码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条件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成立执行的代码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37418" y="4318086"/>
            <a:ext cx="86938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案例：法律规定</a:t>
            </a:r>
            <a:r>
              <a:rPr lang="zh-CN" altLang="en-US" dirty="0"/>
              <a:t>，车辆驾驶员的血液酒精含量小于 </a:t>
            </a:r>
            <a:r>
              <a:rPr lang="en-US" altLang="zh-CN" dirty="0"/>
              <a:t>20mg/100ml </a:t>
            </a:r>
            <a:r>
              <a:rPr lang="zh-CN" altLang="en-US" dirty="0"/>
              <a:t>不构成酒驾；酒精含量大于或等于 </a:t>
            </a:r>
            <a:r>
              <a:rPr lang="en-US" altLang="zh-CN" dirty="0"/>
              <a:t>20mg/100ml </a:t>
            </a:r>
            <a:r>
              <a:rPr lang="zh-CN" altLang="en-US" dirty="0"/>
              <a:t>为酒驾；酒精含量大于或等于 </a:t>
            </a:r>
            <a:r>
              <a:rPr lang="en-US" altLang="zh-CN" dirty="0"/>
              <a:t>80mg/100ml </a:t>
            </a:r>
            <a:r>
              <a:rPr lang="zh-CN" altLang="en-US" dirty="0"/>
              <a:t>为醉驾。编写 </a:t>
            </a:r>
            <a:r>
              <a:rPr lang="en-US" altLang="zh-CN" dirty="0"/>
              <a:t>Python </a:t>
            </a:r>
            <a:r>
              <a:rPr lang="zh-CN" altLang="en-US" dirty="0"/>
              <a:t>程序判断是否为酒后驾车。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71" y="3613379"/>
            <a:ext cx="2055747" cy="205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727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if</a:t>
            </a:r>
            <a:r>
              <a:rPr lang="zh-CN" altLang="en-US" dirty="0"/>
              <a:t>嵌套结构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21200" y="1635973"/>
            <a:ext cx="10749599" cy="25545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= int(input('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请输入驾驶员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100ml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血液中的酒精含量：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判断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酒精含量是否小于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20mg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proof &lt; 20: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驾驶员不构成酒驾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#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已经构成酒驾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=&gt;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两种类型（酒驾与醉驾）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proof &gt;= 80: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驾驶员已构成醉驾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else: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驾驶员已构成酒驾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38D2EE-1CD2-4695-B40B-557E79948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4500077"/>
            <a:ext cx="8519002" cy="72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84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选择结构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、猜拳案例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2643829"/>
            <a:ext cx="6216693" cy="2897403"/>
          </a:xfrm>
          <a:prstGeom prst="rect">
            <a:avLst/>
          </a:prstGeom>
        </p:spPr>
      </p:pic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4"/>
            <a:ext cx="10749598" cy="69950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需求：参与游戏的角色有两个（玩家 与 电脑），玩家手工出拳，电脑随机出拳，根据石头剪刀布判断输赢。大致有三种情况：</a:t>
            </a:r>
          </a:p>
        </p:txBody>
      </p:sp>
    </p:spTree>
    <p:extLst>
      <p:ext uri="{BB962C8B-B14F-4D97-AF65-F5344CB8AC3E}">
        <p14:creationId xmlns:p14="http://schemas.microsoft.com/office/powerpoint/2010/main" val="200020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石头剪刀布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208794"/>
            <a:ext cx="10749599" cy="50783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导入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random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random</a:t>
            </a:r>
          </a:p>
          <a:p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计算电脑出拳的随机数字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computer =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random.randint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(0, 2)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print(computer)</a:t>
            </a:r>
          </a:p>
          <a:p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player =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(input('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请出拳：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0-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石头，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1-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剪刀，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2-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布：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'))</a:t>
            </a:r>
          </a:p>
          <a:p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玩家胜利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p0:c1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p1:c2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p2:c0</a:t>
            </a:r>
          </a:p>
          <a:p>
            <a:r>
              <a:rPr lang="en-US" altLang="zh-CN" dirty="0">
                <a:solidFill>
                  <a:srgbClr val="B60206"/>
                </a:solidFill>
              </a:rPr>
              <a:t>if (player == 0 and computer == 1) or (player == 1 and computer == 2) or (player == 2 and computer == 0):</a:t>
            </a:r>
          </a:p>
          <a:p>
            <a:r>
              <a:rPr lang="en-US" altLang="zh-CN" dirty="0">
                <a:solidFill>
                  <a:srgbClr val="B60206"/>
                </a:solidFill>
              </a:rPr>
              <a:t>    print('</a:t>
            </a:r>
            <a:r>
              <a:rPr lang="zh-CN" altLang="en-US" dirty="0">
                <a:solidFill>
                  <a:srgbClr val="B60206"/>
                </a:solidFill>
              </a:rPr>
              <a:t>玩家获胜</a:t>
            </a:r>
            <a:r>
              <a:rPr lang="en-US" altLang="zh-CN" dirty="0">
                <a:solidFill>
                  <a:srgbClr val="B60206"/>
                </a:solidFill>
              </a:rPr>
              <a:t>')</a:t>
            </a:r>
          </a:p>
          <a:p>
            <a:endParaRPr lang="en-US" altLang="zh-CN" dirty="0">
              <a:solidFill>
                <a:srgbClr val="B60206"/>
              </a:solidFill>
            </a:endParaRPr>
          </a:p>
          <a:p>
            <a:r>
              <a:rPr lang="en-US" altLang="zh-CN" dirty="0">
                <a:solidFill>
                  <a:srgbClr val="B60206"/>
                </a:solidFill>
              </a:rPr>
              <a:t># </a:t>
            </a:r>
            <a:r>
              <a:rPr lang="zh-CN" altLang="en-US" dirty="0">
                <a:solidFill>
                  <a:srgbClr val="B60206"/>
                </a:solidFill>
              </a:rPr>
              <a:t>平局：玩家 </a:t>
            </a:r>
            <a:r>
              <a:rPr lang="en-US" altLang="zh-CN" dirty="0">
                <a:solidFill>
                  <a:srgbClr val="B60206"/>
                </a:solidFill>
              </a:rPr>
              <a:t>== </a:t>
            </a:r>
            <a:r>
              <a:rPr lang="zh-CN" altLang="en-US" dirty="0">
                <a:solidFill>
                  <a:srgbClr val="B60206"/>
                </a:solidFill>
              </a:rPr>
              <a:t>电脑</a:t>
            </a:r>
          </a:p>
          <a:p>
            <a:r>
              <a:rPr lang="en-US" altLang="zh-CN" dirty="0" err="1">
                <a:solidFill>
                  <a:srgbClr val="B60206"/>
                </a:solidFill>
              </a:rPr>
              <a:t>elif</a:t>
            </a:r>
            <a:r>
              <a:rPr lang="en-US" altLang="zh-CN" dirty="0">
                <a:solidFill>
                  <a:srgbClr val="B60206"/>
                </a:solidFill>
              </a:rPr>
              <a:t> player == computer:</a:t>
            </a:r>
          </a:p>
          <a:p>
            <a:r>
              <a:rPr lang="en-US" altLang="zh-CN" dirty="0">
                <a:solidFill>
                  <a:srgbClr val="B60206"/>
                </a:solidFill>
              </a:rPr>
              <a:t>    print('</a:t>
            </a:r>
            <a:r>
              <a:rPr lang="zh-CN" altLang="en-US" dirty="0">
                <a:solidFill>
                  <a:srgbClr val="B60206"/>
                </a:solidFill>
              </a:rPr>
              <a:t>平局</a:t>
            </a:r>
            <a:r>
              <a:rPr lang="en-US" altLang="zh-CN" dirty="0">
                <a:solidFill>
                  <a:srgbClr val="B60206"/>
                </a:solidFill>
              </a:rPr>
              <a:t>')</a:t>
            </a:r>
          </a:p>
          <a:p>
            <a:r>
              <a:rPr lang="en-US" altLang="zh-CN" dirty="0">
                <a:solidFill>
                  <a:srgbClr val="B60206"/>
                </a:solidFill>
              </a:rPr>
              <a:t>else:</a:t>
            </a:r>
          </a:p>
          <a:p>
            <a:r>
              <a:rPr lang="en-US" altLang="zh-CN" dirty="0">
                <a:solidFill>
                  <a:srgbClr val="B60206"/>
                </a:solidFill>
              </a:rPr>
              <a:t>    print('</a:t>
            </a:r>
            <a:r>
              <a:rPr lang="zh-CN" altLang="en-US" dirty="0">
                <a:solidFill>
                  <a:srgbClr val="B60206"/>
                </a:solidFill>
              </a:rPr>
              <a:t>电脑获胜</a:t>
            </a:r>
            <a:r>
              <a:rPr lang="en-US" altLang="zh-CN" dirty="0">
                <a:solidFill>
                  <a:srgbClr val="B60206"/>
                </a:solidFill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1728260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三目运算符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880" y="1200527"/>
            <a:ext cx="268535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5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Arial" panose="020B0604020202020204" pitchFamily="34" charset="0"/>
                <a:ea typeface="Source Sans Pro"/>
              </a:rPr>
              <a:t>三目运算符也叫三元运算符。</a:t>
            </a: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4495E"/>
              </a:solidFill>
              <a:effectLst/>
              <a:latin typeface="Arial" panose="020B0604020202020204" pitchFamily="34" charset="0"/>
              <a:ea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500" b="0" i="0" u="none" strike="noStrike" cap="none" normalizeH="0" baseline="0" dirty="0">
                <a:ln>
                  <a:noFill/>
                </a:ln>
                <a:solidFill>
                  <a:srgbClr val="34495E"/>
                </a:solidFill>
                <a:effectLst/>
                <a:latin typeface="Arial" panose="020B0604020202020204" pitchFamily="34" charset="0"/>
                <a:ea typeface="Source Sans Pro"/>
              </a:rPr>
              <a:t>语法如下：</a:t>
            </a:r>
            <a:endParaRPr kumimoji="0" 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947451"/>
            <a:ext cx="10749599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B60206"/>
                </a:solidFill>
              </a:rPr>
              <a:t>值</a:t>
            </a:r>
            <a:r>
              <a:rPr lang="en-US" altLang="zh-CN" dirty="0">
                <a:solidFill>
                  <a:srgbClr val="B60206"/>
                </a:solidFill>
              </a:rPr>
              <a:t>1 if </a:t>
            </a:r>
            <a:r>
              <a:rPr lang="zh-CN" altLang="en-US" dirty="0">
                <a:solidFill>
                  <a:srgbClr val="B60206"/>
                </a:solidFill>
              </a:rPr>
              <a:t>条件 </a:t>
            </a:r>
            <a:r>
              <a:rPr lang="en-US" altLang="zh-CN" dirty="0">
                <a:solidFill>
                  <a:srgbClr val="B60206"/>
                </a:solidFill>
              </a:rPr>
              <a:t>else </a:t>
            </a:r>
            <a:r>
              <a:rPr lang="zh-CN" altLang="en-US" dirty="0">
                <a:solidFill>
                  <a:srgbClr val="B60206"/>
                </a:solidFill>
              </a:rPr>
              <a:t>值</a:t>
            </a:r>
            <a:r>
              <a:rPr lang="en-US" altLang="zh-CN" dirty="0">
                <a:solidFill>
                  <a:srgbClr val="B60206"/>
                </a:solidFill>
              </a:rPr>
              <a:t>2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0880" y="2479021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求两个数的最大值：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010591"/>
            <a:ext cx="10749599" cy="147732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= 1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= 2</a:t>
            </a:r>
          </a:p>
          <a:p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dirty="0">
                <a:solidFill>
                  <a:srgbClr val="AD2B26"/>
                </a:solidFill>
              </a:rPr>
              <a:t>c = a if a &gt; b else b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print(c)</a:t>
            </a:r>
          </a:p>
        </p:txBody>
      </p:sp>
    </p:spTree>
    <p:extLst>
      <p:ext uri="{BB962C8B-B14F-4D97-AF65-F5344CB8AC3E}">
        <p14:creationId xmlns:p14="http://schemas.microsoft.com/office/powerpoint/2010/main" val="2342161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EC2059-C43B-E74C-9676-118DAF47C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96389" y="1043609"/>
            <a:ext cx="6535171" cy="5118652"/>
          </a:xfrm>
        </p:spPr>
        <p:txBody>
          <a:bodyPr/>
          <a:lstStyle/>
          <a:p>
            <a:r>
              <a:rPr lang="zh-CN" altLang="en-US" dirty="0"/>
              <a:t>从键盘中输入三个任意数值，求最大值</a:t>
            </a:r>
            <a:endParaRPr lang="en-US" altLang="zh-CN" dirty="0"/>
          </a:p>
          <a:p>
            <a:r>
              <a:rPr lang="zh-CN" altLang="en-US" dirty="0"/>
              <a:t>期末考试结束了，根据学员成绩求学员等级：</a:t>
            </a:r>
            <a:r>
              <a:rPr lang="en-US" altLang="zh-CN" dirty="0"/>
              <a:t>90</a:t>
            </a:r>
            <a:r>
              <a:rPr lang="zh-CN" altLang="en-US" dirty="0"/>
              <a:t>分及以上则为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60</a:t>
            </a:r>
            <a:r>
              <a:rPr lang="zh-CN" altLang="en-US" dirty="0"/>
              <a:t>分及</a:t>
            </a:r>
            <a:r>
              <a:rPr lang="en-US" altLang="zh-CN" dirty="0"/>
              <a:t>60</a:t>
            </a:r>
            <a:r>
              <a:rPr lang="zh-CN" altLang="en-US" dirty="0"/>
              <a:t>分到</a:t>
            </a:r>
            <a:r>
              <a:rPr lang="en-US" altLang="zh-CN" dirty="0"/>
              <a:t>90</a:t>
            </a:r>
            <a:r>
              <a:rPr lang="zh-CN" altLang="en-US" dirty="0"/>
              <a:t>之间则为</a:t>
            </a:r>
            <a:r>
              <a:rPr lang="en-US" altLang="zh-CN" dirty="0"/>
              <a:t>B</a:t>
            </a:r>
            <a:r>
              <a:rPr lang="zh-CN" altLang="en-US" dirty="0"/>
              <a:t>，小于</a:t>
            </a:r>
            <a:r>
              <a:rPr lang="en-US" altLang="zh-CN" dirty="0"/>
              <a:t>60</a:t>
            </a:r>
            <a:r>
              <a:rPr lang="zh-CN" altLang="en-US" dirty="0"/>
              <a:t>分则为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红绿灯案例：手动输入红绿灯状态如</a:t>
            </a:r>
            <a:r>
              <a:rPr lang="en-US" altLang="zh-CN" dirty="0"/>
              <a:t>state="</a:t>
            </a:r>
            <a:r>
              <a:rPr lang="zh-CN" altLang="en-US" dirty="0"/>
              <a:t>红灯</a:t>
            </a:r>
            <a:r>
              <a:rPr lang="en-US" altLang="zh-CN" dirty="0"/>
              <a:t>"</a:t>
            </a:r>
            <a:r>
              <a:rPr lang="zh-CN" altLang="en-US" dirty="0"/>
              <a:t>，根据红绿灯状态，输出小汽车的运行状态。正常通行、停车等待、观察并慢行。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29EDBEC-5E42-F040-B63A-408C1ED4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Python</a:t>
            </a:r>
            <a:r>
              <a:rPr lang="zh-CN" altLang="en-US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运算符与条件结构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8224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8863</TotalTime>
  <Words>3090</Words>
  <Application>Microsoft Office PowerPoint</Application>
  <PresentationFormat>宽屏</PresentationFormat>
  <Paragraphs>399</Paragraphs>
  <Slides>43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43</vt:i4>
      </vt:variant>
    </vt:vector>
  </HeadingPairs>
  <TitlesOfParts>
    <vt:vector size="61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Python运算符与if判断</vt:lpstr>
      <vt:lpstr>PowerPoint 演示文稿</vt:lpstr>
      <vt:lpstr>PowerPoint 演示文稿</vt:lpstr>
      <vt:lpstr>Python数据类型转换</vt:lpstr>
      <vt:lpstr>Python数据类型转换</vt:lpstr>
      <vt:lpstr>Python数据类型转换</vt:lpstr>
      <vt:lpstr>Python数据类型转换</vt:lpstr>
      <vt:lpstr>Python数据类型转换</vt:lpstr>
      <vt:lpstr>Python数据类型转换</vt:lpstr>
      <vt:lpstr>Python数据类型转换</vt:lpstr>
      <vt:lpstr>Python数据类型转换</vt:lpstr>
      <vt:lpstr>Python数据类型转换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运算符的使用</vt:lpstr>
      <vt:lpstr>上午练习题</vt:lpstr>
      <vt:lpstr>世界杯小组赛问题解析</vt:lpstr>
      <vt:lpstr>if选择结构</vt:lpstr>
      <vt:lpstr>if选择结构</vt:lpstr>
      <vt:lpstr>if选择结构</vt:lpstr>
      <vt:lpstr>if选择结构</vt:lpstr>
      <vt:lpstr>if选择结构</vt:lpstr>
      <vt:lpstr>if选择结构</vt:lpstr>
      <vt:lpstr>if选择结构</vt:lpstr>
      <vt:lpstr>if选择结构</vt:lpstr>
      <vt:lpstr>if选择结构</vt:lpstr>
      <vt:lpstr>if选择结构</vt:lpstr>
      <vt:lpstr>石头剪刀布</vt:lpstr>
      <vt:lpstr>三目运算符</vt:lpstr>
      <vt:lpstr>Python运算符与条件结构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任 逍遥</cp:lastModifiedBy>
  <cp:revision>502</cp:revision>
  <dcterms:created xsi:type="dcterms:W3CDTF">2020-03-31T02:23:27Z</dcterms:created>
  <dcterms:modified xsi:type="dcterms:W3CDTF">2021-11-02T04:18:42Z</dcterms:modified>
</cp:coreProperties>
</file>