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72"/>
  </p:notesMasterIdLst>
  <p:handoutMasterIdLst>
    <p:handoutMasterId r:id="rId73"/>
  </p:handoutMasterIdLst>
  <p:sldIdLst>
    <p:sldId id="462" r:id="rId8"/>
    <p:sldId id="463" r:id="rId9"/>
    <p:sldId id="464" r:id="rId10"/>
    <p:sldId id="466" r:id="rId11"/>
    <p:sldId id="577" r:id="rId12"/>
    <p:sldId id="596" r:id="rId13"/>
    <p:sldId id="597" r:id="rId14"/>
    <p:sldId id="598" r:id="rId15"/>
    <p:sldId id="599" r:id="rId16"/>
    <p:sldId id="600" r:id="rId17"/>
    <p:sldId id="601" r:id="rId18"/>
    <p:sldId id="536" r:id="rId19"/>
    <p:sldId id="532" r:id="rId20"/>
    <p:sldId id="602" r:id="rId21"/>
    <p:sldId id="570" r:id="rId22"/>
    <p:sldId id="605" r:id="rId23"/>
    <p:sldId id="603" r:id="rId24"/>
    <p:sldId id="604" r:id="rId25"/>
    <p:sldId id="608" r:id="rId26"/>
    <p:sldId id="609" r:id="rId27"/>
    <p:sldId id="610" r:id="rId28"/>
    <p:sldId id="611" r:id="rId29"/>
    <p:sldId id="612" r:id="rId30"/>
    <p:sldId id="615" r:id="rId31"/>
    <p:sldId id="618" r:id="rId32"/>
    <p:sldId id="619" r:id="rId33"/>
    <p:sldId id="620" r:id="rId34"/>
    <p:sldId id="625" r:id="rId35"/>
    <p:sldId id="461" r:id="rId36"/>
    <p:sldId id="626" r:id="rId37"/>
    <p:sldId id="627" r:id="rId38"/>
    <p:sldId id="628" r:id="rId39"/>
    <p:sldId id="630" r:id="rId40"/>
    <p:sldId id="629" r:id="rId41"/>
    <p:sldId id="631" r:id="rId42"/>
    <p:sldId id="632" r:id="rId43"/>
    <p:sldId id="633" r:id="rId44"/>
    <p:sldId id="636" r:id="rId45"/>
    <p:sldId id="634" r:id="rId46"/>
    <p:sldId id="635" r:id="rId47"/>
    <p:sldId id="637" r:id="rId48"/>
    <p:sldId id="638" r:id="rId49"/>
    <p:sldId id="639" r:id="rId50"/>
    <p:sldId id="640" r:id="rId51"/>
    <p:sldId id="641" r:id="rId52"/>
    <p:sldId id="643" r:id="rId53"/>
    <p:sldId id="642" r:id="rId54"/>
    <p:sldId id="644" r:id="rId55"/>
    <p:sldId id="645" r:id="rId56"/>
    <p:sldId id="646" r:id="rId57"/>
    <p:sldId id="647" r:id="rId58"/>
    <p:sldId id="649" r:id="rId59"/>
    <p:sldId id="650" r:id="rId60"/>
    <p:sldId id="651" r:id="rId61"/>
    <p:sldId id="652" r:id="rId62"/>
    <p:sldId id="653" r:id="rId63"/>
    <p:sldId id="654" r:id="rId64"/>
    <p:sldId id="655" r:id="rId65"/>
    <p:sldId id="656" r:id="rId66"/>
    <p:sldId id="657" r:id="rId67"/>
    <p:sldId id="658" r:id="rId68"/>
    <p:sldId id="659" r:id="rId69"/>
    <p:sldId id="452" r:id="rId70"/>
    <p:sldId id="264" r:id="rId7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AD2B26"/>
    <a:srgbClr val="49504F"/>
    <a:srgbClr val="B70006"/>
    <a:srgbClr val="FFFFE4"/>
    <a:srgbClr val="919191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5" autoAdjust="0"/>
    <p:restoredTop sz="91940" autoAdjust="0"/>
  </p:normalViewPr>
  <p:slideViewPr>
    <p:cSldViewPr snapToGrid="0">
      <p:cViewPr varScale="1">
        <p:scale>
          <a:sx n="79" d="100"/>
          <a:sy n="79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2021/11/5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921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591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235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016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00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244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186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69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8536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796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733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821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050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592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993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238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2556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808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28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0735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682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2338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7782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341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935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7951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2072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760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455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231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168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0269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9637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04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Python</a:t>
            </a:r>
            <a:r>
              <a:rPr lang="zh-CN" altLang="en-US"/>
              <a:t>数据序列（上）</a:t>
            </a:r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/>
              <a:t>人生苦短，我学</a:t>
            </a:r>
            <a:r>
              <a:rPr kumimoji="1" lang="en-US" altLang="zh-CN"/>
              <a:t>Python!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了解字符串</a:t>
            </a:r>
            <a:endParaRPr lang="en-US" altLang="zh-CN"/>
          </a:p>
          <a:p>
            <a:r>
              <a:rPr lang="zh-CN" altLang="en-US">
                <a:solidFill>
                  <a:srgbClr val="B60206"/>
                </a:solidFill>
              </a:rPr>
              <a:t>字符串切片</a:t>
            </a:r>
            <a:endParaRPr lang="en-US" altLang="zh-CN">
              <a:solidFill>
                <a:srgbClr val="B60206"/>
              </a:solidFill>
            </a:endParaRPr>
          </a:p>
          <a:p>
            <a:r>
              <a:rPr lang="zh-CN" altLang="en-US">
                <a:solidFill>
                  <a:srgbClr val="AD2B26"/>
                </a:solidFill>
              </a:rPr>
              <a:t>字符串常用操作方法</a:t>
            </a:r>
            <a:endParaRPr lang="en-US" altLang="zh-CN">
              <a:solidFill>
                <a:srgbClr val="AD2B26"/>
              </a:solidFill>
            </a:endParaRPr>
          </a:p>
          <a:p>
            <a:r>
              <a:rPr lang="zh-CN" altLang="en-US">
                <a:solidFill>
                  <a:srgbClr val="AD2B26"/>
                </a:solidFill>
              </a:rPr>
              <a:t>列表及其应用场景</a:t>
            </a:r>
            <a:endParaRPr lang="en-US" altLang="zh-CN">
              <a:solidFill>
                <a:srgbClr val="AD2B26"/>
              </a:solidFill>
            </a:endParaRPr>
          </a:p>
          <a:p>
            <a:r>
              <a:rPr lang="zh-CN" altLang="en-US">
                <a:solidFill>
                  <a:srgbClr val="B60206"/>
                </a:solidFill>
              </a:rPr>
              <a:t>列表的循环遍历</a:t>
            </a:r>
            <a:endParaRPr lang="en-US" altLang="zh-CN">
              <a:solidFill>
                <a:srgbClr val="B60206"/>
              </a:solidFill>
            </a:endParaRPr>
          </a:p>
          <a:p>
            <a:r>
              <a:rPr lang="zh-CN" altLang="en-US"/>
              <a:t>列表嵌套</a:t>
            </a:r>
            <a:endParaRPr lang="en-US" altLang="zh-CN"/>
          </a:p>
          <a:p>
            <a:r>
              <a:rPr lang="zh-CN" altLang="en-US">
                <a:solidFill>
                  <a:srgbClr val="B60206"/>
                </a:solidFill>
              </a:rPr>
              <a:t>元组及其应用场景</a:t>
            </a:r>
            <a:endParaRPr lang="en-US" altLang="zh-CN">
              <a:solidFill>
                <a:srgbClr val="B602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了解字符串以及字符串存储结构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B60206"/>
                </a:solidFill>
              </a:rPr>
              <a:t>掌握字符串下标及其应用</a:t>
            </a:r>
            <a:endParaRPr lang="en-US" altLang="zh-CN">
              <a:solidFill>
                <a:srgbClr val="B60206"/>
              </a:solidFill>
            </a:endParaRPr>
          </a:p>
          <a:p>
            <a:r>
              <a:rPr lang="zh-CN" altLang="en-US">
                <a:solidFill>
                  <a:srgbClr val="B60206"/>
                </a:solidFill>
              </a:rPr>
              <a:t>掌握字符串的切片</a:t>
            </a:r>
            <a:endParaRPr lang="en-US" altLang="zh-CN">
              <a:solidFill>
                <a:srgbClr val="B60206"/>
              </a:solidFill>
            </a:endParaRPr>
          </a:p>
          <a:p>
            <a:r>
              <a:rPr lang="zh-CN" altLang="en-US">
                <a:solidFill>
                  <a:srgbClr val="B60206"/>
                </a:solidFill>
              </a:rPr>
              <a:t>掌握字符串常用操作方法</a:t>
            </a:r>
            <a:endParaRPr lang="en-US" altLang="zh-CN">
              <a:solidFill>
                <a:srgbClr val="B60206"/>
              </a:solidFill>
            </a:endParaRPr>
          </a:p>
          <a:p>
            <a:r>
              <a:rPr lang="zh-CN" altLang="en-US">
                <a:solidFill>
                  <a:srgbClr val="B60206"/>
                </a:solidFill>
              </a:rPr>
              <a:t>掌握列表及其应用场景</a:t>
            </a:r>
            <a:endParaRPr lang="en-US" altLang="zh-CN">
              <a:solidFill>
                <a:srgbClr val="B60206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了解列表的嵌套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AD2B26"/>
                </a:solidFill>
              </a:rPr>
              <a:t>掌握元组的定义及其应用场景</a:t>
            </a:r>
            <a:endParaRPr lang="en-US" altLang="zh-CN">
              <a:solidFill>
                <a:srgbClr val="AD2B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了解字符串</a:t>
            </a:r>
            <a:endParaRPr kumimoji="1"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/>
              <a:t>01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字符串是 </a:t>
            </a:r>
            <a:r>
              <a:rPr lang="en-US" altLang="zh-CN" dirty="0"/>
              <a:t>Python </a:t>
            </a:r>
            <a:r>
              <a:rPr lang="zh-CN" altLang="en-US" dirty="0"/>
              <a:t>中最常用的数据类型。我们一般使用引号来创建字符串。创建字符串很简单，只要为变量分配一个值即可。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了解字符串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、字符串的定义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600888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 = 'hello world'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 = "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abcdefg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print(type(a))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print(type(b))</a:t>
            </a:r>
          </a:p>
        </p:txBody>
      </p:sp>
      <p:sp>
        <p:nvSpPr>
          <p:cNvPr id="7" name="三角形 9">
            <a:extLst>
              <a:ext uri="{FF2B5EF4-FFF2-40B4-BE49-F238E27FC236}">
                <a16:creationId xmlns:a16="http://schemas.microsoft.com/office/drawing/2014/main" id="{6C3710E9-2588-F946-B755-060464DABD9F}"/>
              </a:ext>
            </a:extLst>
          </p:cNvPr>
          <p:cNvSpPr/>
          <p:nvPr/>
        </p:nvSpPr>
        <p:spPr>
          <a:xfrm rot="2651319">
            <a:off x="607406" y="4481582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34FCCE8B-9629-7E4B-B3A9-E87708BF9B85}"/>
              </a:ext>
            </a:extLst>
          </p:cNvPr>
          <p:cNvSpPr txBox="1"/>
          <p:nvPr/>
        </p:nvSpPr>
        <p:spPr>
          <a:xfrm>
            <a:off x="975357" y="4513048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注意：控制台显示结果为</a:t>
            </a:r>
            <a:r>
              <a:rPr lang="en-US" altLang="zh-CN" sz="140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`&lt;class '</a:t>
            </a:r>
            <a:r>
              <a:rPr lang="en-US" altLang="zh-CN" sz="1400" err="1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str</a:t>
            </a:r>
            <a:r>
              <a:rPr lang="en-US" altLang="zh-CN" sz="140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'&gt;`</a:t>
            </a:r>
            <a:r>
              <a:rPr lang="zh-CN" altLang="en-US" sz="140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 即数据类型为</a:t>
            </a:r>
            <a:r>
              <a:rPr lang="en-US" altLang="zh-CN" sz="1400" err="1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str</a:t>
            </a:r>
            <a:r>
              <a:rPr lang="en-US" altLang="zh-CN" sz="140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zh-CN" altLang="en-US" sz="140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字符串</a:t>
            </a:r>
            <a:r>
              <a:rPr lang="en-US" altLang="zh-CN" sz="140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  <a:r>
              <a:rPr lang="zh-CN" altLang="en-US" sz="140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。</a:t>
            </a:r>
            <a:endParaRPr lang="en-US" altLang="zh-CN" sz="140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A4F270-7F30-AE46-96EF-656D6943C707}"/>
              </a:ext>
            </a:extLst>
          </p:cNvPr>
          <p:cNvSpPr/>
          <p:nvPr/>
        </p:nvSpPr>
        <p:spPr>
          <a:xfrm>
            <a:off x="710880" y="4096482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3E04DF-C15D-7146-95A9-19AF703E9900}"/>
              </a:ext>
            </a:extLst>
          </p:cNvPr>
          <p:cNvSpPr/>
          <p:nvPr/>
        </p:nvSpPr>
        <p:spPr>
          <a:xfrm>
            <a:off x="600792" y="4197469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181396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① 一对引号字符串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② 三引号字符串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注意：三引号形式的字符串支持换行。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了解字符串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、字符串的定义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83254"/>
            <a:ext cx="10666853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'Tom'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name2 = "Rose"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443595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name3 = ''' Tom '''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name4 = """ Rose """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 = '''I am Tom,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nice to meet you! '''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 = """ I am Rose,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nice to meet you! """</a:t>
            </a:r>
          </a:p>
        </p:txBody>
      </p:sp>
    </p:spTree>
    <p:extLst>
      <p:ext uri="{BB962C8B-B14F-4D97-AF65-F5344CB8AC3E}">
        <p14:creationId xmlns:p14="http://schemas.microsoft.com/office/powerpoint/2010/main" val="200675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                                                  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                                           </a:t>
            </a:r>
            <a:r>
              <a:rPr lang="zh-CN" altLang="en-US" dirty="0">
                <a:solidFill>
                  <a:srgbClr val="B60206"/>
                </a:solidFill>
              </a:rPr>
              <a:t>思考：如何创建一个字符串</a:t>
            </a:r>
            <a:r>
              <a:rPr lang="en-US" altLang="zh-CN" dirty="0">
                <a:solidFill>
                  <a:srgbClr val="B60206"/>
                </a:solidFill>
              </a:rPr>
              <a:t>I'm Tom</a:t>
            </a:r>
            <a:r>
              <a:rPr lang="zh-CN" altLang="en-US" dirty="0">
                <a:solidFill>
                  <a:srgbClr val="B60206"/>
                </a:solidFill>
              </a:rPr>
              <a:t>？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了解字符串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、字符串的定义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95" y="1878994"/>
            <a:ext cx="2270859" cy="22708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80" y="4382714"/>
            <a:ext cx="10681967" cy="189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3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中，使用</a:t>
            </a:r>
            <a:r>
              <a:rPr lang="en-US" altLang="zh-CN">
                <a:solidFill>
                  <a:srgbClr val="AD2B26"/>
                </a:solidFill>
              </a:rPr>
              <a:t>input()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接收用户输入。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执行结果：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了解字符串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、字符串的输入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362471"/>
            <a:ext cx="10666853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username = input('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请输入您的名字：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您输入的名字是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{username}')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print(type(username))</a:t>
            </a:r>
          </a:p>
          <a:p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password = input('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请输入您的密码：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您输入的密码是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{password}')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print(type(password))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4682341"/>
            <a:ext cx="8357226" cy="190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3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中，我们可以使用</a:t>
            </a:r>
            <a:r>
              <a:rPr lang="en-US" altLang="zh-CN">
                <a:solidFill>
                  <a:srgbClr val="AD2B26"/>
                </a:solidFill>
              </a:rPr>
              <a:t>print()</a:t>
            </a:r>
            <a:r>
              <a:rPr lang="zh-CN" altLang="en-US">
                <a:solidFill>
                  <a:srgbClr val="AD2B26"/>
                </a:solidFill>
              </a:rPr>
              <a:t>函数</a:t>
            </a:r>
            <a:r>
              <a:rPr lang="zh-CN" altLang="en-US"/>
              <a:t>进行输出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执行结果：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了解字符串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、字符串的输出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362471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print('hello world')</a:t>
            </a:r>
          </a:p>
          <a:p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= '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heima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我的名字是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%s' % name)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我的名字是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{name}')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58" y="4286577"/>
            <a:ext cx="10602656" cy="218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96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67766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在计算机底层，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中的字符串是一段连续的内存地址。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底层存储结构：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注意：索引下标从</a:t>
            </a:r>
            <a:r>
              <a:rPr lang="en-US" altLang="zh-CN" dirty="0">
                <a:solidFill>
                  <a:srgbClr val="B60206"/>
                </a:solidFill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开始。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了解字符串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4</a:t>
            </a:r>
            <a:r>
              <a:rPr lang="zh-CN" altLang="en-US"/>
              <a:t>、字符串的底层存储结构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05958" y="2141090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str1 = 'itheima'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01" y="2943824"/>
            <a:ext cx="10654521" cy="301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0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6776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`</a:t>
            </a:r>
            <a:r>
              <a:rPr lang="zh-CN" altLang="en-US" dirty="0">
                <a:solidFill>
                  <a:srgbClr val="B60206"/>
                </a:solidFill>
              </a:rPr>
              <a:t>索引下标</a:t>
            </a:r>
            <a:r>
              <a:rPr lang="en-US" altLang="zh-CN" dirty="0">
                <a:solidFill>
                  <a:srgbClr val="B60206"/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，就是编号。比如火车座位号，座位号的作用：按照编号快速找到对应的座位。同理，</a:t>
            </a:r>
            <a:r>
              <a:rPr lang="zh-CN" altLang="en-US" dirty="0">
                <a:solidFill>
                  <a:srgbClr val="B60206"/>
                </a:solidFill>
              </a:rPr>
              <a:t>下标的作用即是通过下标快速找到对应的数据。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案例：字符串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`name = "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abcdef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，取到不同下标对应的数据。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了解字符串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5</a:t>
            </a:r>
            <a:r>
              <a:rPr lang="zh-CN" altLang="en-US"/>
              <a:t>、聊聊索引下标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5435935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= "</a:t>
            </a:r>
            <a:r>
              <a:rPr lang="en-US" altLang="zh-CN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abcdef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</a:p>
          <a:p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print(name[1])  # 'b'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print(name[0])  # 'a'</a:t>
            </a: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print(name[2])  # 'c'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58" y="2467129"/>
            <a:ext cx="5695569" cy="24005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404" y="2467129"/>
            <a:ext cx="4934552" cy="24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6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字符串切片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/>
              <a:t>02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7490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字符串切片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、基本语法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10881" y="1750407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什么是切片？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切片是指</a:t>
            </a:r>
            <a:r>
              <a:rPr lang="zh-CN" altLang="en-US" dirty="0">
                <a:solidFill>
                  <a:srgbClr val="B60206"/>
                </a:solidFill>
              </a:rPr>
              <a:t>对操作的对象截取其中一部分的操作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rgbClr val="B60206"/>
                </a:solidFill>
              </a:rPr>
              <a:t>字符串、列表、元组</a:t>
            </a:r>
            <a:r>
              <a:rPr lang="zh-CN" altLang="en-US" dirty="0"/>
              <a:t>都支持切片操作。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① 不包含结束位置下标对应的数据， 正负整数均可；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② 步长是选取间隔，正负整数均可，默认步长为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还是有点陌生，没关系，给你举个栗子：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numstr</a:t>
            </a:r>
            <a:r>
              <a:rPr lang="en-US" altLang="zh-CN" dirty="0"/>
              <a:t> = '0123456789'</a:t>
            </a:r>
          </a:p>
          <a:p>
            <a:pPr marL="0" indent="0">
              <a:buNone/>
            </a:pPr>
            <a:r>
              <a:rPr lang="zh-CN" altLang="en-US" dirty="0"/>
              <a:t>如果想对</a:t>
            </a:r>
            <a:r>
              <a:rPr lang="en-US" altLang="zh-CN" dirty="0" err="1"/>
              <a:t>numstr</a:t>
            </a:r>
            <a:r>
              <a:rPr lang="zh-CN" altLang="en-US" dirty="0"/>
              <a:t>字符串进行切片，如下图所示：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824656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序列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开始位置下标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结束位置下标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步长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803" y="3420090"/>
            <a:ext cx="5921141" cy="254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307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字符串切片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、切片的使用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46384" y="1750407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记口诀：</a:t>
            </a:r>
            <a:r>
              <a:rPr lang="zh-CN" altLang="en-US" dirty="0">
                <a:solidFill>
                  <a:srgbClr val="B60206"/>
                </a:solidFill>
              </a:rPr>
              <a:t>切片其实很简单，只顾头来尾不管，步长为正正向移，步长为负则逆向移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84" y="2493139"/>
            <a:ext cx="10808948" cy="358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36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字符串常用操作方法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/>
              <a:t>03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2279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80" y="3028763"/>
            <a:ext cx="10749599" cy="517190"/>
          </a:xfrm>
        </p:spPr>
        <p:txBody>
          <a:bodyPr/>
          <a:lstStyle/>
          <a:p>
            <a:pPr algn="ctr"/>
            <a:r>
              <a:rPr lang="zh-CN" altLang="en-US" b="0" dirty="0"/>
              <a:t>所谓</a:t>
            </a:r>
            <a:r>
              <a:rPr lang="zh-CN" altLang="en-US" b="0" dirty="0">
                <a:solidFill>
                  <a:srgbClr val="B60206"/>
                </a:solidFill>
              </a:rPr>
              <a:t>字符串查找方法即是查找子串在字符串中的位置或出现的次数。</a:t>
            </a:r>
            <a:endParaRPr lang="en-US" altLang="zh-CN" b="0" dirty="0">
              <a:solidFill>
                <a:srgbClr val="B60206"/>
              </a:solidFill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80" y="940081"/>
            <a:ext cx="10749599" cy="517190"/>
          </a:xfrm>
        </p:spPr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、字符串查找</a:t>
            </a:r>
          </a:p>
        </p:txBody>
      </p:sp>
    </p:spTree>
    <p:extLst>
      <p:ext uri="{BB962C8B-B14F-4D97-AF65-F5344CB8AC3E}">
        <p14:creationId xmlns:p14="http://schemas.microsoft.com/office/powerpoint/2010/main" val="3702524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、字符串查找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46384" y="1587335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find()</a:t>
            </a:r>
            <a:r>
              <a:rPr lang="zh-CN" altLang="en-US" dirty="0">
                <a:solidFill>
                  <a:srgbClr val="B60206"/>
                </a:solidFill>
              </a:rPr>
              <a:t>：检测某个子串是否包含在这个字符串中，如果在返回这个子串开始的位置下标，否则则返回</a:t>
            </a:r>
            <a:r>
              <a:rPr lang="en-US" altLang="zh-CN" dirty="0">
                <a:solidFill>
                  <a:srgbClr val="B60206"/>
                </a:solidFill>
              </a:rPr>
              <a:t>-1</a:t>
            </a:r>
            <a:r>
              <a:rPr lang="zh-CN" altLang="en-US" dirty="0">
                <a:solidFill>
                  <a:srgbClr val="B60206"/>
                </a:solidFill>
              </a:rPr>
              <a:t>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46384" y="2718267"/>
            <a:ext cx="10666853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字符串序列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.find(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子串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开始位置下标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结束位置下标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注意：开始和结束位置下标可以省略，表示在整个字符串序列中查找。</a:t>
            </a:r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案例演示：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 err="1"/>
              <a:t>mystr</a:t>
            </a:r>
            <a:r>
              <a:rPr lang="en-US" altLang="zh-CN" sz="1600" dirty="0"/>
              <a:t> = "hello world and hello python"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print(</a:t>
            </a:r>
            <a:r>
              <a:rPr lang="en-US" altLang="zh-CN" sz="1600" dirty="0" err="1"/>
              <a:t>mystr.find</a:t>
            </a:r>
            <a:r>
              <a:rPr lang="en-US" altLang="zh-CN" sz="1600" dirty="0"/>
              <a:t>('hello'))  # 0</a:t>
            </a:r>
            <a:br>
              <a:rPr lang="en-US" altLang="zh-CN" sz="1600" dirty="0"/>
            </a:br>
            <a:r>
              <a:rPr lang="en-US" altLang="zh-CN" sz="1600" dirty="0"/>
              <a:t>print(</a:t>
            </a:r>
            <a:r>
              <a:rPr lang="en-US" altLang="zh-CN" sz="1600" dirty="0" err="1"/>
              <a:t>mystr.find</a:t>
            </a:r>
            <a:r>
              <a:rPr lang="en-US" altLang="zh-CN" sz="1600" dirty="0"/>
              <a:t>('hello', 10, 27))  #16</a:t>
            </a:r>
            <a:br>
              <a:rPr lang="en-US" altLang="zh-CN" sz="1600" dirty="0"/>
            </a:br>
            <a:r>
              <a:rPr lang="en-US" altLang="zh-CN" sz="1600" dirty="0"/>
              <a:t>print(</a:t>
            </a:r>
            <a:r>
              <a:rPr lang="en-US" altLang="zh-CN" sz="1600" dirty="0" err="1"/>
              <a:t>mystr.find</a:t>
            </a:r>
            <a:r>
              <a:rPr lang="en-US" altLang="zh-CN" sz="1600" dirty="0"/>
              <a:t>('</a:t>
            </a:r>
            <a:r>
              <a:rPr lang="en-US" altLang="zh-CN" sz="1600" dirty="0" err="1"/>
              <a:t>heima</a:t>
            </a:r>
            <a:r>
              <a:rPr lang="en-US" altLang="zh-CN" sz="1600" dirty="0"/>
              <a:t>'))  # -1</a:t>
            </a:r>
          </a:p>
        </p:txBody>
      </p:sp>
    </p:spTree>
    <p:extLst>
      <p:ext uri="{BB962C8B-B14F-4D97-AF65-F5344CB8AC3E}">
        <p14:creationId xmlns:p14="http://schemas.microsoft.com/office/powerpoint/2010/main" val="3988847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、字符串查找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52253" y="1526671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AD2B26"/>
                </a:solidFill>
              </a:rPr>
              <a:t>index()</a:t>
            </a:r>
            <a:r>
              <a:rPr lang="zh-CN" altLang="en-US" dirty="0">
                <a:solidFill>
                  <a:srgbClr val="AD2B26"/>
                </a:solidFill>
              </a:rPr>
              <a:t>：检测某个子串是否包含在这个字符串中，如果在返回这个子串开始的位置下标，否则则报异常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653673"/>
            <a:ext cx="10666853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字符串序列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.index(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子串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开始位置下标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结束位置下标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注意：开始和结束位置下标可以省略，表示在整个字符串序列中查找。</a:t>
            </a:r>
            <a:endParaRPr lang="en-US" altLang="zh-CN" sz="140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案例演示：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err="1"/>
              <a:t>mystr</a:t>
            </a:r>
            <a:r>
              <a:rPr lang="en-US" altLang="zh-CN" sz="1600"/>
              <a:t> = "hello world and hello python"</a:t>
            </a:r>
            <a:br>
              <a:rPr lang="en-US" altLang="zh-CN" sz="1600"/>
            </a:br>
            <a:br>
              <a:rPr lang="en-US" altLang="zh-CN" sz="1600"/>
            </a:br>
            <a:r>
              <a:rPr lang="en-US" altLang="zh-CN" sz="1600"/>
              <a:t>print(</a:t>
            </a:r>
            <a:r>
              <a:rPr lang="en-US" altLang="zh-CN" sz="1600" err="1"/>
              <a:t>mystr.index</a:t>
            </a:r>
            <a:r>
              <a:rPr lang="en-US" altLang="zh-CN" sz="1600"/>
              <a:t>('hello'))  # 0</a:t>
            </a:r>
            <a:br>
              <a:rPr lang="en-US" altLang="zh-CN" sz="1600"/>
            </a:br>
            <a:r>
              <a:rPr lang="en-US" altLang="zh-CN" sz="1600"/>
              <a:t>print(</a:t>
            </a:r>
            <a:r>
              <a:rPr lang="en-US" altLang="zh-CN" sz="1600" err="1"/>
              <a:t>mystr.index</a:t>
            </a:r>
            <a:r>
              <a:rPr lang="en-US" altLang="zh-CN" sz="1600"/>
              <a:t>('hello', 10, 27))  #16</a:t>
            </a:r>
            <a:br>
              <a:rPr lang="en-US" altLang="zh-CN" sz="1600"/>
            </a:br>
            <a:r>
              <a:rPr lang="en-US" altLang="zh-CN" sz="1600"/>
              <a:t>print(</a:t>
            </a:r>
            <a:r>
              <a:rPr lang="en-US" altLang="zh-CN" sz="1600" err="1"/>
              <a:t>mystr.index</a:t>
            </a:r>
            <a:r>
              <a:rPr lang="en-US" altLang="zh-CN" sz="1600"/>
              <a:t>('</a:t>
            </a:r>
            <a:r>
              <a:rPr lang="en-US" altLang="zh-CN" sz="1600" err="1"/>
              <a:t>heima</a:t>
            </a:r>
            <a:r>
              <a:rPr lang="en-US" altLang="zh-CN" sz="1600"/>
              <a:t>'))  # </a:t>
            </a:r>
            <a:r>
              <a:rPr lang="zh-CN" altLang="en-US" sz="1600"/>
              <a:t>报错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2407066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、字符串查找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174657"/>
              </p:ext>
            </p:extLst>
          </p:nvPr>
        </p:nvGraphicFramePr>
        <p:xfrm>
          <a:off x="843280" y="1631472"/>
          <a:ext cx="10505439" cy="230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8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9056"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056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find()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检测某个子串是否包含在这个字符串中，如果在返回这个子串开始的位置下标，否则则返回</a:t>
                      </a:r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-1</a:t>
                      </a:r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</a:t>
                      </a:r>
                      <a:endParaRPr lang="zh-CN" altLang="en-US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056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index()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检测某个子串是否包含在这个字符串中，如果在返回这个子串开始的位置下标，否则则报异常。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612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80" y="3028763"/>
            <a:ext cx="10749599" cy="517190"/>
          </a:xfrm>
        </p:spPr>
        <p:txBody>
          <a:bodyPr/>
          <a:lstStyle/>
          <a:p>
            <a:pPr algn="ctr"/>
            <a:r>
              <a:rPr lang="zh-CN" altLang="en-US" b="0" dirty="0"/>
              <a:t>所谓修改字符串，指的就是</a:t>
            </a:r>
            <a:r>
              <a:rPr lang="zh-CN" altLang="en-US" b="0" dirty="0">
                <a:solidFill>
                  <a:srgbClr val="B60206"/>
                </a:solidFill>
              </a:rPr>
              <a:t>通过函数的形式修改字符串中的数据。</a:t>
            </a:r>
            <a:endParaRPr lang="en-US" altLang="zh-CN" b="0" dirty="0">
              <a:solidFill>
                <a:srgbClr val="B60206"/>
              </a:solidFill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80" y="940081"/>
            <a:ext cx="10749599" cy="517190"/>
          </a:xfrm>
        </p:spPr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、字符串修改</a:t>
            </a:r>
          </a:p>
        </p:txBody>
      </p:sp>
    </p:spTree>
    <p:extLst>
      <p:ext uri="{BB962C8B-B14F-4D97-AF65-F5344CB8AC3E}">
        <p14:creationId xmlns:p14="http://schemas.microsoft.com/office/powerpoint/2010/main" val="1450181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、字符串修改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46384" y="1750407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AD2B26"/>
                </a:solidFill>
              </a:rPr>
              <a:t>replace()</a:t>
            </a:r>
            <a:r>
              <a:rPr lang="zh-CN" altLang="en-US">
                <a:solidFill>
                  <a:srgbClr val="AD2B26"/>
                </a:solidFill>
              </a:rPr>
              <a:t>：返回替换后的字符串</a:t>
            </a:r>
            <a:endParaRPr lang="en-US" altLang="zh-CN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/>
              <a:t>基本语法：</a:t>
            </a:r>
            <a:endParaRPr lang="en-US" altLang="zh-C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747654"/>
            <a:ext cx="10666853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字符串序列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.replace(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旧子串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新子串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替换次数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注意：替换次数如果查出子串出现次数，则替换次数为该子串出现次数。</a:t>
            </a:r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案例演示：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"hello world and hello python"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 world &amp; hello python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mystr.replace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('and', '&amp;'))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hi world and hi python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mystr.replace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('hello', 'hi', 2))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 world and hello python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mystr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注意：数据按照是否能直接修改分为</a:t>
            </a: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可变类型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不可变类型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两种。由于字符串属于不可变类型，所以修改的时候不能改变原有字符串。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7875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、字符串修改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46384" y="1750407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AD2B26"/>
                </a:solidFill>
              </a:rPr>
              <a:t>split()</a:t>
            </a:r>
            <a:r>
              <a:rPr lang="zh-CN" altLang="en-US">
                <a:solidFill>
                  <a:srgbClr val="AD2B26"/>
                </a:solidFill>
              </a:rPr>
              <a:t>：按照指定字符分割字符串。</a:t>
            </a:r>
            <a:endParaRPr lang="en-US" altLang="zh-CN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/>
              <a:t>基本语法：</a:t>
            </a:r>
            <a:endParaRPr lang="en-US" altLang="zh-C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747654"/>
            <a:ext cx="10666853" cy="38472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字符串序列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.split(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分割字符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en-US" altLang="zh-CN" sz="140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</a:t>
            </a: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</a:t>
            </a:r>
            <a:r>
              <a:rPr lang="en-US" altLang="zh-CN" sz="1400" err="1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</a:t>
            </a:r>
            <a:r>
              <a:rPr lang="zh-CN" altLang="en-US" sz="140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表示的是分割字符出现的次数，即将来返回数据个数为</a:t>
            </a:r>
            <a:r>
              <a:rPr lang="en-US" altLang="zh-CN" sz="140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num+1</a:t>
            </a:r>
            <a:r>
              <a:rPr lang="zh-CN" altLang="en-US" sz="140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个。</a:t>
            </a:r>
            <a:endParaRPr lang="en-US" altLang="zh-CN" sz="140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案例演示：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err="1"/>
              <a:t>mystr</a:t>
            </a:r>
            <a:r>
              <a:rPr lang="en-US" altLang="zh-CN" sz="1600"/>
              <a:t> = '</a:t>
            </a:r>
            <a:r>
              <a:rPr lang="en-US" altLang="zh-CN" sz="1600" err="1"/>
              <a:t>apple,orange,banana</a:t>
            </a:r>
            <a:r>
              <a:rPr lang="en-US" altLang="zh-CN" sz="1600"/>
              <a:t>'</a:t>
            </a:r>
            <a:br>
              <a:rPr lang="en-US" altLang="zh-CN" sz="1600"/>
            </a:br>
            <a:br>
              <a:rPr lang="en-US" altLang="zh-CN" sz="1600"/>
            </a:br>
            <a:r>
              <a:rPr lang="en-US" altLang="zh-CN" sz="1600"/>
              <a:t># </a:t>
            </a:r>
            <a:r>
              <a:rPr lang="zh-CN" altLang="en-US" sz="1600"/>
              <a:t>结果：</a:t>
            </a:r>
            <a:r>
              <a:rPr lang="en-US" altLang="zh-CN" sz="1600"/>
              <a:t>['apple', 'orange', 'banana']</a:t>
            </a:r>
            <a:br>
              <a:rPr lang="en-US" altLang="zh-CN" sz="1600"/>
            </a:br>
            <a:r>
              <a:rPr lang="en-US" altLang="zh-CN" sz="1600">
                <a:solidFill>
                  <a:srgbClr val="B60206"/>
                </a:solidFill>
              </a:rPr>
              <a:t>print(</a:t>
            </a:r>
            <a:r>
              <a:rPr lang="en-US" altLang="zh-CN" sz="1600" err="1">
                <a:solidFill>
                  <a:srgbClr val="B60206"/>
                </a:solidFill>
              </a:rPr>
              <a:t>mystr.split</a:t>
            </a:r>
            <a:r>
              <a:rPr lang="en-US" altLang="zh-CN" sz="1600">
                <a:solidFill>
                  <a:srgbClr val="B60206"/>
                </a:solidFill>
              </a:rPr>
              <a:t>(','))</a:t>
            </a:r>
          </a:p>
          <a:p>
            <a:br>
              <a:rPr lang="en-US" altLang="zh-CN" sz="1600"/>
            </a:br>
            <a:r>
              <a:rPr lang="en-US" altLang="zh-CN" sz="1600"/>
              <a:t># </a:t>
            </a:r>
            <a:r>
              <a:rPr lang="zh-CN" altLang="en-US" sz="1600"/>
              <a:t>结果：</a:t>
            </a:r>
            <a:r>
              <a:rPr lang="en-US" altLang="zh-CN" sz="1600"/>
              <a:t>['apple', '</a:t>
            </a:r>
            <a:r>
              <a:rPr lang="en-US" altLang="zh-CN" sz="1600" err="1"/>
              <a:t>orange,banana</a:t>
            </a:r>
            <a:r>
              <a:rPr lang="en-US" altLang="zh-CN" sz="1600"/>
              <a:t>']</a:t>
            </a:r>
            <a:br>
              <a:rPr lang="en-US" altLang="zh-CN" sz="1600"/>
            </a:br>
            <a:r>
              <a:rPr lang="en-US" altLang="zh-CN" sz="1600">
                <a:solidFill>
                  <a:srgbClr val="B60206"/>
                </a:solidFill>
              </a:rPr>
              <a:t>print(</a:t>
            </a:r>
            <a:r>
              <a:rPr lang="en-US" altLang="zh-CN" sz="1600" err="1">
                <a:solidFill>
                  <a:srgbClr val="B60206"/>
                </a:solidFill>
              </a:rPr>
              <a:t>mystr.split</a:t>
            </a:r>
            <a:r>
              <a:rPr lang="en-US" altLang="zh-CN" sz="1600">
                <a:solidFill>
                  <a:srgbClr val="B60206"/>
                </a:solidFill>
              </a:rPr>
              <a:t>(',', 1))</a:t>
            </a:r>
            <a:br>
              <a:rPr lang="en-US" altLang="zh-CN" sz="1600"/>
            </a:br>
            <a:endParaRPr lang="en-US" altLang="zh-CN" sz="1600"/>
          </a:p>
          <a:p>
            <a:r>
              <a:rPr lang="en-US" altLang="zh-CN" sz="1600"/>
              <a:t># </a:t>
            </a:r>
            <a:r>
              <a:rPr lang="zh-CN" altLang="en-US" sz="1600"/>
              <a:t>结果：</a:t>
            </a:r>
            <a:r>
              <a:rPr lang="en-US" altLang="zh-CN" sz="1600"/>
              <a:t>['</a:t>
            </a:r>
            <a:r>
              <a:rPr lang="en-US" altLang="zh-CN" sz="1600" err="1"/>
              <a:t>apple,orange,banana</a:t>
            </a:r>
            <a:r>
              <a:rPr lang="en-US" altLang="zh-CN" sz="1600"/>
              <a:t>']</a:t>
            </a:r>
            <a:br>
              <a:rPr lang="en-US" altLang="zh-CN" sz="1600"/>
            </a:br>
            <a:r>
              <a:rPr lang="en-US" altLang="zh-CN" sz="1600">
                <a:solidFill>
                  <a:srgbClr val="B60206"/>
                </a:solidFill>
              </a:rPr>
              <a:t>print(</a:t>
            </a:r>
            <a:r>
              <a:rPr lang="en-US" altLang="zh-CN" sz="1600" err="1">
                <a:solidFill>
                  <a:srgbClr val="B60206"/>
                </a:solidFill>
              </a:rPr>
              <a:t>mystr.split</a:t>
            </a:r>
            <a:r>
              <a:rPr lang="en-US" altLang="zh-CN" sz="1600">
                <a:solidFill>
                  <a:srgbClr val="B60206"/>
                </a:solidFill>
              </a:rPr>
              <a:t>('*'))</a:t>
            </a:r>
          </a:p>
        </p:txBody>
      </p:sp>
    </p:spTree>
    <p:extLst>
      <p:ext uri="{BB962C8B-B14F-4D97-AF65-F5344CB8AC3E}">
        <p14:creationId xmlns:p14="http://schemas.microsoft.com/office/powerpoint/2010/main" val="101945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、字符串修改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46384" y="1750407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 </a:t>
            </a:r>
            <a:r>
              <a:rPr lang="en-US" altLang="zh-CN" dirty="0">
                <a:solidFill>
                  <a:srgbClr val="AD2B26"/>
                </a:solidFill>
              </a:rPr>
              <a:t>join()</a:t>
            </a:r>
            <a:r>
              <a:rPr lang="zh-CN" altLang="en-US" dirty="0">
                <a:solidFill>
                  <a:srgbClr val="AD2B26"/>
                </a:solidFill>
              </a:rPr>
              <a:t>：用一个字符或子串合并字符串，即是将多个字符串合并为一个新的字符串。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747654"/>
            <a:ext cx="10666853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/>
              <a:t>list1 = ['it', '</a:t>
            </a:r>
            <a:r>
              <a:rPr lang="en-US" altLang="zh-CN" sz="1600" err="1"/>
              <a:t>heima</a:t>
            </a:r>
            <a:r>
              <a:rPr lang="en-US" altLang="zh-CN" sz="1600"/>
              <a:t>']</a:t>
            </a:r>
            <a:br>
              <a:rPr lang="en-US" altLang="zh-CN" sz="1600"/>
            </a:br>
            <a:r>
              <a:rPr lang="en-US" altLang="zh-CN" sz="1600"/>
              <a:t>tuple1 = ('hello', 'python')</a:t>
            </a:r>
            <a:br>
              <a:rPr lang="en-US" altLang="zh-CN" sz="1600"/>
            </a:br>
            <a:br>
              <a:rPr lang="en-US" altLang="zh-CN" sz="1600"/>
            </a:br>
            <a:r>
              <a:rPr lang="en-US" altLang="zh-CN" sz="1600"/>
              <a:t># </a:t>
            </a:r>
            <a:r>
              <a:rPr lang="zh-CN" altLang="en-US" sz="1600"/>
              <a:t>结果：</a:t>
            </a:r>
            <a:r>
              <a:rPr lang="en-US" altLang="zh-CN" sz="1600"/>
              <a:t>itheima</a:t>
            </a:r>
            <a:br>
              <a:rPr lang="en-US" altLang="zh-CN" sz="1600"/>
            </a:br>
            <a:r>
              <a:rPr lang="en-US" altLang="zh-CN" sz="1600">
                <a:solidFill>
                  <a:srgbClr val="B60206"/>
                </a:solidFill>
              </a:rPr>
              <a:t>print(''.join(list1))</a:t>
            </a:r>
          </a:p>
          <a:p>
            <a:br>
              <a:rPr lang="en-US" altLang="zh-CN" sz="1600"/>
            </a:br>
            <a:r>
              <a:rPr lang="en-US" altLang="zh-CN" sz="1600"/>
              <a:t># </a:t>
            </a:r>
            <a:r>
              <a:rPr lang="zh-CN" altLang="en-US" sz="1600"/>
              <a:t>结果：</a:t>
            </a:r>
            <a:r>
              <a:rPr lang="en-US" altLang="zh-CN" sz="1600"/>
              <a:t>hello-python</a:t>
            </a:r>
            <a:br>
              <a:rPr lang="en-US" altLang="zh-CN" sz="1600"/>
            </a:br>
            <a:r>
              <a:rPr lang="en-US" altLang="zh-CN" sz="1600">
                <a:solidFill>
                  <a:srgbClr val="B60206"/>
                </a:solidFill>
              </a:rPr>
              <a:t>print('-'.join(tuple1))</a:t>
            </a:r>
          </a:p>
        </p:txBody>
      </p:sp>
    </p:spTree>
    <p:extLst>
      <p:ext uri="{BB962C8B-B14F-4D97-AF65-F5344CB8AC3E}">
        <p14:creationId xmlns:p14="http://schemas.microsoft.com/office/powerpoint/2010/main" val="4062714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、字符串修改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46384" y="1750407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>
                <a:solidFill>
                  <a:srgbClr val="AD2B26"/>
                </a:solidFill>
              </a:rPr>
              <a:t>upper()</a:t>
            </a:r>
            <a:r>
              <a:rPr lang="zh-CN" altLang="en-US">
                <a:solidFill>
                  <a:srgbClr val="AD2B26"/>
                </a:solidFill>
              </a:rPr>
              <a:t>：将字符串中小写转大写</a:t>
            </a:r>
            <a:endParaRPr lang="en-US" altLang="zh-CN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AD2B26"/>
                </a:solidFill>
              </a:rPr>
              <a:t>lower()</a:t>
            </a:r>
            <a:r>
              <a:rPr lang="zh-CN" altLang="en-US">
                <a:solidFill>
                  <a:srgbClr val="AD2B26"/>
                </a:solidFill>
              </a:rPr>
              <a:t>：将字符串中大写转小写</a:t>
            </a:r>
            <a:endParaRPr lang="en-US" altLang="zh-CN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/>
              <a:t>基本语法：</a:t>
            </a:r>
            <a:endParaRPr lang="en-US" altLang="zh-C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87756" y="3123039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err="1"/>
              <a:t>mystr</a:t>
            </a:r>
            <a:r>
              <a:rPr lang="en-US" altLang="zh-CN" sz="1600"/>
              <a:t> = '</a:t>
            </a:r>
            <a:r>
              <a:rPr lang="en-US" altLang="zh-CN" sz="1600" err="1"/>
              <a:t>i</a:t>
            </a:r>
            <a:r>
              <a:rPr lang="en-US" altLang="zh-CN" sz="1600"/>
              <a:t> love python'</a:t>
            </a:r>
            <a:br>
              <a:rPr lang="en-US" altLang="zh-CN" sz="1600"/>
            </a:br>
            <a:r>
              <a:rPr lang="en-US" altLang="zh-CN" sz="1600">
                <a:solidFill>
                  <a:srgbClr val="AD2B26"/>
                </a:solidFill>
              </a:rPr>
              <a:t>print(</a:t>
            </a:r>
            <a:r>
              <a:rPr lang="en-US" altLang="zh-CN" sz="1600" err="1">
                <a:solidFill>
                  <a:srgbClr val="AD2B26"/>
                </a:solidFill>
              </a:rPr>
              <a:t>mystr.upper</a:t>
            </a:r>
            <a:r>
              <a:rPr lang="en-US" altLang="zh-CN" sz="1600">
                <a:solidFill>
                  <a:srgbClr val="AD2B26"/>
                </a:solidFill>
              </a:rPr>
              <a:t>())</a:t>
            </a:r>
            <a:br>
              <a:rPr lang="en-US" altLang="zh-CN" sz="1600"/>
            </a:br>
            <a:br>
              <a:rPr lang="en-US" altLang="zh-CN" sz="1600"/>
            </a:br>
            <a:r>
              <a:rPr lang="en-US" altLang="zh-CN" sz="1600"/>
              <a:t>print('-' * 10)</a:t>
            </a:r>
            <a:br>
              <a:rPr lang="en-US" altLang="zh-CN" sz="1600"/>
            </a:br>
            <a:br>
              <a:rPr lang="en-US" altLang="zh-CN" sz="1600"/>
            </a:br>
            <a:r>
              <a:rPr lang="en-US" altLang="zh-CN" sz="1600" err="1"/>
              <a:t>mystr</a:t>
            </a:r>
            <a:r>
              <a:rPr lang="en-US" altLang="zh-CN" sz="1600"/>
              <a:t> = 'I LOVE PYTHON'</a:t>
            </a:r>
            <a:br>
              <a:rPr lang="en-US" altLang="zh-CN" sz="1600"/>
            </a:br>
            <a:r>
              <a:rPr lang="en-US" altLang="zh-CN" sz="1600">
                <a:solidFill>
                  <a:srgbClr val="AD2B26"/>
                </a:solidFill>
              </a:rPr>
              <a:t>print(</a:t>
            </a:r>
            <a:r>
              <a:rPr lang="en-US" altLang="zh-CN" sz="1600" err="1">
                <a:solidFill>
                  <a:srgbClr val="AD2B26"/>
                </a:solidFill>
              </a:rPr>
              <a:t>mystr.lower</a:t>
            </a:r>
            <a:r>
              <a:rPr lang="en-US" altLang="zh-CN" sz="1600">
                <a:solidFill>
                  <a:srgbClr val="AD2B26"/>
                </a:solidFill>
              </a:rPr>
              <a:t>())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2177024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、字符串修改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805833"/>
              </p:ext>
            </p:extLst>
          </p:nvPr>
        </p:nvGraphicFramePr>
        <p:xfrm>
          <a:off x="900000" y="1573106"/>
          <a:ext cx="10505439" cy="3446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951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64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replace()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返回替换后的字符串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6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split()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返回切割后的列表序列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join()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用一个字符或子串合并字符串，即是将多个字符串合并为一个新的字符串。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title()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返回所有单词首字母大写的字符串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2987541791"/>
                  </a:ext>
                </a:extLst>
              </a:tr>
              <a:tr h="539015">
                <a:tc>
                  <a:txBody>
                    <a:bodyPr/>
                    <a:lstStyle/>
                    <a:p>
                      <a:r>
                        <a:rPr lang="en-US" altLang="zh-CN" sz="1800" u="none" strike="noStrike" kern="1200" baseline="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5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upper()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与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lower()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返回全部大写或小写的字符串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680194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8869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80" y="3028763"/>
            <a:ext cx="10749599" cy="517190"/>
          </a:xfrm>
        </p:spPr>
        <p:txBody>
          <a:bodyPr/>
          <a:lstStyle/>
          <a:p>
            <a:pPr algn="ctr"/>
            <a:r>
              <a:rPr lang="zh-CN" altLang="en-US" b="0" dirty="0"/>
              <a:t>所谓判断即是</a:t>
            </a:r>
            <a:r>
              <a:rPr lang="zh-CN" altLang="en-US" b="0" dirty="0">
                <a:solidFill>
                  <a:srgbClr val="AD2B26"/>
                </a:solidFill>
              </a:rPr>
              <a:t>判断真假，返回的结果是布尔型数据类型：</a:t>
            </a:r>
            <a:r>
              <a:rPr lang="en-US" altLang="zh-CN" b="0" dirty="0">
                <a:solidFill>
                  <a:srgbClr val="AD2B26"/>
                </a:solidFill>
              </a:rPr>
              <a:t>True </a:t>
            </a:r>
            <a:r>
              <a:rPr lang="zh-CN" altLang="en-US" b="0" dirty="0">
                <a:solidFill>
                  <a:srgbClr val="AD2B26"/>
                </a:solidFill>
              </a:rPr>
              <a:t>或 </a:t>
            </a:r>
            <a:r>
              <a:rPr lang="en-US" altLang="zh-CN" b="0" dirty="0">
                <a:solidFill>
                  <a:srgbClr val="AD2B26"/>
                </a:solidFill>
              </a:rPr>
              <a:t>False</a:t>
            </a:r>
            <a:r>
              <a:rPr lang="zh-CN" altLang="en-US" b="0" dirty="0">
                <a:solidFill>
                  <a:srgbClr val="AD2B26"/>
                </a:solidFill>
              </a:rPr>
              <a:t>。</a:t>
            </a:r>
            <a:endParaRPr lang="en-US" altLang="zh-CN" b="0" dirty="0">
              <a:solidFill>
                <a:srgbClr val="AD2B26"/>
              </a:solidFill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80" y="940081"/>
            <a:ext cx="10749599" cy="517190"/>
          </a:xfrm>
        </p:spPr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、字符串判断</a:t>
            </a:r>
          </a:p>
        </p:txBody>
      </p:sp>
    </p:spTree>
    <p:extLst>
      <p:ext uri="{BB962C8B-B14F-4D97-AF65-F5344CB8AC3E}">
        <p14:creationId xmlns:p14="http://schemas.microsoft.com/office/powerpoint/2010/main" val="2815472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、字符串判断</a:t>
            </a:r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746384" y="1750407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AD2B26"/>
                </a:solidFill>
              </a:rPr>
              <a:t>startswith</a:t>
            </a:r>
            <a:r>
              <a:rPr lang="en-US" altLang="zh-CN" dirty="0">
                <a:solidFill>
                  <a:srgbClr val="AD2B26"/>
                </a:solidFill>
              </a:rPr>
              <a:t>()</a:t>
            </a:r>
            <a:r>
              <a:rPr lang="zh-CN" altLang="en-US" dirty="0">
                <a:solidFill>
                  <a:srgbClr val="AD2B26"/>
                </a:solidFill>
              </a:rPr>
              <a:t>：检查字符串是否是以指定子串开头，是则返回 </a:t>
            </a:r>
            <a:r>
              <a:rPr lang="en-US" altLang="zh-CN" dirty="0">
                <a:solidFill>
                  <a:srgbClr val="AD2B26"/>
                </a:solidFill>
              </a:rPr>
              <a:t>True</a:t>
            </a:r>
            <a:r>
              <a:rPr lang="zh-CN" altLang="en-US" dirty="0">
                <a:solidFill>
                  <a:srgbClr val="AD2B26"/>
                </a:solidFill>
              </a:rPr>
              <a:t>，否则返回 </a:t>
            </a:r>
            <a:r>
              <a:rPr lang="en-US" altLang="zh-CN" dirty="0">
                <a:solidFill>
                  <a:srgbClr val="AD2B26"/>
                </a:solidFill>
              </a:rPr>
              <a:t>False</a:t>
            </a:r>
            <a:r>
              <a:rPr lang="zh-CN" altLang="en-US" dirty="0">
                <a:solidFill>
                  <a:srgbClr val="AD2B26"/>
                </a:solidFill>
              </a:rPr>
              <a:t>。如果设置开始和结束位置下标，则在指定范围内检查。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en-US" altLang="zh-CN" dirty="0" err="1">
                <a:solidFill>
                  <a:srgbClr val="AD2B26"/>
                </a:solidFill>
              </a:rPr>
              <a:t>endswith</a:t>
            </a:r>
            <a:r>
              <a:rPr lang="en-US" altLang="zh-CN" dirty="0">
                <a:solidFill>
                  <a:srgbClr val="AD2B26"/>
                </a:solidFill>
              </a:rPr>
              <a:t>()</a:t>
            </a:r>
            <a:r>
              <a:rPr lang="zh-CN" altLang="en-US" dirty="0">
                <a:solidFill>
                  <a:srgbClr val="AD2B26"/>
                </a:solidFill>
              </a:rPr>
              <a:t>：检查字符串是否是以指定子串结尾，是则返回 </a:t>
            </a:r>
            <a:r>
              <a:rPr lang="en-US" altLang="zh-CN" dirty="0">
                <a:solidFill>
                  <a:srgbClr val="AD2B26"/>
                </a:solidFill>
              </a:rPr>
              <a:t>True</a:t>
            </a:r>
            <a:r>
              <a:rPr lang="zh-CN" altLang="en-US" dirty="0">
                <a:solidFill>
                  <a:srgbClr val="AD2B26"/>
                </a:solidFill>
              </a:rPr>
              <a:t>，否则返回 </a:t>
            </a:r>
            <a:r>
              <a:rPr lang="en-US" altLang="zh-CN" dirty="0">
                <a:solidFill>
                  <a:srgbClr val="AD2B26"/>
                </a:solidFill>
              </a:rPr>
              <a:t>False</a:t>
            </a:r>
            <a:r>
              <a:rPr lang="zh-CN" altLang="en-US" dirty="0">
                <a:solidFill>
                  <a:srgbClr val="AD2B26"/>
                </a:solidFill>
              </a:rPr>
              <a:t>。如果设置开始和结束位置下标，则在指定范围内检查。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29129" y="4447236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mystr1 = 'python program'</a:t>
            </a:r>
            <a:br>
              <a:rPr lang="en-US" altLang="zh-CN" sz="1600" dirty="0"/>
            </a:br>
            <a:r>
              <a:rPr lang="en-US" altLang="zh-CN" sz="1600" dirty="0"/>
              <a:t>print(mystr1.startswith('python'))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print('-' * 10)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mystr2 = 'avater.png'</a:t>
            </a:r>
            <a:br>
              <a:rPr lang="en-US" altLang="zh-CN" sz="1600" dirty="0"/>
            </a:br>
            <a:r>
              <a:rPr lang="en-US" altLang="zh-CN" sz="1600" dirty="0"/>
              <a:t>print(mystr2.endswith('.</a:t>
            </a:r>
            <a:r>
              <a:rPr lang="en-US" altLang="zh-CN" sz="1600" dirty="0" err="1"/>
              <a:t>png</a:t>
            </a:r>
            <a:r>
              <a:rPr lang="en-US" altLang="zh-CN" sz="1600" dirty="0"/>
              <a:t>'))</a:t>
            </a:r>
          </a:p>
        </p:txBody>
      </p:sp>
    </p:spTree>
    <p:extLst>
      <p:ext uri="{BB962C8B-B14F-4D97-AF65-F5344CB8AC3E}">
        <p14:creationId xmlns:p14="http://schemas.microsoft.com/office/powerpoint/2010/main" val="1910087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字符串常用操作方法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、字符串判断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164081"/>
              </p:ext>
            </p:extLst>
          </p:nvPr>
        </p:nvGraphicFramePr>
        <p:xfrm>
          <a:off x="832959" y="2504662"/>
          <a:ext cx="10505439" cy="1848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951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64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startswith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检查字符串是否是以指定子串开头，是则返回 </a:t>
                      </a:r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，否则返回 </a:t>
                      </a:r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。如果设置开始和结束位置下标，则在指定范围内检查。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6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endswith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检查字符串是否是以指定子串结尾，是则返回 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，否则返回 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。如果设置开始和结束位置下标，则在指定范围内检查。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559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162332D-6E1B-9948-9FF1-126B7A80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上午练习题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968495A-3E7D-644A-9FE8-5D1024F23E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Python</a:t>
            </a:r>
            <a:r>
              <a:rPr lang="zh-CN" altLang="en-US"/>
              <a:t>字符串练习题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AB3EF58-A97F-D44C-8815-7D77AAB0C7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练习题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：输入一个字符串，打印所有奇数位上的字符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下标是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5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7…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位上的字符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</a:p>
          <a:p>
            <a:r>
              <a:rPr lang="zh-CN" altLang="en-US" dirty="0">
                <a:ea typeface="Alibaba PuHuiTi R" pitchFamily="18" charset="-122"/>
              </a:rPr>
              <a:t>练习题</a:t>
            </a:r>
            <a:r>
              <a:rPr lang="en-US" altLang="zh-CN" dirty="0">
                <a:ea typeface="Alibaba PuHuiTi R" pitchFamily="18" charset="-122"/>
              </a:rPr>
              <a:t>2</a:t>
            </a:r>
            <a:r>
              <a:rPr lang="zh-CN" altLang="en-US" dirty="0">
                <a:ea typeface="Alibaba PuHuiTi R" pitchFamily="18" charset="-122"/>
              </a:rPr>
              <a:t>：给定一个文件名，判断其尾部是否以</a:t>
            </a:r>
            <a:r>
              <a:rPr lang="en-US" altLang="zh-CN" dirty="0">
                <a:ea typeface="Alibaba PuHuiTi R" pitchFamily="18" charset="-122"/>
              </a:rPr>
              <a:t>".</a:t>
            </a:r>
            <a:r>
              <a:rPr lang="en-US" altLang="zh-CN" dirty="0" err="1">
                <a:ea typeface="Alibaba PuHuiTi R" pitchFamily="18" charset="-122"/>
              </a:rPr>
              <a:t>png</a:t>
            </a:r>
            <a:r>
              <a:rPr lang="en-US" altLang="zh-CN" dirty="0">
                <a:ea typeface="Alibaba PuHuiTi R" pitchFamily="18" charset="-122"/>
              </a:rPr>
              <a:t>"</a:t>
            </a:r>
            <a:r>
              <a:rPr lang="zh-CN" altLang="en-US" dirty="0">
                <a:ea typeface="Alibaba PuHuiTi R" pitchFamily="18" charset="-122"/>
              </a:rPr>
              <a:t>结尾</a:t>
            </a:r>
            <a:endParaRPr lang="en-US" altLang="zh-CN" dirty="0">
              <a:ea typeface="Alibaba PuHuiTi R" pitchFamily="18" charset="-122"/>
            </a:endParaRPr>
          </a:p>
          <a:p>
            <a:r>
              <a:rPr lang="zh-CN" altLang="en-US" dirty="0">
                <a:ea typeface="Alibaba PuHuiTi R" pitchFamily="18" charset="-122"/>
              </a:rPr>
              <a:t>练习题</a:t>
            </a:r>
            <a:r>
              <a:rPr lang="en-US" altLang="zh-CN" dirty="0">
                <a:ea typeface="Alibaba PuHuiTi R" pitchFamily="18" charset="-122"/>
              </a:rPr>
              <a:t>3</a:t>
            </a:r>
            <a:r>
              <a:rPr lang="zh-CN" altLang="en-US" dirty="0">
                <a:ea typeface="Alibaba PuHuiTi R" pitchFamily="18" charset="-122"/>
              </a:rPr>
              <a:t>：给定一个字符串，如：</a:t>
            </a:r>
            <a:endParaRPr lang="en-US" altLang="zh-CN" dirty="0"/>
          </a:p>
          <a:p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mystr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"abcdefghijklmnopqrstuvwxyzABCDEFGHIJKLMNOPQRSTUVWXYZ0123456789"</a:t>
            </a: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使用所学的知识，从字符串中随机取出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个字符，生成验证码。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045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列表及其应用场景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/>
              <a:t>04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6432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思考：有一个人的姓名</a:t>
            </a:r>
            <a:r>
              <a:rPr lang="en-US" altLang="zh-CN" dirty="0"/>
              <a:t>(TOM)</a:t>
            </a:r>
            <a:r>
              <a:rPr lang="zh-CN" altLang="en-US" dirty="0"/>
              <a:t>怎么书写存储程序？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答：变量。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思考：如果一个班级</a:t>
            </a:r>
            <a:r>
              <a:rPr lang="en-US" altLang="zh-CN" dirty="0"/>
              <a:t>100</a:t>
            </a:r>
            <a:r>
              <a:rPr lang="zh-CN" altLang="en-US" dirty="0"/>
              <a:t>位学生，每个人的姓名都要存储，应该如何书写程序？声明</a:t>
            </a:r>
            <a:r>
              <a:rPr lang="en-US" altLang="zh-CN" dirty="0"/>
              <a:t>100</a:t>
            </a:r>
            <a:r>
              <a:rPr lang="zh-CN" altLang="en-US" dirty="0"/>
              <a:t>个变量吗？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</a:t>
            </a:r>
            <a:r>
              <a:rPr lang="en-US" altLang="zh-CN" dirty="0"/>
              <a:t>No</a:t>
            </a:r>
            <a:r>
              <a:rPr lang="zh-CN" altLang="en-US" dirty="0"/>
              <a:t>，我们使用列表就可以了， 列表一次可以存储多个数据。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、为什么需要列表</a:t>
            </a:r>
          </a:p>
        </p:txBody>
      </p:sp>
    </p:spTree>
    <p:extLst>
      <p:ext uri="{BB962C8B-B14F-4D97-AF65-F5344CB8AC3E}">
        <p14:creationId xmlns:p14="http://schemas.microsoft.com/office/powerpoint/2010/main" val="409820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案例演示：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、列表的定义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1EFFF94-87F6-4F7C-9638-AA7E7B4CE1B2}"/>
              </a:ext>
            </a:extLst>
          </p:cNvPr>
          <p:cNvSpPr txBox="1"/>
          <p:nvPr/>
        </p:nvSpPr>
        <p:spPr>
          <a:xfrm>
            <a:off x="762573" y="2331149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列表名称 </a:t>
            </a:r>
            <a:r>
              <a:rPr lang="en-US" altLang="zh-CN" sz="1600" dirty="0"/>
              <a:t>= [</a:t>
            </a:r>
            <a:r>
              <a:rPr lang="zh-CN" altLang="en-US" sz="1600" dirty="0"/>
              <a:t>数据</a:t>
            </a:r>
            <a:r>
              <a:rPr lang="en-US" altLang="zh-CN" sz="1600" dirty="0"/>
              <a:t>1, </a:t>
            </a:r>
            <a:r>
              <a:rPr lang="zh-CN" altLang="en-US" sz="1600" dirty="0"/>
              <a:t>数据</a:t>
            </a:r>
            <a:r>
              <a:rPr lang="en-US" altLang="zh-CN" sz="1600" dirty="0"/>
              <a:t>2, </a:t>
            </a:r>
            <a:r>
              <a:rPr lang="zh-CN" altLang="en-US" sz="1600" dirty="0"/>
              <a:t>数据</a:t>
            </a:r>
            <a:r>
              <a:rPr lang="en-US" altLang="zh-CN" sz="1600" dirty="0"/>
              <a:t>3, </a:t>
            </a:r>
            <a:r>
              <a:rPr lang="zh-CN" altLang="en-US" sz="1600" dirty="0"/>
              <a:t>数据</a:t>
            </a:r>
            <a:r>
              <a:rPr lang="en-US" altLang="zh-CN" sz="1600" dirty="0"/>
              <a:t>4, ...]</a:t>
            </a:r>
          </a:p>
        </p:txBody>
      </p:sp>
      <p:sp>
        <p:nvSpPr>
          <p:cNvPr id="6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717495" y="5155007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1085446" y="5186473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注意：列表可以一次存储多个数据且可以为不同的数据类型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820969" y="4769907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710881" y="4870894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62573" y="3579347"/>
            <a:ext cx="10666853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'Rose’]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             # ['Tom', 'Lily', 'Rose']</a:t>
            </a:r>
          </a:p>
          <a:p>
            <a:r>
              <a:rPr lang="en-US" altLang="zh-CN" sz="1600" dirty="0"/>
              <a:t>print(type(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))  # &lt;class 'list'&gt;</a:t>
            </a:r>
          </a:p>
        </p:txBody>
      </p:sp>
    </p:spTree>
    <p:extLst>
      <p:ext uri="{BB962C8B-B14F-4D97-AF65-F5344CB8AC3E}">
        <p14:creationId xmlns:p14="http://schemas.microsoft.com/office/powerpoint/2010/main" val="495948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C5E25B5-8E48-45B1-992E-65CB2F403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列表及其应用场景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2C60C2-209E-4C21-801A-B5836A205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91880" y="3099081"/>
            <a:ext cx="10749599" cy="517190"/>
          </a:xfrm>
        </p:spPr>
        <p:txBody>
          <a:bodyPr/>
          <a:lstStyle/>
          <a:p>
            <a:r>
              <a:rPr lang="zh-CN" altLang="en-US" b="0" dirty="0"/>
              <a:t>列表的作用是一次性存储多个数据，程序员可以对这些数据进行的操作有：</a:t>
            </a:r>
            <a:r>
              <a:rPr lang="zh-CN" altLang="en-US" b="0" dirty="0">
                <a:solidFill>
                  <a:srgbClr val="B60206"/>
                </a:solidFill>
              </a:rPr>
              <a:t>增、删、改、查。</a:t>
            </a: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1DC0C04C-9DEE-4A7A-A1BE-BF279C594DBF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3</a:t>
            </a:r>
            <a:r>
              <a:rPr lang="zh-CN" altLang="en-US"/>
              <a:t>、列表的常用操作</a:t>
            </a:r>
          </a:p>
        </p:txBody>
      </p:sp>
    </p:spTree>
    <p:extLst>
      <p:ext uri="{BB962C8B-B14F-4D97-AF65-F5344CB8AC3E}">
        <p14:creationId xmlns:p14="http://schemas.microsoft.com/office/powerpoint/2010/main" val="3773731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索引下标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看起来是不是特别熟悉，</a:t>
            </a:r>
            <a:r>
              <a:rPr lang="zh-CN" altLang="en-US" dirty="0">
                <a:solidFill>
                  <a:srgbClr val="B60206"/>
                </a:solidFill>
              </a:rPr>
              <a:t>列表的底层存储形式和字符串都是一样的，其也是通过索引下标来对其进行引用的</a:t>
            </a:r>
            <a:r>
              <a:rPr lang="zh-CN" altLang="en-US" dirty="0"/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查询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10880" y="2305315"/>
            <a:ext cx="10666853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[0])  # Tom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[1])</a:t>
            </a:r>
            <a:r>
              <a:rPr lang="zh-CN" altLang="en-US" sz="1600" dirty="0"/>
              <a:t>  </a:t>
            </a:r>
            <a:r>
              <a:rPr lang="en-US" altLang="zh-CN" sz="1600" dirty="0"/>
              <a:t># Lily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[2])  # Rose</a:t>
            </a:r>
          </a:p>
        </p:txBody>
      </p:sp>
    </p:spTree>
    <p:extLst>
      <p:ext uri="{BB962C8B-B14F-4D97-AF65-F5344CB8AC3E}">
        <p14:creationId xmlns:p14="http://schemas.microsoft.com/office/powerpoint/2010/main" val="20840970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index()</a:t>
            </a:r>
            <a:r>
              <a:rPr lang="zh-CN" altLang="en-US" dirty="0">
                <a:solidFill>
                  <a:srgbClr val="B60206"/>
                </a:solidFill>
              </a:rPr>
              <a:t>方法：指定数据所在位置的下标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查询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10880" y="230531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.index(</a:t>
            </a:r>
            <a:r>
              <a:rPr lang="zh-CN" altLang="en-US" sz="1600" dirty="0"/>
              <a:t>数据</a:t>
            </a:r>
            <a:r>
              <a:rPr lang="en-US" altLang="zh-CN" sz="1600" dirty="0"/>
              <a:t>, </a:t>
            </a:r>
            <a:r>
              <a:rPr lang="zh-CN" altLang="en-US" sz="1600" dirty="0"/>
              <a:t>开始位置下标</a:t>
            </a:r>
            <a:r>
              <a:rPr lang="en-US" altLang="zh-CN" sz="1600" dirty="0"/>
              <a:t>, </a:t>
            </a:r>
            <a:r>
              <a:rPr lang="zh-CN" altLang="en-US" sz="1600" dirty="0"/>
              <a:t>结束位置下标</a:t>
            </a:r>
            <a:r>
              <a:rPr lang="en-US" altLang="zh-CN" sz="1600" dirty="0"/>
              <a:t>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30D4A47-FA33-4497-8B4F-54E96096C4A6}"/>
              </a:ext>
            </a:extLst>
          </p:cNvPr>
          <p:cNvSpPr txBox="1"/>
          <p:nvPr/>
        </p:nvSpPr>
        <p:spPr>
          <a:xfrm>
            <a:off x="710879" y="3529595"/>
            <a:ext cx="10666853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name_list.index</a:t>
            </a:r>
            <a:r>
              <a:rPr lang="en-US" altLang="zh-CN" sz="1600" dirty="0"/>
              <a:t>('Lily', 0, 2))  # 1</a:t>
            </a:r>
          </a:p>
        </p:txBody>
      </p:sp>
    </p:spTree>
    <p:extLst>
      <p:ext uri="{BB962C8B-B14F-4D97-AF65-F5344CB8AC3E}">
        <p14:creationId xmlns:p14="http://schemas.microsoft.com/office/powerpoint/2010/main" val="3376256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count()</a:t>
            </a:r>
            <a:r>
              <a:rPr lang="zh-CN" altLang="en-US" dirty="0">
                <a:solidFill>
                  <a:srgbClr val="B60206"/>
                </a:solidFill>
              </a:rPr>
              <a:t>方法：统计指定数据在当前列表中出现的次数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查询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10880" y="230531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.count(</a:t>
            </a:r>
            <a:r>
              <a:rPr lang="zh-CN" altLang="en-US" sz="1600" dirty="0"/>
              <a:t>数据</a:t>
            </a:r>
            <a:r>
              <a:rPr lang="en-US" altLang="zh-CN" sz="1600" dirty="0"/>
              <a:t>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30D4A47-FA33-4497-8B4F-54E96096C4A6}"/>
              </a:ext>
            </a:extLst>
          </p:cNvPr>
          <p:cNvSpPr txBox="1"/>
          <p:nvPr/>
        </p:nvSpPr>
        <p:spPr>
          <a:xfrm>
            <a:off x="710879" y="3529595"/>
            <a:ext cx="10666853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name_list.count</a:t>
            </a:r>
            <a:r>
              <a:rPr lang="en-US" altLang="zh-CN" sz="1600" dirty="0"/>
              <a:t>('Lily'))  # 1</a:t>
            </a:r>
          </a:p>
        </p:txBody>
      </p:sp>
    </p:spTree>
    <p:extLst>
      <p:ext uri="{BB962C8B-B14F-4D97-AF65-F5344CB8AC3E}">
        <p14:creationId xmlns:p14="http://schemas.microsoft.com/office/powerpoint/2010/main" val="9288633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in</a:t>
            </a:r>
            <a:r>
              <a:rPr lang="zh-CN" altLang="en-US" dirty="0">
                <a:solidFill>
                  <a:srgbClr val="B60206"/>
                </a:solidFill>
              </a:rPr>
              <a:t>：判断指定数据在某个列表序列，如果在返回</a:t>
            </a:r>
            <a:r>
              <a:rPr lang="en-US" altLang="zh-CN" dirty="0">
                <a:solidFill>
                  <a:srgbClr val="B60206"/>
                </a:solidFill>
              </a:rPr>
              <a:t>True</a:t>
            </a:r>
            <a:r>
              <a:rPr lang="zh-CN" altLang="en-US" dirty="0">
                <a:solidFill>
                  <a:srgbClr val="B60206"/>
                </a:solidFill>
              </a:rPr>
              <a:t>，否则返回</a:t>
            </a:r>
            <a:r>
              <a:rPr lang="en-US" altLang="zh-CN" dirty="0">
                <a:solidFill>
                  <a:srgbClr val="B60206"/>
                </a:solidFill>
              </a:rPr>
              <a:t>False</a:t>
            </a: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not in</a:t>
            </a:r>
            <a:r>
              <a:rPr lang="zh-CN" altLang="en-US" dirty="0">
                <a:solidFill>
                  <a:srgbClr val="B60206"/>
                </a:solidFill>
              </a:rPr>
              <a:t>：判断指定数据不在某个列表序列，如果不在返回</a:t>
            </a:r>
            <a:r>
              <a:rPr lang="en-US" altLang="zh-CN" dirty="0">
                <a:solidFill>
                  <a:srgbClr val="B60206"/>
                </a:solidFill>
              </a:rPr>
              <a:t>True</a:t>
            </a:r>
            <a:r>
              <a:rPr lang="zh-CN" altLang="en-US" dirty="0">
                <a:solidFill>
                  <a:srgbClr val="B60206"/>
                </a:solidFill>
              </a:rPr>
              <a:t>，否则返回</a:t>
            </a:r>
            <a:r>
              <a:rPr lang="en-US" altLang="zh-CN" dirty="0">
                <a:solidFill>
                  <a:srgbClr val="B60206"/>
                </a:solidFill>
              </a:rPr>
              <a:t>False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查询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10880" y="2269755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True</a:t>
            </a:r>
          </a:p>
          <a:p>
            <a:r>
              <a:rPr lang="en-US" altLang="zh-CN" sz="1600" dirty="0"/>
              <a:t>print('Lily' in 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False</a:t>
            </a:r>
          </a:p>
          <a:p>
            <a:r>
              <a:rPr lang="en-US" altLang="zh-CN" sz="1600" dirty="0"/>
              <a:t>print('</a:t>
            </a:r>
            <a:r>
              <a:rPr lang="en-US" altLang="zh-CN" sz="1600" dirty="0" err="1"/>
              <a:t>Lilys</a:t>
            </a:r>
            <a:r>
              <a:rPr lang="en-US" altLang="zh-CN" sz="1600" dirty="0"/>
              <a:t>' in 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30D4A47-FA33-4497-8B4F-54E96096C4A6}"/>
              </a:ext>
            </a:extLst>
          </p:cNvPr>
          <p:cNvSpPr txBox="1"/>
          <p:nvPr/>
        </p:nvSpPr>
        <p:spPr>
          <a:xfrm>
            <a:off x="710879" y="4709259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False</a:t>
            </a:r>
          </a:p>
          <a:p>
            <a:r>
              <a:rPr lang="en-US" altLang="zh-CN" sz="1600" dirty="0"/>
              <a:t>print('Lily' not in 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True</a:t>
            </a:r>
          </a:p>
          <a:p>
            <a:r>
              <a:rPr lang="en-US" altLang="zh-CN" sz="1600" dirty="0"/>
              <a:t>print('</a:t>
            </a:r>
            <a:r>
              <a:rPr lang="en-US" altLang="zh-CN" sz="1600" dirty="0" err="1"/>
              <a:t>Lilys</a:t>
            </a:r>
            <a:r>
              <a:rPr lang="en-US" altLang="zh-CN" sz="1600" dirty="0"/>
              <a:t>' not in 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78117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1F16F8-DEBB-4958-8A09-66A0BEEA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列表及其应用场景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A60C08-8B25-4887-BF7B-101B160900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查询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33E5F8D-8CBE-4BFD-AFD6-06A7C572E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65049"/>
              </p:ext>
            </p:extLst>
          </p:nvPr>
        </p:nvGraphicFramePr>
        <p:xfrm>
          <a:off x="955040" y="1775237"/>
          <a:ext cx="10505439" cy="2556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872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339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index()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指定数据所在位置的下标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count()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统计指定数据在当前列表中出现的次数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516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判断指定数据在某个列表序列，如果在返回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True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，否则返回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False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832">
                <a:tc>
                  <a:txBody>
                    <a:bodyPr/>
                    <a:lstStyle/>
                    <a:p>
                      <a:r>
                        <a:rPr lang="en-US" altLang="zh-CN" sz="1800" u="none" strike="noStrike" kern="1200" baseline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not in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判断指定数据不在某个列表序列，如果不在返回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True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，否则返回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False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947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综合案例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查询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10880" y="2269755"/>
            <a:ext cx="10666853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/>
              <a:t>name = input('</a:t>
            </a:r>
            <a:r>
              <a:rPr lang="zh-CN" altLang="en-US" sz="1600" dirty="0"/>
              <a:t>请输入您要搜索的名字：</a:t>
            </a:r>
            <a:r>
              <a:rPr lang="en-US" altLang="zh-CN" sz="1600" dirty="0"/>
              <a:t>')</a:t>
            </a:r>
          </a:p>
          <a:p>
            <a:endParaRPr lang="en-US" altLang="zh-CN" sz="1600" dirty="0"/>
          </a:p>
          <a:p>
            <a:r>
              <a:rPr lang="en-US" altLang="zh-CN" sz="1600" dirty="0"/>
              <a:t>if name in 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    print(f'</a:t>
            </a:r>
            <a:r>
              <a:rPr lang="zh-CN" altLang="en-US" sz="1600" dirty="0"/>
              <a:t>您输入的名字是</a:t>
            </a:r>
            <a:r>
              <a:rPr lang="en-US" altLang="zh-CN" sz="1600" dirty="0"/>
              <a:t>{name}, </a:t>
            </a:r>
            <a:r>
              <a:rPr lang="zh-CN" altLang="en-US" sz="1600" dirty="0"/>
              <a:t>名字已经存在</a:t>
            </a:r>
            <a:r>
              <a:rPr lang="en-US" altLang="zh-CN" sz="1600" dirty="0"/>
              <a:t>')</a:t>
            </a:r>
          </a:p>
          <a:p>
            <a:r>
              <a:rPr lang="en-US" altLang="zh-CN" sz="1600" dirty="0"/>
              <a:t>else:</a:t>
            </a:r>
          </a:p>
          <a:p>
            <a:r>
              <a:rPr lang="en-US" altLang="zh-CN" sz="1600" dirty="0"/>
              <a:t>    print(f'</a:t>
            </a:r>
            <a:r>
              <a:rPr lang="zh-CN" altLang="en-US" sz="1600" dirty="0"/>
              <a:t>您输入的名字是</a:t>
            </a:r>
            <a:r>
              <a:rPr lang="en-US" altLang="zh-CN" sz="1600" dirty="0"/>
              <a:t>{name}, </a:t>
            </a:r>
            <a:r>
              <a:rPr lang="zh-CN" altLang="en-US" sz="1600" dirty="0"/>
              <a:t>名字不存在</a:t>
            </a:r>
            <a:r>
              <a:rPr lang="en-US" altLang="zh-CN" sz="1600" dirty="0"/>
              <a:t>')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DC70E5-9B18-417C-A873-B47D4F89A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4525662"/>
            <a:ext cx="9624596" cy="20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39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append()</a:t>
            </a:r>
            <a:r>
              <a:rPr lang="zh-CN" altLang="en-US" dirty="0">
                <a:solidFill>
                  <a:srgbClr val="B60206"/>
                </a:solidFill>
              </a:rPr>
              <a:t>方法：增加指定数据到列表中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增加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10880" y="2269755"/>
            <a:ext cx="10666853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r>
              <a:rPr lang="en-US" altLang="zh-CN" sz="1600" dirty="0" err="1"/>
              <a:t>name_list.append</a:t>
            </a:r>
            <a:r>
              <a:rPr lang="en-US" altLang="zh-CN" sz="1600" dirty="0"/>
              <a:t>('Jennifer')</a:t>
            </a:r>
          </a:p>
          <a:p>
            <a:endParaRPr lang="en-US" altLang="zh-CN" sz="1600" dirty="0"/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  <p:sp>
        <p:nvSpPr>
          <p:cNvPr id="7" name="三角形 9">
            <a:extLst>
              <a:ext uri="{FF2B5EF4-FFF2-40B4-BE49-F238E27FC236}">
                <a16:creationId xmlns:a16="http://schemas.microsoft.com/office/drawing/2014/main" id="{DA63F6F4-B21F-4209-BBB5-6B8EC54920E6}"/>
              </a:ext>
            </a:extLst>
          </p:cNvPr>
          <p:cNvSpPr/>
          <p:nvPr/>
        </p:nvSpPr>
        <p:spPr>
          <a:xfrm rot="2651319">
            <a:off x="717495" y="561206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07B2F9E-8475-47C6-A162-738844A9E869}"/>
              </a:ext>
            </a:extLst>
          </p:cNvPr>
          <p:cNvSpPr txBox="1"/>
          <p:nvPr/>
        </p:nvSpPr>
        <p:spPr>
          <a:xfrm>
            <a:off x="1085446" y="5643527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注意：列表追加数据的时候，直接在原列表里面追加了指定数据，即修改了原列表，故列表为可变类型数据。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8241F6-59E8-43F7-AB26-9783C201B317}"/>
              </a:ext>
            </a:extLst>
          </p:cNvPr>
          <p:cNvSpPr/>
          <p:nvPr/>
        </p:nvSpPr>
        <p:spPr>
          <a:xfrm>
            <a:off x="820969" y="5226961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8B4D7C-BDDC-4B87-AA8C-89C76088D81A}"/>
              </a:ext>
            </a:extLst>
          </p:cNvPr>
          <p:cNvSpPr/>
          <p:nvPr/>
        </p:nvSpPr>
        <p:spPr>
          <a:xfrm>
            <a:off x="710881" y="532794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919BF7A-953F-4D2E-9E25-A88F9DC37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3505730"/>
            <a:ext cx="10679257" cy="130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18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extend()</a:t>
            </a:r>
            <a:r>
              <a:rPr lang="zh-CN" altLang="en-US" dirty="0">
                <a:solidFill>
                  <a:srgbClr val="B60206"/>
                </a:solidFill>
              </a:rPr>
              <a:t>方法：列表结尾追加数据，如果数据是一个序列，则将这个序列的数据逐一添加到列表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单个数据演示：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序列数据演示：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增加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31521" y="216307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.extend(</a:t>
            </a:r>
            <a:r>
              <a:rPr lang="zh-CN" altLang="en-US" sz="1600" dirty="0"/>
              <a:t>数据</a:t>
            </a:r>
            <a:r>
              <a:rPr lang="en-US" altLang="zh-CN" sz="1600" dirty="0"/>
              <a:t>)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1B48FA3E-B8FC-42F0-B4FA-EBCC3513A9D9}"/>
              </a:ext>
            </a:extLst>
          </p:cNvPr>
          <p:cNvSpPr txBox="1"/>
          <p:nvPr/>
        </p:nvSpPr>
        <p:spPr>
          <a:xfrm>
            <a:off x="710878" y="2965715"/>
            <a:ext cx="10666853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r>
              <a:rPr lang="en-US" altLang="zh-CN" sz="1600" dirty="0" err="1"/>
              <a:t>name_list.extend</a:t>
            </a:r>
            <a:r>
              <a:rPr lang="en-US" altLang="zh-CN" sz="1600" dirty="0"/>
              <a:t>('Smith')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['Tom', 'Lily', 'Rose', 'S', 'm', '</a:t>
            </a:r>
            <a:r>
              <a:rPr lang="en-US" altLang="zh-CN" sz="1600" dirty="0" err="1"/>
              <a:t>i</a:t>
            </a:r>
            <a:r>
              <a:rPr lang="en-US" altLang="zh-CN" sz="1600" dirty="0"/>
              <a:t>', 't', 'h']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4FF28A0A-8932-4967-A6E6-3BCC610C994A}"/>
              </a:ext>
            </a:extLst>
          </p:cNvPr>
          <p:cNvSpPr txBox="1"/>
          <p:nvPr/>
        </p:nvSpPr>
        <p:spPr>
          <a:xfrm>
            <a:off x="710879" y="5105398"/>
            <a:ext cx="10666853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r>
              <a:rPr lang="en-US" altLang="zh-CN" sz="1600" dirty="0" err="1"/>
              <a:t>name_list.extend</a:t>
            </a:r>
            <a:r>
              <a:rPr lang="en-US" altLang="zh-CN" sz="1600" dirty="0"/>
              <a:t>(['Smith', 'Jennifer'])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['Tom', 'Lily', 'Rose', 'Smith', 'Jennifer']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6953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insert()</a:t>
            </a:r>
            <a:r>
              <a:rPr lang="zh-CN" altLang="en-US" dirty="0">
                <a:solidFill>
                  <a:srgbClr val="B60206"/>
                </a:solidFill>
              </a:rPr>
              <a:t>方法：指定位置新增数据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增加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F7C71BB-FB38-43D6-A13F-357E6151A4B1}"/>
              </a:ext>
            </a:extLst>
          </p:cNvPr>
          <p:cNvSpPr txBox="1"/>
          <p:nvPr/>
        </p:nvSpPr>
        <p:spPr>
          <a:xfrm>
            <a:off x="731521" y="216307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.insert(</a:t>
            </a:r>
            <a:r>
              <a:rPr lang="zh-CN" altLang="en-US" sz="1600" dirty="0"/>
              <a:t>位置下标</a:t>
            </a:r>
            <a:r>
              <a:rPr lang="en-US" altLang="zh-CN" sz="1600" dirty="0"/>
              <a:t>, </a:t>
            </a:r>
            <a:r>
              <a:rPr lang="zh-CN" altLang="en-US" sz="1600" dirty="0"/>
              <a:t>数据</a:t>
            </a:r>
            <a:r>
              <a:rPr lang="en-US" altLang="zh-CN" sz="1600" dirty="0"/>
              <a:t>)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1B48FA3E-B8FC-42F0-B4FA-EBCC3513A9D9}"/>
              </a:ext>
            </a:extLst>
          </p:cNvPr>
          <p:cNvSpPr txBox="1"/>
          <p:nvPr/>
        </p:nvSpPr>
        <p:spPr>
          <a:xfrm>
            <a:off x="710880" y="3429000"/>
            <a:ext cx="10666853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r>
              <a:rPr lang="en-US" altLang="zh-CN" sz="1600" dirty="0" err="1"/>
              <a:t>name_list.insert</a:t>
            </a:r>
            <a:r>
              <a:rPr lang="en-US" altLang="zh-CN" sz="1600" dirty="0"/>
              <a:t>(1, 'Smith')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['Tom', 'Smith', 'Lily', 'Rose']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1802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增加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54DDCF8-CC0A-446A-85BE-607D501D3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200294"/>
              </p:ext>
            </p:extLst>
          </p:nvPr>
        </p:nvGraphicFramePr>
        <p:xfrm>
          <a:off x="955040" y="1755987"/>
          <a:ext cx="10505439" cy="2498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626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359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append()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增加指定数据到列表中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4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extend()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列表结尾追加数据，如果数据是一个序列，则将这个序列的数据逐一添加到列表</a:t>
                      </a:r>
                      <a:endParaRPr lang="en-US" altLang="zh-CN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46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insert()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指定位置新增数据</a:t>
                      </a:r>
                      <a:endParaRPr lang="en-US" altLang="zh-CN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1848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删除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del</a:t>
            </a:r>
            <a:r>
              <a:rPr lang="zh-CN" altLang="en-US" dirty="0">
                <a:solidFill>
                  <a:srgbClr val="B60206"/>
                </a:solidFill>
              </a:rPr>
              <a:t>：删除列表中的某个元素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删除列表，案例演示：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00321E9-E700-4F2D-A54A-C4962A5E0647}"/>
              </a:ext>
            </a:extLst>
          </p:cNvPr>
          <p:cNvSpPr txBox="1"/>
          <p:nvPr/>
        </p:nvSpPr>
        <p:spPr>
          <a:xfrm>
            <a:off x="731521" y="216307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del </a:t>
            </a:r>
            <a:r>
              <a:rPr lang="zh-CN" altLang="en-US" sz="1600" dirty="0"/>
              <a:t>目标</a:t>
            </a:r>
            <a:endParaRPr lang="en-US" altLang="zh-CN" sz="1600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3429000"/>
            <a:ext cx="10666853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/>
              <a:t>del 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[0]</a:t>
            </a:r>
          </a:p>
          <a:p>
            <a:endParaRPr lang="en-US" altLang="zh-CN" sz="1600" dirty="0"/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22459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删除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pop()</a:t>
            </a:r>
            <a:r>
              <a:rPr lang="zh-CN" altLang="en-US" dirty="0">
                <a:solidFill>
                  <a:srgbClr val="B60206"/>
                </a:solidFill>
              </a:rPr>
              <a:t>方法：删除指定下标的数据</a:t>
            </a:r>
            <a:r>
              <a:rPr lang="en-US" altLang="zh-CN" dirty="0">
                <a:solidFill>
                  <a:srgbClr val="B60206"/>
                </a:solidFill>
              </a:rPr>
              <a:t>(</a:t>
            </a:r>
            <a:r>
              <a:rPr lang="zh-CN" altLang="en-US" dirty="0">
                <a:solidFill>
                  <a:srgbClr val="B60206"/>
                </a:solidFill>
              </a:rPr>
              <a:t>默认为最后一个</a:t>
            </a:r>
            <a:r>
              <a:rPr lang="en-US" altLang="zh-CN" dirty="0">
                <a:solidFill>
                  <a:srgbClr val="B60206"/>
                </a:solidFill>
              </a:rPr>
              <a:t>)</a:t>
            </a:r>
            <a:r>
              <a:rPr lang="zh-CN" altLang="en-US" dirty="0">
                <a:solidFill>
                  <a:srgbClr val="B60206"/>
                </a:solidFill>
              </a:rPr>
              <a:t>，并返回该数据。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00321E9-E700-4F2D-A54A-C4962A5E0647}"/>
              </a:ext>
            </a:extLst>
          </p:cNvPr>
          <p:cNvSpPr txBox="1"/>
          <p:nvPr/>
        </p:nvSpPr>
        <p:spPr>
          <a:xfrm>
            <a:off x="731521" y="216307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.pop(</a:t>
            </a:r>
            <a:r>
              <a:rPr lang="zh-CN" altLang="en-US" sz="1600" dirty="0"/>
              <a:t>下标</a:t>
            </a:r>
            <a:r>
              <a:rPr lang="en-US" altLang="zh-CN" sz="1600" dirty="0"/>
              <a:t>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3429000"/>
            <a:ext cx="10666853" cy="230832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 err="1"/>
              <a:t>del_name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name_list.pop</a:t>
            </a:r>
            <a:r>
              <a:rPr lang="en-US" altLang="zh-CN" sz="1600" dirty="0"/>
              <a:t>(1)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Lily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del_name</a:t>
            </a:r>
            <a:r>
              <a:rPr lang="en-US" altLang="zh-CN" sz="1600" dirty="0"/>
              <a:t>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['Tom', 'Rose']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76069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删除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remove()</a:t>
            </a:r>
            <a:r>
              <a:rPr lang="zh-CN" altLang="en-US" dirty="0">
                <a:solidFill>
                  <a:srgbClr val="B60206"/>
                </a:solidFill>
              </a:rPr>
              <a:t>方法：移除列表中某个数据的第一个匹配项。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00321E9-E700-4F2D-A54A-C4962A5E0647}"/>
              </a:ext>
            </a:extLst>
          </p:cNvPr>
          <p:cNvSpPr txBox="1"/>
          <p:nvPr/>
        </p:nvSpPr>
        <p:spPr>
          <a:xfrm>
            <a:off x="731521" y="216307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.remove(</a:t>
            </a:r>
            <a:r>
              <a:rPr lang="zh-CN" altLang="en-US" sz="1600" dirty="0"/>
              <a:t>数据</a:t>
            </a:r>
            <a:r>
              <a:rPr lang="en-US" altLang="zh-CN" sz="1600" dirty="0"/>
              <a:t>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3429000"/>
            <a:ext cx="10666853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>
              <a:solidFill>
                <a:srgbClr val="AD2B26"/>
              </a:solidFill>
            </a:endParaRPr>
          </a:p>
          <a:p>
            <a:r>
              <a:rPr lang="en-US" altLang="zh-CN" sz="1600" dirty="0" err="1">
                <a:solidFill>
                  <a:srgbClr val="AD2B26"/>
                </a:solidFill>
              </a:rPr>
              <a:t>name_list.remove</a:t>
            </a:r>
            <a:r>
              <a:rPr lang="en-US" altLang="zh-CN" sz="1600" dirty="0">
                <a:solidFill>
                  <a:srgbClr val="AD2B26"/>
                </a:solidFill>
              </a:rPr>
              <a:t>('Rose')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['Tom', 'Lily']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9505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删除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clear()</a:t>
            </a:r>
            <a:r>
              <a:rPr lang="zh-CN" altLang="en-US" dirty="0">
                <a:solidFill>
                  <a:srgbClr val="B60206"/>
                </a:solidFill>
              </a:rPr>
              <a:t>方法：清空列表，删除列表中的所有元素，返回空列表。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00321E9-E700-4F2D-A54A-C4962A5E0647}"/>
              </a:ext>
            </a:extLst>
          </p:cNvPr>
          <p:cNvSpPr txBox="1"/>
          <p:nvPr/>
        </p:nvSpPr>
        <p:spPr>
          <a:xfrm>
            <a:off x="731521" y="216307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.clear()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3429000"/>
            <a:ext cx="10666853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 err="1">
                <a:solidFill>
                  <a:srgbClr val="AD2B26"/>
                </a:solidFill>
              </a:rPr>
              <a:t>name_list.clear</a:t>
            </a:r>
            <a:r>
              <a:rPr lang="en-US" altLang="zh-CN" sz="1600" dirty="0">
                <a:solidFill>
                  <a:srgbClr val="AD2B26"/>
                </a:solidFill>
              </a:rPr>
              <a:t>()</a:t>
            </a:r>
          </a:p>
          <a:p>
            <a:endParaRPr lang="en-US" altLang="zh-CN" sz="1600" dirty="0"/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 # </a:t>
            </a:r>
            <a:r>
              <a:rPr lang="zh-CN" altLang="en-US" sz="1600" dirty="0"/>
              <a:t>结果： </a:t>
            </a:r>
            <a:r>
              <a:rPr lang="en-US" altLang="zh-CN" sz="1600" dirty="0"/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20866342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删除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4DDCF8-CC0A-446A-85BE-607D501D3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515062"/>
              </p:ext>
            </p:extLst>
          </p:nvPr>
        </p:nvGraphicFramePr>
        <p:xfrm>
          <a:off x="955040" y="1755987"/>
          <a:ext cx="10505439" cy="3058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626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359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del</a:t>
                      </a:r>
                      <a:r>
                        <a:rPr lang="en-US" altLang="zh-CN" sz="1800" baseline="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lang="zh-CN" altLang="en-US" sz="1800" baseline="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列表</a:t>
                      </a:r>
                      <a:r>
                        <a:rPr lang="en-US" altLang="zh-CN" sz="1800" baseline="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[</a:t>
                      </a:r>
                      <a:r>
                        <a:rPr lang="zh-CN" altLang="en-US" sz="1800" baseline="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索引</a:t>
                      </a:r>
                      <a:r>
                        <a:rPr lang="en-US" altLang="zh-CN" sz="1800" baseline="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]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删除列表中的某个元素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4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pop()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删除指定下标的数据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默认为最后一个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)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，并返回该数据</a:t>
                      </a:r>
                      <a:endParaRPr lang="en-US" altLang="zh-CN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46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remove()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移除列表中某个数据的第一个匹配项。</a:t>
                      </a:r>
                      <a:endParaRPr lang="en-US" altLang="zh-CN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465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clear()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清空列表，删除列表中的所有元素，返回空列表。</a:t>
                      </a:r>
                      <a:endParaRPr lang="en-US" altLang="zh-CN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6116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修改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修改指定的元素值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00321E9-E700-4F2D-A54A-C4962A5E0647}"/>
              </a:ext>
            </a:extLst>
          </p:cNvPr>
          <p:cNvSpPr txBox="1"/>
          <p:nvPr/>
        </p:nvSpPr>
        <p:spPr>
          <a:xfrm>
            <a:off x="731521" y="216307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列表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索引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 =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修改后的值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3429000"/>
            <a:ext cx="10666853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>
              <a:solidFill>
                <a:srgbClr val="B60206"/>
              </a:solidFill>
            </a:endParaRPr>
          </a:p>
          <a:p>
            <a:r>
              <a:rPr lang="en-US" altLang="zh-CN" sz="1600" dirty="0" err="1">
                <a:solidFill>
                  <a:srgbClr val="B60206"/>
                </a:solidFill>
              </a:rPr>
              <a:t>name_list</a:t>
            </a:r>
            <a:r>
              <a:rPr lang="en-US" altLang="zh-CN" sz="1600" dirty="0">
                <a:solidFill>
                  <a:srgbClr val="B60206"/>
                </a:solidFill>
              </a:rPr>
              <a:t>[0] = 'Smith'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['Smith', 'Lily', 'Rose']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46102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修改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reverse()</a:t>
            </a:r>
            <a:r>
              <a:rPr lang="zh-CN" altLang="en-US" dirty="0">
                <a:solidFill>
                  <a:srgbClr val="B60206"/>
                </a:solidFill>
              </a:rPr>
              <a:t>：将数据序列进行倒叙排列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00321E9-E700-4F2D-A54A-C4962A5E0647}"/>
              </a:ext>
            </a:extLst>
          </p:cNvPr>
          <p:cNvSpPr txBox="1"/>
          <p:nvPr/>
        </p:nvSpPr>
        <p:spPr>
          <a:xfrm>
            <a:off x="731521" y="2163075"/>
            <a:ext cx="10666853" cy="33855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.reverse()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3429000"/>
            <a:ext cx="10666853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num_list</a:t>
            </a:r>
            <a:r>
              <a:rPr lang="en-US" altLang="zh-CN" sz="1600" dirty="0"/>
              <a:t> = [1, 5, 2, 3, 6, 8]</a:t>
            </a:r>
          </a:p>
          <a:p>
            <a:endParaRPr lang="en-US" altLang="zh-CN" sz="1600" dirty="0"/>
          </a:p>
          <a:p>
            <a:r>
              <a:rPr lang="en-US" altLang="zh-CN" sz="1600" dirty="0" err="1">
                <a:solidFill>
                  <a:srgbClr val="B60206"/>
                </a:solidFill>
              </a:rPr>
              <a:t>num_list.reverse</a:t>
            </a:r>
            <a:r>
              <a:rPr lang="en-US" altLang="zh-CN" sz="1600" dirty="0">
                <a:solidFill>
                  <a:srgbClr val="B60206"/>
                </a:solidFill>
              </a:rPr>
              <a:t>()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[8, 6, 3, 2, 5, 1]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num_list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84911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修改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sort()</a:t>
            </a:r>
            <a:r>
              <a:rPr lang="zh-CN" altLang="en-US" dirty="0">
                <a:solidFill>
                  <a:srgbClr val="B60206"/>
                </a:solidFill>
              </a:rPr>
              <a:t>方法：对列表序列进行排序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案例演示：</a:t>
            </a:r>
            <a:endParaRPr lang="en-US" altLang="zh-C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00321E9-E700-4F2D-A54A-C4962A5E0647}"/>
              </a:ext>
            </a:extLst>
          </p:cNvPr>
          <p:cNvSpPr txBox="1"/>
          <p:nvPr/>
        </p:nvSpPr>
        <p:spPr>
          <a:xfrm>
            <a:off x="731521" y="2163075"/>
            <a:ext cx="10666853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列表序列</a:t>
            </a:r>
            <a:r>
              <a:rPr lang="en-US" altLang="zh-CN" sz="1600" dirty="0"/>
              <a:t>.sort( key=None, reverse=False)</a:t>
            </a:r>
          </a:p>
          <a:p>
            <a:endParaRPr lang="en-US" altLang="zh-CN" sz="1600" dirty="0"/>
          </a:p>
          <a:p>
            <a:r>
              <a:rPr lang="zh-CN" altLang="en-US" sz="1600" dirty="0"/>
              <a:t>注意：</a:t>
            </a:r>
            <a:r>
              <a:rPr lang="en-US" altLang="zh-CN" sz="1600" dirty="0">
                <a:solidFill>
                  <a:srgbClr val="B60206"/>
                </a:solidFill>
              </a:rPr>
              <a:t>reverse</a:t>
            </a:r>
            <a:r>
              <a:rPr lang="zh-CN" altLang="en-US" sz="1600" dirty="0">
                <a:solidFill>
                  <a:srgbClr val="B60206"/>
                </a:solidFill>
              </a:rPr>
              <a:t>表示排序规则，</a:t>
            </a:r>
            <a:r>
              <a:rPr lang="en-US" altLang="zh-CN" sz="1600" dirty="0">
                <a:solidFill>
                  <a:srgbClr val="B60206"/>
                </a:solidFill>
              </a:rPr>
              <a:t>reverse = True</a:t>
            </a:r>
            <a:r>
              <a:rPr lang="zh-CN" altLang="en-US" sz="1600" dirty="0">
                <a:solidFill>
                  <a:srgbClr val="B60206"/>
                </a:solidFill>
              </a:rPr>
              <a:t>降序， </a:t>
            </a:r>
            <a:r>
              <a:rPr lang="en-US" altLang="zh-CN" sz="1600" dirty="0">
                <a:solidFill>
                  <a:srgbClr val="B60206"/>
                </a:solidFill>
              </a:rPr>
              <a:t>reverse = False</a:t>
            </a:r>
            <a:r>
              <a:rPr lang="zh-CN" altLang="en-US" sz="1600" dirty="0">
                <a:solidFill>
                  <a:srgbClr val="B60206"/>
                </a:solidFill>
              </a:rPr>
              <a:t>升序（默认）</a:t>
            </a:r>
            <a:endParaRPr lang="en-US" altLang="zh-CN" sz="1600" dirty="0">
              <a:solidFill>
                <a:srgbClr val="B60206"/>
              </a:solidFill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3429000"/>
            <a:ext cx="10666853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num_list</a:t>
            </a:r>
            <a:r>
              <a:rPr lang="en-US" altLang="zh-CN" sz="1600" dirty="0"/>
              <a:t> = [1, 5, 2, 3, 6, 8]</a:t>
            </a:r>
          </a:p>
          <a:p>
            <a:endParaRPr lang="en-US" altLang="zh-CN" sz="1600" dirty="0"/>
          </a:p>
          <a:p>
            <a:r>
              <a:rPr lang="en-US" altLang="zh-CN" sz="1600" dirty="0" err="1">
                <a:solidFill>
                  <a:srgbClr val="B60206"/>
                </a:solidFill>
              </a:rPr>
              <a:t>num_list.reverse</a:t>
            </a:r>
            <a:r>
              <a:rPr lang="en-US" altLang="zh-CN" sz="1600" dirty="0">
                <a:solidFill>
                  <a:srgbClr val="B60206"/>
                </a:solidFill>
              </a:rPr>
              <a:t>()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[8, 6, 3, 2, 5, 1]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num_list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3800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列表及其应用场景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☆ 修改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54DDCF8-CC0A-446A-85BE-607D501D3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647525"/>
              </p:ext>
            </p:extLst>
          </p:nvPr>
        </p:nvGraphicFramePr>
        <p:xfrm>
          <a:off x="955040" y="1755987"/>
          <a:ext cx="10505439" cy="2414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626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359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列表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[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索引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] = 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修改后的值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修改列表中的某个元素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4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reverse()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将数据序列进行倒叙排列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465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sort()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对列表序列进行排序</a:t>
                      </a:r>
                      <a:endParaRPr lang="en-US" altLang="zh-CN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5657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列表的循环遍历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3800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列表的循环遍历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while</a:t>
            </a:r>
            <a:r>
              <a:rPr lang="zh-CN" altLang="en-US" dirty="0"/>
              <a:t>循环遍历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执行结果：</a:t>
            </a:r>
            <a:endParaRPr lang="en-US" altLang="zh-CN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1656492"/>
            <a:ext cx="10666853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 err="1"/>
              <a:t>i</a:t>
            </a:r>
            <a:r>
              <a:rPr lang="en-US" altLang="zh-CN" sz="1600" dirty="0"/>
              <a:t> = 0</a:t>
            </a:r>
          </a:p>
          <a:p>
            <a:r>
              <a:rPr lang="en-US" altLang="zh-CN" sz="1600" dirty="0"/>
              <a:t>while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&lt; </a:t>
            </a:r>
            <a:r>
              <a:rPr lang="en-US" altLang="zh-CN" sz="1600" dirty="0" err="1"/>
              <a:t>len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):</a:t>
            </a:r>
          </a:p>
          <a:p>
            <a:r>
              <a:rPr lang="en-US" altLang="zh-CN" sz="1600" dirty="0"/>
              <a:t>    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</a:t>
            </a:r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+= 1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3808330"/>
            <a:ext cx="10674524" cy="211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25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列表的循环遍历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for</a:t>
            </a:r>
            <a:r>
              <a:rPr lang="zh-CN" altLang="en-US" dirty="0"/>
              <a:t>循环遍历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执行结果：</a:t>
            </a:r>
            <a:endParaRPr lang="en-US" altLang="zh-CN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1656492"/>
            <a:ext cx="10666853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name_list</a:t>
            </a:r>
            <a:r>
              <a:rPr lang="en-US" altLang="zh-CN" sz="1600" dirty="0"/>
              <a:t> = ['Tom', 'Lily', 'Rose']</a:t>
            </a:r>
          </a:p>
          <a:p>
            <a:endParaRPr lang="en-US" altLang="zh-CN" sz="1600" dirty="0"/>
          </a:p>
          <a:p>
            <a:r>
              <a:rPr lang="en-US" altLang="zh-CN" sz="1600" dirty="0"/>
              <a:t>for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in 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:</a:t>
            </a:r>
          </a:p>
          <a:p>
            <a:r>
              <a:rPr lang="en-US" altLang="zh-CN" sz="1600" dirty="0"/>
              <a:t>    print(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3841018"/>
            <a:ext cx="10584462" cy="207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971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列表的嵌套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06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09077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列表的嵌套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所谓列表嵌套指的就是一个列表里面包含了其他的子列表。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应用场景：要存储班级一、二、三三个班级学生姓名，且每个班级的学生姓名在一个列表。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>
                <a:solidFill>
                  <a:srgbClr val="B60206"/>
                </a:solidFill>
              </a:rPr>
              <a:t>name_list</a:t>
            </a:r>
            <a:r>
              <a:rPr lang="en-US" altLang="zh-CN" dirty="0">
                <a:solidFill>
                  <a:srgbClr val="B60206"/>
                </a:solidFill>
              </a:rPr>
              <a:t> = [['</a:t>
            </a:r>
            <a:r>
              <a:rPr lang="zh-CN" altLang="en-US" dirty="0">
                <a:solidFill>
                  <a:srgbClr val="B60206"/>
                </a:solidFill>
              </a:rPr>
              <a:t>小明</a:t>
            </a:r>
            <a:r>
              <a:rPr lang="en-US" altLang="zh-CN" dirty="0">
                <a:solidFill>
                  <a:srgbClr val="B60206"/>
                </a:solidFill>
              </a:rPr>
              <a:t>', '</a:t>
            </a:r>
            <a:r>
              <a:rPr lang="zh-CN" altLang="en-US" dirty="0">
                <a:solidFill>
                  <a:srgbClr val="B60206"/>
                </a:solidFill>
              </a:rPr>
              <a:t>小红</a:t>
            </a:r>
            <a:r>
              <a:rPr lang="en-US" altLang="zh-CN" dirty="0">
                <a:solidFill>
                  <a:srgbClr val="B60206"/>
                </a:solidFill>
              </a:rPr>
              <a:t>', '</a:t>
            </a:r>
            <a:r>
              <a:rPr lang="zh-CN" altLang="en-US" dirty="0">
                <a:solidFill>
                  <a:srgbClr val="B60206"/>
                </a:solidFill>
              </a:rPr>
              <a:t>小绿</a:t>
            </a:r>
            <a:r>
              <a:rPr lang="en-US" altLang="zh-CN" dirty="0">
                <a:solidFill>
                  <a:srgbClr val="B60206"/>
                </a:solidFill>
              </a:rPr>
              <a:t>'], ['Tom', 'Lily', 'Rose'], ['</a:t>
            </a:r>
            <a:r>
              <a:rPr lang="zh-CN" altLang="en-US" dirty="0">
                <a:solidFill>
                  <a:srgbClr val="B60206"/>
                </a:solidFill>
              </a:rPr>
              <a:t>张三</a:t>
            </a:r>
            <a:r>
              <a:rPr lang="en-US" altLang="zh-CN" dirty="0">
                <a:solidFill>
                  <a:srgbClr val="B60206"/>
                </a:solidFill>
              </a:rPr>
              <a:t>', '</a:t>
            </a:r>
            <a:r>
              <a:rPr lang="zh-CN" altLang="en-US" dirty="0">
                <a:solidFill>
                  <a:srgbClr val="B60206"/>
                </a:solidFill>
              </a:rPr>
              <a:t>李四</a:t>
            </a:r>
            <a:r>
              <a:rPr lang="en-US" altLang="zh-CN" dirty="0">
                <a:solidFill>
                  <a:srgbClr val="B60206"/>
                </a:solidFill>
              </a:rPr>
              <a:t>', '</a:t>
            </a:r>
            <a:r>
              <a:rPr lang="zh-CN" altLang="en-US" dirty="0">
                <a:solidFill>
                  <a:srgbClr val="B60206"/>
                </a:solidFill>
              </a:rPr>
              <a:t>王五</a:t>
            </a:r>
            <a:r>
              <a:rPr lang="en-US" altLang="zh-CN" dirty="0">
                <a:solidFill>
                  <a:srgbClr val="B60206"/>
                </a:solidFill>
              </a:rPr>
              <a:t>']]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思考： 如何查找到数据</a:t>
            </a:r>
            <a:r>
              <a:rPr lang="en-US" altLang="zh-CN" dirty="0"/>
              <a:t>"</a:t>
            </a:r>
            <a:r>
              <a:rPr lang="zh-CN" altLang="en-US" dirty="0"/>
              <a:t>李四</a:t>
            </a:r>
            <a:r>
              <a:rPr lang="en-US" altLang="zh-CN" dirty="0"/>
              <a:t>"</a:t>
            </a:r>
            <a:r>
              <a:rPr lang="zh-CN" altLang="en-US" dirty="0"/>
              <a:t>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3947305"/>
            <a:ext cx="10666853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# </a:t>
            </a:r>
            <a:r>
              <a:rPr lang="zh-CN" altLang="en-US" sz="1600" dirty="0"/>
              <a:t>第一步：按下标查找到李四所在的列表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[2])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第二步：从李四所在的列表里面，再按下标找到数据李四</a:t>
            </a:r>
          </a:p>
          <a:p>
            <a:r>
              <a:rPr lang="en-US" altLang="zh-CN" sz="1600" dirty="0"/>
              <a:t>print(</a:t>
            </a:r>
            <a:r>
              <a:rPr lang="en-US" altLang="zh-CN" sz="1600" dirty="0" err="1"/>
              <a:t>name_list</a:t>
            </a:r>
            <a:r>
              <a:rPr lang="en-US" altLang="zh-CN" sz="1600" dirty="0"/>
              <a:t>[2][1])</a:t>
            </a:r>
          </a:p>
        </p:txBody>
      </p:sp>
    </p:spTree>
    <p:extLst>
      <p:ext uri="{BB962C8B-B14F-4D97-AF65-F5344CB8AC3E}">
        <p14:creationId xmlns:p14="http://schemas.microsoft.com/office/powerpoint/2010/main" val="37965236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元组的定义及其应用场景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4904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元组的定义及其应用场景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、为什么需要元组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思考：如果想要存储多个数据，但是这些数据是不能修改的数据，怎么做？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答：列表？列表可以一次性存储多个数据，但是列表中的数据允许更改。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那这种情况下，我们想要存储多个数据且数据不允许更改，应该怎么办呢？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答：使用元组，</a:t>
            </a:r>
            <a:r>
              <a:rPr lang="zh-CN" altLang="en-US" dirty="0">
                <a:solidFill>
                  <a:srgbClr val="B60206"/>
                </a:solidFill>
              </a:rPr>
              <a:t>元组可以存储多个数据且元组内的数据是不能修改的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2619019"/>
            <a:ext cx="10666853" cy="58477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1600" dirty="0"/>
              <a:t>num_list = [10, 20, 30]</a:t>
            </a:r>
          </a:p>
          <a:p>
            <a:r>
              <a:rPr lang="pt-BR" altLang="zh-CN" sz="1600" dirty="0"/>
              <a:t>num_list[0] = 100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3070199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元组的定义及其应用场景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、定义元组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元组特点：定义元组使用</a:t>
            </a:r>
            <a:r>
              <a:rPr lang="zh-CN" altLang="en-US" dirty="0">
                <a:solidFill>
                  <a:srgbClr val="B60206"/>
                </a:solidFill>
              </a:rPr>
              <a:t>小括号</a:t>
            </a:r>
            <a:r>
              <a:rPr lang="zh-CN" altLang="en-US" dirty="0"/>
              <a:t>，且使用</a:t>
            </a:r>
            <a:r>
              <a:rPr lang="zh-CN" altLang="en-US" dirty="0">
                <a:solidFill>
                  <a:srgbClr val="B60206"/>
                </a:solidFill>
              </a:rPr>
              <a:t>逗号</a:t>
            </a:r>
            <a:r>
              <a:rPr lang="zh-CN" altLang="en-US" dirty="0"/>
              <a:t>隔开各个数据，</a:t>
            </a:r>
            <a:r>
              <a:rPr lang="zh-CN" altLang="en-US" dirty="0">
                <a:solidFill>
                  <a:srgbClr val="B60206"/>
                </a:solidFill>
              </a:rPr>
              <a:t>数据可以是不同的数据类型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注意：如果定义的元组只有一个数据，那么这个数据后面也要添加逗号，否则数据类型为唯一的这个数据的数据类型。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52252" y="2262884"/>
            <a:ext cx="10666853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# </a:t>
            </a:r>
            <a:r>
              <a:rPr lang="zh-CN" altLang="en-US" sz="1600" dirty="0"/>
              <a:t>多个数据元组</a:t>
            </a:r>
          </a:p>
          <a:p>
            <a:r>
              <a:rPr lang="en-US" altLang="zh-CN" sz="1600" dirty="0"/>
              <a:t>t1 = (10, 20, 30)</a:t>
            </a:r>
          </a:p>
          <a:p>
            <a:endParaRPr lang="en-US" altLang="zh-CN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单个数据元组</a:t>
            </a:r>
          </a:p>
          <a:p>
            <a:r>
              <a:rPr lang="en-US" altLang="zh-CN" sz="1600" dirty="0"/>
              <a:t>t2 = (10,)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52251" y="4330711"/>
            <a:ext cx="10666853" cy="206210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fr-FR" altLang="zh-CN" sz="1600" dirty="0"/>
              <a:t>t2 = (10,)</a:t>
            </a:r>
          </a:p>
          <a:p>
            <a:r>
              <a:rPr lang="fr-FR" altLang="zh-CN" sz="1600" dirty="0"/>
              <a:t>print(type(t2))  # tuple</a:t>
            </a:r>
          </a:p>
          <a:p>
            <a:endParaRPr lang="fr-FR" altLang="zh-CN" sz="1600" dirty="0"/>
          </a:p>
          <a:p>
            <a:r>
              <a:rPr lang="fr-FR" altLang="zh-CN" sz="1600" dirty="0"/>
              <a:t>t3 = (20)</a:t>
            </a:r>
          </a:p>
          <a:p>
            <a:r>
              <a:rPr lang="fr-FR" altLang="zh-CN" sz="1600" dirty="0"/>
              <a:t>print(type(t3))  # int</a:t>
            </a:r>
          </a:p>
          <a:p>
            <a:endParaRPr lang="fr-FR" altLang="zh-CN" sz="1600" dirty="0"/>
          </a:p>
          <a:p>
            <a:r>
              <a:rPr lang="fr-FR" altLang="zh-CN" sz="1600" dirty="0"/>
              <a:t>t4 = ('hello')</a:t>
            </a:r>
          </a:p>
          <a:p>
            <a:r>
              <a:rPr lang="fr-FR" altLang="zh-CN" sz="1600" dirty="0"/>
              <a:t>print(type(t4))  # str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6369417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元组的定义及其应用场景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、元组的相关操作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元组内的数据如果直接修改则立即报错，但是如果元组里面有列表，修改列表里面的数据则是支持的，故这个特点非常重要。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98067"/>
              </p:ext>
            </p:extLst>
          </p:nvPr>
        </p:nvGraphicFramePr>
        <p:xfrm>
          <a:off x="793626" y="1535860"/>
          <a:ext cx="10505439" cy="2284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443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56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元组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[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索引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]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根据索引下标查找元素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76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index()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查找某个数据，如果数据存在返回对应的下标，否则报错，语法和列表、字符串的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index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方法相同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324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count()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统计某个数据在当前元组出现的次数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011">
                <a:tc>
                  <a:txBody>
                    <a:bodyPr/>
                    <a:lstStyle/>
                    <a:p>
                      <a:r>
                        <a:rPr lang="en-US" altLang="zh-CN" sz="1800" u="none" strike="noStrike" kern="1200" baseline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len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统计元组中数据的个数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93626" y="5044151"/>
            <a:ext cx="10666853" cy="156966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fr-FR" altLang="zh-CN" sz="1600" dirty="0"/>
              <a:t>tuple2 = (10, 20, ['aa', 'bb', 'cc'], 50, 30)</a:t>
            </a:r>
          </a:p>
          <a:p>
            <a:r>
              <a:rPr lang="fr-FR" altLang="zh-CN" sz="1600" dirty="0"/>
              <a:t>print(tuple2[2])  # </a:t>
            </a:r>
            <a:r>
              <a:rPr lang="zh-CN" altLang="en-US" sz="1600" dirty="0"/>
              <a:t>访问到列表</a:t>
            </a:r>
          </a:p>
          <a:p>
            <a:endParaRPr lang="zh-CN" altLang="en-US" sz="1600" dirty="0"/>
          </a:p>
          <a:p>
            <a:r>
              <a:rPr lang="en-US" altLang="zh-CN" sz="1600" dirty="0"/>
              <a:t># </a:t>
            </a:r>
            <a:r>
              <a:rPr lang="zh-CN" altLang="en-US" sz="1600" dirty="0"/>
              <a:t>结果：</a:t>
            </a:r>
            <a:r>
              <a:rPr lang="en-US" altLang="zh-CN" sz="1600" dirty="0"/>
              <a:t>(10, 20, ['</a:t>
            </a:r>
            <a:r>
              <a:rPr lang="fr-FR" altLang="zh-CN" sz="1600" dirty="0"/>
              <a:t>aaaaa', 'bb', 'cc'], 50, 30)</a:t>
            </a:r>
          </a:p>
          <a:p>
            <a:r>
              <a:rPr lang="fr-FR" altLang="zh-CN" sz="1600" dirty="0"/>
              <a:t>tuple2[2][0] = 'aaaaa'</a:t>
            </a:r>
          </a:p>
          <a:p>
            <a:r>
              <a:rPr lang="fr-FR" altLang="zh-CN" sz="1600" dirty="0"/>
              <a:t>print(tuple2)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8320551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元组的定义及其应用场景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、元组的相关操作演示</a:t>
            </a: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D0F3F30F-D41C-405F-9A41-B8FB96243F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67678"/>
          </a:xfrm>
        </p:spPr>
        <p:txBody>
          <a:bodyPr/>
          <a:lstStyle/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运行结果：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D790CCF5-DB4F-4D86-8EA5-41429A9A4D30}"/>
              </a:ext>
            </a:extLst>
          </p:cNvPr>
          <p:cNvSpPr txBox="1"/>
          <p:nvPr/>
        </p:nvSpPr>
        <p:spPr>
          <a:xfrm>
            <a:off x="710880" y="1713810"/>
            <a:ext cx="10666853" cy="280076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tuple1 = ('</a:t>
            </a:r>
            <a:r>
              <a:rPr lang="en-US" altLang="zh-CN" sz="1600" dirty="0" err="1"/>
              <a:t>aa</a:t>
            </a:r>
            <a:r>
              <a:rPr lang="en-US" altLang="zh-CN" sz="1600" dirty="0"/>
              <a:t>', 'bb', 'cc', 'bb')</a:t>
            </a:r>
            <a:br>
              <a:rPr lang="en-US" altLang="zh-CN" sz="1600" dirty="0"/>
            </a:br>
            <a:r>
              <a:rPr lang="en-US" altLang="zh-CN" sz="1600" dirty="0"/>
              <a:t>print(tuple1[0])  # </a:t>
            </a:r>
            <a:r>
              <a:rPr lang="en-US" altLang="zh-CN" sz="1600" dirty="0" err="1"/>
              <a:t>aa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tuple2 = ('</a:t>
            </a:r>
            <a:r>
              <a:rPr lang="en-US" altLang="zh-CN" sz="1600" dirty="0" err="1"/>
              <a:t>aa</a:t>
            </a:r>
            <a:r>
              <a:rPr lang="en-US" altLang="zh-CN" sz="1600" dirty="0"/>
              <a:t>', 'bb', 'cc', 'bb')</a:t>
            </a:r>
            <a:br>
              <a:rPr lang="en-US" altLang="zh-CN" sz="1600" dirty="0"/>
            </a:br>
            <a:r>
              <a:rPr lang="en-US" altLang="zh-CN" sz="1600" dirty="0"/>
              <a:t>print(tuple2.index('</a:t>
            </a:r>
            <a:r>
              <a:rPr lang="en-US" altLang="zh-CN" sz="1600" dirty="0" err="1"/>
              <a:t>aa</a:t>
            </a:r>
            <a:r>
              <a:rPr lang="en-US" altLang="zh-CN" sz="1600" dirty="0"/>
              <a:t>'))  # 0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tuple3 = ('</a:t>
            </a:r>
            <a:r>
              <a:rPr lang="en-US" altLang="zh-CN" sz="1600" dirty="0" err="1"/>
              <a:t>aa</a:t>
            </a:r>
            <a:r>
              <a:rPr lang="en-US" altLang="zh-CN" sz="1600" dirty="0"/>
              <a:t>', 'bb', 'cc', 'bb')</a:t>
            </a:r>
            <a:br>
              <a:rPr lang="en-US" altLang="zh-CN" sz="1600" dirty="0"/>
            </a:br>
            <a:r>
              <a:rPr lang="en-US" altLang="zh-CN" sz="1600" dirty="0"/>
              <a:t>print(tuple3.count('bb'))  # 2</a:t>
            </a:r>
            <a:br>
              <a:rPr lang="en-US" altLang="zh-CN" sz="1600" dirty="0"/>
            </a:br>
            <a:br>
              <a:rPr lang="en-US" altLang="zh-CN" sz="1600" dirty="0"/>
            </a:br>
            <a:r>
              <a:rPr lang="en-US" altLang="zh-CN" sz="1600" dirty="0"/>
              <a:t>tuple4 = ('</a:t>
            </a:r>
            <a:r>
              <a:rPr lang="en-US" altLang="zh-CN" sz="1600" dirty="0" err="1"/>
              <a:t>aa</a:t>
            </a:r>
            <a:r>
              <a:rPr lang="en-US" altLang="zh-CN" sz="1600" dirty="0"/>
              <a:t>', 'bb', 'cc', 'bb')</a:t>
            </a:r>
            <a:br>
              <a:rPr lang="en-US" altLang="zh-CN" sz="1600" dirty="0"/>
            </a:br>
            <a:r>
              <a:rPr lang="en-US" altLang="zh-CN" sz="1600" dirty="0"/>
              <a:t>print(</a:t>
            </a:r>
            <a:r>
              <a:rPr lang="en-US" altLang="zh-CN" sz="1600" dirty="0" err="1"/>
              <a:t>len</a:t>
            </a:r>
            <a:r>
              <a:rPr lang="en-US" altLang="zh-CN" sz="1600" dirty="0"/>
              <a:t>(tuple4))  # 4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5042301"/>
            <a:ext cx="8125112" cy="158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866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EC2059-C43B-E74C-9676-118DAF47C6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有两个列表</a:t>
            </a:r>
            <a:r>
              <a:rPr lang="en-US" altLang="zh-CN" dirty="0"/>
              <a:t>list1 = [11, 22, 33]</a:t>
            </a:r>
            <a:r>
              <a:rPr lang="zh-CN" altLang="en-US" dirty="0"/>
              <a:t>，</a:t>
            </a:r>
            <a:r>
              <a:rPr lang="en-US" altLang="zh-CN" dirty="0"/>
              <a:t>list2 = [22, 33, 44]</a:t>
            </a:r>
            <a:r>
              <a:rPr lang="zh-CN" altLang="en-US" dirty="0"/>
              <a:t>，</a:t>
            </a:r>
            <a:r>
              <a:rPr lang="zh-CN" altLang="en-US" b="0" i="0" dirty="0">
                <a:solidFill>
                  <a:srgbClr val="393939"/>
                </a:solidFill>
                <a:effectLst/>
                <a:latin typeface="PingFang SC"/>
              </a:rPr>
              <a:t>获取两个列表中相同的元素，结果</a:t>
            </a:r>
            <a:r>
              <a:rPr lang="en-US" altLang="zh-CN" dirty="0">
                <a:solidFill>
                  <a:srgbClr val="393939"/>
                </a:solidFill>
                <a:latin typeface="PingFang SC"/>
              </a:rPr>
              <a:t>22</a:t>
            </a:r>
            <a:r>
              <a:rPr lang="zh-CN" altLang="en-US" dirty="0">
                <a:solidFill>
                  <a:srgbClr val="393939"/>
                </a:solidFill>
                <a:latin typeface="PingFang SC"/>
              </a:rPr>
              <a:t>与</a:t>
            </a:r>
            <a:r>
              <a:rPr lang="en-US" altLang="zh-CN" dirty="0">
                <a:solidFill>
                  <a:srgbClr val="393939"/>
                </a:solidFill>
                <a:latin typeface="PingFang SC"/>
              </a:rPr>
              <a:t>33</a:t>
            </a:r>
            <a:endParaRPr lang="en-US" altLang="zh-CN" dirty="0"/>
          </a:p>
          <a:p>
            <a:r>
              <a:rPr lang="zh-CN" altLang="en-US" dirty="0"/>
              <a:t>列表嵌套：有</a:t>
            </a:r>
            <a:r>
              <a:rPr lang="en-US" altLang="zh-CN" dirty="0"/>
              <a:t>3</a:t>
            </a:r>
            <a:r>
              <a:rPr lang="zh-CN" altLang="en-US" dirty="0"/>
              <a:t>个教室</a:t>
            </a:r>
            <a:r>
              <a:rPr lang="en-US" altLang="zh-CN" dirty="0"/>
              <a:t>[[],[],[]]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名讲师</a:t>
            </a:r>
            <a:r>
              <a:rPr lang="en-US" altLang="zh-CN" dirty="0"/>
              <a:t>['A','B','C','D','E','F','G','H']</a:t>
            </a:r>
            <a:r>
              <a:rPr lang="zh-CN" altLang="en-US" dirty="0"/>
              <a:t>，将</a:t>
            </a:r>
            <a:r>
              <a:rPr lang="en-US" altLang="zh-CN" dirty="0"/>
              <a:t>8</a:t>
            </a:r>
            <a:r>
              <a:rPr lang="zh-CN" altLang="en-US" dirty="0"/>
              <a:t>名讲师随机分配到</a:t>
            </a:r>
            <a:r>
              <a:rPr lang="en-US" altLang="zh-CN" dirty="0"/>
              <a:t>3</a:t>
            </a:r>
            <a:r>
              <a:rPr lang="zh-CN" altLang="en-US" dirty="0"/>
              <a:t>个教室中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29EDBEC-5E42-F040-B63A-408C1ED4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Python</a:t>
            </a:r>
            <a:r>
              <a:rPr lang="zh-CN" altLang="en-US">
                <a:solidFill>
                  <a:srgbClr val="595959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数据序列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8224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9445</TotalTime>
  <Words>4296</Words>
  <Application>Microsoft Office PowerPoint</Application>
  <PresentationFormat>宽屏</PresentationFormat>
  <Paragraphs>710</Paragraphs>
  <Slides>64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64</vt:i4>
      </vt:variant>
    </vt:vector>
  </HeadingPairs>
  <TitlesOfParts>
    <vt:vector size="83" baseType="lpstr">
      <vt:lpstr>Alibaba PuHuiTi B</vt:lpstr>
      <vt:lpstr>Alibaba PuHuiTi M</vt:lpstr>
      <vt:lpstr>Alibaba PuHuiTi R</vt:lpstr>
      <vt:lpstr>PingFang SC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Python数据序列（上）</vt:lpstr>
      <vt:lpstr>PowerPoint 演示文稿</vt:lpstr>
      <vt:lpstr>PowerPoint 演示文稿</vt:lpstr>
      <vt:lpstr>了解字符串</vt:lpstr>
      <vt:lpstr>了解字符串</vt:lpstr>
      <vt:lpstr>了解字符串</vt:lpstr>
      <vt:lpstr>了解字符串</vt:lpstr>
      <vt:lpstr>了解字符串</vt:lpstr>
      <vt:lpstr>了解字符串</vt:lpstr>
      <vt:lpstr>了解字符串</vt:lpstr>
      <vt:lpstr>了解字符串</vt:lpstr>
      <vt:lpstr>字符串切片</vt:lpstr>
      <vt:lpstr>字符串切片</vt:lpstr>
      <vt:lpstr>字符串切片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字符串常用操作方法</vt:lpstr>
      <vt:lpstr>上午练习题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列表及其应用场景</vt:lpstr>
      <vt:lpstr>列表的循环遍历</vt:lpstr>
      <vt:lpstr>列表的循环遍历</vt:lpstr>
      <vt:lpstr>列表的循环遍历</vt:lpstr>
      <vt:lpstr>列表的嵌套</vt:lpstr>
      <vt:lpstr>列表的嵌套</vt:lpstr>
      <vt:lpstr>元组的定义及其应用场景</vt:lpstr>
      <vt:lpstr>元组的定义及其应用场景</vt:lpstr>
      <vt:lpstr>元组的定义及其应用场景</vt:lpstr>
      <vt:lpstr>元组的定义及其应用场景</vt:lpstr>
      <vt:lpstr>元组的定义及其应用场景</vt:lpstr>
      <vt:lpstr>Python数据序列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任 逍遥</cp:lastModifiedBy>
  <cp:revision>779</cp:revision>
  <dcterms:created xsi:type="dcterms:W3CDTF">2020-03-31T02:23:27Z</dcterms:created>
  <dcterms:modified xsi:type="dcterms:W3CDTF">2021-11-05T09:25:29Z</dcterms:modified>
</cp:coreProperties>
</file>