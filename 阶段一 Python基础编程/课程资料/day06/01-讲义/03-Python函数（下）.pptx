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6.xml" ContentType="application/vnd.openxmlformats-officedocument.theme+xml"/>
  <Override PartName="/ppt/slideLayouts/slideLayout22.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665" r:id="rId2"/>
    <p:sldMasterId id="2147483707" r:id="rId3"/>
    <p:sldMasterId id="2147483700" r:id="rId4"/>
    <p:sldMasterId id="2147483698" r:id="rId5"/>
    <p:sldMasterId id="2147483668" r:id="rId6"/>
    <p:sldMasterId id="2147483672" r:id="rId7"/>
  </p:sldMasterIdLst>
  <p:notesMasterIdLst>
    <p:notesMasterId r:id="rId34"/>
  </p:notesMasterIdLst>
  <p:handoutMasterIdLst>
    <p:handoutMasterId r:id="rId35"/>
  </p:handoutMasterIdLst>
  <p:sldIdLst>
    <p:sldId id="462" r:id="rId8"/>
    <p:sldId id="463" r:id="rId9"/>
    <p:sldId id="464" r:id="rId10"/>
    <p:sldId id="612" r:id="rId11"/>
    <p:sldId id="613" r:id="rId12"/>
    <p:sldId id="614" r:id="rId13"/>
    <p:sldId id="615" r:id="rId14"/>
    <p:sldId id="616" r:id="rId15"/>
    <p:sldId id="466" r:id="rId16"/>
    <p:sldId id="564" r:id="rId17"/>
    <p:sldId id="599" r:id="rId18"/>
    <p:sldId id="578" r:id="rId19"/>
    <p:sldId id="577" r:id="rId20"/>
    <p:sldId id="579" r:id="rId21"/>
    <p:sldId id="580" r:id="rId22"/>
    <p:sldId id="581" r:id="rId23"/>
    <p:sldId id="582" r:id="rId24"/>
    <p:sldId id="583" r:id="rId25"/>
    <p:sldId id="585" r:id="rId26"/>
    <p:sldId id="586" r:id="rId27"/>
    <p:sldId id="587" r:id="rId28"/>
    <p:sldId id="588" r:id="rId29"/>
    <p:sldId id="589" r:id="rId30"/>
    <p:sldId id="590" r:id="rId31"/>
    <p:sldId id="591" r:id="rId32"/>
    <p:sldId id="264"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504F"/>
    <a:srgbClr val="B60206"/>
    <a:srgbClr val="B70006"/>
    <a:srgbClr val="AD2B26"/>
    <a:srgbClr val="FFFFE4"/>
    <a:srgbClr val="919191"/>
    <a:srgbClr val="333333"/>
    <a:srgbClr val="FFFFFF"/>
    <a:srgbClr val="D9D9D9"/>
    <a:srgbClr val="51515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45" autoAdjust="0"/>
    <p:restoredTop sz="91940" autoAdjust="0"/>
  </p:normalViewPr>
  <p:slideViewPr>
    <p:cSldViewPr snapToGrid="0">
      <p:cViewPr varScale="1">
        <p:scale>
          <a:sx n="79" d="100"/>
          <a:sy n="79" d="100"/>
        </p:scale>
        <p:origin x="504" y="101"/>
      </p:cViewPr>
      <p:guideLst/>
    </p:cSldViewPr>
  </p:slideViewPr>
  <p:notesTextViewPr>
    <p:cViewPr>
      <p:scale>
        <a:sx n="1" d="1"/>
        <a:sy n="1" d="1"/>
      </p:scale>
      <p:origin x="0" y="0"/>
    </p:cViewPr>
  </p:notesTextViewPr>
  <p:notesViewPr>
    <p:cSldViewPr snapToGrid="0" showGuides="1">
      <p:cViewPr varScale="1">
        <p:scale>
          <a:sx n="97" d="100"/>
          <a:sy n="97" d="100"/>
        </p:scale>
        <p:origin x="3416"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ableStyles" Target="tableStyles.xml"/><Relationship Id="rId21" Type="http://schemas.openxmlformats.org/officeDocument/2006/relationships/slide" Target="slides/slide14.xml"/><Relationship Id="rId34" Type="http://schemas.openxmlformats.org/officeDocument/2006/relationships/notesMaster" Target="notesMasters/notesMaster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handoutMaster" Target="handoutMasters/handoutMaster1.xml"/><Relationship Id="rId8" Type="http://schemas.openxmlformats.org/officeDocument/2006/relationships/slide" Target="slides/slide1.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5BAB8F7-26C7-2345-A2F0-4C70E8EFA8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1EB0FE49-C86E-0B42-8C7E-921C60B5AA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t>2021/11/3</a:t>
            </a:fld>
            <a:endParaRPr kumimoji="1" lang="zh-CN" altLang="en-US"/>
          </a:p>
        </p:txBody>
      </p:sp>
      <p:sp>
        <p:nvSpPr>
          <p:cNvPr id="4" name="页脚占位符 3">
            <a:extLst>
              <a:ext uri="{FF2B5EF4-FFF2-40B4-BE49-F238E27FC236}">
                <a16:creationId xmlns:a16="http://schemas.microsoft.com/office/drawing/2014/main" id="{9E928822-8127-CD43-9156-5BB443851D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4FC3EF7F-6078-7249-A167-F5C0687992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t>‹#›</a:t>
            </a:fld>
            <a:endParaRPr kumimoji="1" lang="zh-CN" altLang="en-US"/>
          </a:p>
        </p:txBody>
      </p:sp>
    </p:spTree>
    <p:extLst>
      <p:ext uri="{BB962C8B-B14F-4D97-AF65-F5344CB8AC3E}">
        <p14:creationId xmlns:p14="http://schemas.microsoft.com/office/powerpoint/2010/main" val="27626559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t>2021/11/3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t>‹#›</a:t>
            </a:fld>
            <a:endParaRPr lang="zh-CN" altLang="en-US"/>
          </a:p>
        </p:txBody>
      </p:sp>
    </p:spTree>
    <p:extLst>
      <p:ext uri="{BB962C8B-B14F-4D97-AF65-F5344CB8AC3E}">
        <p14:creationId xmlns:p14="http://schemas.microsoft.com/office/powerpoint/2010/main" val="3085594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5</a:t>
            </a:fld>
            <a:endParaRPr lang="zh-CN" altLang="en-US"/>
          </a:p>
        </p:txBody>
      </p:sp>
    </p:spTree>
    <p:extLst>
      <p:ext uri="{BB962C8B-B14F-4D97-AF65-F5344CB8AC3E}">
        <p14:creationId xmlns:p14="http://schemas.microsoft.com/office/powerpoint/2010/main" val="3759747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6</a:t>
            </a:fld>
            <a:endParaRPr lang="zh-CN" altLang="en-US"/>
          </a:p>
        </p:txBody>
      </p:sp>
    </p:spTree>
    <p:extLst>
      <p:ext uri="{BB962C8B-B14F-4D97-AF65-F5344CB8AC3E}">
        <p14:creationId xmlns:p14="http://schemas.microsoft.com/office/powerpoint/2010/main" val="2409939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7</a:t>
            </a:fld>
            <a:endParaRPr lang="zh-CN" altLang="en-US"/>
          </a:p>
        </p:txBody>
      </p:sp>
    </p:spTree>
    <p:extLst>
      <p:ext uri="{BB962C8B-B14F-4D97-AF65-F5344CB8AC3E}">
        <p14:creationId xmlns:p14="http://schemas.microsoft.com/office/powerpoint/2010/main" val="2572845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8</a:t>
            </a:fld>
            <a:endParaRPr lang="zh-CN" altLang="en-US"/>
          </a:p>
        </p:txBody>
      </p:sp>
    </p:spTree>
    <p:extLst>
      <p:ext uri="{BB962C8B-B14F-4D97-AF65-F5344CB8AC3E}">
        <p14:creationId xmlns:p14="http://schemas.microsoft.com/office/powerpoint/2010/main" val="9970859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13</a:t>
            </a:fld>
            <a:endParaRPr lang="zh-CN" altLang="en-US"/>
          </a:p>
        </p:txBody>
      </p:sp>
    </p:spTree>
    <p:extLst>
      <p:ext uri="{BB962C8B-B14F-4D97-AF65-F5344CB8AC3E}">
        <p14:creationId xmlns:p14="http://schemas.microsoft.com/office/powerpoint/2010/main" val="21289214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14</a:t>
            </a:fld>
            <a:endParaRPr lang="zh-CN" altLang="en-US"/>
          </a:p>
        </p:txBody>
      </p:sp>
    </p:spTree>
    <p:extLst>
      <p:ext uri="{BB962C8B-B14F-4D97-AF65-F5344CB8AC3E}">
        <p14:creationId xmlns:p14="http://schemas.microsoft.com/office/powerpoint/2010/main" val="3961641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15</a:t>
            </a:fld>
            <a:endParaRPr lang="zh-CN" altLang="en-US"/>
          </a:p>
        </p:txBody>
      </p:sp>
    </p:spTree>
    <p:extLst>
      <p:ext uri="{BB962C8B-B14F-4D97-AF65-F5344CB8AC3E}">
        <p14:creationId xmlns:p14="http://schemas.microsoft.com/office/powerpoint/2010/main" val="23437189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16</a:t>
            </a:fld>
            <a:endParaRPr lang="zh-CN" altLang="en-US"/>
          </a:p>
        </p:txBody>
      </p:sp>
    </p:spTree>
    <p:extLst>
      <p:ext uri="{BB962C8B-B14F-4D97-AF65-F5344CB8AC3E}">
        <p14:creationId xmlns:p14="http://schemas.microsoft.com/office/powerpoint/2010/main" val="1945174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17</a:t>
            </a:fld>
            <a:endParaRPr lang="zh-CN" altLang="en-US"/>
          </a:p>
        </p:txBody>
      </p:sp>
    </p:spTree>
    <p:extLst>
      <p:ext uri="{BB962C8B-B14F-4D97-AF65-F5344CB8AC3E}">
        <p14:creationId xmlns:p14="http://schemas.microsoft.com/office/powerpoint/2010/main" val="9658910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18</a:t>
            </a:fld>
            <a:endParaRPr lang="zh-CN" altLang="en-US"/>
          </a:p>
        </p:txBody>
      </p:sp>
    </p:spTree>
    <p:extLst>
      <p:ext uri="{BB962C8B-B14F-4D97-AF65-F5344CB8AC3E}">
        <p14:creationId xmlns:p14="http://schemas.microsoft.com/office/powerpoint/2010/main" val="2719686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20</a:t>
            </a:fld>
            <a:endParaRPr lang="zh-CN" altLang="en-US"/>
          </a:p>
        </p:txBody>
      </p:sp>
    </p:spTree>
    <p:extLst>
      <p:ext uri="{BB962C8B-B14F-4D97-AF65-F5344CB8AC3E}">
        <p14:creationId xmlns:p14="http://schemas.microsoft.com/office/powerpoint/2010/main" val="16248748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21</a:t>
            </a:fld>
            <a:endParaRPr lang="zh-CN" altLang="en-US"/>
          </a:p>
        </p:txBody>
      </p:sp>
    </p:spTree>
    <p:extLst>
      <p:ext uri="{BB962C8B-B14F-4D97-AF65-F5344CB8AC3E}">
        <p14:creationId xmlns:p14="http://schemas.microsoft.com/office/powerpoint/2010/main" val="2930284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22</a:t>
            </a:fld>
            <a:endParaRPr lang="zh-CN" altLang="en-US"/>
          </a:p>
        </p:txBody>
      </p:sp>
    </p:spTree>
    <p:extLst>
      <p:ext uri="{BB962C8B-B14F-4D97-AF65-F5344CB8AC3E}">
        <p14:creationId xmlns:p14="http://schemas.microsoft.com/office/powerpoint/2010/main" val="25949115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23</a:t>
            </a:fld>
            <a:endParaRPr lang="zh-CN" altLang="en-US"/>
          </a:p>
        </p:txBody>
      </p:sp>
    </p:spTree>
    <p:extLst>
      <p:ext uri="{BB962C8B-B14F-4D97-AF65-F5344CB8AC3E}">
        <p14:creationId xmlns:p14="http://schemas.microsoft.com/office/powerpoint/2010/main" val="3281090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24</a:t>
            </a:fld>
            <a:endParaRPr lang="zh-CN" altLang="en-US"/>
          </a:p>
        </p:txBody>
      </p:sp>
    </p:spTree>
    <p:extLst>
      <p:ext uri="{BB962C8B-B14F-4D97-AF65-F5344CB8AC3E}">
        <p14:creationId xmlns:p14="http://schemas.microsoft.com/office/powerpoint/2010/main" val="672009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C63F50-FC71-46DD-9BDC-11F985EF414C}" type="slidenum">
              <a:rPr lang="zh-CN" altLang="en-US" smtClean="0"/>
              <a:t>25</a:t>
            </a:fld>
            <a:endParaRPr lang="zh-CN" altLang="en-US"/>
          </a:p>
        </p:txBody>
      </p:sp>
    </p:spTree>
    <p:extLst>
      <p:ext uri="{BB962C8B-B14F-4D97-AF65-F5344CB8AC3E}">
        <p14:creationId xmlns:p14="http://schemas.microsoft.com/office/powerpoint/2010/main" val="3457664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469F54-72BF-044A-89E7-CDAF75E947E3}"/>
              </a:ext>
            </a:extLst>
          </p:cNvPr>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p>
        </p:txBody>
      </p:sp>
      <p:sp>
        <p:nvSpPr>
          <p:cNvPr id="3" name="文本占位符 3">
            <a:extLst>
              <a:ext uri="{FF2B5EF4-FFF2-40B4-BE49-F238E27FC236}">
                <a16:creationId xmlns:a16="http://schemas.microsoft.com/office/drawing/2014/main" id="{FE68CD30-ECD6-A642-8C7F-BA42D1249DFD}"/>
              </a:ext>
            </a:extLst>
          </p:cNvPr>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p>
        </p:txBody>
      </p:sp>
    </p:spTree>
    <p:extLst>
      <p:ext uri="{BB962C8B-B14F-4D97-AF65-F5344CB8AC3E}">
        <p14:creationId xmlns:p14="http://schemas.microsoft.com/office/powerpoint/2010/main" val="588721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81B62E64-63F1-3949-8E18-11A80E8D9F0D}"/>
              </a:ext>
            </a:extLst>
          </p:cNvPr>
          <p:cNvSpPr>
            <a:spLocks noGrp="1"/>
          </p:cNvSpPr>
          <p:nvPr>
            <p:ph type="body" sz="quarter" idx="10"/>
          </p:nvPr>
        </p:nvSpPr>
        <p:spPr>
          <a:xfrm>
            <a:off x="5019358" y="1006475"/>
            <a:ext cx="5973761" cy="4256405"/>
          </a:xfrm>
          <a:prstGeom prst="rect">
            <a:avLst/>
          </a:prstGeom>
        </p:spPr>
        <p:txBody>
          <a:bodyPr anchor="ctr"/>
          <a:lstStyle>
            <a:lvl1pPr marL="457189" marR="0" indent="-457189" algn="l" defTabSz="914400" rtl="0" eaLnBrk="0" fontAlgn="base" latinLnBrk="0" hangingPunct="0">
              <a:lnSpc>
                <a:spcPct val="200000"/>
              </a:lnSpc>
              <a:spcBef>
                <a:spcPct val="20000"/>
              </a:spcBef>
              <a:spcAft>
                <a:spcPct val="0"/>
              </a:spcAft>
              <a:buClrTx/>
              <a:buSzTx/>
              <a:buFont typeface="Wingdings" pitchFamily="2" charset="2"/>
              <a:buChar char="u"/>
              <a:tabLst/>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189" marR="0" lvl="0" indent="-457189" algn="l" defTabSz="914400" rtl="0" eaLnBrk="0" fontAlgn="base" latinLnBrk="0" hangingPunct="0">
              <a:lnSpc>
                <a:spcPct val="200000"/>
              </a:lnSpc>
              <a:spcBef>
                <a:spcPct val="20000"/>
              </a:spcBef>
              <a:spcAft>
                <a:spcPct val="0"/>
              </a:spcAft>
              <a:buClrTx/>
              <a:buSzTx/>
              <a:buFont typeface="Wingdings" pitchFamily="2" charset="2"/>
              <a:buChar char="u"/>
              <a:tabLst/>
              <a:defRPr/>
            </a:pPr>
            <a:r>
              <a:rPr kumimoji="1" lang="zh-CN" altLang="en-US" dirty="0"/>
              <a:t>此内容上下居中对齐，可根据实际情况微调位置和字体大小</a:t>
            </a:r>
          </a:p>
          <a:p>
            <a:pPr lvl="0"/>
            <a:endParaRPr kumimoji="1" lang="zh-CN" altLang="en-US" dirty="0"/>
          </a:p>
        </p:txBody>
      </p:sp>
    </p:spTree>
    <p:extLst>
      <p:ext uri="{BB962C8B-B14F-4D97-AF65-F5344CB8AC3E}">
        <p14:creationId xmlns:p14="http://schemas.microsoft.com/office/powerpoint/2010/main" val="3564694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81B62E64-63F1-3949-8E18-11A80E8D9F0D}"/>
              </a:ext>
            </a:extLst>
          </p:cNvPr>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p>
        </p:txBody>
      </p:sp>
    </p:spTree>
    <p:extLst>
      <p:ext uri="{BB962C8B-B14F-4D97-AF65-F5344CB8AC3E}">
        <p14:creationId xmlns:p14="http://schemas.microsoft.com/office/powerpoint/2010/main" val="2196259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239209-2A8D-D940-8FA0-61988543E499}"/>
              </a:ext>
            </a:extLst>
          </p:cNvPr>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a:extLst>
              <a:ext uri="{FF2B5EF4-FFF2-40B4-BE49-F238E27FC236}">
                <a16:creationId xmlns:a16="http://schemas.microsoft.com/office/drawing/2014/main" id="{CA56E57C-1F68-E948-87DC-0FF15A8C7DE7}"/>
              </a:ext>
            </a:extLst>
          </p:cNvPr>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p>
        </p:txBody>
      </p:sp>
      <p:sp>
        <p:nvSpPr>
          <p:cNvPr id="17" name="文本占位符 13">
            <a:extLst>
              <a:ext uri="{FF2B5EF4-FFF2-40B4-BE49-F238E27FC236}">
                <a16:creationId xmlns:a16="http://schemas.microsoft.com/office/drawing/2014/main" id="{01590D97-7CA9-B247-806A-885950A786CD}"/>
              </a:ext>
            </a:extLst>
          </p:cNvPr>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p>
        </p:txBody>
      </p:sp>
    </p:spTree>
    <p:extLst>
      <p:ext uri="{BB962C8B-B14F-4D97-AF65-F5344CB8AC3E}">
        <p14:creationId xmlns:p14="http://schemas.microsoft.com/office/powerpoint/2010/main" val="198760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a:extLst>
              <a:ext uri="{FF2B5EF4-FFF2-40B4-BE49-F238E27FC236}">
                <a16:creationId xmlns:a16="http://schemas.microsoft.com/office/drawing/2014/main" id="{ED1003EB-0D97-5849-AC50-BFB3EDAA3B2B}"/>
              </a:ext>
            </a:extLst>
          </p:cNvPr>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p>
        </p:txBody>
      </p:sp>
      <p:sp>
        <p:nvSpPr>
          <p:cNvPr id="14" name="文本占位符 13">
            <a:extLst>
              <a:ext uri="{FF2B5EF4-FFF2-40B4-BE49-F238E27FC236}">
                <a16:creationId xmlns:a16="http://schemas.microsoft.com/office/drawing/2014/main" id="{0C8E5D29-3E75-FC46-80C9-2080D9268EBF}"/>
              </a:ext>
            </a:extLst>
          </p:cNvPr>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p>
        </p:txBody>
      </p:sp>
    </p:spTree>
    <p:extLst>
      <p:ext uri="{BB962C8B-B14F-4D97-AF65-F5344CB8AC3E}">
        <p14:creationId xmlns:p14="http://schemas.microsoft.com/office/powerpoint/2010/main" val="3315334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二级标题+正文内容（项目符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81" y="1646133"/>
            <a:ext cx="10749598"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nSpc>
                <a:spcPct val="150000"/>
              </a:lnSpc>
              <a:buFont typeface="Wingdings" pitchFamily="2" charset="2"/>
              <a:buChar char="l"/>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49FCFB1A-E1EE-3245-9778-ABB7ACB14FA5}"/>
              </a:ext>
            </a:extLst>
          </p:cNvPr>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a:extLst>
              <a:ext uri="{FF2B5EF4-FFF2-40B4-BE49-F238E27FC236}">
                <a16:creationId xmlns:a16="http://schemas.microsoft.com/office/drawing/2014/main" id="{2DD40269-A2A6-814E-991D-1DBB12873808}"/>
              </a:ext>
            </a:extLst>
          </p:cNvPr>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3545071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C2551-88ED-4239-96A2-7F3C49A205FD}"/>
              </a:ext>
            </a:extLst>
          </p:cNvPr>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10" name="文本占位符 9">
            <a:extLst>
              <a:ext uri="{FF2B5EF4-FFF2-40B4-BE49-F238E27FC236}">
                <a16:creationId xmlns:a16="http://schemas.microsoft.com/office/drawing/2014/main" id="{1BE760B7-955D-46DB-9CF6-0F5E75ACEF47}"/>
              </a:ext>
            </a:extLst>
          </p:cNvPr>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188898513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81" y="1646133"/>
            <a:ext cx="10749598"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nSpc>
                <a:spcPct val="150000"/>
              </a:lnSpc>
              <a:buFont typeface="Wingdings" pitchFamily="2" charset="2"/>
              <a:buChar char="l"/>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49FCFB1A-E1EE-3245-9778-ABB7ACB14FA5}"/>
              </a:ext>
            </a:extLst>
          </p:cNvPr>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a:extLst>
              <a:ext uri="{FF2B5EF4-FFF2-40B4-BE49-F238E27FC236}">
                <a16:creationId xmlns:a16="http://schemas.microsoft.com/office/drawing/2014/main" id="{2DD40269-A2A6-814E-991D-1DBB12873808}"/>
              </a:ext>
            </a:extLst>
          </p:cNvPr>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1639914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79" y="1646133"/>
            <a:ext cx="10719120" cy="4219575"/>
          </a:xfrm>
          <a:prstGeom prst="rect">
            <a:avLst/>
          </a:prstGeom>
        </p:spPr>
        <p:txBody>
          <a:bodyPr/>
          <a:lstStyle>
            <a:lvl1pPr marL="360000" indent="-360000">
              <a:lnSpc>
                <a:spcPct val="150000"/>
              </a:lnSpc>
              <a:buClr>
                <a:srgbClr val="404040"/>
              </a:buClr>
              <a:buSzPct val="85000"/>
              <a:buFont typeface="+mj-lt"/>
              <a:buAutoNum type="arabicPeriod"/>
              <a:tabLst/>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00" indent="-360000">
              <a:lnSpc>
                <a:spcPct val="150000"/>
              </a:lnSpc>
              <a:buFont typeface="+mj-lt"/>
              <a:buAutoNum type="arabicPeriod"/>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64C54839-92D5-0E4E-B9C2-203FF53C3229}"/>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a:extLst>
              <a:ext uri="{FF2B5EF4-FFF2-40B4-BE49-F238E27FC236}">
                <a16:creationId xmlns:a16="http://schemas.microsoft.com/office/drawing/2014/main" id="{E5CC542A-FF04-5243-BA82-1AC7B0A112E0}"/>
              </a:ext>
            </a:extLst>
          </p:cNvPr>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2862767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4D92416-D30F-8049-AD27-C955EC07F253}"/>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5" name="文本占位符 9">
            <a:extLst>
              <a:ext uri="{FF2B5EF4-FFF2-40B4-BE49-F238E27FC236}">
                <a16:creationId xmlns:a16="http://schemas.microsoft.com/office/drawing/2014/main" id="{FB933948-E99B-AD48-8B41-DEA66BC8FB53}"/>
              </a:ext>
            </a:extLst>
          </p:cNvPr>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
        <p:nvSpPr>
          <p:cNvPr id="6" name="文本占位符 11">
            <a:extLst>
              <a:ext uri="{FF2B5EF4-FFF2-40B4-BE49-F238E27FC236}">
                <a16:creationId xmlns:a16="http://schemas.microsoft.com/office/drawing/2014/main" id="{D8BA1B0F-468D-0446-AB7E-B23A83414DF2}"/>
              </a:ext>
            </a:extLst>
          </p:cNvPr>
          <p:cNvSpPr>
            <a:spLocks noGrp="1"/>
          </p:cNvSpPr>
          <p:nvPr>
            <p:ph type="body" sz="quarter" idx="11" hasCustomPrompt="1"/>
          </p:nvPr>
        </p:nvSpPr>
        <p:spPr>
          <a:xfrm>
            <a:off x="710880" y="1646133"/>
            <a:ext cx="10748057"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buFont typeface="Wingdings" pitchFamily="2" charset="2"/>
              <a:buChar char="l"/>
              <a:tabLst/>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itchFamily="2" charset="2"/>
              <a:buChar char="l"/>
              <a:tabLst/>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1</a:t>
            </a:r>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2037497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
        <p:nvSpPr>
          <p:cNvPr id="4" name="标题 1">
            <a:extLst>
              <a:ext uri="{FF2B5EF4-FFF2-40B4-BE49-F238E27FC236}">
                <a16:creationId xmlns:a16="http://schemas.microsoft.com/office/drawing/2014/main" id="{9947CB16-8D08-5242-A2E0-936DC1D438F6}"/>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extLst>
      <p:ext uri="{BB962C8B-B14F-4D97-AF65-F5344CB8AC3E}">
        <p14:creationId xmlns:p14="http://schemas.microsoft.com/office/powerpoint/2010/main" val="29088069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B678CE99-982F-E747-B6C5-B29DECDE389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3" name="文本占位符 11">
            <a:extLst>
              <a:ext uri="{FF2B5EF4-FFF2-40B4-BE49-F238E27FC236}">
                <a16:creationId xmlns:a16="http://schemas.microsoft.com/office/drawing/2014/main" id="{88D105DB-24C1-B042-AF5E-89B957331250}"/>
              </a:ext>
            </a:extLst>
          </p:cNvPr>
          <p:cNvSpPr>
            <a:spLocks noGrp="1"/>
          </p:cNvSpPr>
          <p:nvPr>
            <p:ph type="body" sz="quarter" idx="11" hasCustomPrompt="1"/>
          </p:nvPr>
        </p:nvSpPr>
        <p:spPr>
          <a:xfrm>
            <a:off x="710879" y="934933"/>
            <a:ext cx="10719120" cy="4219575"/>
          </a:xfrm>
          <a:prstGeom prst="rect">
            <a:avLst/>
          </a:prstGeom>
        </p:spPr>
        <p:txBody>
          <a:bodyPr/>
          <a:lstStyle>
            <a:lvl1pPr marL="360000" indent="-360000">
              <a:lnSpc>
                <a:spcPct val="150000"/>
              </a:lnSpc>
              <a:buClr>
                <a:srgbClr val="404040"/>
              </a:buClr>
              <a:buSzPct val="85000"/>
              <a:buFont typeface="+mj-lt"/>
              <a:buAutoNum type="arabicPeriod"/>
              <a:tabLst/>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00" indent="-360000">
              <a:lnSpc>
                <a:spcPct val="150000"/>
              </a:lnSpc>
              <a:buFont typeface="+mj-lt"/>
              <a:buAutoNum type="arabicPeriod"/>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11588711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3" name="文本占位符 11">
            <a:extLst>
              <a:ext uri="{FF2B5EF4-FFF2-40B4-BE49-F238E27FC236}">
                <a16:creationId xmlns:a16="http://schemas.microsoft.com/office/drawing/2014/main" id="{9C0915B4-3DAF-C444-883E-818CAE39A5B1}"/>
              </a:ext>
            </a:extLst>
          </p:cNvPr>
          <p:cNvSpPr>
            <a:spLocks noGrp="1"/>
          </p:cNvSpPr>
          <p:nvPr>
            <p:ph type="body" sz="quarter" idx="11" hasCustomPrompt="1"/>
          </p:nvPr>
        </p:nvSpPr>
        <p:spPr>
          <a:xfrm>
            <a:off x="710880" y="945093"/>
            <a:ext cx="10748057"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buFont typeface="Wingdings" pitchFamily="2" charset="2"/>
              <a:buChar char="l"/>
              <a:tabLst/>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itchFamily="2" charset="2"/>
              <a:buChar char="l"/>
              <a:tabLst/>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1</a:t>
            </a:r>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2357163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extLst>
      <p:ext uri="{BB962C8B-B14F-4D97-AF65-F5344CB8AC3E}">
        <p14:creationId xmlns:p14="http://schemas.microsoft.com/office/powerpoint/2010/main" val="11824831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28063303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步骤标题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24558441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14145838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a:extLst>
              <a:ext uri="{FF2B5EF4-FFF2-40B4-BE49-F238E27FC236}">
                <a16:creationId xmlns:a16="http://schemas.microsoft.com/office/drawing/2014/main" id="{380B9059-6AA7-9E4F-BC56-F30289A262EA}"/>
              </a:ext>
            </a:extLst>
          </p:cNvPr>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a:extLst>
              <a:ext uri="{FF2B5EF4-FFF2-40B4-BE49-F238E27FC236}">
                <a16:creationId xmlns:a16="http://schemas.microsoft.com/office/drawing/2014/main" id="{D71D36F9-1B1C-094A-A062-19A46A7AB388}"/>
              </a:ext>
            </a:extLst>
          </p:cNvPr>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p>
        </p:txBody>
      </p:sp>
      <p:sp>
        <p:nvSpPr>
          <p:cNvPr id="20" name="标题 1">
            <a:extLst>
              <a:ext uri="{FF2B5EF4-FFF2-40B4-BE49-F238E27FC236}">
                <a16:creationId xmlns:a16="http://schemas.microsoft.com/office/drawing/2014/main" id="{493FA365-EB18-4C49-B470-79A013EED4C7}"/>
              </a:ext>
            </a:extLst>
          </p:cNvPr>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24" name="六边形 23">
            <a:extLst>
              <a:ext uri="{FF2B5EF4-FFF2-40B4-BE49-F238E27FC236}">
                <a16:creationId xmlns:a16="http://schemas.microsoft.com/office/drawing/2014/main" id="{745B08E3-3066-3844-87E9-46D7426765C6}"/>
              </a:ext>
            </a:extLst>
          </p:cNvPr>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a:extLst>
              <a:ext uri="{FF2B5EF4-FFF2-40B4-BE49-F238E27FC236}">
                <a16:creationId xmlns:a16="http://schemas.microsoft.com/office/drawing/2014/main" id="{B7A42CA5-7885-7642-B20D-B92B35099CBC}"/>
              </a:ext>
            </a:extLst>
          </p:cNvPr>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a:extLst>
              <a:ext uri="{FF2B5EF4-FFF2-40B4-BE49-F238E27FC236}">
                <a16:creationId xmlns:a16="http://schemas.microsoft.com/office/drawing/2014/main" id="{DE7B2235-1C6B-6B44-BC4F-1EC9BD8B9D8D}"/>
              </a:ext>
            </a:extLst>
          </p:cNvPr>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a:extLst>
              <a:ext uri="{FF2B5EF4-FFF2-40B4-BE49-F238E27FC236}">
                <a16:creationId xmlns:a16="http://schemas.microsoft.com/office/drawing/2014/main" id="{5BF818FD-51C6-E54A-9D53-783E1313F19E}"/>
              </a:ext>
            </a:extLst>
          </p:cNvPr>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2361137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p>
          </p:txBody>
        </p:sp>
      </p:grpSp>
      <p:sp>
        <p:nvSpPr>
          <p:cNvPr id="21" name="标题 1">
            <a:extLst>
              <a:ext uri="{FF2B5EF4-FFF2-40B4-BE49-F238E27FC236}">
                <a16:creationId xmlns:a16="http://schemas.microsoft.com/office/drawing/2014/main" id="{B0EF16AB-AE8A-5D46-82EA-397E62F9359F}"/>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extLst>
      <p:ext uri="{BB962C8B-B14F-4D97-AF65-F5344CB8AC3E}">
        <p14:creationId xmlns:p14="http://schemas.microsoft.com/office/powerpoint/2010/main" val="41700943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标题 1">
            <a:extLst>
              <a:ext uri="{FF2B5EF4-FFF2-40B4-BE49-F238E27FC236}">
                <a16:creationId xmlns:a16="http://schemas.microsoft.com/office/drawing/2014/main" id="{B0EF16AB-AE8A-5D46-82EA-397E62F9359F}"/>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15" name="泪珠形 14">
            <a:extLst>
              <a:ext uri="{FF2B5EF4-FFF2-40B4-BE49-F238E27FC236}">
                <a16:creationId xmlns:a16="http://schemas.microsoft.com/office/drawing/2014/main" id="{0EFAFC56-5B16-1644-BDCA-117D21E2806E}"/>
              </a:ext>
            </a:extLst>
          </p:cNvPr>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a:extLst>
              <a:ext uri="{FF2B5EF4-FFF2-40B4-BE49-F238E27FC236}">
                <a16:creationId xmlns:a16="http://schemas.microsoft.com/office/drawing/2014/main" id="{02C17FF1-E140-B64F-AF1C-FE17A937E731}"/>
              </a:ext>
            </a:extLst>
          </p:cNvPr>
          <p:cNvSpPr/>
          <p:nvPr userDrawn="1"/>
        </p:nvSpPr>
        <p:spPr>
          <a:xfrm>
            <a:off x="1645363" y="2434299"/>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a:extLst>
              <a:ext uri="{FF2B5EF4-FFF2-40B4-BE49-F238E27FC236}">
                <a16:creationId xmlns:a16="http://schemas.microsoft.com/office/drawing/2014/main" id="{F639FB5D-6047-3448-A319-F4FD2BA72BB3}"/>
              </a:ext>
            </a:extLst>
          </p:cNvPr>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a:extLst>
              <a:ext uri="{FF2B5EF4-FFF2-40B4-BE49-F238E27FC236}">
                <a16:creationId xmlns:a16="http://schemas.microsoft.com/office/drawing/2014/main" id="{0C1BFADD-1066-B04B-BD99-C7E20F0FA73E}"/>
              </a:ext>
            </a:extLst>
          </p:cNvPr>
          <p:cNvSpPr/>
          <p:nvPr userDrawn="1"/>
        </p:nvSpPr>
        <p:spPr>
          <a:xfrm>
            <a:off x="3663313" y="4089233"/>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a:extLst>
              <a:ext uri="{FF2B5EF4-FFF2-40B4-BE49-F238E27FC236}">
                <a16:creationId xmlns:a16="http://schemas.microsoft.com/office/drawing/2014/main" id="{20149FF9-71F5-FB43-A7A0-BB0C90CB4486}"/>
              </a:ext>
            </a:extLst>
          </p:cNvPr>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a:extLst>
              <a:ext uri="{FF2B5EF4-FFF2-40B4-BE49-F238E27FC236}">
                <a16:creationId xmlns:a16="http://schemas.microsoft.com/office/drawing/2014/main" id="{098F3E8C-7A22-A34B-817A-438DDA0CAC1C}"/>
              </a:ext>
            </a:extLst>
          </p:cNvPr>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1820687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4AB6E3BD-F819-724D-9482-568CE7A3A1F8}"/>
              </a:ext>
            </a:extLst>
          </p:cNvPr>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a:extLst>
              <a:ext uri="{FF2B5EF4-FFF2-40B4-BE49-F238E27FC236}">
                <a16:creationId xmlns:a16="http://schemas.microsoft.com/office/drawing/2014/main" id="{19BD6F73-BC4E-714F-81EB-5276C9B1460A}"/>
              </a:ext>
            </a:extLst>
          </p:cNvPr>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a:extLst>
              <a:ext uri="{FF2B5EF4-FFF2-40B4-BE49-F238E27FC236}">
                <a16:creationId xmlns:a16="http://schemas.microsoft.com/office/drawing/2014/main" id="{93788A09-8D86-D048-B1A9-A02E86D4E252}"/>
              </a:ext>
            </a:extLst>
          </p:cNvPr>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a:extLst>
              <a:ext uri="{FF2B5EF4-FFF2-40B4-BE49-F238E27FC236}">
                <a16:creationId xmlns:a16="http://schemas.microsoft.com/office/drawing/2014/main" id="{B9328185-789E-DD42-AA27-851035E2E6BA}"/>
              </a:ext>
            </a:extLst>
          </p:cNvPr>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a:extLst>
              <a:ext uri="{FF2B5EF4-FFF2-40B4-BE49-F238E27FC236}">
                <a16:creationId xmlns:a16="http://schemas.microsoft.com/office/drawing/2014/main" id="{5F2080FE-05C6-2340-B7D7-FCDE4D780420}"/>
              </a:ext>
            </a:extLst>
          </p:cNvPr>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a:extLst>
              <a:ext uri="{FF2B5EF4-FFF2-40B4-BE49-F238E27FC236}">
                <a16:creationId xmlns:a16="http://schemas.microsoft.com/office/drawing/2014/main" id="{990C36A6-06C1-0647-8725-306AE7D5DB42}"/>
              </a:ext>
            </a:extLst>
          </p:cNvPr>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a:extLst>
              <a:ext uri="{FF2B5EF4-FFF2-40B4-BE49-F238E27FC236}">
                <a16:creationId xmlns:a16="http://schemas.microsoft.com/office/drawing/2014/main" id="{B0EF16AB-AE8A-5D46-82EA-397E62F9359F}"/>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33" name="标题占位符 1">
            <a:extLst>
              <a:ext uri="{FF2B5EF4-FFF2-40B4-BE49-F238E27FC236}">
                <a16:creationId xmlns:a16="http://schemas.microsoft.com/office/drawing/2014/main" id="{C9A22D05-8FDB-7546-BB47-01F708903CCD}"/>
              </a:ext>
            </a:extLst>
          </p:cNvPr>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p>
        </p:txBody>
      </p:sp>
      <p:sp>
        <p:nvSpPr>
          <p:cNvPr id="45" name="矩形 44">
            <a:extLst>
              <a:ext uri="{FF2B5EF4-FFF2-40B4-BE49-F238E27FC236}">
                <a16:creationId xmlns:a16="http://schemas.microsoft.com/office/drawing/2014/main" id="{9C7A4DAB-DC8A-9A43-A443-C9AE1D1E2698}"/>
              </a:ext>
            </a:extLst>
          </p:cNvPr>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40339224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41511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3.sv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image" Target="../media/image4.png"/><Relationship Id="rId2" Type="http://schemas.openxmlformats.org/officeDocument/2006/relationships/slideLayout" Target="../slideLayouts/slideLayout8.xml"/><Relationship Id="rId16" Type="http://schemas.openxmlformats.org/officeDocument/2006/relationships/theme" Target="../theme/theme6.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7.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D359BD9D-8F8C-A44C-91CC-CA8F5146AA4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21677" y="5726430"/>
            <a:ext cx="2748647" cy="448662"/>
          </a:xfrm>
          <a:prstGeom prst="rect">
            <a:avLst/>
          </a:prstGeom>
        </p:spPr>
      </p:pic>
      <p:sp>
        <p:nvSpPr>
          <p:cNvPr id="30" name="六边形 29">
            <a:extLst>
              <a:ext uri="{FF2B5EF4-FFF2-40B4-BE49-F238E27FC236}">
                <a16:creationId xmlns:a16="http://schemas.microsoft.com/office/drawing/2014/main" id="{6F51DA0D-EA98-B14B-A35B-7EDF8DBC5804}"/>
              </a:ext>
            </a:extLst>
          </p:cNvPr>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 fmla="*/ 0 w 1034350"/>
              <a:gd name="connsiteY0" fmla="*/ 1136649 h 1136649"/>
              <a:gd name="connsiteX1" fmla="*/ 0 w 1034350"/>
              <a:gd name="connsiteY1" fmla="*/ 0 h 1136649"/>
              <a:gd name="connsiteX2" fmla="*/ 750188 w 1034350"/>
              <a:gd name="connsiteY2" fmla="*/ 0 h 1136649"/>
              <a:gd name="connsiteX3" fmla="*/ 1034350 w 1034350"/>
              <a:gd name="connsiteY3" fmla="*/ 568325 h 1136649"/>
              <a:gd name="connsiteX4" fmla="*/ 750188 w 1034350"/>
              <a:gd name="connsiteY4" fmla="*/ 1136649 h 1136649"/>
              <a:gd name="connsiteX5" fmla="*/ 0 w 1034350"/>
              <a:gd name="connsiteY5" fmla="*/ 1136649 h 113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a:extLst>
              <a:ext uri="{FF2B5EF4-FFF2-40B4-BE49-F238E27FC236}">
                <a16:creationId xmlns:a16="http://schemas.microsoft.com/office/drawing/2014/main" id="{B0F52978-FC9E-FC46-A244-4605B31E7CC6}"/>
              </a:ext>
            </a:extLst>
          </p:cNvPr>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a:extLst>
              <a:ext uri="{FF2B5EF4-FFF2-40B4-BE49-F238E27FC236}">
                <a16:creationId xmlns:a16="http://schemas.microsoft.com/office/drawing/2014/main" id="{6677D3A6-DA28-9444-815A-4524D9FED995}"/>
              </a:ext>
            </a:extLst>
          </p:cNvPr>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a:extLst>
              <a:ext uri="{FF2B5EF4-FFF2-40B4-BE49-F238E27FC236}">
                <a16:creationId xmlns:a16="http://schemas.microsoft.com/office/drawing/2014/main" id="{B3967B50-7DD6-B247-97B6-4844195F68D5}"/>
              </a:ext>
            </a:extLst>
          </p:cNvPr>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a:extLst>
              <a:ext uri="{FF2B5EF4-FFF2-40B4-BE49-F238E27FC236}">
                <a16:creationId xmlns:a16="http://schemas.microsoft.com/office/drawing/2014/main" id="{4C290A33-8D65-DC47-BE12-79B4B22A299D}"/>
              </a:ext>
            </a:extLst>
          </p:cNvPr>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a:extLst>
              <a:ext uri="{FF2B5EF4-FFF2-40B4-BE49-F238E27FC236}">
                <a16:creationId xmlns:a16="http://schemas.microsoft.com/office/drawing/2014/main" id="{E0867641-ABCE-C84A-84A4-696E52E6543B}"/>
              </a:ext>
            </a:extLst>
          </p:cNvPr>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a:extLst>
              <a:ext uri="{FF2B5EF4-FFF2-40B4-BE49-F238E27FC236}">
                <a16:creationId xmlns:a16="http://schemas.microsoft.com/office/drawing/2014/main" id="{3DC81806-A479-FD47-B1B6-A77189F32D48}"/>
              </a:ext>
            </a:extLst>
          </p:cNvPr>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a:extLst>
              <a:ext uri="{FF2B5EF4-FFF2-40B4-BE49-F238E27FC236}">
                <a16:creationId xmlns:a16="http://schemas.microsoft.com/office/drawing/2014/main" id="{D15987B7-89CB-8549-AEE5-ADD4AED257B7}"/>
              </a:ext>
            </a:extLst>
          </p:cNvPr>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a:extLst>
              <a:ext uri="{FF2B5EF4-FFF2-40B4-BE49-F238E27FC236}">
                <a16:creationId xmlns:a16="http://schemas.microsoft.com/office/drawing/2014/main" id="{382A540C-45FC-EB45-96D5-1EA0511DAF21}"/>
              </a:ext>
            </a:extLst>
          </p:cNvPr>
          <p:cNvCxnSpPr>
            <a:cxnSpLocks/>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a:extLst>
              <a:ext uri="{FF2B5EF4-FFF2-40B4-BE49-F238E27FC236}">
                <a16:creationId xmlns:a16="http://schemas.microsoft.com/office/drawing/2014/main" id="{28569DD6-18D5-5D45-BC4E-E4C2727B945C}"/>
              </a:ext>
            </a:extLst>
          </p:cNvPr>
          <p:cNvCxnSpPr>
            <a:cxnSpLocks/>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7860066"/>
      </p:ext>
    </p:extLst>
  </p:cSld>
  <p:clrMap bg1="lt1" tx1="dk1" bg2="lt2" tx2="dk2" accent1="accent1" accent2="accent2" accent3="accent3" accent4="accent4" accent5="accent5" accent6="accent6" hlink="hlink" folHlink="folHlink"/>
  <p:sldLayoutIdLst>
    <p:sldLayoutId id="2147483697" r:id="rId1"/>
  </p:sldLayoutIdLst>
  <p:txStyles>
    <p:titleStyle>
      <a:lvl1pPr algn="ctr" rtl="0" eaLnBrk="0" fontAlgn="base" hangingPunct="0">
        <a:spcBef>
          <a:spcPct val="0"/>
        </a:spcBef>
        <a:spcAft>
          <a:spcPct val="0"/>
        </a:spcAft>
        <a:defRPr sz="5867" kern="1200">
          <a:solidFill>
            <a:schemeClr val="tx1"/>
          </a:solidFill>
          <a:latin typeface="+mj-lt"/>
          <a:ea typeface="+mj-ea"/>
          <a:cs typeface="+mj-cs"/>
        </a:defRPr>
      </a:lvl1pPr>
      <a:lvl2pPr algn="ctr" rtl="0" eaLnBrk="0" fontAlgn="base" hangingPunct="0">
        <a:spcBef>
          <a:spcPct val="0"/>
        </a:spcBef>
        <a:spcAft>
          <a:spcPct val="0"/>
        </a:spcAft>
        <a:defRPr sz="5867">
          <a:solidFill>
            <a:schemeClr val="tx1"/>
          </a:solidFill>
          <a:latin typeface="Calibri" pitchFamily="34" charset="0"/>
          <a:ea typeface="黑体" pitchFamily="49" charset="-122"/>
        </a:defRPr>
      </a:lvl2pPr>
      <a:lvl3pPr algn="ctr" rtl="0" eaLnBrk="0" fontAlgn="base" hangingPunct="0">
        <a:spcBef>
          <a:spcPct val="0"/>
        </a:spcBef>
        <a:spcAft>
          <a:spcPct val="0"/>
        </a:spcAft>
        <a:defRPr sz="5867">
          <a:solidFill>
            <a:schemeClr val="tx1"/>
          </a:solidFill>
          <a:latin typeface="Calibri" pitchFamily="34" charset="0"/>
          <a:ea typeface="黑体" pitchFamily="49" charset="-122"/>
        </a:defRPr>
      </a:lvl3pPr>
      <a:lvl4pPr algn="ctr" rtl="0" eaLnBrk="0" fontAlgn="base" hangingPunct="0">
        <a:spcBef>
          <a:spcPct val="0"/>
        </a:spcBef>
        <a:spcAft>
          <a:spcPct val="0"/>
        </a:spcAft>
        <a:defRPr sz="5867">
          <a:solidFill>
            <a:schemeClr val="tx1"/>
          </a:solidFill>
          <a:latin typeface="Calibri" pitchFamily="34" charset="0"/>
          <a:ea typeface="黑体" pitchFamily="49" charset="-122"/>
        </a:defRPr>
      </a:lvl4pPr>
      <a:lvl5pPr algn="ctr" rtl="0" eaLnBrk="0" fontAlgn="base" hangingPunct="0">
        <a:spcBef>
          <a:spcPct val="0"/>
        </a:spcBef>
        <a:spcAft>
          <a:spcPct val="0"/>
        </a:spcAft>
        <a:defRPr sz="5867">
          <a:solidFill>
            <a:schemeClr val="tx1"/>
          </a:solidFill>
          <a:latin typeface="Calibri" pitchFamily="34" charset="0"/>
          <a:ea typeface="黑体" pitchFamily="49" charset="-122"/>
        </a:defRPr>
      </a:lvl5pPr>
      <a:lvl6pPr marL="609585" algn="ctr" rtl="0" fontAlgn="base">
        <a:spcBef>
          <a:spcPct val="0"/>
        </a:spcBef>
        <a:spcAft>
          <a:spcPct val="0"/>
        </a:spcAft>
        <a:defRPr sz="5867">
          <a:solidFill>
            <a:schemeClr val="tx1"/>
          </a:solidFill>
          <a:latin typeface="Calibri" pitchFamily="34" charset="0"/>
          <a:ea typeface="宋体" charset="-122"/>
        </a:defRPr>
      </a:lvl6pPr>
      <a:lvl7pPr marL="1219170" algn="ctr" rtl="0" fontAlgn="base">
        <a:spcBef>
          <a:spcPct val="0"/>
        </a:spcBef>
        <a:spcAft>
          <a:spcPct val="0"/>
        </a:spcAft>
        <a:defRPr sz="5867">
          <a:solidFill>
            <a:schemeClr val="tx1"/>
          </a:solidFill>
          <a:latin typeface="Calibri" pitchFamily="34" charset="0"/>
          <a:ea typeface="宋体" charset="-122"/>
        </a:defRPr>
      </a:lvl7pPr>
      <a:lvl8pPr marL="1828754" algn="ctr" rtl="0" fontAlgn="base">
        <a:spcBef>
          <a:spcPct val="0"/>
        </a:spcBef>
        <a:spcAft>
          <a:spcPct val="0"/>
        </a:spcAft>
        <a:defRPr sz="5867">
          <a:solidFill>
            <a:schemeClr val="tx1"/>
          </a:solidFill>
          <a:latin typeface="Calibri" pitchFamily="34" charset="0"/>
          <a:ea typeface="宋体" charset="-122"/>
        </a:defRPr>
      </a:lvl8pPr>
      <a:lvl9pPr marL="2438339" algn="ctr" rtl="0" fontAlgn="base">
        <a:spcBef>
          <a:spcPct val="0"/>
        </a:spcBef>
        <a:spcAft>
          <a:spcPct val="0"/>
        </a:spcAft>
        <a:defRPr sz="5867">
          <a:solidFill>
            <a:schemeClr val="tx1"/>
          </a:solidFill>
          <a:latin typeface="Calibri" pitchFamily="34" charset="0"/>
          <a:ea typeface="宋体"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sz="3733" kern="1200">
          <a:solidFill>
            <a:schemeClr val="tx1"/>
          </a:solidFill>
          <a:latin typeface="+mn-lt"/>
          <a:ea typeface="+mn-ea"/>
          <a:cs typeface="+mn-cs"/>
        </a:defRPr>
      </a:lvl2pPr>
      <a:lvl3pPr marL="1523962" indent="-304792"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2"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grpSp>
        <p:nvGrpSpPr>
          <p:cNvPr id="5" name="组合 4">
            <a:extLst>
              <a:ext uri="{FF2B5EF4-FFF2-40B4-BE49-F238E27FC236}">
                <a16:creationId xmlns:a16="http://schemas.microsoft.com/office/drawing/2014/main" id="{3A7F5CA1-11F4-B94D-84AE-F6E3E12DEC4D}"/>
              </a:ext>
            </a:extLst>
          </p:cNvPr>
          <p:cNvGrpSpPr/>
          <p:nvPr userDrawn="1"/>
        </p:nvGrpSpPr>
        <p:grpSpPr>
          <a:xfrm>
            <a:off x="2126595" y="2260317"/>
            <a:ext cx="2280944" cy="1168683"/>
            <a:chOff x="1984355" y="1223746"/>
            <a:chExt cx="2280944" cy="1168683"/>
          </a:xfrm>
        </p:grpSpPr>
        <p:sp>
          <p:nvSpPr>
            <p:cNvPr id="20" name="文本框 19">
              <a:extLst>
                <a:ext uri="{FF2B5EF4-FFF2-40B4-BE49-F238E27FC236}">
                  <a16:creationId xmlns:a16="http://schemas.microsoft.com/office/drawing/2014/main" id="{DB73C1A2-926E-3849-92AB-BCE7B4C71DF2}"/>
                </a:ext>
              </a:extLst>
            </p:cNvPr>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p>
          </p:txBody>
        </p:sp>
        <p:sp>
          <p:nvSpPr>
            <p:cNvPr id="21" name="文本框 20">
              <a:extLst>
                <a:ext uri="{FF2B5EF4-FFF2-40B4-BE49-F238E27FC236}">
                  <a16:creationId xmlns:a16="http://schemas.microsoft.com/office/drawing/2014/main" id="{3EC96A2F-7D7A-F34F-9BE8-8ADCD2919ACB}"/>
                </a:ext>
              </a:extLst>
            </p:cNvPr>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a:extLst>
                <a:ext uri="{FF2B5EF4-FFF2-40B4-BE49-F238E27FC236}">
                  <a16:creationId xmlns:a16="http://schemas.microsoft.com/office/drawing/2014/main" id="{83E925B0-57FD-8B4B-8FF7-8BCD8AADEF23}"/>
                </a:ext>
              </a:extLst>
            </p:cNvPr>
            <p:cNvCxnSpPr>
              <a:cxnSpLocks/>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a:extLst>
                <a:ext uri="{FF2B5EF4-FFF2-40B4-BE49-F238E27FC236}">
                  <a16:creationId xmlns:a16="http://schemas.microsoft.com/office/drawing/2014/main" id="{3EDCC472-8CF0-F84C-9270-06FAC7E8DD4D}"/>
                </a:ext>
              </a:extLst>
            </p:cNvPr>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a:extLst>
                <a:ext uri="{FF2B5EF4-FFF2-40B4-BE49-F238E27FC236}">
                  <a16:creationId xmlns:a16="http://schemas.microsoft.com/office/drawing/2014/main" id="{E8F71936-0CC4-CB4A-AF12-89754A9ADA5D}"/>
                </a:ext>
              </a:extLst>
            </p:cNvPr>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759586569"/>
      </p:ext>
    </p:extLst>
  </p:cSld>
  <p:clrMap bg1="lt1" tx1="dk1" bg2="lt2" tx2="dk2" accent1="accent1" accent2="accent2" accent3="accent3" accent4="accent4" accent5="accent5" accent6="accent6" hlink="hlink" folHlink="folHlink"/>
  <p:sldLayoutIdLst>
    <p:sldLayoutId id="2147483667"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marR="0" indent="-457189" algn="l" defTabSz="914400" rtl="0" eaLnBrk="0" fontAlgn="base" latinLnBrk="0" hangingPunct="0">
        <a:lnSpc>
          <a:spcPct val="150000"/>
        </a:lnSpc>
        <a:spcBef>
          <a:spcPct val="20000"/>
        </a:spcBef>
        <a:spcAft>
          <a:spcPct val="0"/>
        </a:spcAft>
        <a:buClrTx/>
        <a:buSzTx/>
        <a:buFont typeface="Arial" panose="020B0604020202020204" pitchFamily="34" charset="0"/>
        <a:buChar char="•"/>
        <a:tabLst/>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a:extLst>
              <a:ext uri="{FF2B5EF4-FFF2-40B4-BE49-F238E27FC236}">
                <a16:creationId xmlns:a16="http://schemas.microsoft.com/office/drawing/2014/main" id="{88438130-7B30-A94E-B2AC-38EDD0B85909}"/>
              </a:ext>
            </a:extLst>
          </p:cNvPr>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2"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sp>
        <p:nvSpPr>
          <p:cNvPr id="20" name="文本框 19">
            <a:extLst>
              <a:ext uri="{FF2B5EF4-FFF2-40B4-BE49-F238E27FC236}">
                <a16:creationId xmlns:a16="http://schemas.microsoft.com/office/drawing/2014/main" id="{DB73C1A2-926E-3849-92AB-BCE7B4C71DF2}"/>
              </a:ext>
            </a:extLst>
          </p:cNvPr>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p>
        </p:txBody>
      </p:sp>
      <p:sp>
        <p:nvSpPr>
          <p:cNvPr id="21" name="文本框 20">
            <a:extLst>
              <a:ext uri="{FF2B5EF4-FFF2-40B4-BE49-F238E27FC236}">
                <a16:creationId xmlns:a16="http://schemas.microsoft.com/office/drawing/2014/main" id="{3EC96A2F-7D7A-F34F-9BE8-8ADCD2919ACB}"/>
              </a:ext>
            </a:extLst>
          </p:cNvPr>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a:extLst>
              <a:ext uri="{FF2B5EF4-FFF2-40B4-BE49-F238E27FC236}">
                <a16:creationId xmlns:a16="http://schemas.microsoft.com/office/drawing/2014/main" id="{83E925B0-57FD-8B4B-8FF7-8BCD8AADEF23}"/>
              </a:ext>
            </a:extLst>
          </p:cNvPr>
          <p:cNvCxnSpPr>
            <a:cxnSpLocks/>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a:extLst>
              <a:ext uri="{FF2B5EF4-FFF2-40B4-BE49-F238E27FC236}">
                <a16:creationId xmlns:a16="http://schemas.microsoft.com/office/drawing/2014/main" id="{A7484BB2-BD94-3C49-9EC4-B9A294E2AF24}"/>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extLst>
      <p:ext uri="{BB962C8B-B14F-4D97-AF65-F5344CB8AC3E}">
        <p14:creationId xmlns:p14="http://schemas.microsoft.com/office/powerpoint/2010/main" val="2014879460"/>
      </p:ext>
    </p:extLst>
  </p:cSld>
  <p:clrMap bg1="lt1" tx1="dk1" bg2="lt2" tx2="dk2" accent1="accent1" accent2="accent2" accent3="accent3" accent4="accent4" accent5="accent5" accent6="accent6" hlink="hlink" folHlink="folHlink"/>
  <p:sldLayoutIdLst>
    <p:sldLayoutId id="2147483708"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marR="0" indent="-457189" algn="l" defTabSz="914400" rtl="0" eaLnBrk="0" fontAlgn="base" latinLnBrk="0" hangingPunct="0">
        <a:lnSpc>
          <a:spcPct val="150000"/>
        </a:lnSpc>
        <a:spcBef>
          <a:spcPct val="20000"/>
        </a:spcBef>
        <a:spcAft>
          <a:spcPct val="0"/>
        </a:spcAft>
        <a:buClrTx/>
        <a:buSzTx/>
        <a:buFont typeface="Arial" panose="020B0604020202020204" pitchFamily="34" charset="0"/>
        <a:buChar char="•"/>
        <a:tabLst/>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a:extLst>
              <a:ext uri="{FF2B5EF4-FFF2-40B4-BE49-F238E27FC236}">
                <a16:creationId xmlns:a16="http://schemas.microsoft.com/office/drawing/2014/main" id="{91B717BE-9DF9-1B41-9DBF-CB511A9C606B}"/>
              </a:ext>
            </a:extLst>
          </p:cNvPr>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998722ED-C4DC-C24C-A17B-B9CA36751549}"/>
              </a:ext>
            </a:extLst>
          </p:cNvPr>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557575230"/>
      </p:ext>
    </p:extLst>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a:extLst>
              <a:ext uri="{FF2B5EF4-FFF2-40B4-BE49-F238E27FC236}">
                <a16:creationId xmlns:a16="http://schemas.microsoft.com/office/drawing/2014/main" id="{D82380DF-4088-5449-BBFC-0B57E0B8F475}"/>
              </a:ext>
            </a:extLst>
          </p:cNvPr>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a:extLst>
              <a:ext uri="{FF2B5EF4-FFF2-40B4-BE49-F238E27FC236}">
                <a16:creationId xmlns:a16="http://schemas.microsoft.com/office/drawing/2014/main" id="{2FB8D235-9189-C14B-8111-0D705B9AA121}"/>
              </a:ext>
            </a:extLst>
          </p:cNvPr>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255265264"/>
      </p:ext>
    </p:extLst>
  </p:cSld>
  <p:clrMap bg1="lt1" tx1="dk1" bg2="lt2" tx2="dk2" accent1="accent1" accent2="accent2" accent3="accent3" accent4="accent4" accent5="accent5" accent6="accent6" hlink="hlink" folHlink="folHlink"/>
  <p:sldLayoutIdLst>
    <p:sldLayoutId id="2147483699" r:id="rId1"/>
    <p:sldLayoutId id="214748371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0"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cxnSp>
        <p:nvCxnSpPr>
          <p:cNvPr id="11" name="直接连接符 22">
            <a:extLst>
              <a:ext uri="{FF2B5EF4-FFF2-40B4-BE49-F238E27FC236}">
                <a16:creationId xmlns:a16="http://schemas.microsoft.com/office/drawing/2014/main" id="{E3D0AD59-338B-5041-BA54-3D9BB0E399D6}"/>
              </a:ext>
            </a:extLst>
          </p:cNvPr>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F2197ADE-85E8-B341-8233-C315893A0BCC}"/>
              </a:ext>
            </a:extLst>
          </p:cNvPr>
          <p:cNvGrpSpPr/>
          <p:nvPr userDrawn="1"/>
        </p:nvGrpSpPr>
        <p:grpSpPr>
          <a:xfrm>
            <a:off x="0" y="420997"/>
            <a:ext cx="224590" cy="220464"/>
            <a:chOff x="0" y="262878"/>
            <a:chExt cx="224590" cy="506266"/>
          </a:xfrm>
        </p:grpSpPr>
        <p:sp>
          <p:nvSpPr>
            <p:cNvPr id="13" name="矩形 12">
              <a:extLst>
                <a:ext uri="{FF2B5EF4-FFF2-40B4-BE49-F238E27FC236}">
                  <a16:creationId xmlns:a16="http://schemas.microsoft.com/office/drawing/2014/main" id="{C3756651-9738-8349-95DA-B0B282B3FAEA}"/>
                </a:ext>
              </a:extLst>
            </p:cNvPr>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5EF63353-41E7-0E43-AFC0-B2282740E9FE}"/>
                </a:ext>
              </a:extLst>
            </p:cNvPr>
            <p:cNvSpPr/>
            <p:nvPr/>
          </p:nvSpPr>
          <p:spPr>
            <a:xfrm>
              <a:off x="142500" y="262878"/>
              <a:ext cx="82090" cy="506266"/>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6" name="图片 15">
            <a:extLst>
              <a:ext uri="{FF2B5EF4-FFF2-40B4-BE49-F238E27FC236}">
                <a16:creationId xmlns:a16="http://schemas.microsoft.com/office/drawing/2014/main" id="{27893006-C6C0-BC4A-8CFB-289F585A2778}"/>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634242" y="283220"/>
            <a:ext cx="1225447" cy="358241"/>
          </a:xfrm>
          <a:prstGeom prst="rect">
            <a:avLst/>
          </a:prstGeom>
        </p:spPr>
      </p:pic>
    </p:spTree>
    <p:extLst>
      <p:ext uri="{BB962C8B-B14F-4D97-AF65-F5344CB8AC3E}">
        <p14:creationId xmlns:p14="http://schemas.microsoft.com/office/powerpoint/2010/main" val="1282442689"/>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83" r:id="rId3"/>
    <p:sldLayoutId id="2147483678" r:id="rId4"/>
    <p:sldLayoutId id="2147483679" r:id="rId5"/>
    <p:sldLayoutId id="2147483680" r:id="rId6"/>
    <p:sldLayoutId id="2147483677" r:id="rId7"/>
    <p:sldLayoutId id="2147483702" r:id="rId8"/>
    <p:sldLayoutId id="2147483703" r:id="rId9"/>
    <p:sldLayoutId id="2147483709" r:id="rId10"/>
    <p:sldLayoutId id="2147483704" r:id="rId11"/>
    <p:sldLayoutId id="2147483681" r:id="rId12"/>
    <p:sldLayoutId id="2147483693" r:id="rId13"/>
    <p:sldLayoutId id="2147483710" r:id="rId14"/>
    <p:sldLayoutId id="2147483706" r:id="rId15"/>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38713" y="2604635"/>
            <a:ext cx="2314575" cy="955968"/>
          </a:xfrm>
          <a:prstGeom prst="rect">
            <a:avLst/>
          </a:prstGeom>
        </p:spPr>
      </p:pic>
    </p:spTree>
    <p:extLst>
      <p:ext uri="{BB962C8B-B14F-4D97-AF65-F5344CB8AC3E}">
        <p14:creationId xmlns:p14="http://schemas.microsoft.com/office/powerpoint/2010/main" val="770715422"/>
      </p:ext>
    </p:extLst>
  </p:cSld>
  <p:clrMap bg1="lt1" tx1="dk1" bg2="lt2" tx2="dk2" accent1="accent1" accent2="accent2" accent3="accent3" accent4="accent4" accent5="accent5" accent6="accent6" hlink="hlink" folHlink="folHlink"/>
  <p:sldLayoutIdLst>
    <p:sldLayoutId id="2147483673" r:id="rId1"/>
  </p:sldLayoutIdLst>
  <p:txStyles>
    <p:titleStyle>
      <a:lvl1pPr algn="ctr" rtl="0" eaLnBrk="0" fontAlgn="base" hangingPunct="0">
        <a:spcBef>
          <a:spcPct val="0"/>
        </a:spcBef>
        <a:spcAft>
          <a:spcPct val="0"/>
        </a:spcAft>
        <a:defRPr sz="5867" kern="1200">
          <a:solidFill>
            <a:schemeClr val="tx1"/>
          </a:solidFill>
          <a:latin typeface="+mj-lt"/>
          <a:ea typeface="+mj-ea"/>
          <a:cs typeface="+mj-cs"/>
        </a:defRPr>
      </a:lvl1pPr>
      <a:lvl2pPr algn="ctr" rtl="0" eaLnBrk="0" fontAlgn="base" hangingPunct="0">
        <a:spcBef>
          <a:spcPct val="0"/>
        </a:spcBef>
        <a:spcAft>
          <a:spcPct val="0"/>
        </a:spcAft>
        <a:defRPr sz="5867">
          <a:solidFill>
            <a:schemeClr val="tx1"/>
          </a:solidFill>
          <a:latin typeface="Calibri" pitchFamily="34" charset="0"/>
          <a:ea typeface="黑体" pitchFamily="49" charset="-122"/>
        </a:defRPr>
      </a:lvl2pPr>
      <a:lvl3pPr algn="ctr" rtl="0" eaLnBrk="0" fontAlgn="base" hangingPunct="0">
        <a:spcBef>
          <a:spcPct val="0"/>
        </a:spcBef>
        <a:spcAft>
          <a:spcPct val="0"/>
        </a:spcAft>
        <a:defRPr sz="5867">
          <a:solidFill>
            <a:schemeClr val="tx1"/>
          </a:solidFill>
          <a:latin typeface="Calibri" pitchFamily="34" charset="0"/>
          <a:ea typeface="黑体" pitchFamily="49" charset="-122"/>
        </a:defRPr>
      </a:lvl3pPr>
      <a:lvl4pPr algn="ctr" rtl="0" eaLnBrk="0" fontAlgn="base" hangingPunct="0">
        <a:spcBef>
          <a:spcPct val="0"/>
        </a:spcBef>
        <a:spcAft>
          <a:spcPct val="0"/>
        </a:spcAft>
        <a:defRPr sz="5867">
          <a:solidFill>
            <a:schemeClr val="tx1"/>
          </a:solidFill>
          <a:latin typeface="Calibri" pitchFamily="34" charset="0"/>
          <a:ea typeface="黑体" pitchFamily="49" charset="-122"/>
        </a:defRPr>
      </a:lvl4pPr>
      <a:lvl5pPr algn="ctr" rtl="0" eaLnBrk="0" fontAlgn="base" hangingPunct="0">
        <a:spcBef>
          <a:spcPct val="0"/>
        </a:spcBef>
        <a:spcAft>
          <a:spcPct val="0"/>
        </a:spcAft>
        <a:defRPr sz="5867">
          <a:solidFill>
            <a:schemeClr val="tx1"/>
          </a:solidFill>
          <a:latin typeface="Calibri" pitchFamily="34" charset="0"/>
          <a:ea typeface="黑体" pitchFamily="49" charset="-122"/>
        </a:defRPr>
      </a:lvl5pPr>
      <a:lvl6pPr marL="609585" algn="ctr" rtl="0" fontAlgn="base">
        <a:spcBef>
          <a:spcPct val="0"/>
        </a:spcBef>
        <a:spcAft>
          <a:spcPct val="0"/>
        </a:spcAft>
        <a:defRPr sz="5867">
          <a:solidFill>
            <a:schemeClr val="tx1"/>
          </a:solidFill>
          <a:latin typeface="Calibri" pitchFamily="34" charset="0"/>
          <a:ea typeface="宋体" charset="-122"/>
        </a:defRPr>
      </a:lvl6pPr>
      <a:lvl7pPr marL="1219170" algn="ctr" rtl="0" fontAlgn="base">
        <a:spcBef>
          <a:spcPct val="0"/>
        </a:spcBef>
        <a:spcAft>
          <a:spcPct val="0"/>
        </a:spcAft>
        <a:defRPr sz="5867">
          <a:solidFill>
            <a:schemeClr val="tx1"/>
          </a:solidFill>
          <a:latin typeface="Calibri" pitchFamily="34" charset="0"/>
          <a:ea typeface="宋体" charset="-122"/>
        </a:defRPr>
      </a:lvl7pPr>
      <a:lvl8pPr marL="1828754" algn="ctr" rtl="0" fontAlgn="base">
        <a:spcBef>
          <a:spcPct val="0"/>
        </a:spcBef>
        <a:spcAft>
          <a:spcPct val="0"/>
        </a:spcAft>
        <a:defRPr sz="5867">
          <a:solidFill>
            <a:schemeClr val="tx1"/>
          </a:solidFill>
          <a:latin typeface="Calibri" pitchFamily="34" charset="0"/>
          <a:ea typeface="宋体" charset="-122"/>
        </a:defRPr>
      </a:lvl8pPr>
      <a:lvl9pPr marL="2438339" algn="ctr" rtl="0" fontAlgn="base">
        <a:spcBef>
          <a:spcPct val="0"/>
        </a:spcBef>
        <a:spcAft>
          <a:spcPct val="0"/>
        </a:spcAft>
        <a:defRPr sz="5867">
          <a:solidFill>
            <a:schemeClr val="tx1"/>
          </a:solidFill>
          <a:latin typeface="Calibri" pitchFamily="34" charset="0"/>
          <a:ea typeface="宋体"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sz="3733" kern="1200">
          <a:solidFill>
            <a:schemeClr val="tx1"/>
          </a:solidFill>
          <a:latin typeface="+mn-lt"/>
          <a:ea typeface="+mn-ea"/>
          <a:cs typeface="+mn-cs"/>
        </a:defRPr>
      </a:lvl2pPr>
      <a:lvl3pPr marL="1523962" indent="-304792"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16EC87-9B0D-CD4B-997D-0A66FE90B29E}"/>
              </a:ext>
            </a:extLst>
          </p:cNvPr>
          <p:cNvSpPr>
            <a:spLocks noGrp="1"/>
          </p:cNvSpPr>
          <p:nvPr>
            <p:ph type="title"/>
          </p:nvPr>
        </p:nvSpPr>
        <p:spPr/>
        <p:txBody>
          <a:bodyPr/>
          <a:lstStyle/>
          <a:p>
            <a:r>
              <a:rPr lang="en-US" altLang="zh-CN" b="1" dirty="0"/>
              <a:t>Python</a:t>
            </a:r>
            <a:r>
              <a:rPr lang="zh-CN" altLang="en-US" dirty="0"/>
              <a:t>函数（下）</a:t>
            </a:r>
            <a:endParaRPr kumimoji="1" lang="zh-CN" altLang="en-US" dirty="0"/>
          </a:p>
        </p:txBody>
      </p:sp>
      <p:sp>
        <p:nvSpPr>
          <p:cNvPr id="3" name="文本占位符 2">
            <a:extLst>
              <a:ext uri="{FF2B5EF4-FFF2-40B4-BE49-F238E27FC236}">
                <a16:creationId xmlns:a16="http://schemas.microsoft.com/office/drawing/2014/main" id="{FB6AC0F8-4890-4046-8499-78F7C6973826}"/>
              </a:ext>
            </a:extLst>
          </p:cNvPr>
          <p:cNvSpPr>
            <a:spLocks noGrp="1"/>
          </p:cNvSpPr>
          <p:nvPr>
            <p:ph type="body" sz="quarter" idx="10"/>
          </p:nvPr>
        </p:nvSpPr>
        <p:spPr/>
        <p:txBody>
          <a:bodyPr/>
          <a:lstStyle/>
          <a:p>
            <a:r>
              <a:rPr kumimoji="1" lang="zh-CN" altLang="en-US" dirty="0"/>
              <a:t>人生苦短，我学</a:t>
            </a:r>
            <a:r>
              <a:rPr kumimoji="1" lang="en-US" altLang="zh-CN" dirty="0"/>
              <a:t>Python!</a:t>
            </a:r>
            <a:endParaRPr kumimoji="1" lang="zh-CN" altLang="en-US" dirty="0"/>
          </a:p>
        </p:txBody>
      </p:sp>
    </p:spTree>
    <p:extLst>
      <p:ext uri="{BB962C8B-B14F-4D97-AF65-F5344CB8AC3E}">
        <p14:creationId xmlns:p14="http://schemas.microsoft.com/office/powerpoint/2010/main" val="3833974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691FACA-E1ED-6A48-A1E4-D925AAC03039}"/>
              </a:ext>
            </a:extLst>
          </p:cNvPr>
          <p:cNvSpPr>
            <a:spLocks noGrp="1"/>
          </p:cNvSpPr>
          <p:nvPr>
            <p:ph type="body" sz="quarter" idx="10"/>
          </p:nvPr>
        </p:nvSpPr>
        <p:spPr>
          <a:xfrm>
            <a:off x="4971231" y="756218"/>
            <a:ext cx="5973761" cy="4256405"/>
          </a:xfrm>
        </p:spPr>
        <p:txBody>
          <a:bodyPr/>
          <a:lstStyle/>
          <a:p>
            <a:r>
              <a:rPr lang="zh-CN" altLang="en-US" dirty="0">
                <a:solidFill>
                  <a:srgbClr val="C00000"/>
                </a:solidFill>
              </a:rPr>
              <a:t>可变与非可变数据类型</a:t>
            </a:r>
            <a:endParaRPr lang="en-US" altLang="zh-CN" dirty="0">
              <a:solidFill>
                <a:srgbClr val="C00000"/>
              </a:solidFill>
            </a:endParaRPr>
          </a:p>
          <a:p>
            <a:r>
              <a:rPr lang="zh-CN" altLang="en-US" dirty="0">
                <a:solidFill>
                  <a:srgbClr val="C00000"/>
                </a:solidFill>
              </a:rPr>
              <a:t>递归函数</a:t>
            </a:r>
            <a:endParaRPr lang="en-US" altLang="zh-CN" dirty="0">
              <a:solidFill>
                <a:srgbClr val="C00000"/>
              </a:solidFill>
            </a:endParaRPr>
          </a:p>
          <a:p>
            <a:r>
              <a:rPr lang="en-US" altLang="zh-CN" dirty="0">
                <a:solidFill>
                  <a:srgbClr val="AD2B26"/>
                </a:solidFill>
              </a:rPr>
              <a:t>lambda </a:t>
            </a:r>
            <a:r>
              <a:rPr lang="zh-CN" altLang="en-US" dirty="0">
                <a:solidFill>
                  <a:srgbClr val="AD2B26"/>
                </a:solidFill>
              </a:rPr>
              <a:t>表达式</a:t>
            </a:r>
            <a:endParaRPr lang="en-US" altLang="zh-CN" dirty="0">
              <a:solidFill>
                <a:srgbClr val="AD2B26"/>
              </a:solidFill>
            </a:endParaRPr>
          </a:p>
        </p:txBody>
      </p:sp>
    </p:spTree>
    <p:extLst>
      <p:ext uri="{BB962C8B-B14F-4D97-AF65-F5344CB8AC3E}">
        <p14:creationId xmlns:p14="http://schemas.microsoft.com/office/powerpoint/2010/main" val="3710185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F5F2403-DAC9-454A-9779-7331986EC40B}"/>
              </a:ext>
            </a:extLst>
          </p:cNvPr>
          <p:cNvSpPr>
            <a:spLocks noGrp="1"/>
          </p:cNvSpPr>
          <p:nvPr>
            <p:ph type="body" sz="quarter" idx="10"/>
          </p:nvPr>
        </p:nvSpPr>
        <p:spPr>
          <a:xfrm>
            <a:off x="4799581" y="423612"/>
            <a:ext cx="6654482" cy="4855845"/>
          </a:xfrm>
        </p:spPr>
        <p:txBody>
          <a:bodyPr/>
          <a:lstStyle/>
          <a:p>
            <a:r>
              <a:rPr lang="zh-CN" altLang="en-US" dirty="0">
                <a:solidFill>
                  <a:srgbClr val="C00000"/>
                </a:solidFill>
              </a:rPr>
              <a:t>可变与非可变数据类型</a:t>
            </a:r>
            <a:endParaRPr lang="en-US" altLang="zh-CN" dirty="0">
              <a:solidFill>
                <a:srgbClr val="C00000"/>
              </a:solidFill>
            </a:endParaRPr>
          </a:p>
          <a:p>
            <a:r>
              <a:rPr lang="zh-CN" altLang="en-US" dirty="0">
                <a:solidFill>
                  <a:srgbClr val="B60206"/>
                </a:solidFill>
              </a:rPr>
              <a:t>掌握函数递归及应用</a:t>
            </a:r>
            <a:endParaRPr lang="en-US" altLang="zh-CN" dirty="0">
              <a:solidFill>
                <a:srgbClr val="B60206"/>
              </a:solidFill>
            </a:endParaRPr>
          </a:p>
          <a:p>
            <a:r>
              <a:rPr lang="zh-CN" altLang="en-US" dirty="0">
                <a:solidFill>
                  <a:srgbClr val="B60206"/>
                </a:solidFill>
              </a:rPr>
              <a:t>掌握</a:t>
            </a:r>
            <a:r>
              <a:rPr lang="en-US" altLang="zh-CN" dirty="0">
                <a:solidFill>
                  <a:srgbClr val="B60206"/>
                </a:solidFill>
              </a:rPr>
              <a:t>lambda </a:t>
            </a:r>
            <a:r>
              <a:rPr lang="zh-CN" altLang="en-US" dirty="0">
                <a:solidFill>
                  <a:srgbClr val="B60206"/>
                </a:solidFill>
              </a:rPr>
              <a:t>表达式的编写</a:t>
            </a:r>
            <a:endParaRPr lang="en-US" altLang="zh-CN" dirty="0">
              <a:solidFill>
                <a:srgbClr val="B60206"/>
              </a:solidFill>
            </a:endParaRPr>
          </a:p>
        </p:txBody>
      </p:sp>
    </p:spTree>
    <p:extLst>
      <p:ext uri="{BB962C8B-B14F-4D97-AF65-F5344CB8AC3E}">
        <p14:creationId xmlns:p14="http://schemas.microsoft.com/office/powerpoint/2010/main" val="2196209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r>
              <a:rPr lang="zh-CN" altLang="en-US" dirty="0">
                <a:solidFill>
                  <a:schemeClr val="tx1">
                    <a:lumMod val="65000"/>
                    <a:lumOff val="35000"/>
                  </a:schemeClr>
                </a:solidFill>
              </a:rPr>
              <a:t>引用变量与可变、非可变类型</a:t>
            </a:r>
            <a:endParaRPr lang="en-US" altLang="zh-CN" dirty="0">
              <a:solidFill>
                <a:schemeClr val="tx1">
                  <a:lumMod val="65000"/>
                  <a:lumOff val="35000"/>
                </a:schemeClr>
              </a:solidFill>
            </a:endParaRP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01</a:t>
            </a:r>
            <a:endParaRPr kumimoji="1" lang="zh-CN" altLang="en-US" dirty="0"/>
          </a:p>
        </p:txBody>
      </p:sp>
    </p:spTree>
    <p:extLst>
      <p:ext uri="{BB962C8B-B14F-4D97-AF65-F5344CB8AC3E}">
        <p14:creationId xmlns:p14="http://schemas.microsoft.com/office/powerpoint/2010/main" val="2394419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占位符 1"/>
          <p:cNvSpPr>
            <a:spLocks noGrp="1"/>
          </p:cNvSpPr>
          <p:nvPr>
            <p:ph type="body" sz="quarter" idx="11"/>
          </p:nvPr>
        </p:nvSpPr>
        <p:spPr/>
        <p:txBody>
          <a:bodyPr/>
          <a:lstStyle/>
          <a:p>
            <a:pPr marL="0" indent="0">
              <a:buNone/>
            </a:pPr>
            <a:r>
              <a:rPr lang="zh-CN" altLang="en-US" dirty="0">
                <a:solidFill>
                  <a:schemeClr val="tx1">
                    <a:lumMod val="75000"/>
                    <a:lumOff val="25000"/>
                  </a:schemeClr>
                </a:solidFill>
              </a:rPr>
              <a:t>在</a:t>
            </a:r>
            <a:r>
              <a:rPr lang="en-US" altLang="zh-CN" dirty="0">
                <a:solidFill>
                  <a:schemeClr val="tx1">
                    <a:lumMod val="75000"/>
                    <a:lumOff val="25000"/>
                  </a:schemeClr>
                </a:solidFill>
              </a:rPr>
              <a:t>python</a:t>
            </a:r>
            <a:r>
              <a:rPr lang="zh-CN" altLang="en-US" dirty="0">
                <a:solidFill>
                  <a:schemeClr val="tx1">
                    <a:lumMod val="75000"/>
                    <a:lumOff val="25000"/>
                  </a:schemeClr>
                </a:solidFill>
              </a:rPr>
              <a:t>中，值是靠引用来传递来的。我们可以</a:t>
            </a:r>
            <a:r>
              <a:rPr lang="zh-CN" altLang="en-US" dirty="0">
                <a:solidFill>
                  <a:srgbClr val="B60206"/>
                </a:solidFill>
              </a:rPr>
              <a:t>用</a:t>
            </a:r>
            <a:r>
              <a:rPr lang="en-US" altLang="zh-CN" dirty="0">
                <a:solidFill>
                  <a:srgbClr val="B60206"/>
                </a:solidFill>
              </a:rPr>
              <a:t>id() </a:t>
            </a:r>
            <a:r>
              <a:rPr lang="zh-CN" altLang="en-US" dirty="0">
                <a:solidFill>
                  <a:srgbClr val="B60206"/>
                </a:solidFill>
              </a:rPr>
              <a:t>来判断两个变量是否为同一个值的引用。</a:t>
            </a:r>
            <a:r>
              <a:rPr lang="zh-CN" altLang="en-US" dirty="0">
                <a:solidFill>
                  <a:schemeClr val="tx1">
                    <a:lumMod val="75000"/>
                    <a:lumOff val="25000"/>
                  </a:schemeClr>
                </a:solidFill>
              </a:rPr>
              <a:t>我们可以将</a:t>
            </a:r>
            <a:r>
              <a:rPr lang="en-US" altLang="zh-CN" dirty="0">
                <a:solidFill>
                  <a:schemeClr val="tx1">
                    <a:lumMod val="75000"/>
                    <a:lumOff val="25000"/>
                  </a:schemeClr>
                </a:solidFill>
              </a:rPr>
              <a:t>id</a:t>
            </a:r>
            <a:r>
              <a:rPr lang="zh-CN" altLang="en-US" dirty="0">
                <a:solidFill>
                  <a:schemeClr val="tx1">
                    <a:lumMod val="75000"/>
                    <a:lumOff val="25000"/>
                  </a:schemeClr>
                </a:solidFill>
              </a:rPr>
              <a:t>值理解为那块内存的地址标识。</a:t>
            </a: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r>
              <a:rPr lang="zh-CN" altLang="en-US" dirty="0">
                <a:solidFill>
                  <a:schemeClr val="tx1">
                    <a:lumMod val="75000"/>
                    <a:lumOff val="25000"/>
                  </a:schemeClr>
                </a:solidFill>
              </a:rPr>
              <a:t>整数类型：</a:t>
            </a:r>
            <a:endParaRPr lang="en-US" altLang="zh-CN" dirty="0">
              <a:solidFill>
                <a:schemeClr val="tx1">
                  <a:lumMod val="75000"/>
                  <a:lumOff val="25000"/>
                </a:schemeClr>
              </a:solidFill>
            </a:endParaRPr>
          </a:p>
        </p:txBody>
      </p:sp>
      <p:sp>
        <p:nvSpPr>
          <p:cNvPr id="3" name="标题 2"/>
          <p:cNvSpPr>
            <a:spLocks noGrp="1"/>
          </p:cNvSpPr>
          <p:nvPr>
            <p:ph type="title"/>
          </p:nvPr>
        </p:nvSpPr>
        <p:spPr/>
        <p:txBody>
          <a:bodyPr/>
          <a:lstStyle/>
          <a:p>
            <a:r>
              <a:rPr lang="zh-CN" altLang="en-US" dirty="0"/>
              <a:t>引用变量与可变、非可变类型</a:t>
            </a:r>
          </a:p>
        </p:txBody>
      </p:sp>
      <p:sp>
        <p:nvSpPr>
          <p:cNvPr id="4" name="文本占位符 3"/>
          <p:cNvSpPr>
            <a:spLocks noGrp="1"/>
          </p:cNvSpPr>
          <p:nvPr>
            <p:ph type="body" sz="quarter" idx="10"/>
          </p:nvPr>
        </p:nvSpPr>
        <p:spPr/>
        <p:txBody>
          <a:bodyPr/>
          <a:lstStyle/>
          <a:p>
            <a:r>
              <a:rPr lang="en-US" altLang="zh-CN" dirty="0"/>
              <a:t>1</a:t>
            </a:r>
            <a:r>
              <a:rPr lang="zh-CN" altLang="en-US" dirty="0"/>
              <a:t>、值传递与引用传递</a:t>
            </a:r>
            <a:endParaRPr lang="en-US" altLang="zh-CN" dirty="0"/>
          </a:p>
        </p:txBody>
      </p:sp>
      <p:sp>
        <p:nvSpPr>
          <p:cNvPr id="6" name="TextBox 3">
            <a:extLst>
              <a:ext uri="{FF2B5EF4-FFF2-40B4-BE49-F238E27FC236}">
                <a16:creationId xmlns:a16="http://schemas.microsoft.com/office/drawing/2014/main" id="{0C998B78-AB18-3C47-A1C7-25AE9A3A40B0}"/>
              </a:ext>
            </a:extLst>
          </p:cNvPr>
          <p:cNvSpPr txBox="1"/>
          <p:nvPr/>
        </p:nvSpPr>
        <p:spPr>
          <a:xfrm>
            <a:off x="793626" y="3364797"/>
            <a:ext cx="10666853" cy="2893100"/>
          </a:xfrm>
          <a:prstGeom prst="rect">
            <a:avLst/>
          </a:prstGeom>
          <a:solidFill>
            <a:srgbClr val="FFFFE4"/>
          </a:solidFill>
          <a:ln w="3175">
            <a:solidFill>
              <a:srgbClr val="919191"/>
            </a:solidFill>
          </a:ln>
        </p:spPr>
        <p:txBody>
          <a:bodyPr wrap="square">
            <a:spAutoFit/>
          </a:bodyPr>
          <a:lstStyle/>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 = 1</a:t>
            </a: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b = a</a:t>
            </a:r>
          </a:p>
          <a:p>
            <a:endPar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print(b)  # 1</a:t>
            </a:r>
          </a:p>
          <a:p>
            <a:endPar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print(id(a))  # 140708464157520</a:t>
            </a: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print(id(b))  # 140708464157520</a:t>
            </a:r>
          </a:p>
          <a:p>
            <a:endPar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 = 2</a:t>
            </a: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print(b)  # 1,</a:t>
            </a:r>
            <a:r>
              <a:rPr lang="zh-CN" altLang="en-US"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说明</a:t>
            </a:r>
            <a:r>
              <a:rPr lang="en-US" altLang="zh-CN" sz="1400" dirty="0" err="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int</a:t>
            </a:r>
            <a:r>
              <a:rPr lang="zh-CN" altLang="en-US"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类型为不可变类型 </a:t>
            </a:r>
          </a:p>
          <a:p>
            <a:endParaRPr lang="zh-CN" altLang="en-US"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print(id(a))  # 140708464157552</a:t>
            </a:r>
            <a:r>
              <a:rPr lang="zh-CN" altLang="en-US"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，此时得到的是数据</a:t>
            </a:r>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a:t>
            </a:r>
            <a:r>
              <a:rPr lang="zh-CN" altLang="en-US"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的内存地址</a:t>
            </a: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print(id(b))  # 140708464157520</a:t>
            </a:r>
          </a:p>
        </p:txBody>
      </p:sp>
    </p:spTree>
    <p:extLst>
      <p:ext uri="{BB962C8B-B14F-4D97-AF65-F5344CB8AC3E}">
        <p14:creationId xmlns:p14="http://schemas.microsoft.com/office/powerpoint/2010/main" val="2744909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占位符 1"/>
          <p:cNvSpPr>
            <a:spLocks noGrp="1"/>
          </p:cNvSpPr>
          <p:nvPr>
            <p:ph type="body" sz="quarter" idx="11"/>
          </p:nvPr>
        </p:nvSpPr>
        <p:spPr/>
        <p:txBody>
          <a:bodyPr/>
          <a:lstStyle/>
          <a:p>
            <a:pPr marL="0" indent="0">
              <a:buNone/>
            </a:pPr>
            <a:r>
              <a:rPr lang="zh-CN" altLang="en-US" dirty="0">
                <a:solidFill>
                  <a:schemeClr val="tx1">
                    <a:lumMod val="75000"/>
                    <a:lumOff val="25000"/>
                  </a:schemeClr>
                </a:solidFill>
              </a:rPr>
              <a:t>在</a:t>
            </a:r>
            <a:r>
              <a:rPr lang="en-US" altLang="zh-CN" dirty="0">
                <a:solidFill>
                  <a:schemeClr val="tx1">
                    <a:lumMod val="75000"/>
                    <a:lumOff val="25000"/>
                  </a:schemeClr>
                </a:solidFill>
              </a:rPr>
              <a:t>python</a:t>
            </a:r>
            <a:r>
              <a:rPr lang="zh-CN" altLang="en-US" dirty="0">
                <a:solidFill>
                  <a:schemeClr val="tx1">
                    <a:lumMod val="75000"/>
                    <a:lumOff val="25000"/>
                  </a:schemeClr>
                </a:solidFill>
              </a:rPr>
              <a:t>中，值是靠引用来传递来的。我们可以</a:t>
            </a:r>
            <a:r>
              <a:rPr lang="zh-CN" altLang="en-US" dirty="0">
                <a:solidFill>
                  <a:srgbClr val="B60206"/>
                </a:solidFill>
              </a:rPr>
              <a:t>用</a:t>
            </a:r>
            <a:r>
              <a:rPr lang="en-US" altLang="zh-CN" dirty="0">
                <a:solidFill>
                  <a:srgbClr val="B60206"/>
                </a:solidFill>
              </a:rPr>
              <a:t>id() </a:t>
            </a:r>
            <a:r>
              <a:rPr lang="zh-CN" altLang="en-US" dirty="0">
                <a:solidFill>
                  <a:srgbClr val="B60206"/>
                </a:solidFill>
              </a:rPr>
              <a:t>来判断两个变量是否为同一个值的引用。</a:t>
            </a:r>
            <a:r>
              <a:rPr lang="zh-CN" altLang="en-US" dirty="0">
                <a:solidFill>
                  <a:schemeClr val="tx1">
                    <a:lumMod val="75000"/>
                    <a:lumOff val="25000"/>
                  </a:schemeClr>
                </a:solidFill>
              </a:rPr>
              <a:t>我们可以将</a:t>
            </a:r>
            <a:r>
              <a:rPr lang="en-US" altLang="zh-CN" dirty="0">
                <a:solidFill>
                  <a:schemeClr val="tx1">
                    <a:lumMod val="75000"/>
                    <a:lumOff val="25000"/>
                  </a:schemeClr>
                </a:solidFill>
              </a:rPr>
              <a:t>id</a:t>
            </a:r>
            <a:r>
              <a:rPr lang="zh-CN" altLang="en-US" dirty="0">
                <a:solidFill>
                  <a:schemeClr val="tx1">
                    <a:lumMod val="75000"/>
                    <a:lumOff val="25000"/>
                  </a:schemeClr>
                </a:solidFill>
              </a:rPr>
              <a:t>值理解为那块内存的地址标识。</a:t>
            </a: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r>
              <a:rPr lang="zh-CN" altLang="en-US" dirty="0">
                <a:solidFill>
                  <a:schemeClr val="tx1">
                    <a:lumMod val="75000"/>
                    <a:lumOff val="25000"/>
                  </a:schemeClr>
                </a:solidFill>
              </a:rPr>
              <a:t>列表序列：</a:t>
            </a:r>
            <a:endParaRPr lang="en-US" altLang="zh-CN" dirty="0">
              <a:solidFill>
                <a:schemeClr val="tx1">
                  <a:lumMod val="75000"/>
                  <a:lumOff val="25000"/>
                </a:schemeClr>
              </a:solidFill>
            </a:endParaRPr>
          </a:p>
        </p:txBody>
      </p:sp>
      <p:sp>
        <p:nvSpPr>
          <p:cNvPr id="3" name="标题 2"/>
          <p:cNvSpPr>
            <a:spLocks noGrp="1"/>
          </p:cNvSpPr>
          <p:nvPr>
            <p:ph type="title"/>
          </p:nvPr>
        </p:nvSpPr>
        <p:spPr/>
        <p:txBody>
          <a:bodyPr/>
          <a:lstStyle/>
          <a:p>
            <a:r>
              <a:rPr lang="zh-CN" altLang="en-US" dirty="0"/>
              <a:t>引用变量与可变、非可变类型</a:t>
            </a:r>
          </a:p>
        </p:txBody>
      </p:sp>
      <p:sp>
        <p:nvSpPr>
          <p:cNvPr id="4" name="文本占位符 3"/>
          <p:cNvSpPr>
            <a:spLocks noGrp="1"/>
          </p:cNvSpPr>
          <p:nvPr>
            <p:ph type="body" sz="quarter" idx="10"/>
          </p:nvPr>
        </p:nvSpPr>
        <p:spPr/>
        <p:txBody>
          <a:bodyPr/>
          <a:lstStyle/>
          <a:p>
            <a:r>
              <a:rPr lang="en-US" altLang="zh-CN" dirty="0"/>
              <a:t>1</a:t>
            </a:r>
            <a:r>
              <a:rPr lang="zh-CN" altLang="en-US" dirty="0"/>
              <a:t>、值传递与引用传递</a:t>
            </a:r>
            <a:endParaRPr lang="en-US" altLang="zh-CN" dirty="0"/>
          </a:p>
        </p:txBody>
      </p:sp>
      <p:sp>
        <p:nvSpPr>
          <p:cNvPr id="6" name="TextBox 3">
            <a:extLst>
              <a:ext uri="{FF2B5EF4-FFF2-40B4-BE49-F238E27FC236}">
                <a16:creationId xmlns:a16="http://schemas.microsoft.com/office/drawing/2014/main" id="{0C998B78-AB18-3C47-A1C7-25AE9A3A40B0}"/>
              </a:ext>
            </a:extLst>
          </p:cNvPr>
          <p:cNvSpPr txBox="1"/>
          <p:nvPr/>
        </p:nvSpPr>
        <p:spPr>
          <a:xfrm>
            <a:off x="793626" y="3395277"/>
            <a:ext cx="10666853" cy="2677656"/>
          </a:xfrm>
          <a:prstGeom prst="rect">
            <a:avLst/>
          </a:prstGeom>
          <a:solidFill>
            <a:srgbClr val="FFFFE4"/>
          </a:solidFill>
          <a:ln w="3175">
            <a:solidFill>
              <a:srgbClr val="919191"/>
            </a:solidFill>
          </a:ln>
        </p:spPr>
        <p:txBody>
          <a:bodyPr wrap="square">
            <a:spAutoFit/>
          </a:bodyPr>
          <a:lstStyle/>
          <a:p>
            <a:r>
              <a:rPr lang="en-US" altLang="zh-CN" sz="1400" dirty="0" err="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aa</a:t>
            </a:r>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 [10, 20]</a:t>
            </a: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bb = </a:t>
            </a:r>
            <a:r>
              <a:rPr lang="en-US" altLang="zh-CN" sz="1400" dirty="0" err="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aa</a:t>
            </a:r>
            <a:endPar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print(id(</a:t>
            </a:r>
            <a:r>
              <a:rPr lang="en-US" altLang="zh-CN" sz="1400" dirty="0" err="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aa</a:t>
            </a:r>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 2325297783432</a:t>
            </a: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print(id(bb))  # 2325297783432</a:t>
            </a:r>
          </a:p>
          <a:p>
            <a:endPar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err="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aa.append</a:t>
            </a:r>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(30)</a:t>
            </a: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print(bb)  # [10, 20, 30], </a:t>
            </a:r>
            <a:r>
              <a:rPr lang="zh-CN" altLang="en-US"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列表为可变类型</a:t>
            </a:r>
          </a:p>
          <a:p>
            <a:endParaRPr lang="zh-CN" altLang="en-US"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print(id(</a:t>
            </a:r>
            <a:r>
              <a:rPr lang="en-US" altLang="zh-CN" sz="1400" dirty="0" err="1">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aa</a:t>
            </a:r>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 2325297783432</a:t>
            </a:r>
          </a:p>
          <a:p>
            <a:r>
              <a:rPr lang="en-US" altLang="zh-CN" sz="1400" dirty="0">
                <a:solidFill>
                  <a:schemeClr val="tx1">
                    <a:lumMod val="75000"/>
                    <a:lumOff val="2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print(id(bb))  # 2325297783432</a:t>
            </a:r>
          </a:p>
        </p:txBody>
      </p:sp>
    </p:spTree>
    <p:extLst>
      <p:ext uri="{BB962C8B-B14F-4D97-AF65-F5344CB8AC3E}">
        <p14:creationId xmlns:p14="http://schemas.microsoft.com/office/powerpoint/2010/main" val="1647832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C5A55931-7095-4AEF-900F-9FC10195A88B}"/>
              </a:ext>
            </a:extLst>
          </p:cNvPr>
          <p:cNvSpPr>
            <a:spLocks noGrp="1"/>
          </p:cNvSpPr>
          <p:nvPr>
            <p:ph type="body" sz="quarter" idx="11"/>
          </p:nvPr>
        </p:nvSpPr>
        <p:spPr/>
        <p:txBody>
          <a:bodyPr/>
          <a:lstStyle/>
          <a:p>
            <a:endParaRPr lang="zh-CN" altLang="en-US"/>
          </a:p>
        </p:txBody>
      </p:sp>
      <p:sp>
        <p:nvSpPr>
          <p:cNvPr id="3" name="标题 2"/>
          <p:cNvSpPr>
            <a:spLocks noGrp="1"/>
          </p:cNvSpPr>
          <p:nvPr>
            <p:ph type="title"/>
          </p:nvPr>
        </p:nvSpPr>
        <p:spPr/>
        <p:txBody>
          <a:bodyPr/>
          <a:lstStyle/>
          <a:p>
            <a:r>
              <a:rPr lang="zh-CN" altLang="en-US" dirty="0"/>
              <a:t>引用变量与可变、非可变类型</a:t>
            </a:r>
          </a:p>
        </p:txBody>
      </p:sp>
      <p:sp>
        <p:nvSpPr>
          <p:cNvPr id="4" name="文本占位符 3"/>
          <p:cNvSpPr>
            <a:spLocks noGrp="1"/>
          </p:cNvSpPr>
          <p:nvPr>
            <p:ph type="body" sz="quarter" idx="10"/>
          </p:nvPr>
        </p:nvSpPr>
        <p:spPr/>
        <p:txBody>
          <a:bodyPr/>
          <a:lstStyle/>
          <a:p>
            <a:r>
              <a:rPr lang="en-US" altLang="zh-CN" dirty="0"/>
              <a:t>2</a:t>
            </a:r>
            <a:r>
              <a:rPr lang="zh-CN" altLang="en-US" dirty="0"/>
              <a:t>、把引用当做实参</a:t>
            </a:r>
            <a:endParaRPr lang="en-US" altLang="zh-CN" dirty="0"/>
          </a:p>
        </p:txBody>
      </p:sp>
      <p:pic>
        <p:nvPicPr>
          <p:cNvPr id="5" name="图片 4"/>
          <p:cNvPicPr>
            <a:picLocks noChangeAspect="1"/>
          </p:cNvPicPr>
          <p:nvPr/>
        </p:nvPicPr>
        <p:blipFill>
          <a:blip r:embed="rId3"/>
          <a:stretch>
            <a:fillRect/>
          </a:stretch>
        </p:blipFill>
        <p:spPr>
          <a:xfrm>
            <a:off x="710880" y="1635973"/>
            <a:ext cx="9141291" cy="3687867"/>
          </a:xfrm>
          <a:prstGeom prst="rect">
            <a:avLst/>
          </a:prstGeom>
        </p:spPr>
      </p:pic>
      <p:pic>
        <p:nvPicPr>
          <p:cNvPr id="2" name="图片 1"/>
          <p:cNvPicPr>
            <a:picLocks noChangeAspect="1"/>
          </p:cNvPicPr>
          <p:nvPr/>
        </p:nvPicPr>
        <p:blipFill>
          <a:blip r:embed="rId4"/>
          <a:stretch>
            <a:fillRect/>
          </a:stretch>
        </p:blipFill>
        <p:spPr>
          <a:xfrm>
            <a:off x="3891692" y="4110464"/>
            <a:ext cx="8003031" cy="1924576"/>
          </a:xfrm>
          <a:prstGeom prst="rect">
            <a:avLst/>
          </a:prstGeom>
        </p:spPr>
      </p:pic>
      <p:sp>
        <p:nvSpPr>
          <p:cNvPr id="7" name="右箭头 6"/>
          <p:cNvSpPr/>
          <p:nvPr/>
        </p:nvSpPr>
        <p:spPr>
          <a:xfrm rot="1348684">
            <a:off x="2404269" y="3079197"/>
            <a:ext cx="3266079" cy="389179"/>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94295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a:spLocks noGrp="1"/>
          </p:cNvSpPr>
          <p:nvPr>
            <p:ph type="body" sz="quarter" idx="11"/>
          </p:nvPr>
        </p:nvSpPr>
        <p:spPr/>
        <p:txBody>
          <a:bodyPr/>
          <a:lstStyle/>
          <a:p>
            <a:pPr marL="0" indent="0">
              <a:buNone/>
            </a:pPr>
            <a:r>
              <a:rPr lang="zh-CN" altLang="en-US" dirty="0">
                <a:solidFill>
                  <a:schemeClr val="tx1">
                    <a:lumMod val="75000"/>
                    <a:lumOff val="25000"/>
                  </a:schemeClr>
                </a:solidFill>
              </a:rPr>
              <a:t>所谓可变类型与不可变类型是指：数据能够直接进行修改，如果能直接修改那么就是可变，否则是不可变。</a:t>
            </a:r>
            <a:endParaRPr lang="en-US" altLang="zh-CN" dirty="0">
              <a:solidFill>
                <a:schemeClr val="tx1">
                  <a:lumMod val="75000"/>
                  <a:lumOff val="25000"/>
                </a:schemeClr>
              </a:solidFill>
            </a:endParaRPr>
          </a:p>
          <a:p>
            <a:pPr>
              <a:buFont typeface="Wingdings" panose="05000000000000000000" pitchFamily="2" charset="2"/>
              <a:buChar char="Ø"/>
            </a:pPr>
            <a:r>
              <a:rPr lang="zh-CN" altLang="en-US" dirty="0">
                <a:solidFill>
                  <a:schemeClr val="tx1">
                    <a:lumMod val="75000"/>
                    <a:lumOff val="25000"/>
                  </a:schemeClr>
                </a:solidFill>
              </a:rPr>
              <a:t>可变类型  </a:t>
            </a:r>
            <a:endParaRPr lang="en-US" altLang="zh-CN" dirty="0">
              <a:solidFill>
                <a:schemeClr val="tx1">
                  <a:lumMod val="75000"/>
                  <a:lumOff val="25000"/>
                </a:schemeClr>
              </a:solidFill>
            </a:endParaRPr>
          </a:p>
          <a:p>
            <a:pPr lvl="1">
              <a:buFont typeface="Wingdings" panose="05000000000000000000" pitchFamily="2" charset="2"/>
              <a:buChar char="p"/>
            </a:pPr>
            <a:r>
              <a:rPr lang="zh-CN" altLang="en-US" dirty="0">
                <a:solidFill>
                  <a:schemeClr val="tx1">
                    <a:lumMod val="75000"/>
                    <a:lumOff val="25000"/>
                  </a:schemeClr>
                </a:solidFill>
              </a:rPr>
              <a:t>列表  </a:t>
            </a:r>
            <a:endParaRPr lang="en-US" altLang="zh-CN" dirty="0">
              <a:solidFill>
                <a:schemeClr val="tx1">
                  <a:lumMod val="75000"/>
                  <a:lumOff val="25000"/>
                </a:schemeClr>
              </a:solidFill>
            </a:endParaRPr>
          </a:p>
          <a:p>
            <a:pPr lvl="1">
              <a:buFont typeface="Wingdings" panose="05000000000000000000" pitchFamily="2" charset="2"/>
              <a:buChar char="p"/>
            </a:pPr>
            <a:r>
              <a:rPr lang="zh-CN" altLang="en-US" dirty="0">
                <a:solidFill>
                  <a:schemeClr val="tx1">
                    <a:lumMod val="75000"/>
                    <a:lumOff val="25000"/>
                  </a:schemeClr>
                </a:solidFill>
              </a:rPr>
              <a:t>字典  </a:t>
            </a:r>
            <a:endParaRPr lang="en-US" altLang="zh-CN" dirty="0">
              <a:solidFill>
                <a:schemeClr val="tx1">
                  <a:lumMod val="75000"/>
                  <a:lumOff val="25000"/>
                </a:schemeClr>
              </a:solidFill>
            </a:endParaRPr>
          </a:p>
          <a:p>
            <a:pPr lvl="1">
              <a:buFont typeface="Wingdings" panose="05000000000000000000" pitchFamily="2" charset="2"/>
              <a:buChar char="p"/>
            </a:pPr>
            <a:r>
              <a:rPr lang="zh-CN" altLang="en-US" dirty="0">
                <a:solidFill>
                  <a:schemeClr val="tx1">
                    <a:lumMod val="75000"/>
                    <a:lumOff val="25000"/>
                  </a:schemeClr>
                </a:solidFill>
              </a:rPr>
              <a:t>集合</a:t>
            </a:r>
            <a:endParaRPr lang="en-US" altLang="zh-CN" dirty="0">
              <a:solidFill>
                <a:schemeClr val="tx1">
                  <a:lumMod val="75000"/>
                  <a:lumOff val="25000"/>
                </a:schemeClr>
              </a:solidFill>
            </a:endParaRPr>
          </a:p>
          <a:p>
            <a:pPr>
              <a:buFont typeface="Wingdings" panose="05000000000000000000" pitchFamily="2" charset="2"/>
              <a:buChar char="Ø"/>
            </a:pPr>
            <a:r>
              <a:rPr lang="zh-CN" altLang="en-US" dirty="0">
                <a:solidFill>
                  <a:schemeClr val="tx1">
                    <a:lumMod val="75000"/>
                    <a:lumOff val="25000"/>
                  </a:schemeClr>
                </a:solidFill>
              </a:rPr>
              <a:t>不可变类型  </a:t>
            </a:r>
            <a:endParaRPr lang="en-US" altLang="zh-CN" dirty="0">
              <a:solidFill>
                <a:schemeClr val="tx1">
                  <a:lumMod val="75000"/>
                  <a:lumOff val="25000"/>
                </a:schemeClr>
              </a:solidFill>
            </a:endParaRPr>
          </a:p>
          <a:p>
            <a:pPr lvl="1">
              <a:buFont typeface="Wingdings" panose="05000000000000000000" pitchFamily="2" charset="2"/>
              <a:buChar char="p"/>
            </a:pPr>
            <a:r>
              <a:rPr lang="zh-CN" altLang="en-US" dirty="0">
                <a:solidFill>
                  <a:schemeClr val="tx1">
                    <a:lumMod val="75000"/>
                    <a:lumOff val="25000"/>
                  </a:schemeClr>
                </a:solidFill>
              </a:rPr>
              <a:t>整型  </a:t>
            </a:r>
            <a:endParaRPr lang="en-US" altLang="zh-CN" dirty="0">
              <a:solidFill>
                <a:schemeClr val="tx1">
                  <a:lumMod val="75000"/>
                  <a:lumOff val="25000"/>
                </a:schemeClr>
              </a:solidFill>
            </a:endParaRPr>
          </a:p>
          <a:p>
            <a:pPr lvl="1">
              <a:buFont typeface="Wingdings" panose="05000000000000000000" pitchFamily="2" charset="2"/>
              <a:buChar char="p"/>
            </a:pPr>
            <a:r>
              <a:rPr lang="zh-CN" altLang="en-US" dirty="0">
                <a:solidFill>
                  <a:schemeClr val="tx1">
                    <a:lumMod val="75000"/>
                    <a:lumOff val="25000"/>
                  </a:schemeClr>
                </a:solidFill>
              </a:rPr>
              <a:t>浮点型  </a:t>
            </a:r>
            <a:endParaRPr lang="en-US" altLang="zh-CN" dirty="0">
              <a:solidFill>
                <a:schemeClr val="tx1">
                  <a:lumMod val="75000"/>
                  <a:lumOff val="25000"/>
                </a:schemeClr>
              </a:solidFill>
            </a:endParaRPr>
          </a:p>
          <a:p>
            <a:pPr lvl="1">
              <a:buFont typeface="Wingdings" panose="05000000000000000000" pitchFamily="2" charset="2"/>
              <a:buChar char="p"/>
            </a:pPr>
            <a:r>
              <a:rPr lang="zh-CN" altLang="en-US" dirty="0">
                <a:solidFill>
                  <a:schemeClr val="tx1">
                    <a:lumMod val="75000"/>
                    <a:lumOff val="25000"/>
                  </a:schemeClr>
                </a:solidFill>
              </a:rPr>
              <a:t>字符串  </a:t>
            </a:r>
            <a:endParaRPr lang="en-US" altLang="zh-CN" dirty="0">
              <a:solidFill>
                <a:schemeClr val="tx1">
                  <a:lumMod val="75000"/>
                  <a:lumOff val="25000"/>
                </a:schemeClr>
              </a:solidFill>
            </a:endParaRPr>
          </a:p>
          <a:p>
            <a:pPr lvl="1">
              <a:buFont typeface="Wingdings" panose="05000000000000000000" pitchFamily="2" charset="2"/>
              <a:buChar char="p"/>
            </a:pPr>
            <a:r>
              <a:rPr lang="zh-CN" altLang="en-US" dirty="0">
                <a:solidFill>
                  <a:schemeClr val="tx1">
                    <a:lumMod val="75000"/>
                    <a:lumOff val="25000"/>
                  </a:schemeClr>
                </a:solidFill>
              </a:rPr>
              <a:t>元组</a:t>
            </a:r>
            <a:endParaRPr lang="en-US" altLang="zh-CN" dirty="0">
              <a:solidFill>
                <a:schemeClr val="tx1">
                  <a:lumMod val="75000"/>
                  <a:lumOff val="25000"/>
                </a:schemeClr>
              </a:solidFill>
            </a:endParaRPr>
          </a:p>
        </p:txBody>
      </p:sp>
      <p:sp>
        <p:nvSpPr>
          <p:cNvPr id="3" name="标题 2"/>
          <p:cNvSpPr>
            <a:spLocks noGrp="1"/>
          </p:cNvSpPr>
          <p:nvPr>
            <p:ph type="title"/>
          </p:nvPr>
        </p:nvSpPr>
        <p:spPr/>
        <p:txBody>
          <a:bodyPr/>
          <a:lstStyle/>
          <a:p>
            <a:r>
              <a:rPr lang="zh-CN" altLang="en-US" dirty="0"/>
              <a:t>引用变量与可变、非可变类型</a:t>
            </a:r>
          </a:p>
        </p:txBody>
      </p:sp>
      <p:sp>
        <p:nvSpPr>
          <p:cNvPr id="4" name="文本占位符 3"/>
          <p:cNvSpPr>
            <a:spLocks noGrp="1"/>
          </p:cNvSpPr>
          <p:nvPr>
            <p:ph type="body" sz="quarter" idx="10"/>
          </p:nvPr>
        </p:nvSpPr>
        <p:spPr/>
        <p:txBody>
          <a:bodyPr/>
          <a:lstStyle/>
          <a:p>
            <a:r>
              <a:rPr lang="en-US" altLang="zh-CN" dirty="0"/>
              <a:t>3</a:t>
            </a:r>
            <a:r>
              <a:rPr lang="zh-CN" altLang="en-US" dirty="0"/>
              <a:t>、可变类型与不可变类型</a:t>
            </a:r>
            <a:endParaRPr lang="en-US" altLang="zh-CN" dirty="0"/>
          </a:p>
        </p:txBody>
      </p:sp>
    </p:spTree>
    <p:extLst>
      <p:ext uri="{BB962C8B-B14F-4D97-AF65-F5344CB8AC3E}">
        <p14:creationId xmlns:p14="http://schemas.microsoft.com/office/powerpoint/2010/main" val="2709262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r>
              <a:rPr lang="zh-CN" altLang="en-US" dirty="0">
                <a:solidFill>
                  <a:schemeClr val="tx1">
                    <a:lumMod val="65000"/>
                    <a:lumOff val="35000"/>
                  </a:schemeClr>
                </a:solidFill>
              </a:rPr>
              <a:t>函数递归</a:t>
            </a:r>
            <a:endParaRPr lang="en-US" altLang="zh-CN" dirty="0">
              <a:solidFill>
                <a:schemeClr val="tx1">
                  <a:lumMod val="65000"/>
                  <a:lumOff val="35000"/>
                </a:schemeClr>
              </a:solidFill>
            </a:endParaRP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02</a:t>
            </a:r>
            <a:endParaRPr kumimoji="1" lang="zh-CN" altLang="en-US" dirty="0"/>
          </a:p>
        </p:txBody>
      </p:sp>
    </p:spTree>
    <p:extLst>
      <p:ext uri="{BB962C8B-B14F-4D97-AF65-F5344CB8AC3E}">
        <p14:creationId xmlns:p14="http://schemas.microsoft.com/office/powerpoint/2010/main" val="251335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710880" y="1646133"/>
            <a:ext cx="10964563" cy="4985779"/>
          </a:xfrm>
        </p:spPr>
        <p:txBody>
          <a:bodyPr/>
          <a:lstStyle/>
          <a:p>
            <a:pPr marL="0" indent="0">
              <a:buNone/>
            </a:pPr>
            <a:r>
              <a:rPr lang="zh-CN" altLang="en-US" dirty="0">
                <a:solidFill>
                  <a:schemeClr val="tx1">
                    <a:lumMod val="75000"/>
                    <a:lumOff val="25000"/>
                  </a:schemeClr>
                </a:solidFill>
              </a:rPr>
              <a:t>编程思想：如何利用数学模型，来解决对应的需求问题；然后利用代码实现对应的数据模型（逻辑）</a:t>
            </a:r>
            <a:endParaRPr lang="en-US" altLang="zh-CN" dirty="0">
              <a:solidFill>
                <a:schemeClr val="tx1">
                  <a:lumMod val="75000"/>
                  <a:lumOff val="25000"/>
                </a:schemeClr>
              </a:solidFill>
            </a:endParaRPr>
          </a:p>
          <a:p>
            <a:pPr marL="0" indent="0">
              <a:buNone/>
            </a:pPr>
            <a:r>
              <a:rPr lang="zh-CN" altLang="en-US" dirty="0">
                <a:solidFill>
                  <a:schemeClr val="tx1">
                    <a:lumMod val="75000"/>
                    <a:lumOff val="25000"/>
                  </a:schemeClr>
                </a:solidFill>
              </a:rPr>
              <a:t>算法：使用代码实现对应的数学模型，从而解决对应的业务问题</a:t>
            </a: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r>
              <a:rPr lang="zh-CN" altLang="en-US" dirty="0">
                <a:solidFill>
                  <a:srgbClr val="C00000"/>
                </a:solidFill>
              </a:rPr>
              <a:t>递推算法：递推算法是一种简单的算法，即通过已知条件，利用特定条件得出中间推论，直至得到结果的算法。递推又分为顺推和逆推。</a:t>
            </a:r>
            <a:endParaRPr lang="en-US" altLang="zh-CN" dirty="0">
              <a:solidFill>
                <a:srgbClr val="C00000"/>
              </a:solidFill>
            </a:endParaRPr>
          </a:p>
          <a:p>
            <a:pPr marL="0" indent="0">
              <a:buNone/>
            </a:pPr>
            <a:endParaRPr lang="en-US" altLang="zh-CN" dirty="0">
              <a:solidFill>
                <a:schemeClr val="tx1">
                  <a:lumMod val="75000"/>
                  <a:lumOff val="25000"/>
                </a:schemeClr>
              </a:solidFill>
            </a:endParaRPr>
          </a:p>
          <a:p>
            <a:pPr marL="0" indent="0">
              <a:buNone/>
            </a:pPr>
            <a:r>
              <a:rPr lang="zh-CN" altLang="en-US" dirty="0">
                <a:solidFill>
                  <a:schemeClr val="tx1">
                    <a:lumMod val="75000"/>
                    <a:lumOff val="25000"/>
                  </a:schemeClr>
                </a:solidFill>
              </a:rPr>
              <a:t>顺推：通过最简单的条件，然后逐步推演结果</a:t>
            </a:r>
            <a:endParaRPr lang="en-US" altLang="zh-CN" dirty="0">
              <a:solidFill>
                <a:schemeClr val="tx1">
                  <a:lumMod val="75000"/>
                  <a:lumOff val="25000"/>
                </a:schemeClr>
              </a:solidFill>
            </a:endParaRPr>
          </a:p>
          <a:p>
            <a:pPr marL="0" indent="0">
              <a:buNone/>
            </a:pPr>
            <a:r>
              <a:rPr lang="zh-CN" altLang="en-US" dirty="0">
                <a:solidFill>
                  <a:schemeClr val="tx1">
                    <a:lumMod val="75000"/>
                    <a:lumOff val="25000"/>
                  </a:schemeClr>
                </a:solidFill>
              </a:rPr>
              <a:t>逆推：通过结果找到规律，然后推导已知条件</a:t>
            </a:r>
            <a:endParaRPr lang="en-US" altLang="zh-CN" dirty="0">
              <a:solidFill>
                <a:schemeClr val="tx1">
                  <a:lumMod val="75000"/>
                  <a:lumOff val="25000"/>
                </a:schemeClr>
              </a:solidFill>
            </a:endParaRPr>
          </a:p>
          <a:p>
            <a:pPr marL="0" indent="0">
              <a:buNone/>
            </a:pPr>
            <a:endParaRPr lang="en-US" altLang="zh-CN" dirty="0">
              <a:solidFill>
                <a:schemeClr val="tx1">
                  <a:lumMod val="75000"/>
                  <a:lumOff val="25000"/>
                </a:schemeClr>
              </a:solidFill>
            </a:endParaRPr>
          </a:p>
          <a:p>
            <a:pPr marL="0" indent="0">
              <a:buNone/>
            </a:pPr>
            <a:r>
              <a:rPr lang="zh-CN" altLang="en-US" dirty="0">
                <a:solidFill>
                  <a:schemeClr val="tx1">
                    <a:lumMod val="75000"/>
                    <a:lumOff val="25000"/>
                  </a:schemeClr>
                </a:solidFill>
              </a:rPr>
              <a:t>举个栗子：斐波那契数列  </a:t>
            </a:r>
            <a:r>
              <a:rPr lang="en-US" altLang="zh-CN" dirty="0">
                <a:solidFill>
                  <a:schemeClr val="tx1">
                    <a:lumMod val="75000"/>
                    <a:lumOff val="25000"/>
                  </a:schemeClr>
                </a:solidFill>
              </a:rPr>
              <a:t>=&gt;   1   1   2   3   5   8   13  …</a:t>
            </a:r>
          </a:p>
          <a:p>
            <a:pPr marL="0" indent="0">
              <a:buNone/>
            </a:pPr>
            <a:r>
              <a:rPr lang="zh-CN" altLang="en-US" dirty="0">
                <a:solidFill>
                  <a:schemeClr val="tx1">
                    <a:lumMod val="75000"/>
                    <a:lumOff val="25000"/>
                  </a:schemeClr>
                </a:solidFill>
              </a:rPr>
              <a:t>找规律：</a:t>
            </a:r>
            <a:r>
              <a:rPr lang="zh-CN" altLang="en-US" dirty="0">
                <a:solidFill>
                  <a:srgbClr val="C00000"/>
                </a:solidFill>
              </a:rPr>
              <a:t>第一个数是</a:t>
            </a:r>
            <a:r>
              <a:rPr lang="en-US" altLang="zh-CN" dirty="0">
                <a:solidFill>
                  <a:srgbClr val="C00000"/>
                </a:solidFill>
              </a:rPr>
              <a:t>1</a:t>
            </a:r>
            <a:r>
              <a:rPr lang="zh-CN" altLang="en-US" dirty="0">
                <a:solidFill>
                  <a:srgbClr val="C00000"/>
                </a:solidFill>
              </a:rPr>
              <a:t>，第二个数</a:t>
            </a:r>
            <a:r>
              <a:rPr lang="en-US" altLang="zh-CN" dirty="0">
                <a:solidFill>
                  <a:srgbClr val="C00000"/>
                </a:solidFill>
              </a:rPr>
              <a:t>1</a:t>
            </a:r>
            <a:r>
              <a:rPr lang="zh-CN" altLang="en-US" dirty="0">
                <a:solidFill>
                  <a:srgbClr val="C00000"/>
                </a:solidFill>
              </a:rPr>
              <a:t>，从第三个数开始：结果等于前两个数的和</a:t>
            </a:r>
            <a:endParaRPr lang="en-US" altLang="zh-CN" dirty="0">
              <a:solidFill>
                <a:srgbClr val="C00000"/>
              </a:solidFill>
            </a:endParaRPr>
          </a:p>
          <a:p>
            <a:pPr marL="0" indent="0">
              <a:buNone/>
            </a:pPr>
            <a:r>
              <a:rPr lang="zh-CN" altLang="en-US" dirty="0">
                <a:solidFill>
                  <a:schemeClr val="tx1">
                    <a:lumMod val="75000"/>
                    <a:lumOff val="25000"/>
                  </a:schemeClr>
                </a:solidFill>
              </a:rPr>
              <a:t>顺推：想办法把要求的位置之前的所有值都列出来，那么要求的数就可以通过前两个数之和计算出来。</a:t>
            </a:r>
            <a:endParaRPr lang="en-US" altLang="zh-CN" dirty="0">
              <a:solidFill>
                <a:schemeClr val="tx1">
                  <a:lumMod val="75000"/>
                  <a:lumOff val="25000"/>
                </a:schemeClr>
              </a:solidFill>
            </a:endParaRPr>
          </a:p>
        </p:txBody>
      </p:sp>
      <p:sp>
        <p:nvSpPr>
          <p:cNvPr id="3" name="标题 2"/>
          <p:cNvSpPr>
            <a:spLocks noGrp="1"/>
          </p:cNvSpPr>
          <p:nvPr>
            <p:ph type="title"/>
          </p:nvPr>
        </p:nvSpPr>
        <p:spPr/>
        <p:txBody>
          <a:bodyPr/>
          <a:lstStyle/>
          <a:p>
            <a:r>
              <a:rPr lang="zh-CN" altLang="en-US" dirty="0"/>
              <a:t>函数递归</a:t>
            </a:r>
          </a:p>
        </p:txBody>
      </p:sp>
      <p:sp>
        <p:nvSpPr>
          <p:cNvPr id="4" name="文本占位符 3"/>
          <p:cNvSpPr>
            <a:spLocks noGrp="1"/>
          </p:cNvSpPr>
          <p:nvPr>
            <p:ph type="body" sz="quarter" idx="10"/>
          </p:nvPr>
        </p:nvSpPr>
        <p:spPr/>
        <p:txBody>
          <a:bodyPr/>
          <a:lstStyle/>
          <a:p>
            <a:r>
              <a:rPr lang="en-US" altLang="zh-CN" dirty="0"/>
              <a:t>1</a:t>
            </a:r>
            <a:r>
              <a:rPr lang="zh-CN" altLang="en-US" dirty="0"/>
              <a:t>、前言</a:t>
            </a:r>
          </a:p>
        </p:txBody>
      </p:sp>
      <p:sp>
        <p:nvSpPr>
          <p:cNvPr id="6" name="TextBox 3">
            <a:extLst>
              <a:ext uri="{FF2B5EF4-FFF2-40B4-BE49-F238E27FC236}">
                <a16:creationId xmlns:a16="http://schemas.microsoft.com/office/drawing/2014/main" id="{0C998B78-AB18-3C47-A1C7-25AE9A3A40B0}"/>
              </a:ext>
            </a:extLst>
          </p:cNvPr>
          <p:cNvSpPr txBox="1"/>
          <p:nvPr/>
        </p:nvSpPr>
        <p:spPr>
          <a:xfrm>
            <a:off x="7970083" y="3435897"/>
            <a:ext cx="2664716" cy="2800767"/>
          </a:xfrm>
          <a:prstGeom prst="rect">
            <a:avLst/>
          </a:prstGeom>
          <a:solidFill>
            <a:srgbClr val="FFFFE4"/>
          </a:solidFill>
          <a:ln w="3175">
            <a:solidFill>
              <a:srgbClr val="919191"/>
            </a:solidFill>
          </a:ln>
        </p:spPr>
        <p:txBody>
          <a:bodyPr wrap="square">
            <a:spAutoFit/>
          </a:bodyPr>
          <a:lstStyle/>
          <a:p>
            <a:r>
              <a:rPr lang="en-US" altLang="zh-CN" sz="1600" dirty="0" err="1"/>
              <a:t>def</a:t>
            </a:r>
            <a:r>
              <a:rPr lang="en-US" altLang="zh-CN" sz="1600" dirty="0"/>
              <a:t> recursive(n):</a:t>
            </a:r>
            <a:br>
              <a:rPr lang="en-US" altLang="zh-CN" sz="1600" dirty="0"/>
            </a:br>
            <a:r>
              <a:rPr lang="en-US" altLang="zh-CN" sz="1600" dirty="0"/>
              <a:t>    if n == 1 or n == 2:</a:t>
            </a:r>
            <a:br>
              <a:rPr lang="en-US" altLang="zh-CN" sz="1600" dirty="0"/>
            </a:br>
            <a:r>
              <a:rPr lang="en-US" altLang="zh-CN" sz="1600" dirty="0"/>
              <a:t>        return 1</a:t>
            </a:r>
            <a:br>
              <a:rPr lang="en-US" altLang="zh-CN" sz="1600" dirty="0"/>
            </a:br>
            <a:br>
              <a:rPr lang="en-US" altLang="zh-CN" sz="1600" dirty="0"/>
            </a:br>
            <a:r>
              <a:rPr lang="en-US" altLang="zh-CN" sz="1600" dirty="0"/>
              <a:t>    f = {1: 1, 2: 1}</a:t>
            </a:r>
            <a:br>
              <a:rPr lang="en-US" altLang="zh-CN" sz="1600" dirty="0"/>
            </a:br>
            <a:r>
              <a:rPr lang="en-US" altLang="zh-CN" sz="1600" dirty="0"/>
              <a:t>    for </a:t>
            </a:r>
            <a:r>
              <a:rPr lang="en-US" altLang="zh-CN" sz="1600" dirty="0" err="1"/>
              <a:t>i</a:t>
            </a:r>
            <a:r>
              <a:rPr lang="en-US" altLang="zh-CN" sz="1600" dirty="0"/>
              <a:t> in range(3, n + 1):</a:t>
            </a:r>
            <a:br>
              <a:rPr lang="en-US" altLang="zh-CN" sz="1600" dirty="0"/>
            </a:br>
            <a:r>
              <a:rPr lang="en-US" altLang="zh-CN" sz="1600" dirty="0"/>
              <a:t>        f[</a:t>
            </a:r>
            <a:r>
              <a:rPr lang="en-US" altLang="zh-CN" sz="1600" dirty="0" err="1"/>
              <a:t>i</a:t>
            </a:r>
            <a:r>
              <a:rPr lang="en-US" altLang="zh-CN" sz="1600" dirty="0"/>
              <a:t>] = f[</a:t>
            </a:r>
            <a:r>
              <a:rPr lang="en-US" altLang="zh-CN" sz="1600" dirty="0" err="1"/>
              <a:t>i</a:t>
            </a:r>
            <a:r>
              <a:rPr lang="en-US" altLang="zh-CN" sz="1600" dirty="0"/>
              <a:t> - 1] + f[</a:t>
            </a:r>
            <a:r>
              <a:rPr lang="en-US" altLang="zh-CN" sz="1600" dirty="0" err="1"/>
              <a:t>i</a:t>
            </a:r>
            <a:r>
              <a:rPr lang="en-US" altLang="zh-CN" sz="1600" dirty="0"/>
              <a:t> - 2]</a:t>
            </a:r>
            <a:br>
              <a:rPr lang="en-US" altLang="zh-CN" sz="1600" dirty="0"/>
            </a:br>
            <a:r>
              <a:rPr lang="en-US" altLang="zh-CN" sz="1600" dirty="0"/>
              <a:t>    return f[n]</a:t>
            </a:r>
            <a:br>
              <a:rPr lang="en-US" altLang="zh-CN" sz="1600" dirty="0"/>
            </a:br>
            <a:br>
              <a:rPr lang="en-US" altLang="zh-CN" sz="1600" dirty="0"/>
            </a:br>
            <a:br>
              <a:rPr lang="en-US" altLang="zh-CN" sz="1600" dirty="0"/>
            </a:br>
            <a:r>
              <a:rPr lang="en-US" altLang="zh-CN" sz="1600" dirty="0"/>
              <a:t>print(recursive(15))</a:t>
            </a:r>
          </a:p>
        </p:txBody>
      </p:sp>
      <p:sp>
        <p:nvSpPr>
          <p:cNvPr id="5" name="右箭头 4"/>
          <p:cNvSpPr/>
          <p:nvPr/>
        </p:nvSpPr>
        <p:spPr>
          <a:xfrm rot="20257697">
            <a:off x="5982378" y="4884095"/>
            <a:ext cx="1995008" cy="356135"/>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57198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917053" y="2387685"/>
            <a:ext cx="2031325" cy="369332"/>
          </a:xfrm>
          <a:prstGeom prst="rect">
            <a:avLst/>
          </a:prstGeom>
        </p:spPr>
        <p:txBody>
          <a:bodyPr wrap="none">
            <a:spAutoFit/>
          </a:bodyPr>
          <a:lstStyle/>
          <a:p>
            <a:r>
              <a:rPr lang="zh-CN" altLang="en-US"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那什么是递归呢？</a:t>
            </a: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pic>
        <p:nvPicPr>
          <p:cNvPr id="7" name="图片 6"/>
          <p:cNvPicPr>
            <a:picLocks noChangeAspect="1"/>
          </p:cNvPicPr>
          <p:nvPr/>
        </p:nvPicPr>
        <p:blipFill>
          <a:blip r:embed="rId2"/>
          <a:stretch>
            <a:fillRect/>
          </a:stretch>
        </p:blipFill>
        <p:spPr>
          <a:xfrm>
            <a:off x="3021622" y="2924015"/>
            <a:ext cx="5822185" cy="1356478"/>
          </a:xfrm>
          <a:prstGeom prst="rect">
            <a:avLst/>
          </a:prstGeom>
        </p:spPr>
      </p:pic>
      <p:sp>
        <p:nvSpPr>
          <p:cNvPr id="10" name="标题 2"/>
          <p:cNvSpPr>
            <a:spLocks noGrp="1"/>
          </p:cNvSpPr>
          <p:nvPr>
            <p:ph type="title"/>
          </p:nvPr>
        </p:nvSpPr>
        <p:spPr>
          <a:xfrm>
            <a:off x="710880" y="244189"/>
            <a:ext cx="8771021" cy="517190"/>
          </a:xfrm>
        </p:spPr>
        <p:txBody>
          <a:bodyPr/>
          <a:lstStyle/>
          <a:p>
            <a:r>
              <a:rPr lang="zh-CN" altLang="en-US" dirty="0"/>
              <a:t>函数递归</a:t>
            </a:r>
          </a:p>
        </p:txBody>
      </p:sp>
    </p:spTree>
    <p:extLst>
      <p:ext uri="{BB962C8B-B14F-4D97-AF65-F5344CB8AC3E}">
        <p14:creationId xmlns:p14="http://schemas.microsoft.com/office/powerpoint/2010/main" val="8662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710880" y="1646133"/>
            <a:ext cx="10964563" cy="4985779"/>
          </a:xfrm>
        </p:spPr>
        <p:txBody>
          <a:bodyPr/>
          <a:lstStyle/>
          <a:p>
            <a:pPr marL="0" indent="0">
              <a:buNone/>
            </a:pPr>
            <a:r>
              <a:rPr lang="zh-CN" altLang="en-US" dirty="0">
                <a:solidFill>
                  <a:srgbClr val="B60206"/>
                </a:solidFill>
              </a:rPr>
              <a:t>程序调用自身的编程技巧</a:t>
            </a:r>
            <a:r>
              <a:rPr lang="zh-CN" altLang="en-US" dirty="0"/>
              <a:t>称为递归（ </a:t>
            </a:r>
            <a:r>
              <a:rPr lang="en-US" altLang="zh-CN" dirty="0"/>
              <a:t>recursion</a:t>
            </a:r>
            <a:r>
              <a:rPr lang="zh-CN" altLang="en-US" dirty="0"/>
              <a:t>）。递归做为一种算法在程序设计语言中广泛应用，它通常</a:t>
            </a:r>
            <a:r>
              <a:rPr lang="zh-CN" altLang="en-US" dirty="0">
                <a:solidFill>
                  <a:srgbClr val="B60206"/>
                </a:solidFill>
              </a:rPr>
              <a:t>把一个大型复杂的问题层层转化为一个与原问题相似的规模较小的问题来求解</a:t>
            </a:r>
            <a:r>
              <a:rPr lang="zh-CN" altLang="en-US" dirty="0"/>
              <a:t>，递归策略只需少量的程序就可描述出解题过程所需要的多次重复计算，大大地减少了程序的代码量。</a:t>
            </a:r>
            <a:endParaRPr lang="en-US" altLang="zh-CN" dirty="0"/>
          </a:p>
          <a:p>
            <a:pPr marL="0" indent="0">
              <a:buNone/>
            </a:pPr>
            <a:r>
              <a:rPr lang="zh-CN" altLang="en-US" dirty="0">
                <a:solidFill>
                  <a:srgbClr val="B60206"/>
                </a:solidFill>
              </a:rPr>
              <a:t>① 简化问题：找到最优子问题（不能再小） ② 函数自己调用自己</a:t>
            </a:r>
            <a:endParaRPr lang="en-US" altLang="zh-CN" dirty="0">
              <a:solidFill>
                <a:srgbClr val="B60206"/>
              </a:solidFill>
            </a:endParaRPr>
          </a:p>
          <a:p>
            <a:pPr marL="0" indent="0">
              <a:buNone/>
            </a:pPr>
            <a:endParaRPr lang="en-US" altLang="zh-CN" dirty="0">
              <a:solidFill>
                <a:srgbClr val="B60206"/>
              </a:solidFill>
            </a:endParaRPr>
          </a:p>
          <a:p>
            <a:pPr marL="0" indent="0">
              <a:buNone/>
            </a:pPr>
            <a:r>
              <a:rPr lang="zh-CN" altLang="en-US" dirty="0">
                <a:solidFill>
                  <a:schemeClr val="tx1">
                    <a:lumMod val="75000"/>
                    <a:lumOff val="25000"/>
                  </a:schemeClr>
                </a:solidFill>
              </a:rPr>
              <a:t>斐波那契数列：</a:t>
            </a:r>
            <a:r>
              <a:rPr lang="en-US" altLang="zh-CN" dirty="0">
                <a:solidFill>
                  <a:schemeClr val="tx1">
                    <a:lumMod val="75000"/>
                    <a:lumOff val="25000"/>
                  </a:schemeClr>
                </a:solidFill>
              </a:rPr>
              <a:t>1 1  2  3  5  8   13  …</a:t>
            </a:r>
          </a:p>
          <a:p>
            <a:pPr marL="0" indent="0">
              <a:buNone/>
            </a:pPr>
            <a:r>
              <a:rPr lang="zh-CN" altLang="en-US" dirty="0">
                <a:solidFill>
                  <a:schemeClr val="tx1">
                    <a:lumMod val="75000"/>
                    <a:lumOff val="25000"/>
                  </a:schemeClr>
                </a:solidFill>
              </a:rPr>
              <a:t>需求：求指定位置的数据      找规律：</a:t>
            </a:r>
            <a:r>
              <a:rPr lang="zh-CN" altLang="en-US" dirty="0">
                <a:solidFill>
                  <a:srgbClr val="C00000"/>
                </a:solidFill>
              </a:rPr>
              <a:t>第一个数是</a:t>
            </a:r>
            <a:r>
              <a:rPr lang="en-US" altLang="zh-CN" dirty="0">
                <a:solidFill>
                  <a:srgbClr val="C00000"/>
                </a:solidFill>
              </a:rPr>
              <a:t>1</a:t>
            </a:r>
            <a:r>
              <a:rPr lang="zh-CN" altLang="en-US" dirty="0">
                <a:solidFill>
                  <a:srgbClr val="C00000"/>
                </a:solidFill>
              </a:rPr>
              <a:t>，第二个数</a:t>
            </a:r>
            <a:r>
              <a:rPr lang="en-US" altLang="zh-CN" dirty="0">
                <a:solidFill>
                  <a:srgbClr val="C00000"/>
                </a:solidFill>
              </a:rPr>
              <a:t>1</a:t>
            </a:r>
            <a:r>
              <a:rPr lang="zh-CN" altLang="en-US" dirty="0">
                <a:solidFill>
                  <a:srgbClr val="C00000"/>
                </a:solidFill>
              </a:rPr>
              <a:t>，从第三个数开始：结果等于前两个数的和</a:t>
            </a:r>
            <a:endParaRPr lang="en-US" altLang="zh-CN" dirty="0">
              <a:solidFill>
                <a:srgbClr val="C00000"/>
              </a:solidFill>
            </a:endParaRPr>
          </a:p>
          <a:p>
            <a:pPr marL="0" indent="0">
              <a:buNone/>
            </a:pPr>
            <a:r>
              <a:rPr lang="en-US" altLang="zh-CN" dirty="0">
                <a:solidFill>
                  <a:srgbClr val="C00000"/>
                </a:solidFill>
              </a:rPr>
              <a:t>f(n) = f(n-1) + f(n-2)</a:t>
            </a:r>
          </a:p>
          <a:p>
            <a:pPr marL="0" indent="0">
              <a:buNone/>
            </a:pPr>
            <a:r>
              <a:rPr lang="en-US" altLang="zh-CN" dirty="0">
                <a:solidFill>
                  <a:srgbClr val="C00000"/>
                </a:solidFill>
              </a:rPr>
              <a:t>f(n-1) = f(n-2) + f(n-3)</a:t>
            </a:r>
          </a:p>
          <a:p>
            <a:pPr marL="0" indent="0">
              <a:buNone/>
            </a:pPr>
            <a:r>
              <a:rPr lang="en-US" altLang="zh-CN" dirty="0">
                <a:solidFill>
                  <a:srgbClr val="C00000"/>
                </a:solidFill>
              </a:rPr>
              <a:t>…</a:t>
            </a:r>
          </a:p>
          <a:p>
            <a:pPr marL="0" indent="0">
              <a:buNone/>
            </a:pPr>
            <a:r>
              <a:rPr lang="en-US" altLang="zh-CN" dirty="0">
                <a:solidFill>
                  <a:srgbClr val="C00000"/>
                </a:solidFill>
              </a:rPr>
              <a:t>f(3) = f(2) + f(1)</a:t>
            </a:r>
          </a:p>
          <a:p>
            <a:pPr marL="0" indent="0">
              <a:buNone/>
            </a:pPr>
            <a:r>
              <a:rPr lang="en-US" altLang="zh-CN" dirty="0">
                <a:solidFill>
                  <a:srgbClr val="C00000"/>
                </a:solidFill>
              </a:rPr>
              <a:t>f(2) = f(1) = 1</a:t>
            </a:r>
          </a:p>
          <a:p>
            <a:pPr marL="0" indent="0">
              <a:buNone/>
            </a:pPr>
            <a:endParaRPr lang="en-US" altLang="zh-CN" dirty="0">
              <a:solidFill>
                <a:schemeClr val="tx1">
                  <a:lumMod val="75000"/>
                  <a:lumOff val="25000"/>
                </a:schemeClr>
              </a:solidFill>
            </a:endParaRPr>
          </a:p>
          <a:p>
            <a:pPr marL="0" indent="0">
              <a:buNone/>
            </a:pPr>
            <a:endParaRPr lang="en-US" altLang="zh-CN" dirty="0">
              <a:solidFill>
                <a:srgbClr val="B60206"/>
              </a:solidFill>
            </a:endParaRPr>
          </a:p>
        </p:txBody>
      </p:sp>
      <p:sp>
        <p:nvSpPr>
          <p:cNvPr id="3" name="标题 2"/>
          <p:cNvSpPr>
            <a:spLocks noGrp="1"/>
          </p:cNvSpPr>
          <p:nvPr>
            <p:ph type="title"/>
          </p:nvPr>
        </p:nvSpPr>
        <p:spPr/>
        <p:txBody>
          <a:bodyPr/>
          <a:lstStyle/>
          <a:p>
            <a:r>
              <a:rPr lang="zh-CN" altLang="en-US" dirty="0"/>
              <a:t>函数递归</a:t>
            </a:r>
          </a:p>
        </p:txBody>
      </p:sp>
      <p:sp>
        <p:nvSpPr>
          <p:cNvPr id="4" name="文本占位符 3"/>
          <p:cNvSpPr>
            <a:spLocks noGrp="1"/>
          </p:cNvSpPr>
          <p:nvPr>
            <p:ph type="body" sz="quarter" idx="10"/>
          </p:nvPr>
        </p:nvSpPr>
        <p:spPr/>
        <p:txBody>
          <a:bodyPr/>
          <a:lstStyle/>
          <a:p>
            <a:r>
              <a:rPr lang="en-US" altLang="zh-CN" dirty="0"/>
              <a:t>2</a:t>
            </a:r>
            <a:r>
              <a:rPr lang="zh-CN" altLang="en-US" dirty="0"/>
              <a:t>、递归的概念</a:t>
            </a:r>
          </a:p>
        </p:txBody>
      </p:sp>
      <p:sp>
        <p:nvSpPr>
          <p:cNvPr id="11" name="TextBox 3">
            <a:extLst>
              <a:ext uri="{FF2B5EF4-FFF2-40B4-BE49-F238E27FC236}">
                <a16:creationId xmlns:a16="http://schemas.microsoft.com/office/drawing/2014/main" id="{0C998B78-AB18-3C47-A1C7-25AE9A3A40B0}"/>
              </a:ext>
            </a:extLst>
          </p:cNvPr>
          <p:cNvSpPr txBox="1"/>
          <p:nvPr/>
        </p:nvSpPr>
        <p:spPr>
          <a:xfrm>
            <a:off x="7766198" y="2670544"/>
            <a:ext cx="2542459" cy="738664"/>
          </a:xfrm>
          <a:prstGeom prst="rect">
            <a:avLst/>
          </a:prstGeom>
          <a:solidFill>
            <a:srgbClr val="FFFFE4"/>
          </a:solidFill>
          <a:ln w="3175">
            <a:solidFill>
              <a:srgbClr val="919191"/>
            </a:solidFill>
          </a:ln>
        </p:spPr>
        <p:txBody>
          <a:bodyPr wrap="square">
            <a:spAutoFit/>
          </a:bodyPr>
          <a:lstStyle/>
          <a:p>
            <a:r>
              <a:rPr lang="en-US" altLang="zh-CN" sz="1400" dirty="0" err="1">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err="1">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func</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参数</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err="1">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func</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参数</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p:txBody>
      </p:sp>
      <p:sp>
        <p:nvSpPr>
          <p:cNvPr id="5" name="右箭头 4"/>
          <p:cNvSpPr/>
          <p:nvPr/>
        </p:nvSpPr>
        <p:spPr>
          <a:xfrm>
            <a:off x="6824312" y="2864915"/>
            <a:ext cx="712269" cy="349923"/>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3">
            <a:extLst>
              <a:ext uri="{FF2B5EF4-FFF2-40B4-BE49-F238E27FC236}">
                <a16:creationId xmlns:a16="http://schemas.microsoft.com/office/drawing/2014/main" id="{0C998B78-AB18-3C47-A1C7-25AE9A3A40B0}"/>
              </a:ext>
            </a:extLst>
          </p:cNvPr>
          <p:cNvSpPr txBox="1"/>
          <p:nvPr/>
        </p:nvSpPr>
        <p:spPr>
          <a:xfrm>
            <a:off x="4042611" y="5094506"/>
            <a:ext cx="7632832" cy="1169551"/>
          </a:xfrm>
          <a:prstGeom prst="rect">
            <a:avLst/>
          </a:prstGeom>
          <a:solidFill>
            <a:srgbClr val="FFFFE4"/>
          </a:solidFill>
          <a:ln w="3175">
            <a:solidFill>
              <a:srgbClr val="919191"/>
            </a:solidFill>
          </a:ln>
        </p:spPr>
        <p:txBody>
          <a:bodyPr wrap="square">
            <a:spAutoFit/>
          </a:bodyPr>
          <a:lstStyle/>
          <a:p>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递归有两个非常重要的概念：</a:t>
            </a:r>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① 递归点：找到解决当前问题的</a:t>
            </a:r>
            <a:r>
              <a:rPr lang="zh-CN" altLang="en-US" sz="14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等价函数</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（先解决规模比当前问题小一些的函数，依次类推，最终实现对问题的解决） </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=&gt;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有递有归</a:t>
            </a:r>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② 递归出口：当问题解决的时候，已经到达（必须存在）最优问题，不能再次调用函数了</a:t>
            </a:r>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zh-CN" altLang="en-US" sz="1400" dirty="0">
                <a:solidFill>
                  <a:srgbClr val="C00000"/>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注：如果一个递归函数没有递归出口就变成了死循环</a:t>
            </a:r>
            <a:endParaRPr lang="en-US" altLang="zh-CN" dirty="0">
              <a:solidFill>
                <a:srgbClr val="C00000"/>
              </a:solidFill>
            </a:endParaRPr>
          </a:p>
        </p:txBody>
      </p:sp>
      <p:sp>
        <p:nvSpPr>
          <p:cNvPr id="8" name="右箭头 7"/>
          <p:cNvSpPr/>
          <p:nvPr/>
        </p:nvSpPr>
        <p:spPr>
          <a:xfrm>
            <a:off x="3116982" y="5358234"/>
            <a:ext cx="712269" cy="349923"/>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55130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solidFill>
                  <a:srgbClr val="B60206"/>
                </a:solidFill>
              </a:rPr>
              <a:t>① 明确你这个函数想要干什么</a:t>
            </a:r>
            <a:endParaRPr lang="en-US" altLang="zh-CN" dirty="0">
              <a:solidFill>
                <a:srgbClr val="B60206"/>
              </a:solidFill>
            </a:endParaRPr>
          </a:p>
          <a:p>
            <a:pPr marL="0" indent="0">
              <a:buNone/>
            </a:pPr>
            <a:r>
              <a:rPr lang="zh-CN" altLang="en-US" dirty="0">
                <a:solidFill>
                  <a:srgbClr val="B60206"/>
                </a:solidFill>
              </a:rPr>
              <a:t>② 寻找递归结束条件</a:t>
            </a:r>
            <a:endParaRPr lang="en-US" altLang="zh-CN" dirty="0">
              <a:solidFill>
                <a:srgbClr val="B60206"/>
              </a:solidFill>
            </a:endParaRPr>
          </a:p>
          <a:p>
            <a:pPr marL="0" indent="0">
              <a:buNone/>
            </a:pPr>
            <a:r>
              <a:rPr lang="zh-CN" altLang="en-US" dirty="0">
                <a:solidFill>
                  <a:srgbClr val="B60206"/>
                </a:solidFill>
              </a:rPr>
              <a:t>③ 找出函数的等价关系式</a:t>
            </a:r>
          </a:p>
        </p:txBody>
      </p:sp>
      <p:sp>
        <p:nvSpPr>
          <p:cNvPr id="3" name="标题 2"/>
          <p:cNvSpPr>
            <a:spLocks noGrp="1"/>
          </p:cNvSpPr>
          <p:nvPr>
            <p:ph type="title"/>
          </p:nvPr>
        </p:nvSpPr>
        <p:spPr/>
        <p:txBody>
          <a:bodyPr/>
          <a:lstStyle/>
          <a:p>
            <a:r>
              <a:rPr lang="zh-CN" altLang="en-US" dirty="0"/>
              <a:t>函数递归</a:t>
            </a:r>
          </a:p>
        </p:txBody>
      </p:sp>
      <p:sp>
        <p:nvSpPr>
          <p:cNvPr id="4" name="文本占位符 3"/>
          <p:cNvSpPr>
            <a:spLocks noGrp="1"/>
          </p:cNvSpPr>
          <p:nvPr>
            <p:ph type="body" sz="quarter" idx="10"/>
          </p:nvPr>
        </p:nvSpPr>
        <p:spPr/>
        <p:txBody>
          <a:bodyPr/>
          <a:lstStyle/>
          <a:p>
            <a:r>
              <a:rPr lang="en-US" altLang="zh-CN" dirty="0"/>
              <a:t>3</a:t>
            </a:r>
            <a:r>
              <a:rPr lang="zh-CN" altLang="en-US" dirty="0"/>
              <a:t>、递归三要素</a:t>
            </a:r>
          </a:p>
        </p:txBody>
      </p:sp>
    </p:spTree>
    <p:extLst>
      <p:ext uri="{BB962C8B-B14F-4D97-AF65-F5344CB8AC3E}">
        <p14:creationId xmlns:p14="http://schemas.microsoft.com/office/powerpoint/2010/main" val="1813967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710881" y="1646133"/>
            <a:ext cx="10749598" cy="4725791"/>
          </a:xfrm>
        </p:spPr>
        <p:txBody>
          <a:bodyPr/>
          <a:lstStyle/>
          <a:p>
            <a:pPr marL="0" indent="0">
              <a:buNone/>
            </a:pPr>
            <a:r>
              <a:rPr lang="zh-CN" altLang="en-US" dirty="0"/>
              <a:t>对于递归，很重要的一个事就是，</a:t>
            </a:r>
            <a:r>
              <a:rPr lang="zh-CN" altLang="en-US" b="1" dirty="0">
                <a:solidFill>
                  <a:srgbClr val="B60206"/>
                </a:solidFill>
              </a:rPr>
              <a:t>这个函数的功能是什么，他要完成什么样的一件事</a:t>
            </a:r>
            <a:r>
              <a:rPr lang="zh-CN" altLang="en-US" dirty="0"/>
              <a:t>，而这个，是完全由你自己来定义的。也就是说，我们先不管函数里面的代码什么，而是要先明白，你这个函数是要用来干什么。</a:t>
            </a:r>
            <a:endParaRPr lang="en-US" altLang="zh-CN" dirty="0"/>
          </a:p>
          <a:p>
            <a:pPr marL="0" indent="0">
              <a:buNone/>
            </a:pPr>
            <a:endParaRPr lang="en-US" altLang="zh-CN" dirty="0">
              <a:solidFill>
                <a:srgbClr val="B60206"/>
              </a:solidFill>
            </a:endParaRPr>
          </a:p>
          <a:p>
            <a:pPr marL="0" indent="0">
              <a:buNone/>
            </a:pPr>
            <a:r>
              <a:rPr lang="zh-CN" altLang="en-US" dirty="0">
                <a:solidFill>
                  <a:srgbClr val="B60206"/>
                </a:solidFill>
              </a:rPr>
              <a:t>例如，我定义了一个函数</a:t>
            </a:r>
          </a:p>
          <a:p>
            <a:pPr marL="0" indent="0">
              <a:buNone/>
            </a:pPr>
            <a:r>
              <a:rPr lang="en-US" altLang="zh-CN" dirty="0">
                <a:solidFill>
                  <a:srgbClr val="B60206"/>
                </a:solidFill>
              </a:rPr>
              <a:t>// </a:t>
            </a:r>
            <a:r>
              <a:rPr lang="zh-CN" altLang="en-US" dirty="0">
                <a:solidFill>
                  <a:srgbClr val="B60206"/>
                </a:solidFill>
              </a:rPr>
              <a:t>算 </a:t>
            </a:r>
            <a:r>
              <a:rPr lang="en-US" altLang="zh-CN" dirty="0">
                <a:solidFill>
                  <a:srgbClr val="B60206"/>
                </a:solidFill>
              </a:rPr>
              <a:t>n </a:t>
            </a:r>
            <a:r>
              <a:rPr lang="zh-CN" altLang="en-US" dirty="0">
                <a:solidFill>
                  <a:srgbClr val="B60206"/>
                </a:solidFill>
              </a:rPr>
              <a:t>的阶乘</a:t>
            </a:r>
            <a:r>
              <a:rPr lang="en-US" altLang="zh-CN" dirty="0">
                <a:solidFill>
                  <a:srgbClr val="B60206"/>
                </a:solidFill>
              </a:rPr>
              <a:t>(</a:t>
            </a:r>
            <a:r>
              <a:rPr lang="zh-CN" altLang="en-US" dirty="0">
                <a:solidFill>
                  <a:srgbClr val="B60206"/>
                </a:solidFill>
              </a:rPr>
              <a:t>假设</a:t>
            </a:r>
            <a:r>
              <a:rPr lang="en-US" altLang="zh-CN" dirty="0">
                <a:solidFill>
                  <a:srgbClr val="B60206"/>
                </a:solidFill>
              </a:rPr>
              <a:t>n</a:t>
            </a:r>
            <a:r>
              <a:rPr lang="zh-CN" altLang="en-US" dirty="0">
                <a:solidFill>
                  <a:srgbClr val="B60206"/>
                </a:solidFill>
              </a:rPr>
              <a:t>不为</a:t>
            </a:r>
            <a:r>
              <a:rPr lang="en-US" altLang="zh-CN" dirty="0">
                <a:solidFill>
                  <a:srgbClr val="B60206"/>
                </a:solidFill>
              </a:rPr>
              <a:t>0)</a:t>
            </a:r>
          </a:p>
          <a:p>
            <a:pPr marL="0" indent="0">
              <a:buNone/>
            </a:pPr>
            <a:r>
              <a:rPr lang="en-US" altLang="zh-CN" dirty="0" err="1">
                <a:solidFill>
                  <a:srgbClr val="B60206"/>
                </a:solidFill>
              </a:rPr>
              <a:t>def</a:t>
            </a:r>
            <a:r>
              <a:rPr lang="en-US" altLang="zh-CN" dirty="0">
                <a:solidFill>
                  <a:srgbClr val="B60206"/>
                </a:solidFill>
              </a:rPr>
              <a:t> f (n){</a:t>
            </a:r>
          </a:p>
          <a:p>
            <a:pPr marL="0" indent="0">
              <a:buNone/>
            </a:pPr>
            <a:r>
              <a:rPr lang="en-US" altLang="zh-CN" dirty="0">
                <a:solidFill>
                  <a:srgbClr val="B60206"/>
                </a:solidFill>
              </a:rPr>
              <a:t>}</a:t>
            </a:r>
          </a:p>
          <a:p>
            <a:pPr marL="0" indent="0">
              <a:buNone/>
            </a:pPr>
            <a:r>
              <a:rPr lang="zh-CN" altLang="en-US" dirty="0">
                <a:solidFill>
                  <a:schemeClr val="tx1">
                    <a:lumMod val="75000"/>
                    <a:lumOff val="25000"/>
                  </a:schemeClr>
                </a:solidFill>
              </a:rPr>
              <a:t>这个函数的功能是算 </a:t>
            </a:r>
            <a:r>
              <a:rPr lang="en-US" altLang="zh-CN" dirty="0">
                <a:solidFill>
                  <a:schemeClr val="tx1">
                    <a:lumMod val="75000"/>
                    <a:lumOff val="25000"/>
                  </a:schemeClr>
                </a:solidFill>
              </a:rPr>
              <a:t>n </a:t>
            </a:r>
            <a:r>
              <a:rPr lang="zh-CN" altLang="en-US" dirty="0">
                <a:solidFill>
                  <a:schemeClr val="tx1">
                    <a:lumMod val="75000"/>
                    <a:lumOff val="25000"/>
                  </a:schemeClr>
                </a:solidFill>
              </a:rPr>
              <a:t>的阶乘。好了，我们已经定义了一个函数，并且定义了它的功能是什么，接下来我们看第二要素。</a:t>
            </a:r>
          </a:p>
        </p:txBody>
      </p:sp>
      <p:sp>
        <p:nvSpPr>
          <p:cNvPr id="3" name="标题 2"/>
          <p:cNvSpPr>
            <a:spLocks noGrp="1"/>
          </p:cNvSpPr>
          <p:nvPr>
            <p:ph type="title"/>
          </p:nvPr>
        </p:nvSpPr>
        <p:spPr/>
        <p:txBody>
          <a:bodyPr/>
          <a:lstStyle/>
          <a:p>
            <a:r>
              <a:rPr lang="zh-CN" altLang="en-US" dirty="0"/>
              <a:t>函数递归</a:t>
            </a:r>
          </a:p>
        </p:txBody>
      </p:sp>
      <p:sp>
        <p:nvSpPr>
          <p:cNvPr id="4" name="文本占位符 3"/>
          <p:cNvSpPr>
            <a:spLocks noGrp="1"/>
          </p:cNvSpPr>
          <p:nvPr>
            <p:ph type="body" sz="quarter" idx="10"/>
          </p:nvPr>
        </p:nvSpPr>
        <p:spPr/>
        <p:txBody>
          <a:bodyPr/>
          <a:lstStyle/>
          <a:p>
            <a:r>
              <a:rPr lang="zh-CN" altLang="en-US" dirty="0">
                <a:solidFill>
                  <a:srgbClr val="B60206"/>
                </a:solidFill>
              </a:rPr>
              <a:t>☆明确你这个函数想要干什么</a:t>
            </a:r>
            <a:endParaRPr lang="en-US" altLang="zh-CN" dirty="0">
              <a:solidFill>
                <a:srgbClr val="B60206"/>
              </a:solidFill>
            </a:endParaRPr>
          </a:p>
        </p:txBody>
      </p:sp>
      <p:sp>
        <p:nvSpPr>
          <p:cNvPr id="6" name="三角形 9">
            <a:extLst>
              <a:ext uri="{FF2B5EF4-FFF2-40B4-BE49-F238E27FC236}">
                <a16:creationId xmlns:a16="http://schemas.microsoft.com/office/drawing/2014/main" id="{23197916-4FF1-4C92-AE7A-4520837F4448}"/>
              </a:ext>
            </a:extLst>
          </p:cNvPr>
          <p:cNvSpPr/>
          <p:nvPr/>
        </p:nvSpPr>
        <p:spPr>
          <a:xfrm rot="2651319">
            <a:off x="717495" y="5736980"/>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TextBox 6">
            <a:extLst>
              <a:ext uri="{FF2B5EF4-FFF2-40B4-BE49-F238E27FC236}">
                <a16:creationId xmlns:a16="http://schemas.microsoft.com/office/drawing/2014/main" id="{FC8F3570-2791-42C7-B320-77955401B7FE}"/>
              </a:ext>
            </a:extLst>
          </p:cNvPr>
          <p:cNvSpPr txBox="1"/>
          <p:nvPr/>
        </p:nvSpPr>
        <p:spPr>
          <a:xfrm>
            <a:off x="1085446" y="5851011"/>
            <a:ext cx="9773285" cy="415498"/>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1400" dirty="0">
                <a:solidFill>
                  <a:srgbClr val="262626"/>
                </a:solidFill>
                <a:latin typeface="Alibaba PuHuiTi R" pitchFamily="18" charset="-122"/>
                <a:ea typeface="Alibaba PuHuiTi R" pitchFamily="18" charset="-122"/>
                <a:cs typeface="Alibaba PuHuiTi R" pitchFamily="18" charset="-122"/>
              </a:rPr>
              <a:t>一个正整数的阶乘（</a:t>
            </a:r>
            <a:r>
              <a:rPr lang="en-US" altLang="zh-CN" sz="1400" dirty="0">
                <a:solidFill>
                  <a:srgbClr val="262626"/>
                </a:solidFill>
                <a:latin typeface="Alibaba PuHuiTi R" pitchFamily="18" charset="-122"/>
                <a:ea typeface="Alibaba PuHuiTi R" pitchFamily="18" charset="-122"/>
                <a:cs typeface="Alibaba PuHuiTi R" pitchFamily="18" charset="-122"/>
              </a:rPr>
              <a:t>factorial</a:t>
            </a:r>
            <a:r>
              <a:rPr lang="zh-CN" altLang="en-US" sz="1400" dirty="0">
                <a:solidFill>
                  <a:srgbClr val="262626"/>
                </a:solidFill>
                <a:latin typeface="Alibaba PuHuiTi R" pitchFamily="18" charset="-122"/>
                <a:ea typeface="Alibaba PuHuiTi R" pitchFamily="18" charset="-122"/>
                <a:cs typeface="Alibaba PuHuiTi R" pitchFamily="18" charset="-122"/>
              </a:rPr>
              <a:t>）是所有小于及等于该数的正整数的积，如：</a:t>
            </a:r>
            <a:r>
              <a:rPr lang="en-US" altLang="zh-CN" sz="1400" dirty="0">
                <a:solidFill>
                  <a:srgbClr val="262626"/>
                </a:solidFill>
                <a:latin typeface="Alibaba PuHuiTi R" pitchFamily="18" charset="-122"/>
                <a:ea typeface="Alibaba PuHuiTi R" pitchFamily="18" charset="-122"/>
                <a:cs typeface="Alibaba PuHuiTi R" pitchFamily="18" charset="-122"/>
              </a:rPr>
              <a:t>n!=1×2×3×...×(n-1)×n</a:t>
            </a:r>
          </a:p>
        </p:txBody>
      </p:sp>
      <p:sp>
        <p:nvSpPr>
          <p:cNvPr id="8" name="矩形 7">
            <a:extLst>
              <a:ext uri="{FF2B5EF4-FFF2-40B4-BE49-F238E27FC236}">
                <a16:creationId xmlns:a16="http://schemas.microsoft.com/office/drawing/2014/main" id="{B561BF17-00D8-44F9-BBE1-DC58174FF365}"/>
              </a:ext>
            </a:extLst>
          </p:cNvPr>
          <p:cNvSpPr/>
          <p:nvPr/>
        </p:nvSpPr>
        <p:spPr>
          <a:xfrm>
            <a:off x="820969" y="5351880"/>
            <a:ext cx="10302240" cy="1135547"/>
          </a:xfrm>
          <a:prstGeom prst="rect">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矩形 8">
            <a:extLst>
              <a:ext uri="{FF2B5EF4-FFF2-40B4-BE49-F238E27FC236}">
                <a16:creationId xmlns:a16="http://schemas.microsoft.com/office/drawing/2014/main" id="{7521E208-47E6-4A13-99E1-C9CCCAFAB12C}"/>
              </a:ext>
            </a:extLst>
          </p:cNvPr>
          <p:cNvSpPr/>
          <p:nvPr/>
        </p:nvSpPr>
        <p:spPr>
          <a:xfrm>
            <a:off x="710881" y="5452867"/>
            <a:ext cx="1053296" cy="300942"/>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a:latin typeface="Alibaba PuHuiTi R" pitchFamily="18" charset="-122"/>
                <a:ea typeface="Alibaba PuHuiTi R" pitchFamily="18" charset="-122"/>
                <a:cs typeface="Alibaba PuHuiTi R" pitchFamily="18" charset="-122"/>
              </a:rPr>
              <a:t>注意事项</a:t>
            </a:r>
          </a:p>
        </p:txBody>
      </p:sp>
    </p:spTree>
    <p:extLst>
      <p:ext uri="{BB962C8B-B14F-4D97-AF65-F5344CB8AC3E}">
        <p14:creationId xmlns:p14="http://schemas.microsoft.com/office/powerpoint/2010/main" val="177543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710881" y="1646133"/>
            <a:ext cx="10749598" cy="4725791"/>
          </a:xfrm>
        </p:spPr>
        <p:txBody>
          <a:bodyPr/>
          <a:lstStyle/>
          <a:p>
            <a:pPr marL="0" indent="0">
              <a:buNone/>
            </a:pPr>
            <a:r>
              <a:rPr lang="zh-CN" altLang="en-US" dirty="0"/>
              <a:t>所谓递归，就是会在函数内部代码中，调用这个函数本身，所以，我们必须要找出</a:t>
            </a:r>
            <a:r>
              <a:rPr lang="zh-CN" altLang="en-US" b="1" dirty="0">
                <a:solidFill>
                  <a:srgbClr val="B60206"/>
                </a:solidFill>
              </a:rPr>
              <a:t>递归的结束条件</a:t>
            </a:r>
            <a:r>
              <a:rPr lang="zh-CN" altLang="en-US" dirty="0"/>
              <a:t>，不然的话，会一直调用自己，进入无底洞。也就是说，我们需要找出</a:t>
            </a:r>
            <a:r>
              <a:rPr lang="zh-CN" altLang="en-US" b="1" dirty="0">
                <a:solidFill>
                  <a:srgbClr val="B60206"/>
                </a:solidFill>
              </a:rPr>
              <a:t>当参数为啥时，递归结束，之后直接把结果返回</a:t>
            </a:r>
            <a:r>
              <a:rPr lang="zh-CN" altLang="en-US" dirty="0"/>
              <a:t>，请注意，这个时候我们必须能根据这个参数的值，能够</a:t>
            </a:r>
            <a:r>
              <a:rPr lang="zh-CN" altLang="en-US" b="1" dirty="0"/>
              <a:t>直接</a:t>
            </a:r>
            <a:r>
              <a:rPr lang="zh-CN" altLang="en-US" dirty="0"/>
              <a:t>知道函数的结果是什么。</a:t>
            </a:r>
            <a:endParaRPr lang="en-US" altLang="zh-CN" dirty="0"/>
          </a:p>
          <a:p>
            <a:pPr marL="0" indent="0">
              <a:buNone/>
            </a:pPr>
            <a:endParaRPr lang="en-US" altLang="zh-CN" dirty="0"/>
          </a:p>
          <a:p>
            <a:pPr marL="0" indent="0">
              <a:buNone/>
            </a:pPr>
            <a:r>
              <a:rPr lang="zh-CN" altLang="en-US" dirty="0"/>
              <a:t>例如，上面那个例子，当 </a:t>
            </a:r>
            <a:r>
              <a:rPr lang="en-US" altLang="zh-CN" dirty="0"/>
              <a:t>n = 1 </a:t>
            </a:r>
            <a:r>
              <a:rPr lang="zh-CN" altLang="en-US" dirty="0"/>
              <a:t>时，那你应该能够直接知道 </a:t>
            </a:r>
            <a:r>
              <a:rPr lang="en-US" altLang="zh-CN" dirty="0"/>
              <a:t>f(n) </a:t>
            </a:r>
            <a:r>
              <a:rPr lang="zh-CN" altLang="en-US" dirty="0"/>
              <a:t>是啥吧？此时，</a:t>
            </a:r>
            <a:r>
              <a:rPr lang="en-US" altLang="zh-CN" dirty="0"/>
              <a:t>f(1) = 1</a:t>
            </a:r>
            <a:r>
              <a:rPr lang="zh-CN" altLang="en-US" dirty="0"/>
              <a:t>。完善我们函数内部的代码，把第二要素加进代码里面，如下：</a:t>
            </a:r>
          </a:p>
        </p:txBody>
      </p:sp>
      <p:sp>
        <p:nvSpPr>
          <p:cNvPr id="3" name="标题 2"/>
          <p:cNvSpPr>
            <a:spLocks noGrp="1"/>
          </p:cNvSpPr>
          <p:nvPr>
            <p:ph type="title"/>
          </p:nvPr>
        </p:nvSpPr>
        <p:spPr/>
        <p:txBody>
          <a:bodyPr/>
          <a:lstStyle/>
          <a:p>
            <a:r>
              <a:rPr lang="zh-CN" altLang="en-US" dirty="0"/>
              <a:t>函数递归</a:t>
            </a:r>
          </a:p>
        </p:txBody>
      </p:sp>
      <p:sp>
        <p:nvSpPr>
          <p:cNvPr id="4" name="文本占位符 3"/>
          <p:cNvSpPr>
            <a:spLocks noGrp="1"/>
          </p:cNvSpPr>
          <p:nvPr>
            <p:ph type="body" sz="quarter" idx="10"/>
          </p:nvPr>
        </p:nvSpPr>
        <p:spPr/>
        <p:txBody>
          <a:bodyPr/>
          <a:lstStyle/>
          <a:p>
            <a:r>
              <a:rPr lang="zh-CN" altLang="en-US" dirty="0">
                <a:solidFill>
                  <a:srgbClr val="B60206"/>
                </a:solidFill>
              </a:rPr>
              <a:t>☆寻找递归结束条件</a:t>
            </a:r>
            <a:endParaRPr lang="en-US" altLang="zh-CN" dirty="0">
              <a:solidFill>
                <a:srgbClr val="B60206"/>
              </a:solidFill>
            </a:endParaRPr>
          </a:p>
        </p:txBody>
      </p:sp>
      <p:sp>
        <p:nvSpPr>
          <p:cNvPr id="10" name="TextBox 3">
            <a:extLst>
              <a:ext uri="{FF2B5EF4-FFF2-40B4-BE49-F238E27FC236}">
                <a16:creationId xmlns:a16="http://schemas.microsoft.com/office/drawing/2014/main" id="{0C998B78-AB18-3C47-A1C7-25AE9A3A40B0}"/>
              </a:ext>
            </a:extLst>
          </p:cNvPr>
          <p:cNvSpPr txBox="1"/>
          <p:nvPr/>
        </p:nvSpPr>
        <p:spPr>
          <a:xfrm>
            <a:off x="710880" y="4189056"/>
            <a:ext cx="10666853" cy="1384995"/>
          </a:xfrm>
          <a:prstGeom prst="rect">
            <a:avLst/>
          </a:prstGeom>
          <a:solidFill>
            <a:srgbClr val="FFFFE4"/>
          </a:solidFill>
          <a:ln w="3175">
            <a:solidFill>
              <a:srgbClr val="919191"/>
            </a:solidFill>
          </a:ln>
        </p:spPr>
        <p:txBody>
          <a:bodyPr wrap="square">
            <a:spAutoFit/>
          </a:bodyPr>
          <a:lstStyle/>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算 </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的阶乘</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假设</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不为</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0)</a:t>
            </a:r>
          </a:p>
          <a:p>
            <a:r>
              <a:rPr lang="en-US" altLang="zh-CN" sz="1400" dirty="0" err="1">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f(n){</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if(n == 1){</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return 1;</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p:txBody>
      </p:sp>
    </p:spTree>
    <p:extLst>
      <p:ext uri="{BB962C8B-B14F-4D97-AF65-F5344CB8AC3E}">
        <p14:creationId xmlns:p14="http://schemas.microsoft.com/office/powerpoint/2010/main" val="3525404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710881" y="1457271"/>
            <a:ext cx="10749598" cy="5004923"/>
          </a:xfrm>
        </p:spPr>
        <p:txBody>
          <a:bodyPr/>
          <a:lstStyle/>
          <a:p>
            <a:pPr marL="0" indent="0">
              <a:buNone/>
            </a:pPr>
            <a:r>
              <a:rPr lang="zh-CN" altLang="en-US" dirty="0"/>
              <a:t>有有很多小伙伴可能会说，当 </a:t>
            </a:r>
            <a:r>
              <a:rPr lang="en-US" altLang="zh-CN" dirty="0"/>
              <a:t>n = 2 </a:t>
            </a:r>
            <a:r>
              <a:rPr lang="zh-CN" altLang="en-US" dirty="0"/>
              <a:t>时，那我们可以直接知道 </a:t>
            </a:r>
            <a:r>
              <a:rPr lang="en-US" altLang="zh-CN" dirty="0"/>
              <a:t>f(n) </a:t>
            </a:r>
            <a:r>
              <a:rPr lang="zh-CN" altLang="en-US" dirty="0"/>
              <a:t>等于多少啊，那我可以把 </a:t>
            </a:r>
            <a:r>
              <a:rPr lang="en-US" altLang="zh-CN" dirty="0"/>
              <a:t>n = 2 </a:t>
            </a:r>
            <a:r>
              <a:rPr lang="zh-CN" altLang="en-US" dirty="0"/>
              <a:t>作为递归的结束条件吗？当然可以，只要你觉得参数是什么时，你能够直接知道函数的结果，那么你就可以把这个参数作为结束的条件，所以下面这段代码也是可以的。</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zh-CN" altLang="en-US" dirty="0"/>
              <a:t>注意我代码里面写的注释，假设 </a:t>
            </a:r>
            <a:r>
              <a:rPr lang="en-US" altLang="zh-CN" dirty="0"/>
              <a:t>n &gt;= 2</a:t>
            </a:r>
            <a:r>
              <a:rPr lang="zh-CN" altLang="en-US" dirty="0"/>
              <a:t>，因为如果 </a:t>
            </a:r>
            <a:r>
              <a:rPr lang="en-US" altLang="zh-CN" dirty="0"/>
              <a:t>n = 1</a:t>
            </a:r>
            <a:r>
              <a:rPr lang="zh-CN" altLang="en-US" dirty="0"/>
              <a:t>时，会被漏掉，当 </a:t>
            </a:r>
            <a:r>
              <a:rPr lang="en-US" altLang="zh-CN" dirty="0"/>
              <a:t>n &lt;= 2</a:t>
            </a:r>
            <a:r>
              <a:rPr lang="zh-CN" altLang="en-US" dirty="0"/>
              <a:t>时，</a:t>
            </a:r>
            <a:r>
              <a:rPr lang="en-US" altLang="zh-CN" dirty="0"/>
              <a:t>f(n) = n</a:t>
            </a:r>
            <a:r>
              <a:rPr lang="zh-CN" altLang="en-US" dirty="0"/>
              <a:t>，所以为了更加严谨，我们可以写成这样：</a:t>
            </a:r>
          </a:p>
        </p:txBody>
      </p:sp>
      <p:sp>
        <p:nvSpPr>
          <p:cNvPr id="3" name="标题 2"/>
          <p:cNvSpPr>
            <a:spLocks noGrp="1"/>
          </p:cNvSpPr>
          <p:nvPr>
            <p:ph type="title"/>
          </p:nvPr>
        </p:nvSpPr>
        <p:spPr/>
        <p:txBody>
          <a:bodyPr/>
          <a:lstStyle/>
          <a:p>
            <a:r>
              <a:rPr lang="zh-CN" altLang="en-US" dirty="0"/>
              <a:t>函数递归</a:t>
            </a:r>
          </a:p>
        </p:txBody>
      </p:sp>
      <p:sp>
        <p:nvSpPr>
          <p:cNvPr id="4" name="文本占位符 3"/>
          <p:cNvSpPr>
            <a:spLocks noGrp="1"/>
          </p:cNvSpPr>
          <p:nvPr>
            <p:ph type="body" sz="quarter" idx="10"/>
          </p:nvPr>
        </p:nvSpPr>
        <p:spPr/>
        <p:txBody>
          <a:bodyPr/>
          <a:lstStyle/>
          <a:p>
            <a:r>
              <a:rPr lang="zh-CN" altLang="en-US" dirty="0">
                <a:solidFill>
                  <a:srgbClr val="B60206"/>
                </a:solidFill>
              </a:rPr>
              <a:t>☆寻找递归结束条件</a:t>
            </a:r>
            <a:endParaRPr lang="en-US" altLang="zh-CN" dirty="0">
              <a:solidFill>
                <a:srgbClr val="B60206"/>
              </a:solidFill>
            </a:endParaRPr>
          </a:p>
        </p:txBody>
      </p:sp>
      <p:sp>
        <p:nvSpPr>
          <p:cNvPr id="10" name="TextBox 3">
            <a:extLst>
              <a:ext uri="{FF2B5EF4-FFF2-40B4-BE49-F238E27FC236}">
                <a16:creationId xmlns:a16="http://schemas.microsoft.com/office/drawing/2014/main" id="{0C998B78-AB18-3C47-A1C7-25AE9A3A40B0}"/>
              </a:ext>
            </a:extLst>
          </p:cNvPr>
          <p:cNvSpPr txBox="1"/>
          <p:nvPr/>
        </p:nvSpPr>
        <p:spPr>
          <a:xfrm>
            <a:off x="752251" y="2678497"/>
            <a:ext cx="10666853" cy="1384995"/>
          </a:xfrm>
          <a:prstGeom prst="rect">
            <a:avLst/>
          </a:prstGeom>
          <a:solidFill>
            <a:srgbClr val="FFFFE4"/>
          </a:solidFill>
          <a:ln w="3175">
            <a:solidFill>
              <a:srgbClr val="919191"/>
            </a:solidFill>
          </a:ln>
        </p:spPr>
        <p:txBody>
          <a:bodyPr wrap="square">
            <a:spAutoFit/>
          </a:bodyPr>
          <a:lstStyle/>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算 </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的阶乘</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假设</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n&gt;=2)</a:t>
            </a:r>
          </a:p>
          <a:p>
            <a:r>
              <a:rPr lang="en-US" altLang="zh-CN" sz="1400" dirty="0" err="1">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f(n){</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if(n == 2){</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return 2;</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p:txBody>
      </p:sp>
      <p:sp>
        <p:nvSpPr>
          <p:cNvPr id="7" name="TextBox 3">
            <a:extLst>
              <a:ext uri="{FF2B5EF4-FFF2-40B4-BE49-F238E27FC236}">
                <a16:creationId xmlns:a16="http://schemas.microsoft.com/office/drawing/2014/main" id="{0C998B78-AB18-3C47-A1C7-25AE9A3A40B0}"/>
              </a:ext>
            </a:extLst>
          </p:cNvPr>
          <p:cNvSpPr txBox="1"/>
          <p:nvPr/>
        </p:nvSpPr>
        <p:spPr>
          <a:xfrm>
            <a:off x="752251" y="5077199"/>
            <a:ext cx="10666853" cy="1384995"/>
          </a:xfrm>
          <a:prstGeom prst="rect">
            <a:avLst/>
          </a:prstGeom>
          <a:solidFill>
            <a:srgbClr val="FFFFE4"/>
          </a:solidFill>
          <a:ln w="3175">
            <a:solidFill>
              <a:srgbClr val="919191"/>
            </a:solidFill>
          </a:ln>
        </p:spPr>
        <p:txBody>
          <a:bodyPr wrap="square">
            <a:spAutoFit/>
          </a:bodyPr>
          <a:lstStyle/>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算 </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的阶乘</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假设</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不为</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0)</a:t>
            </a:r>
          </a:p>
          <a:p>
            <a:r>
              <a:rPr lang="en-US" altLang="zh-CN" sz="1400" dirty="0" err="1">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f(n){</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if(n &lt;= 2){</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return n;</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p:txBody>
      </p:sp>
    </p:spTree>
    <p:extLst>
      <p:ext uri="{BB962C8B-B14F-4D97-AF65-F5344CB8AC3E}">
        <p14:creationId xmlns:p14="http://schemas.microsoft.com/office/powerpoint/2010/main" val="3977080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710881" y="1457271"/>
            <a:ext cx="10749598" cy="5004923"/>
          </a:xfrm>
        </p:spPr>
        <p:txBody>
          <a:bodyPr/>
          <a:lstStyle/>
          <a:p>
            <a:pPr marL="0" indent="0">
              <a:buNone/>
            </a:pPr>
            <a:r>
              <a:rPr lang="zh-CN" altLang="en-US" dirty="0"/>
              <a:t>第三要素就是，我们要</a:t>
            </a:r>
            <a:r>
              <a:rPr lang="zh-CN" altLang="en-US" b="1" dirty="0">
                <a:solidFill>
                  <a:srgbClr val="B60206"/>
                </a:solidFill>
              </a:rPr>
              <a:t>不断缩小参数的范围</a:t>
            </a:r>
            <a:r>
              <a:rPr lang="zh-CN" altLang="en-US" dirty="0"/>
              <a:t>，缩小之后，我们可以通过一些辅助的变量或者操作，使原函数的结果不变。</a:t>
            </a:r>
          </a:p>
          <a:p>
            <a:pPr marL="0" indent="0">
              <a:buNone/>
            </a:pPr>
            <a:r>
              <a:rPr lang="zh-CN" altLang="en-US" dirty="0"/>
              <a:t>例如，</a:t>
            </a:r>
            <a:r>
              <a:rPr lang="en-US" altLang="zh-CN" dirty="0"/>
              <a:t>f(n) </a:t>
            </a:r>
            <a:r>
              <a:rPr lang="zh-CN" altLang="en-US" dirty="0"/>
              <a:t>这个范围比较大，我们可以</a:t>
            </a:r>
            <a:r>
              <a:rPr lang="zh-CN" altLang="en-US" dirty="0">
                <a:solidFill>
                  <a:srgbClr val="B60206"/>
                </a:solidFill>
              </a:rPr>
              <a:t>让 </a:t>
            </a:r>
            <a:r>
              <a:rPr lang="en-US" altLang="zh-CN" dirty="0">
                <a:solidFill>
                  <a:srgbClr val="B60206"/>
                </a:solidFill>
              </a:rPr>
              <a:t>f(n) = n * f(n-1)</a:t>
            </a:r>
            <a:r>
              <a:rPr lang="zh-CN" altLang="en-US" dirty="0"/>
              <a:t>。这样，范围就由 </a:t>
            </a:r>
            <a:r>
              <a:rPr lang="en-US" altLang="zh-CN" dirty="0"/>
              <a:t>n </a:t>
            </a:r>
            <a:r>
              <a:rPr lang="zh-CN" altLang="en-US" dirty="0"/>
              <a:t>变成了 </a:t>
            </a:r>
            <a:r>
              <a:rPr lang="en-US" altLang="zh-CN" dirty="0"/>
              <a:t>n-1 </a:t>
            </a:r>
            <a:r>
              <a:rPr lang="zh-CN" altLang="en-US" dirty="0"/>
              <a:t>了，范围变小了，并且为了原函数</a:t>
            </a:r>
            <a:r>
              <a:rPr lang="en-US" altLang="zh-CN" dirty="0"/>
              <a:t>f(n) </a:t>
            </a:r>
            <a:r>
              <a:rPr lang="zh-CN" altLang="en-US" dirty="0"/>
              <a:t>不变，我们需要让 </a:t>
            </a:r>
            <a:r>
              <a:rPr lang="en-US" altLang="zh-CN" dirty="0"/>
              <a:t>f(n-1) </a:t>
            </a:r>
            <a:r>
              <a:rPr lang="zh-CN" altLang="en-US" dirty="0"/>
              <a:t>乘以 </a:t>
            </a:r>
            <a:r>
              <a:rPr lang="en-US" altLang="zh-CN" dirty="0"/>
              <a:t>n</a:t>
            </a:r>
            <a:r>
              <a:rPr lang="zh-CN" altLang="en-US" dirty="0"/>
              <a:t>。</a:t>
            </a:r>
          </a:p>
          <a:p>
            <a:pPr marL="0" indent="0">
              <a:buNone/>
            </a:pPr>
            <a:r>
              <a:rPr lang="zh-CN" altLang="en-US" dirty="0"/>
              <a:t>说白了，就是要找到原函数的一个等价关系式，</a:t>
            </a:r>
            <a:r>
              <a:rPr lang="en-US" altLang="zh-CN" dirty="0"/>
              <a:t>f(n) </a:t>
            </a:r>
            <a:r>
              <a:rPr lang="zh-CN" altLang="en-US" dirty="0"/>
              <a:t>的等价关系式为 </a:t>
            </a:r>
            <a:r>
              <a:rPr lang="en-US" altLang="zh-CN" dirty="0"/>
              <a:t>n * f(n-1)</a:t>
            </a:r>
            <a:r>
              <a:rPr lang="zh-CN" altLang="en-US" dirty="0"/>
              <a:t>，即</a:t>
            </a:r>
          </a:p>
          <a:p>
            <a:pPr marL="0" indent="0">
              <a:buNone/>
            </a:pPr>
            <a:r>
              <a:rPr lang="en-US" altLang="zh-CN" dirty="0">
                <a:solidFill>
                  <a:srgbClr val="B60206"/>
                </a:solidFill>
              </a:rPr>
              <a:t>f(n) = n * f(n-1)</a:t>
            </a:r>
          </a:p>
          <a:p>
            <a:pPr marL="0" indent="0">
              <a:buNone/>
            </a:pPr>
            <a:endParaRPr lang="en-US" altLang="zh-CN" dirty="0">
              <a:solidFill>
                <a:srgbClr val="B60206"/>
              </a:solidFill>
            </a:endParaRPr>
          </a:p>
          <a:p>
            <a:pPr marL="0" indent="0">
              <a:buNone/>
            </a:pPr>
            <a:r>
              <a:rPr lang="zh-CN" altLang="en-US" dirty="0"/>
              <a:t>找出了这个等价，继续完善我们的代码，我们把这个等价式写进函数里。如下：</a:t>
            </a:r>
            <a:endParaRPr lang="zh-CN" altLang="en-US" dirty="0">
              <a:solidFill>
                <a:srgbClr val="B60206"/>
              </a:solidFill>
            </a:endParaRPr>
          </a:p>
        </p:txBody>
      </p:sp>
      <p:sp>
        <p:nvSpPr>
          <p:cNvPr id="3" name="标题 2"/>
          <p:cNvSpPr>
            <a:spLocks noGrp="1"/>
          </p:cNvSpPr>
          <p:nvPr>
            <p:ph type="title"/>
          </p:nvPr>
        </p:nvSpPr>
        <p:spPr/>
        <p:txBody>
          <a:bodyPr/>
          <a:lstStyle/>
          <a:p>
            <a:r>
              <a:rPr lang="zh-CN" altLang="en-US" dirty="0"/>
              <a:t>函数递归</a:t>
            </a:r>
          </a:p>
        </p:txBody>
      </p:sp>
      <p:sp>
        <p:nvSpPr>
          <p:cNvPr id="4" name="文本占位符 3"/>
          <p:cNvSpPr>
            <a:spLocks noGrp="1"/>
          </p:cNvSpPr>
          <p:nvPr>
            <p:ph type="body" sz="quarter" idx="10"/>
          </p:nvPr>
        </p:nvSpPr>
        <p:spPr/>
        <p:txBody>
          <a:bodyPr/>
          <a:lstStyle/>
          <a:p>
            <a:r>
              <a:rPr lang="zh-CN" altLang="en-US" dirty="0">
                <a:solidFill>
                  <a:srgbClr val="B60206"/>
                </a:solidFill>
              </a:rPr>
              <a:t>☆找出函数的等价关系式</a:t>
            </a:r>
            <a:endParaRPr lang="en-US" altLang="zh-CN" dirty="0">
              <a:solidFill>
                <a:srgbClr val="B60206"/>
              </a:solidFill>
            </a:endParaRPr>
          </a:p>
        </p:txBody>
      </p:sp>
      <p:sp>
        <p:nvSpPr>
          <p:cNvPr id="8" name="TextBox 3">
            <a:extLst>
              <a:ext uri="{FF2B5EF4-FFF2-40B4-BE49-F238E27FC236}">
                <a16:creationId xmlns:a16="http://schemas.microsoft.com/office/drawing/2014/main" id="{0C998B78-AB18-3C47-A1C7-25AE9A3A40B0}"/>
              </a:ext>
            </a:extLst>
          </p:cNvPr>
          <p:cNvSpPr txBox="1"/>
          <p:nvPr/>
        </p:nvSpPr>
        <p:spPr>
          <a:xfrm>
            <a:off x="752252" y="4778815"/>
            <a:ext cx="10666853" cy="1815882"/>
          </a:xfrm>
          <a:prstGeom prst="rect">
            <a:avLst/>
          </a:prstGeom>
          <a:solidFill>
            <a:srgbClr val="FFFFE4"/>
          </a:solidFill>
          <a:ln w="3175">
            <a:solidFill>
              <a:srgbClr val="919191"/>
            </a:solidFill>
          </a:ln>
        </p:spPr>
        <p:txBody>
          <a:bodyPr wrap="square">
            <a:spAutoFit/>
          </a:bodyPr>
          <a:lstStyle/>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算 </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的阶乘</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假设</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不为</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0)</a:t>
            </a:r>
          </a:p>
          <a:p>
            <a:r>
              <a:rPr lang="en-US" altLang="zh-CN" sz="1400" dirty="0" err="1">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f(n){</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if(n &lt;= 2){</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return n;</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把 </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f(n)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的等价操作写进去</a:t>
            </a:r>
          </a:p>
          <a:p>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return f(n-1) * n;</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p:txBody>
      </p:sp>
    </p:spTree>
    <p:extLst>
      <p:ext uri="{BB962C8B-B14F-4D97-AF65-F5344CB8AC3E}">
        <p14:creationId xmlns:p14="http://schemas.microsoft.com/office/powerpoint/2010/main" val="2867372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solidFill>
                  <a:srgbClr val="B60206"/>
                </a:solidFill>
              </a:rPr>
              <a:t>① 明确你这个函数想要干什么</a:t>
            </a:r>
            <a:endParaRPr lang="en-US" altLang="zh-CN" dirty="0">
              <a:solidFill>
                <a:srgbClr val="B60206"/>
              </a:solidFill>
            </a:endParaRPr>
          </a:p>
          <a:p>
            <a:pPr marL="0" indent="0">
              <a:buNone/>
            </a:pPr>
            <a:r>
              <a:rPr lang="zh-CN" altLang="en-US" dirty="0">
                <a:solidFill>
                  <a:srgbClr val="B60206"/>
                </a:solidFill>
              </a:rPr>
              <a:t>② 寻找递归结束条件</a:t>
            </a:r>
            <a:endParaRPr lang="en-US" altLang="zh-CN" dirty="0">
              <a:solidFill>
                <a:srgbClr val="B60206"/>
              </a:solidFill>
            </a:endParaRPr>
          </a:p>
          <a:p>
            <a:pPr marL="0" indent="0">
              <a:buNone/>
            </a:pPr>
            <a:r>
              <a:rPr lang="zh-CN" altLang="en-US" dirty="0">
                <a:solidFill>
                  <a:srgbClr val="B60206"/>
                </a:solidFill>
              </a:rPr>
              <a:t>③ 找出函数的等价关系式</a:t>
            </a: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lgn="ctr">
              <a:buNone/>
            </a:pPr>
            <a:r>
              <a:rPr lang="zh-CN" altLang="en-US" sz="1800" dirty="0">
                <a:solidFill>
                  <a:srgbClr val="B60206"/>
                </a:solidFill>
              </a:rPr>
              <a:t>这就是递归最重要的三要素，每次做递归的时候，你就强迫自己试着去寻找这三个要素。</a:t>
            </a:r>
          </a:p>
        </p:txBody>
      </p:sp>
      <p:sp>
        <p:nvSpPr>
          <p:cNvPr id="3" name="标题 2"/>
          <p:cNvSpPr>
            <a:spLocks noGrp="1"/>
          </p:cNvSpPr>
          <p:nvPr>
            <p:ph type="title"/>
          </p:nvPr>
        </p:nvSpPr>
        <p:spPr/>
        <p:txBody>
          <a:bodyPr/>
          <a:lstStyle/>
          <a:p>
            <a:r>
              <a:rPr lang="zh-CN" altLang="en-US" dirty="0"/>
              <a:t>函数递归</a:t>
            </a:r>
          </a:p>
        </p:txBody>
      </p:sp>
      <p:sp>
        <p:nvSpPr>
          <p:cNvPr id="4" name="文本占位符 3"/>
          <p:cNvSpPr>
            <a:spLocks noGrp="1"/>
          </p:cNvSpPr>
          <p:nvPr>
            <p:ph type="body" sz="quarter" idx="10"/>
          </p:nvPr>
        </p:nvSpPr>
        <p:spPr/>
        <p:txBody>
          <a:bodyPr/>
          <a:lstStyle/>
          <a:p>
            <a:r>
              <a:rPr lang="zh-CN" altLang="en-US" dirty="0"/>
              <a:t>递归三要素总结</a:t>
            </a:r>
          </a:p>
        </p:txBody>
      </p:sp>
    </p:spTree>
    <p:extLst>
      <p:ext uri="{BB962C8B-B14F-4D97-AF65-F5344CB8AC3E}">
        <p14:creationId xmlns:p14="http://schemas.microsoft.com/office/powerpoint/2010/main" val="4101391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r>
              <a:rPr lang="en-US" altLang="zh-CN" dirty="0">
                <a:solidFill>
                  <a:schemeClr val="tx1">
                    <a:lumMod val="65000"/>
                    <a:lumOff val="35000"/>
                  </a:schemeClr>
                </a:solidFill>
              </a:rPr>
              <a:t>lambda </a:t>
            </a:r>
            <a:r>
              <a:rPr lang="zh-CN" altLang="en-US" dirty="0">
                <a:solidFill>
                  <a:schemeClr val="tx1">
                    <a:lumMod val="65000"/>
                    <a:lumOff val="35000"/>
                  </a:schemeClr>
                </a:solidFill>
              </a:rPr>
              <a:t>表达式</a:t>
            </a:r>
            <a:endParaRPr lang="en-US" altLang="zh-CN" dirty="0">
              <a:solidFill>
                <a:schemeClr val="tx1">
                  <a:lumMod val="65000"/>
                  <a:lumOff val="35000"/>
                </a:schemeClr>
              </a:solidFill>
            </a:endParaRPr>
          </a:p>
        </p:txBody>
      </p:sp>
      <p:sp>
        <p:nvSpPr>
          <p:cNvPr id="3" name="文本占位符 2">
            <a:extLst>
              <a:ext uri="{FF2B5EF4-FFF2-40B4-BE49-F238E27FC236}">
                <a16:creationId xmlns:a16="http://schemas.microsoft.com/office/drawing/2014/main" id="{DC0D98B5-82FB-804B-8565-7E31DD4B40B6}"/>
              </a:ext>
            </a:extLst>
          </p:cNvPr>
          <p:cNvSpPr>
            <a:spLocks noGrp="1"/>
          </p:cNvSpPr>
          <p:nvPr>
            <p:ph type="body" sz="quarter" idx="10"/>
          </p:nvPr>
        </p:nvSpPr>
        <p:spPr/>
        <p:txBody>
          <a:bodyPr/>
          <a:lstStyle/>
          <a:p>
            <a:r>
              <a:rPr kumimoji="1" lang="en-US" altLang="zh-CN" dirty="0"/>
              <a:t>03</a:t>
            </a:r>
            <a:endParaRPr kumimoji="1" lang="zh-CN" altLang="en-US" dirty="0"/>
          </a:p>
        </p:txBody>
      </p:sp>
    </p:spTree>
    <p:extLst>
      <p:ext uri="{BB962C8B-B14F-4D97-AF65-F5344CB8AC3E}">
        <p14:creationId xmlns:p14="http://schemas.microsoft.com/office/powerpoint/2010/main" val="30299872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solidFill>
                  <a:srgbClr val="B60206"/>
                </a:solidFill>
              </a:rPr>
              <a:t>如果一个函数有一个返回值，并且只有一句代码，可以使用 </a:t>
            </a:r>
            <a:r>
              <a:rPr lang="en-US" altLang="zh-CN" dirty="0">
                <a:solidFill>
                  <a:srgbClr val="B60206"/>
                </a:solidFill>
              </a:rPr>
              <a:t>lambda</a:t>
            </a:r>
            <a:r>
              <a:rPr lang="zh-CN" altLang="en-US" dirty="0">
                <a:solidFill>
                  <a:srgbClr val="B60206"/>
                </a:solidFill>
              </a:rPr>
              <a:t>简化。</a:t>
            </a:r>
            <a:endParaRPr lang="en-US" altLang="zh-CN" dirty="0">
              <a:solidFill>
                <a:srgbClr val="B60206"/>
              </a:solidFill>
            </a:endParaRPr>
          </a:p>
        </p:txBody>
      </p:sp>
      <p:sp>
        <p:nvSpPr>
          <p:cNvPr id="3" name="标题 2"/>
          <p:cNvSpPr>
            <a:spLocks noGrp="1"/>
          </p:cNvSpPr>
          <p:nvPr>
            <p:ph type="title"/>
          </p:nvPr>
        </p:nvSpPr>
        <p:spPr/>
        <p:txBody>
          <a:bodyPr/>
          <a:lstStyle/>
          <a:p>
            <a:r>
              <a:rPr lang="en-US" altLang="zh-CN" dirty="0"/>
              <a:t>lambda </a:t>
            </a:r>
            <a:r>
              <a:rPr lang="zh-CN" altLang="en-US" dirty="0"/>
              <a:t>表达式</a:t>
            </a:r>
          </a:p>
        </p:txBody>
      </p:sp>
      <p:sp>
        <p:nvSpPr>
          <p:cNvPr id="4" name="文本占位符 3"/>
          <p:cNvSpPr>
            <a:spLocks noGrp="1"/>
          </p:cNvSpPr>
          <p:nvPr>
            <p:ph type="body" sz="quarter" idx="10"/>
          </p:nvPr>
        </p:nvSpPr>
        <p:spPr/>
        <p:txBody>
          <a:bodyPr/>
          <a:lstStyle/>
          <a:p>
            <a:r>
              <a:rPr lang="en-US" altLang="zh-CN" dirty="0"/>
              <a:t>1</a:t>
            </a:r>
            <a:r>
              <a:rPr lang="zh-CN" altLang="en-US" dirty="0"/>
              <a:t>、</a:t>
            </a:r>
            <a:r>
              <a:rPr lang="en-US" altLang="zh-CN" dirty="0"/>
              <a:t>lambda</a:t>
            </a:r>
            <a:r>
              <a:rPr lang="zh-CN" altLang="en-US" dirty="0"/>
              <a:t>的应用场景</a:t>
            </a:r>
          </a:p>
        </p:txBody>
      </p:sp>
    </p:spTree>
    <p:extLst>
      <p:ext uri="{BB962C8B-B14F-4D97-AF65-F5344CB8AC3E}">
        <p14:creationId xmlns:p14="http://schemas.microsoft.com/office/powerpoint/2010/main" val="20713725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solidFill>
                  <a:srgbClr val="B60206"/>
                </a:solidFill>
              </a:rPr>
              <a:t>如果一个函数有一个返回值，并且只有一句代码，可以使用 </a:t>
            </a:r>
            <a:r>
              <a:rPr lang="en-US" altLang="zh-CN" dirty="0">
                <a:solidFill>
                  <a:srgbClr val="B60206"/>
                </a:solidFill>
              </a:rPr>
              <a:t>lambda</a:t>
            </a:r>
            <a:r>
              <a:rPr lang="zh-CN" altLang="en-US" dirty="0">
                <a:solidFill>
                  <a:srgbClr val="B60206"/>
                </a:solidFill>
              </a:rPr>
              <a:t>简化。</a:t>
            </a:r>
            <a:endParaRPr lang="en-US" altLang="zh-CN" dirty="0">
              <a:solidFill>
                <a:srgbClr val="B60206"/>
              </a:solidFill>
            </a:endParaRPr>
          </a:p>
        </p:txBody>
      </p:sp>
      <p:sp>
        <p:nvSpPr>
          <p:cNvPr id="3" name="标题 2"/>
          <p:cNvSpPr>
            <a:spLocks noGrp="1"/>
          </p:cNvSpPr>
          <p:nvPr>
            <p:ph type="title"/>
          </p:nvPr>
        </p:nvSpPr>
        <p:spPr/>
        <p:txBody>
          <a:bodyPr/>
          <a:lstStyle/>
          <a:p>
            <a:r>
              <a:rPr lang="en-US" altLang="zh-CN" dirty="0"/>
              <a:t>lambda </a:t>
            </a:r>
            <a:r>
              <a:rPr lang="zh-CN" altLang="en-US" dirty="0"/>
              <a:t>表达式</a:t>
            </a:r>
          </a:p>
        </p:txBody>
      </p:sp>
      <p:sp>
        <p:nvSpPr>
          <p:cNvPr id="4" name="文本占位符 3"/>
          <p:cNvSpPr>
            <a:spLocks noGrp="1"/>
          </p:cNvSpPr>
          <p:nvPr>
            <p:ph type="body" sz="quarter" idx="10"/>
          </p:nvPr>
        </p:nvSpPr>
        <p:spPr/>
        <p:txBody>
          <a:bodyPr/>
          <a:lstStyle/>
          <a:p>
            <a:r>
              <a:rPr lang="en-US" altLang="zh-CN" dirty="0"/>
              <a:t>2</a:t>
            </a:r>
            <a:r>
              <a:rPr lang="zh-CN" altLang="en-US" dirty="0"/>
              <a:t>、</a:t>
            </a:r>
            <a:r>
              <a:rPr lang="en-US" altLang="zh-CN" dirty="0"/>
              <a:t>lambda</a:t>
            </a:r>
            <a:r>
              <a:rPr lang="zh-CN" altLang="en-US" dirty="0"/>
              <a:t>语法</a:t>
            </a:r>
          </a:p>
        </p:txBody>
      </p:sp>
      <p:sp>
        <p:nvSpPr>
          <p:cNvPr id="5" name="TextBox 3">
            <a:extLst>
              <a:ext uri="{FF2B5EF4-FFF2-40B4-BE49-F238E27FC236}">
                <a16:creationId xmlns:a16="http://schemas.microsoft.com/office/drawing/2014/main" id="{0C998B78-AB18-3C47-A1C7-25AE9A3A40B0}"/>
              </a:ext>
            </a:extLst>
          </p:cNvPr>
          <p:cNvSpPr txBox="1"/>
          <p:nvPr/>
        </p:nvSpPr>
        <p:spPr>
          <a:xfrm>
            <a:off x="710880" y="2526971"/>
            <a:ext cx="10666853" cy="307777"/>
          </a:xfrm>
          <a:prstGeom prst="rect">
            <a:avLst/>
          </a:prstGeom>
          <a:solidFill>
            <a:srgbClr val="FFFFE4"/>
          </a:solidFill>
          <a:ln w="3175">
            <a:solidFill>
              <a:srgbClr val="919191"/>
            </a:solidFill>
          </a:ln>
        </p:spPr>
        <p:txBody>
          <a:bodyPr wrap="square">
            <a:spAutoFit/>
          </a:bodyPr>
          <a:lstStyle/>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lambda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参数列表 ： 表达式</a:t>
            </a:r>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三角形 9">
            <a:extLst>
              <a:ext uri="{FF2B5EF4-FFF2-40B4-BE49-F238E27FC236}">
                <a16:creationId xmlns:a16="http://schemas.microsoft.com/office/drawing/2014/main" id="{23197916-4FF1-4C92-AE7A-4520837F4448}"/>
              </a:ext>
            </a:extLst>
          </p:cNvPr>
          <p:cNvSpPr/>
          <p:nvPr/>
        </p:nvSpPr>
        <p:spPr>
          <a:xfrm rot="2651319">
            <a:off x="717495" y="4100685"/>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TextBox 6">
            <a:extLst>
              <a:ext uri="{FF2B5EF4-FFF2-40B4-BE49-F238E27FC236}">
                <a16:creationId xmlns:a16="http://schemas.microsoft.com/office/drawing/2014/main" id="{FC8F3570-2791-42C7-B320-77955401B7FE}"/>
              </a:ext>
            </a:extLst>
          </p:cNvPr>
          <p:cNvSpPr txBox="1"/>
          <p:nvPr/>
        </p:nvSpPr>
        <p:spPr>
          <a:xfrm>
            <a:off x="1085446" y="4214716"/>
            <a:ext cx="9773285" cy="704104"/>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1400" dirty="0">
                <a:solidFill>
                  <a:srgbClr val="262626"/>
                </a:solidFill>
                <a:latin typeface="Alibaba PuHuiTi R" pitchFamily="18" charset="-122"/>
                <a:ea typeface="Alibaba PuHuiTi R" pitchFamily="18" charset="-122"/>
                <a:cs typeface="Alibaba PuHuiTi R" pitchFamily="18" charset="-122"/>
              </a:rPr>
              <a:t>lambda</a:t>
            </a:r>
            <a:r>
              <a:rPr lang="zh-CN" altLang="en-US" sz="1400" dirty="0">
                <a:solidFill>
                  <a:srgbClr val="262626"/>
                </a:solidFill>
                <a:latin typeface="Alibaba PuHuiTi R" pitchFamily="18" charset="-122"/>
                <a:ea typeface="Alibaba PuHuiTi R" pitchFamily="18" charset="-122"/>
                <a:cs typeface="Alibaba PuHuiTi R" pitchFamily="18" charset="-122"/>
              </a:rPr>
              <a:t>表达式的参数可有可无，函数的参数在</a:t>
            </a:r>
            <a:r>
              <a:rPr lang="en-US" altLang="zh-CN" sz="1400" dirty="0">
                <a:solidFill>
                  <a:srgbClr val="262626"/>
                </a:solidFill>
                <a:latin typeface="Alibaba PuHuiTi R" pitchFamily="18" charset="-122"/>
                <a:ea typeface="Alibaba PuHuiTi R" pitchFamily="18" charset="-122"/>
                <a:cs typeface="Alibaba PuHuiTi R" pitchFamily="18" charset="-122"/>
              </a:rPr>
              <a:t>lambda</a:t>
            </a:r>
            <a:r>
              <a:rPr lang="zh-CN" altLang="en-US" sz="1400" dirty="0">
                <a:solidFill>
                  <a:srgbClr val="262626"/>
                </a:solidFill>
                <a:latin typeface="Alibaba PuHuiTi R" pitchFamily="18" charset="-122"/>
                <a:ea typeface="Alibaba PuHuiTi R" pitchFamily="18" charset="-122"/>
                <a:cs typeface="Alibaba PuHuiTi R" pitchFamily="18" charset="-122"/>
              </a:rPr>
              <a:t>表达式中完全适用。</a:t>
            </a:r>
            <a:endParaRPr lang="en-US" altLang="zh-CN" sz="1400" dirty="0">
              <a:solidFill>
                <a:srgbClr val="262626"/>
              </a:solidFill>
              <a:latin typeface="Alibaba PuHuiTi R" pitchFamily="18" charset="-122"/>
              <a:ea typeface="Alibaba PuHuiTi R" pitchFamily="18" charset="-122"/>
              <a:cs typeface="Alibaba PuHuiTi R" pitchFamily="18" charset="-122"/>
            </a:endParaRPr>
          </a:p>
          <a:p>
            <a:pPr>
              <a:lnSpc>
                <a:spcPct val="150000"/>
              </a:lnSpc>
            </a:pPr>
            <a:r>
              <a:rPr lang="en-US" altLang="zh-CN" sz="1400" dirty="0">
                <a:solidFill>
                  <a:srgbClr val="262626"/>
                </a:solidFill>
                <a:latin typeface="Alibaba PuHuiTi R" pitchFamily="18" charset="-122"/>
                <a:ea typeface="Alibaba PuHuiTi R" pitchFamily="18" charset="-122"/>
                <a:cs typeface="Alibaba PuHuiTi R" pitchFamily="18" charset="-122"/>
              </a:rPr>
              <a:t>lambda</a:t>
            </a:r>
            <a:r>
              <a:rPr lang="zh-CN" altLang="en-US" sz="1400" dirty="0">
                <a:solidFill>
                  <a:srgbClr val="262626"/>
                </a:solidFill>
                <a:latin typeface="Alibaba PuHuiTi R" pitchFamily="18" charset="-122"/>
                <a:ea typeface="Alibaba PuHuiTi R" pitchFamily="18" charset="-122"/>
                <a:cs typeface="Alibaba PuHuiTi R" pitchFamily="18" charset="-122"/>
              </a:rPr>
              <a:t>表达式能接收任何数量的参数但只能返回一个表达式的值。</a:t>
            </a:r>
            <a:endParaRPr lang="en-US" altLang="zh-CN" sz="1400" dirty="0">
              <a:solidFill>
                <a:srgbClr val="262626"/>
              </a:solidFill>
              <a:latin typeface="Alibaba PuHuiTi R" pitchFamily="18" charset="-122"/>
              <a:ea typeface="Alibaba PuHuiTi R" pitchFamily="18" charset="-122"/>
              <a:cs typeface="Alibaba PuHuiTi R" pitchFamily="18" charset="-122"/>
            </a:endParaRPr>
          </a:p>
        </p:txBody>
      </p:sp>
      <p:sp>
        <p:nvSpPr>
          <p:cNvPr id="8" name="矩形 7">
            <a:extLst>
              <a:ext uri="{FF2B5EF4-FFF2-40B4-BE49-F238E27FC236}">
                <a16:creationId xmlns:a16="http://schemas.microsoft.com/office/drawing/2014/main" id="{B561BF17-00D8-44F9-BBE1-DC58174FF365}"/>
              </a:ext>
            </a:extLst>
          </p:cNvPr>
          <p:cNvSpPr/>
          <p:nvPr/>
        </p:nvSpPr>
        <p:spPr>
          <a:xfrm>
            <a:off x="820969" y="3715585"/>
            <a:ext cx="10302240" cy="1328053"/>
          </a:xfrm>
          <a:prstGeom prst="rect">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矩形 8">
            <a:extLst>
              <a:ext uri="{FF2B5EF4-FFF2-40B4-BE49-F238E27FC236}">
                <a16:creationId xmlns:a16="http://schemas.microsoft.com/office/drawing/2014/main" id="{7521E208-47E6-4A13-99E1-C9CCCAFAB12C}"/>
              </a:ext>
            </a:extLst>
          </p:cNvPr>
          <p:cNvSpPr/>
          <p:nvPr/>
        </p:nvSpPr>
        <p:spPr>
          <a:xfrm>
            <a:off x="710881" y="3816572"/>
            <a:ext cx="1053296" cy="300942"/>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a:latin typeface="Alibaba PuHuiTi R" pitchFamily="18" charset="-122"/>
                <a:ea typeface="Alibaba PuHuiTi R" pitchFamily="18" charset="-122"/>
                <a:cs typeface="Alibaba PuHuiTi R" pitchFamily="18" charset="-122"/>
              </a:rPr>
              <a:t>注意事项</a:t>
            </a:r>
          </a:p>
        </p:txBody>
      </p:sp>
    </p:spTree>
    <p:extLst>
      <p:ext uri="{BB962C8B-B14F-4D97-AF65-F5344CB8AC3E}">
        <p14:creationId xmlns:p14="http://schemas.microsoft.com/office/powerpoint/2010/main" val="1801161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solidFill>
                  <a:srgbClr val="B60206"/>
                </a:solidFill>
              </a:rPr>
              <a:t>如果一个函数有一个返回值，并且只有一句代码，可以使用 </a:t>
            </a:r>
            <a:r>
              <a:rPr lang="en-US" altLang="zh-CN" dirty="0">
                <a:solidFill>
                  <a:srgbClr val="B60206"/>
                </a:solidFill>
              </a:rPr>
              <a:t>lambda</a:t>
            </a:r>
            <a:r>
              <a:rPr lang="zh-CN" altLang="en-US" dirty="0">
                <a:solidFill>
                  <a:srgbClr val="B60206"/>
                </a:solidFill>
              </a:rPr>
              <a:t>简化。</a:t>
            </a:r>
            <a:endParaRPr lang="en-US" altLang="zh-CN" dirty="0">
              <a:solidFill>
                <a:srgbClr val="B60206"/>
              </a:solidFill>
            </a:endParaRPr>
          </a:p>
        </p:txBody>
      </p:sp>
      <p:sp>
        <p:nvSpPr>
          <p:cNvPr id="3" name="标题 2"/>
          <p:cNvSpPr>
            <a:spLocks noGrp="1"/>
          </p:cNvSpPr>
          <p:nvPr>
            <p:ph type="title"/>
          </p:nvPr>
        </p:nvSpPr>
        <p:spPr/>
        <p:txBody>
          <a:bodyPr/>
          <a:lstStyle/>
          <a:p>
            <a:r>
              <a:rPr lang="en-US" altLang="zh-CN" dirty="0"/>
              <a:t>lambda </a:t>
            </a:r>
            <a:r>
              <a:rPr lang="zh-CN" altLang="en-US" dirty="0"/>
              <a:t>表达式</a:t>
            </a:r>
          </a:p>
        </p:txBody>
      </p:sp>
      <p:sp>
        <p:nvSpPr>
          <p:cNvPr id="4" name="文本占位符 3"/>
          <p:cNvSpPr>
            <a:spLocks noGrp="1"/>
          </p:cNvSpPr>
          <p:nvPr>
            <p:ph type="body" sz="quarter" idx="10"/>
          </p:nvPr>
        </p:nvSpPr>
        <p:spPr/>
        <p:txBody>
          <a:bodyPr/>
          <a:lstStyle/>
          <a:p>
            <a:r>
              <a:rPr lang="en-US" altLang="zh-CN" dirty="0"/>
              <a:t>3</a:t>
            </a:r>
            <a:r>
              <a:rPr lang="zh-CN" altLang="en-US" dirty="0"/>
              <a:t>、</a:t>
            </a:r>
            <a:r>
              <a:rPr lang="en-US" altLang="zh-CN" dirty="0"/>
              <a:t>lambda</a:t>
            </a:r>
            <a:r>
              <a:rPr lang="zh-CN" altLang="en-US" dirty="0"/>
              <a:t>快速入门</a:t>
            </a:r>
          </a:p>
        </p:txBody>
      </p:sp>
      <p:sp>
        <p:nvSpPr>
          <p:cNvPr id="5" name="TextBox 3">
            <a:extLst>
              <a:ext uri="{FF2B5EF4-FFF2-40B4-BE49-F238E27FC236}">
                <a16:creationId xmlns:a16="http://schemas.microsoft.com/office/drawing/2014/main" id="{0C998B78-AB18-3C47-A1C7-25AE9A3A40B0}"/>
              </a:ext>
            </a:extLst>
          </p:cNvPr>
          <p:cNvSpPr txBox="1"/>
          <p:nvPr/>
        </p:nvSpPr>
        <p:spPr>
          <a:xfrm>
            <a:off x="793626" y="2309370"/>
            <a:ext cx="10666853" cy="2893100"/>
          </a:xfrm>
          <a:prstGeom prst="rect">
            <a:avLst/>
          </a:prstGeom>
          <a:solidFill>
            <a:srgbClr val="FFFFE4"/>
          </a:solidFill>
          <a:ln w="3175">
            <a:solidFill>
              <a:srgbClr val="919191"/>
            </a:solidFill>
          </a:ln>
        </p:spPr>
        <p:txBody>
          <a:bodyPr wrap="square">
            <a:spAutoFit/>
          </a:bodyPr>
          <a:lstStyle/>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函数</a:t>
            </a:r>
          </a:p>
          <a:p>
            <a:r>
              <a:rPr lang="en-US" altLang="zh-CN" sz="1400" dirty="0" err="1">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fn1():</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return 100</a:t>
            </a:r>
          </a:p>
          <a:p>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print(fn1)</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print(fn1())</a:t>
            </a:r>
          </a:p>
          <a:p>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lambda</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表达式</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fn2 = lambda: 100</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print(fn2)</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print(fn2())</a:t>
            </a:r>
          </a:p>
        </p:txBody>
      </p:sp>
      <p:pic>
        <p:nvPicPr>
          <p:cNvPr id="10" name="图片 9"/>
          <p:cNvPicPr>
            <a:picLocks noChangeAspect="1"/>
          </p:cNvPicPr>
          <p:nvPr/>
        </p:nvPicPr>
        <p:blipFill>
          <a:blip r:embed="rId3"/>
          <a:stretch>
            <a:fillRect/>
          </a:stretch>
        </p:blipFill>
        <p:spPr>
          <a:xfrm>
            <a:off x="3615217" y="4439465"/>
            <a:ext cx="7061883" cy="515327"/>
          </a:xfrm>
          <a:prstGeom prst="rect">
            <a:avLst/>
          </a:prstGeom>
        </p:spPr>
      </p:pic>
      <p:cxnSp>
        <p:nvCxnSpPr>
          <p:cNvPr id="12" name="直接箭头连接符 11"/>
          <p:cNvCxnSpPr/>
          <p:nvPr/>
        </p:nvCxnSpPr>
        <p:spPr>
          <a:xfrm flipV="1">
            <a:off x="1828800" y="4600876"/>
            <a:ext cx="1703672" cy="1925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4" name="直接箭头连接符 13"/>
          <p:cNvCxnSpPr/>
          <p:nvPr/>
        </p:nvCxnSpPr>
        <p:spPr>
          <a:xfrm flipV="1">
            <a:off x="1828800" y="4836242"/>
            <a:ext cx="1703672" cy="1925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953517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endParaRPr lang="en-US" altLang="zh-CN" dirty="0">
              <a:solidFill>
                <a:srgbClr val="B60206"/>
              </a:solidFill>
            </a:endParaRPr>
          </a:p>
          <a:p>
            <a:pPr marL="0" indent="0">
              <a:buNone/>
            </a:pPr>
            <a:r>
              <a:rPr lang="zh-CN" altLang="en-US" dirty="0">
                <a:solidFill>
                  <a:srgbClr val="B60206"/>
                </a:solidFill>
              </a:rPr>
              <a:t>替换后代码：</a:t>
            </a:r>
            <a:endParaRPr lang="en-US" altLang="zh-CN" dirty="0">
              <a:solidFill>
                <a:srgbClr val="B60206"/>
              </a:solidFill>
            </a:endParaRPr>
          </a:p>
        </p:txBody>
      </p:sp>
      <p:sp>
        <p:nvSpPr>
          <p:cNvPr id="3" name="标题 2"/>
          <p:cNvSpPr>
            <a:spLocks noGrp="1"/>
          </p:cNvSpPr>
          <p:nvPr>
            <p:ph type="title"/>
          </p:nvPr>
        </p:nvSpPr>
        <p:spPr/>
        <p:txBody>
          <a:bodyPr/>
          <a:lstStyle/>
          <a:p>
            <a:r>
              <a:rPr lang="en-US" altLang="zh-CN" dirty="0"/>
              <a:t>lambda </a:t>
            </a:r>
            <a:r>
              <a:rPr lang="zh-CN" altLang="en-US" dirty="0"/>
              <a:t>表达式</a:t>
            </a:r>
          </a:p>
        </p:txBody>
      </p:sp>
      <p:sp>
        <p:nvSpPr>
          <p:cNvPr id="4" name="文本占位符 3"/>
          <p:cNvSpPr>
            <a:spLocks noGrp="1"/>
          </p:cNvSpPr>
          <p:nvPr>
            <p:ph type="body" sz="quarter" idx="10"/>
          </p:nvPr>
        </p:nvSpPr>
        <p:spPr/>
        <p:txBody>
          <a:bodyPr/>
          <a:lstStyle/>
          <a:p>
            <a:r>
              <a:rPr lang="en-US" altLang="zh-CN" dirty="0"/>
              <a:t>4</a:t>
            </a:r>
            <a:r>
              <a:rPr lang="zh-CN" altLang="en-US" dirty="0"/>
              <a:t>、带参数的</a:t>
            </a:r>
            <a:r>
              <a:rPr lang="en-US" altLang="zh-CN" dirty="0"/>
              <a:t>lambda</a:t>
            </a:r>
            <a:endParaRPr lang="zh-CN" altLang="en-US" dirty="0"/>
          </a:p>
        </p:txBody>
      </p:sp>
      <p:sp>
        <p:nvSpPr>
          <p:cNvPr id="5" name="TextBox 3">
            <a:extLst>
              <a:ext uri="{FF2B5EF4-FFF2-40B4-BE49-F238E27FC236}">
                <a16:creationId xmlns:a16="http://schemas.microsoft.com/office/drawing/2014/main" id="{0C998B78-AB18-3C47-A1C7-25AE9A3A40B0}"/>
              </a:ext>
            </a:extLst>
          </p:cNvPr>
          <p:cNvSpPr txBox="1"/>
          <p:nvPr/>
        </p:nvSpPr>
        <p:spPr>
          <a:xfrm>
            <a:off x="752252" y="1738509"/>
            <a:ext cx="10666853" cy="1384995"/>
          </a:xfrm>
          <a:prstGeom prst="rect">
            <a:avLst/>
          </a:prstGeom>
          <a:solidFill>
            <a:srgbClr val="FFFFE4"/>
          </a:solidFill>
          <a:ln w="3175">
            <a:solidFill>
              <a:srgbClr val="919191"/>
            </a:solidFill>
          </a:ln>
        </p:spPr>
        <p:txBody>
          <a:bodyPr wrap="square">
            <a:spAutoFit/>
          </a:bodyPr>
          <a:lstStyle/>
          <a:p>
            <a:r>
              <a:rPr lang="en-US" altLang="zh-CN" sz="1400" dirty="0" err="1">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def</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add(a, b):    </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return a + b</a:t>
            </a:r>
          </a:p>
          <a:p>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result = add(1, 2)</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print(result)</a:t>
            </a:r>
          </a:p>
        </p:txBody>
      </p:sp>
      <p:sp>
        <p:nvSpPr>
          <p:cNvPr id="9" name="TextBox 3">
            <a:extLst>
              <a:ext uri="{FF2B5EF4-FFF2-40B4-BE49-F238E27FC236}">
                <a16:creationId xmlns:a16="http://schemas.microsoft.com/office/drawing/2014/main" id="{0C998B78-AB18-3C47-A1C7-25AE9A3A40B0}"/>
              </a:ext>
            </a:extLst>
          </p:cNvPr>
          <p:cNvSpPr txBox="1"/>
          <p:nvPr/>
        </p:nvSpPr>
        <p:spPr>
          <a:xfrm>
            <a:off x="710880" y="3998842"/>
            <a:ext cx="10666853" cy="523220"/>
          </a:xfrm>
          <a:prstGeom prst="rect">
            <a:avLst/>
          </a:prstGeom>
          <a:solidFill>
            <a:srgbClr val="FFFFE4"/>
          </a:solidFill>
          <a:ln w="3175">
            <a:solidFill>
              <a:srgbClr val="919191"/>
            </a:solidFill>
          </a:ln>
        </p:spPr>
        <p:txBody>
          <a:bodyPr wrap="square">
            <a:spAutoFit/>
          </a:bodyPr>
          <a:lstStyle/>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fn1 = lambda a, b: a + b</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print(fn1(1, 2))</a:t>
            </a:r>
          </a:p>
        </p:txBody>
      </p:sp>
    </p:spTree>
    <p:extLst>
      <p:ext uri="{BB962C8B-B14F-4D97-AF65-F5344CB8AC3E}">
        <p14:creationId xmlns:p14="http://schemas.microsoft.com/office/powerpoint/2010/main" val="473610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solidFill>
                  <a:srgbClr val="B60206"/>
                </a:solidFill>
              </a:rPr>
              <a:t>☆ 无参数</a:t>
            </a:r>
            <a:endParaRPr lang="en-US" altLang="zh-CN" dirty="0">
              <a:solidFill>
                <a:srgbClr val="B60206"/>
              </a:solidFill>
            </a:endParaRPr>
          </a:p>
          <a:p>
            <a:pPr marL="0" indent="0">
              <a:buNone/>
            </a:pPr>
            <a:endParaRPr lang="en-US" altLang="zh-CN" dirty="0">
              <a:solidFill>
                <a:srgbClr val="B60206"/>
              </a:solidFill>
            </a:endParaRPr>
          </a:p>
          <a:p>
            <a:pPr marL="0" indent="0">
              <a:buNone/>
            </a:pPr>
            <a:r>
              <a:rPr lang="zh-CN" altLang="en-US" dirty="0">
                <a:solidFill>
                  <a:srgbClr val="B60206"/>
                </a:solidFill>
              </a:rPr>
              <a:t>☆ 一个参数</a:t>
            </a:r>
            <a:endParaRPr lang="en-US" altLang="zh-CN" dirty="0">
              <a:solidFill>
                <a:srgbClr val="B60206"/>
              </a:solidFill>
            </a:endParaRPr>
          </a:p>
          <a:p>
            <a:pPr marL="0" indent="0">
              <a:buNone/>
            </a:pPr>
            <a:endParaRPr lang="en-US" altLang="zh-CN" dirty="0">
              <a:solidFill>
                <a:srgbClr val="B60206"/>
              </a:solidFill>
            </a:endParaRPr>
          </a:p>
          <a:p>
            <a:pPr marL="0" indent="0">
              <a:buNone/>
            </a:pPr>
            <a:r>
              <a:rPr lang="zh-CN" altLang="en-US" dirty="0">
                <a:solidFill>
                  <a:srgbClr val="B60206"/>
                </a:solidFill>
              </a:rPr>
              <a:t>☆ 默认参数</a:t>
            </a:r>
            <a:endParaRPr lang="en-US" altLang="zh-CN" dirty="0">
              <a:solidFill>
                <a:srgbClr val="B60206"/>
              </a:solidFill>
            </a:endParaRPr>
          </a:p>
          <a:p>
            <a:pPr marL="0" indent="0">
              <a:buNone/>
            </a:pPr>
            <a:endParaRPr lang="en-US" altLang="zh-CN" dirty="0">
              <a:solidFill>
                <a:srgbClr val="B60206"/>
              </a:solidFill>
            </a:endParaRPr>
          </a:p>
          <a:p>
            <a:pPr marL="0" indent="0">
              <a:buNone/>
            </a:pPr>
            <a:r>
              <a:rPr lang="zh-CN" altLang="en-US" dirty="0">
                <a:solidFill>
                  <a:srgbClr val="B60206"/>
                </a:solidFill>
              </a:rPr>
              <a:t>☆ 可变参数：*</a:t>
            </a:r>
            <a:r>
              <a:rPr lang="en-US" altLang="zh-CN" dirty="0" err="1">
                <a:solidFill>
                  <a:srgbClr val="B60206"/>
                </a:solidFill>
              </a:rPr>
              <a:t>args</a:t>
            </a:r>
            <a:endParaRPr lang="en-US" altLang="zh-CN" dirty="0">
              <a:solidFill>
                <a:srgbClr val="B60206"/>
              </a:solidFill>
            </a:endParaRPr>
          </a:p>
          <a:p>
            <a:pPr marL="0" indent="0">
              <a:buNone/>
            </a:pPr>
            <a:endParaRPr lang="en-US" altLang="zh-CN" dirty="0">
              <a:solidFill>
                <a:srgbClr val="B60206"/>
              </a:solidFill>
            </a:endParaRPr>
          </a:p>
          <a:p>
            <a:pPr marL="0" indent="0">
              <a:buNone/>
            </a:pPr>
            <a:r>
              <a:rPr lang="zh-CN" altLang="en-US" dirty="0">
                <a:solidFill>
                  <a:srgbClr val="B60206"/>
                </a:solidFill>
              </a:rPr>
              <a:t>☆ 可变参数：**</a:t>
            </a:r>
            <a:r>
              <a:rPr lang="en-US" altLang="zh-CN" dirty="0" err="1">
                <a:solidFill>
                  <a:srgbClr val="B60206"/>
                </a:solidFill>
              </a:rPr>
              <a:t>kwargs</a:t>
            </a:r>
            <a:endParaRPr lang="en-US" altLang="zh-CN" dirty="0">
              <a:solidFill>
                <a:srgbClr val="B60206"/>
              </a:solidFill>
            </a:endParaRPr>
          </a:p>
        </p:txBody>
      </p:sp>
      <p:sp>
        <p:nvSpPr>
          <p:cNvPr id="3" name="标题 2"/>
          <p:cNvSpPr>
            <a:spLocks noGrp="1"/>
          </p:cNvSpPr>
          <p:nvPr>
            <p:ph type="title"/>
          </p:nvPr>
        </p:nvSpPr>
        <p:spPr/>
        <p:txBody>
          <a:bodyPr/>
          <a:lstStyle/>
          <a:p>
            <a:r>
              <a:rPr lang="en-US" altLang="zh-CN" dirty="0"/>
              <a:t>lambda </a:t>
            </a:r>
            <a:r>
              <a:rPr lang="zh-CN" altLang="en-US" dirty="0"/>
              <a:t>表达式</a:t>
            </a:r>
          </a:p>
        </p:txBody>
      </p:sp>
      <p:sp>
        <p:nvSpPr>
          <p:cNvPr id="4" name="文本占位符 3"/>
          <p:cNvSpPr>
            <a:spLocks noGrp="1"/>
          </p:cNvSpPr>
          <p:nvPr>
            <p:ph type="body" sz="quarter" idx="10"/>
          </p:nvPr>
        </p:nvSpPr>
        <p:spPr/>
        <p:txBody>
          <a:bodyPr/>
          <a:lstStyle/>
          <a:p>
            <a:r>
              <a:rPr lang="en-US" altLang="zh-CN" dirty="0"/>
              <a:t>5</a:t>
            </a:r>
            <a:r>
              <a:rPr lang="zh-CN" altLang="en-US" dirty="0"/>
              <a:t>、</a:t>
            </a:r>
            <a:r>
              <a:rPr lang="en-US" altLang="zh-CN" dirty="0"/>
              <a:t>lambda</a:t>
            </a:r>
            <a:r>
              <a:rPr lang="zh-CN" altLang="en-US" dirty="0"/>
              <a:t>参数形式</a:t>
            </a:r>
          </a:p>
        </p:txBody>
      </p:sp>
      <p:sp>
        <p:nvSpPr>
          <p:cNvPr id="9" name="TextBox 3">
            <a:extLst>
              <a:ext uri="{FF2B5EF4-FFF2-40B4-BE49-F238E27FC236}">
                <a16:creationId xmlns:a16="http://schemas.microsoft.com/office/drawing/2014/main" id="{0C998B78-AB18-3C47-A1C7-25AE9A3A40B0}"/>
              </a:ext>
            </a:extLst>
          </p:cNvPr>
          <p:cNvSpPr txBox="1"/>
          <p:nvPr/>
        </p:nvSpPr>
        <p:spPr>
          <a:xfrm>
            <a:off x="710877" y="2064164"/>
            <a:ext cx="10666853" cy="523220"/>
          </a:xfrm>
          <a:prstGeom prst="rect">
            <a:avLst/>
          </a:prstGeom>
          <a:solidFill>
            <a:srgbClr val="FFFFE4"/>
          </a:solidFill>
          <a:ln w="3175">
            <a:solidFill>
              <a:srgbClr val="919191"/>
            </a:solidFill>
          </a:ln>
        </p:spPr>
        <p:txBody>
          <a:bodyPr wrap="square">
            <a:spAutoFit/>
          </a:bodyPr>
          <a:lstStyle/>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fn1 = lambda: 100</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print(fn1())</a:t>
            </a:r>
          </a:p>
        </p:txBody>
      </p:sp>
      <p:sp>
        <p:nvSpPr>
          <p:cNvPr id="8" name="TextBox 3">
            <a:extLst>
              <a:ext uri="{FF2B5EF4-FFF2-40B4-BE49-F238E27FC236}">
                <a16:creationId xmlns:a16="http://schemas.microsoft.com/office/drawing/2014/main" id="{0C998B78-AB18-3C47-A1C7-25AE9A3A40B0}"/>
              </a:ext>
            </a:extLst>
          </p:cNvPr>
          <p:cNvSpPr txBox="1"/>
          <p:nvPr/>
        </p:nvSpPr>
        <p:spPr>
          <a:xfrm>
            <a:off x="710878" y="2854354"/>
            <a:ext cx="10666853" cy="523220"/>
          </a:xfrm>
          <a:prstGeom prst="rect">
            <a:avLst/>
          </a:prstGeom>
          <a:solidFill>
            <a:srgbClr val="FFFFE4"/>
          </a:solidFill>
          <a:ln w="3175">
            <a:solidFill>
              <a:srgbClr val="919191"/>
            </a:solidFill>
          </a:ln>
        </p:spPr>
        <p:txBody>
          <a:bodyPr wrap="square">
            <a:spAutoFit/>
          </a:bodyPr>
          <a:lstStyle/>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fn1 = lambda a: a</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print(fn1('hello world'))</a:t>
            </a:r>
          </a:p>
        </p:txBody>
      </p:sp>
      <p:sp>
        <p:nvSpPr>
          <p:cNvPr id="10" name="TextBox 3">
            <a:extLst>
              <a:ext uri="{FF2B5EF4-FFF2-40B4-BE49-F238E27FC236}">
                <a16:creationId xmlns:a16="http://schemas.microsoft.com/office/drawing/2014/main" id="{0C998B78-AB18-3C47-A1C7-25AE9A3A40B0}"/>
              </a:ext>
            </a:extLst>
          </p:cNvPr>
          <p:cNvSpPr txBox="1"/>
          <p:nvPr/>
        </p:nvSpPr>
        <p:spPr>
          <a:xfrm>
            <a:off x="710878" y="3703326"/>
            <a:ext cx="10666853" cy="523220"/>
          </a:xfrm>
          <a:prstGeom prst="rect">
            <a:avLst/>
          </a:prstGeom>
          <a:solidFill>
            <a:srgbClr val="FFFFE4"/>
          </a:solidFill>
          <a:ln w="3175">
            <a:solidFill>
              <a:srgbClr val="919191"/>
            </a:solidFill>
          </a:ln>
        </p:spPr>
        <p:txBody>
          <a:bodyPr wrap="square">
            <a:spAutoFit/>
          </a:bodyPr>
          <a:lstStyle/>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fn1 = lambda a, b, c=100: a + b + c</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print(fn1(10, 20))</a:t>
            </a:r>
          </a:p>
        </p:txBody>
      </p:sp>
      <p:sp>
        <p:nvSpPr>
          <p:cNvPr id="13" name="TextBox 3">
            <a:extLst>
              <a:ext uri="{FF2B5EF4-FFF2-40B4-BE49-F238E27FC236}">
                <a16:creationId xmlns:a16="http://schemas.microsoft.com/office/drawing/2014/main" id="{0C998B78-AB18-3C47-A1C7-25AE9A3A40B0}"/>
              </a:ext>
            </a:extLst>
          </p:cNvPr>
          <p:cNvSpPr txBox="1"/>
          <p:nvPr/>
        </p:nvSpPr>
        <p:spPr>
          <a:xfrm>
            <a:off x="710876" y="4522907"/>
            <a:ext cx="10666853" cy="523220"/>
          </a:xfrm>
          <a:prstGeom prst="rect">
            <a:avLst/>
          </a:prstGeom>
          <a:solidFill>
            <a:srgbClr val="FFFFE4"/>
          </a:solidFill>
          <a:ln w="3175">
            <a:solidFill>
              <a:srgbClr val="919191"/>
            </a:solidFill>
          </a:ln>
        </p:spPr>
        <p:txBody>
          <a:bodyPr wrap="square">
            <a:spAutoFit/>
          </a:bodyPr>
          <a:lstStyle/>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fn1 = lambda *</a:t>
            </a:r>
            <a:r>
              <a:rPr lang="en-US" altLang="zh-CN" sz="1400" dirty="0" err="1">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args</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err="1">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args</a:t>
            </a:r>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print(fn1(10, 20, 30))    =&gt;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注：这里的可变参数传入到</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lambda</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之后，返回值为元组。</a:t>
            </a:r>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4" name="TextBox 3">
            <a:extLst>
              <a:ext uri="{FF2B5EF4-FFF2-40B4-BE49-F238E27FC236}">
                <a16:creationId xmlns:a16="http://schemas.microsoft.com/office/drawing/2014/main" id="{0C998B78-AB18-3C47-A1C7-25AE9A3A40B0}"/>
              </a:ext>
            </a:extLst>
          </p:cNvPr>
          <p:cNvSpPr txBox="1"/>
          <p:nvPr/>
        </p:nvSpPr>
        <p:spPr>
          <a:xfrm>
            <a:off x="710876" y="5371879"/>
            <a:ext cx="10666853" cy="523220"/>
          </a:xfrm>
          <a:prstGeom prst="rect">
            <a:avLst/>
          </a:prstGeom>
          <a:solidFill>
            <a:srgbClr val="FFFFE4"/>
          </a:solidFill>
          <a:ln w="3175">
            <a:solidFill>
              <a:srgbClr val="919191"/>
            </a:solidFill>
          </a:ln>
        </p:spPr>
        <p:txBody>
          <a:bodyPr wrap="square">
            <a:spAutoFit/>
          </a:bodyPr>
          <a:lstStyle/>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fn1 = lambda **</a:t>
            </a:r>
            <a:r>
              <a:rPr lang="en-US" altLang="zh-CN" sz="1400" dirty="0" err="1">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kwargs</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en-US" altLang="zh-CN" sz="1400" dirty="0" err="1">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kwargs</a:t>
            </a:r>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print(fn1(name='python', age=20))</a:t>
            </a:r>
          </a:p>
        </p:txBody>
      </p:sp>
    </p:spTree>
    <p:extLst>
      <p:ext uri="{BB962C8B-B14F-4D97-AF65-F5344CB8AC3E}">
        <p14:creationId xmlns:p14="http://schemas.microsoft.com/office/powerpoint/2010/main" val="16417935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p:txBody>
          <a:bodyPr/>
          <a:lstStyle/>
          <a:p>
            <a:pPr marL="0" indent="0">
              <a:buNone/>
            </a:pPr>
            <a:r>
              <a:rPr lang="zh-CN" altLang="en-US" dirty="0">
                <a:solidFill>
                  <a:srgbClr val="B60206"/>
                </a:solidFill>
              </a:rPr>
              <a:t>☆ 带判断的</a:t>
            </a:r>
            <a:r>
              <a:rPr lang="en-US" altLang="zh-CN" dirty="0">
                <a:solidFill>
                  <a:srgbClr val="B60206"/>
                </a:solidFill>
              </a:rPr>
              <a:t>lambda</a:t>
            </a:r>
            <a:r>
              <a:rPr lang="zh-CN" altLang="en-US" dirty="0">
                <a:solidFill>
                  <a:srgbClr val="B60206"/>
                </a:solidFill>
              </a:rPr>
              <a:t>表达式</a:t>
            </a:r>
            <a:endParaRPr lang="en-US" altLang="zh-CN" dirty="0">
              <a:solidFill>
                <a:srgbClr val="B60206"/>
              </a:solidFill>
            </a:endParaRPr>
          </a:p>
          <a:p>
            <a:pPr marL="0" indent="0">
              <a:buNone/>
            </a:pPr>
            <a:endParaRPr lang="en-US" altLang="zh-CN" dirty="0">
              <a:solidFill>
                <a:srgbClr val="B60206"/>
              </a:solidFill>
            </a:endParaRPr>
          </a:p>
          <a:p>
            <a:pPr marL="0" indent="0">
              <a:buNone/>
            </a:pPr>
            <a:r>
              <a:rPr lang="zh-CN" altLang="en-US" dirty="0">
                <a:solidFill>
                  <a:srgbClr val="B60206"/>
                </a:solidFill>
              </a:rPr>
              <a:t>☆列表数据排序</a:t>
            </a:r>
            <a:endParaRPr lang="en-US" altLang="zh-CN" dirty="0">
              <a:solidFill>
                <a:srgbClr val="B60206"/>
              </a:solidFill>
            </a:endParaRPr>
          </a:p>
        </p:txBody>
      </p:sp>
      <p:sp>
        <p:nvSpPr>
          <p:cNvPr id="3" name="标题 2"/>
          <p:cNvSpPr>
            <a:spLocks noGrp="1"/>
          </p:cNvSpPr>
          <p:nvPr>
            <p:ph type="title"/>
          </p:nvPr>
        </p:nvSpPr>
        <p:spPr/>
        <p:txBody>
          <a:bodyPr/>
          <a:lstStyle/>
          <a:p>
            <a:r>
              <a:rPr lang="en-US" altLang="zh-CN" dirty="0"/>
              <a:t>lambda </a:t>
            </a:r>
            <a:r>
              <a:rPr lang="zh-CN" altLang="en-US" dirty="0"/>
              <a:t>表达式</a:t>
            </a:r>
          </a:p>
        </p:txBody>
      </p:sp>
      <p:sp>
        <p:nvSpPr>
          <p:cNvPr id="4" name="文本占位符 3"/>
          <p:cNvSpPr>
            <a:spLocks noGrp="1"/>
          </p:cNvSpPr>
          <p:nvPr>
            <p:ph type="body" sz="quarter" idx="10"/>
          </p:nvPr>
        </p:nvSpPr>
        <p:spPr/>
        <p:txBody>
          <a:bodyPr/>
          <a:lstStyle/>
          <a:p>
            <a:r>
              <a:rPr lang="en-US" altLang="zh-CN" dirty="0"/>
              <a:t>6</a:t>
            </a:r>
            <a:r>
              <a:rPr lang="zh-CN" altLang="en-US" dirty="0"/>
              <a:t>、</a:t>
            </a:r>
            <a:r>
              <a:rPr lang="en-US" altLang="zh-CN" dirty="0"/>
              <a:t>lambda</a:t>
            </a:r>
            <a:r>
              <a:rPr lang="zh-CN" altLang="en-US" dirty="0"/>
              <a:t>应用</a:t>
            </a:r>
          </a:p>
        </p:txBody>
      </p:sp>
      <p:sp>
        <p:nvSpPr>
          <p:cNvPr id="14" name="TextBox 3">
            <a:extLst>
              <a:ext uri="{FF2B5EF4-FFF2-40B4-BE49-F238E27FC236}">
                <a16:creationId xmlns:a16="http://schemas.microsoft.com/office/drawing/2014/main" id="{0C998B78-AB18-3C47-A1C7-25AE9A3A40B0}"/>
              </a:ext>
            </a:extLst>
          </p:cNvPr>
          <p:cNvSpPr txBox="1"/>
          <p:nvPr/>
        </p:nvSpPr>
        <p:spPr>
          <a:xfrm>
            <a:off x="710880" y="2060789"/>
            <a:ext cx="10666853" cy="523220"/>
          </a:xfrm>
          <a:prstGeom prst="rect">
            <a:avLst/>
          </a:prstGeom>
          <a:solidFill>
            <a:srgbClr val="FFFFE4"/>
          </a:solidFill>
          <a:ln w="3175">
            <a:solidFill>
              <a:srgbClr val="919191"/>
            </a:solidFill>
          </a:ln>
        </p:spPr>
        <p:txBody>
          <a:bodyPr wrap="square">
            <a:spAutoFit/>
          </a:bodyPr>
          <a:lstStyle/>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fn1 = lambda a, b: a if a &gt; b else b</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print(fn1(1000, 500))</a:t>
            </a:r>
          </a:p>
        </p:txBody>
      </p:sp>
      <p:sp>
        <p:nvSpPr>
          <p:cNvPr id="11" name="TextBox 3">
            <a:extLst>
              <a:ext uri="{FF2B5EF4-FFF2-40B4-BE49-F238E27FC236}">
                <a16:creationId xmlns:a16="http://schemas.microsoft.com/office/drawing/2014/main" id="{0C998B78-AB18-3C47-A1C7-25AE9A3A40B0}"/>
              </a:ext>
            </a:extLst>
          </p:cNvPr>
          <p:cNvSpPr txBox="1"/>
          <p:nvPr/>
        </p:nvSpPr>
        <p:spPr>
          <a:xfrm>
            <a:off x="710879" y="2855760"/>
            <a:ext cx="10666853" cy="3754874"/>
          </a:xfrm>
          <a:prstGeom prst="rect">
            <a:avLst/>
          </a:prstGeom>
          <a:solidFill>
            <a:srgbClr val="FFFFE4"/>
          </a:solidFill>
          <a:ln w="3175">
            <a:solidFill>
              <a:srgbClr val="919191"/>
            </a:solidFill>
          </a:ln>
        </p:spPr>
        <p:txBody>
          <a:bodyPr wrap="square">
            <a:spAutoFit/>
          </a:bodyPr>
          <a:lstStyle/>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students = [</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{'name': 'TOM', 'age': 20},</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{'name': 'ROSE', 'age': 19},</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{'name': 'Jack', 'age': 22}</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a:p>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按</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name</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值升序排列</a:t>
            </a:r>
          </a:p>
          <a:p>
            <a:r>
              <a:rPr lang="en-US" altLang="zh-CN" sz="1400" dirty="0" err="1">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students.sort</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(key=lambda x: x['name'])</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print(students)</a:t>
            </a:r>
          </a:p>
          <a:p>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按</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name</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值降序排列</a:t>
            </a:r>
          </a:p>
          <a:p>
            <a:r>
              <a:rPr lang="en-US" altLang="zh-CN" sz="1400" dirty="0" err="1">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students.sort</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(key=lambda x: x['name'], reverse=True)</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print(students)</a:t>
            </a:r>
          </a:p>
          <a:p>
            <a:endPar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 </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按</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age</a:t>
            </a:r>
            <a:r>
              <a:rPr lang="zh-CN" altLang="en-US"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值升序排列</a:t>
            </a:r>
          </a:p>
          <a:p>
            <a:r>
              <a:rPr lang="en-US" altLang="zh-CN" sz="1400" dirty="0" err="1">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students.sort</a:t>
            </a:r>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(key=lambda x: x['age'])</a:t>
            </a:r>
          </a:p>
          <a:p>
            <a:r>
              <a:rPr lang="en-US" altLang="zh-CN" sz="14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print(students)</a:t>
            </a:r>
          </a:p>
        </p:txBody>
      </p:sp>
    </p:spTree>
    <p:extLst>
      <p:ext uri="{BB962C8B-B14F-4D97-AF65-F5344CB8AC3E}">
        <p14:creationId xmlns:p14="http://schemas.microsoft.com/office/powerpoint/2010/main" val="5511344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5645788"/>
      </p:ext>
    </p:extLst>
  </p:cSld>
  <p:clrMapOvr>
    <a:masterClrMapping/>
  </p:clrMapOvr>
</p:sld>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8519</TotalTime>
  <Words>2265</Words>
  <Application>Microsoft Office PowerPoint</Application>
  <PresentationFormat>宽屏</PresentationFormat>
  <Paragraphs>271</Paragraphs>
  <Slides>26</Slides>
  <Notes>16</Notes>
  <HiddenSlides>0</HiddenSlides>
  <MMClips>0</MMClips>
  <ScaleCrop>false</ScaleCrop>
  <HeadingPairs>
    <vt:vector size="6" baseType="variant">
      <vt:variant>
        <vt:lpstr>已用的字体</vt:lpstr>
      </vt:variant>
      <vt:variant>
        <vt:i4>11</vt:i4>
      </vt:variant>
      <vt:variant>
        <vt:lpstr>主题</vt:lpstr>
      </vt:variant>
      <vt:variant>
        <vt:i4>7</vt:i4>
      </vt:variant>
      <vt:variant>
        <vt:lpstr>幻灯片标题</vt:lpstr>
      </vt:variant>
      <vt:variant>
        <vt:i4>26</vt:i4>
      </vt:variant>
    </vt:vector>
  </HeadingPairs>
  <TitlesOfParts>
    <vt:vector size="44" baseType="lpstr">
      <vt:lpstr>Alibaba PuHuiTi B</vt:lpstr>
      <vt:lpstr>Alibaba PuHuiTi M</vt:lpstr>
      <vt:lpstr>Alibaba PuHuiTi R</vt:lpstr>
      <vt:lpstr>阿里巴巴普惠体</vt:lpstr>
      <vt:lpstr>等线</vt:lpstr>
      <vt:lpstr>黑体</vt:lpstr>
      <vt:lpstr>Arial</vt:lpstr>
      <vt:lpstr>Calibri</vt:lpstr>
      <vt:lpstr>Segoe UI</vt:lpstr>
      <vt:lpstr>Verdana</vt:lpstr>
      <vt:lpstr>Wingdings</vt:lpstr>
      <vt:lpstr>封面2</vt:lpstr>
      <vt:lpstr>目录</vt:lpstr>
      <vt:lpstr>学习目标</vt:lpstr>
      <vt:lpstr>章节页版式（一级+二级标题）</vt:lpstr>
      <vt:lpstr>章节页版式（一级标题）</vt:lpstr>
      <vt:lpstr>正文设计方案</vt:lpstr>
      <vt:lpstr>5_结束页设计方案</vt:lpstr>
      <vt:lpstr>Python函数（下）</vt:lpstr>
      <vt:lpstr>PowerPoint 演示文稿</vt:lpstr>
      <vt:lpstr>PowerPoint 演示文稿</vt:lpstr>
      <vt:lpstr>引用变量与可变、非可变类型</vt:lpstr>
      <vt:lpstr>引用变量与可变、非可变类型</vt:lpstr>
      <vt:lpstr>引用变量与可变、非可变类型</vt:lpstr>
      <vt:lpstr>引用变量与可变、非可变类型</vt:lpstr>
      <vt:lpstr>引用变量与可变、非可变类型</vt:lpstr>
      <vt:lpstr>函数递归</vt:lpstr>
      <vt:lpstr>函数递归</vt:lpstr>
      <vt:lpstr>函数递归</vt:lpstr>
      <vt:lpstr>函数递归</vt:lpstr>
      <vt:lpstr>函数递归</vt:lpstr>
      <vt:lpstr>函数递归</vt:lpstr>
      <vt:lpstr>函数递归</vt:lpstr>
      <vt:lpstr>函数递归</vt:lpstr>
      <vt:lpstr>函数递归</vt:lpstr>
      <vt:lpstr>函数递归</vt:lpstr>
      <vt:lpstr>lambda 表达式</vt:lpstr>
      <vt:lpstr>lambda 表达式</vt:lpstr>
      <vt:lpstr>lambda 表达式</vt:lpstr>
      <vt:lpstr>lambda 表达式</vt:lpstr>
      <vt:lpstr>lambda 表达式</vt:lpstr>
      <vt:lpstr>lambda 表达式</vt:lpstr>
      <vt:lpstr>lambda 表达式</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任 逍遥</cp:lastModifiedBy>
  <cp:revision>821</cp:revision>
  <dcterms:created xsi:type="dcterms:W3CDTF">2020-03-31T02:23:27Z</dcterms:created>
  <dcterms:modified xsi:type="dcterms:W3CDTF">2021-11-03T14:18:46Z</dcterms:modified>
</cp:coreProperties>
</file>