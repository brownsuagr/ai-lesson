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665" r:id="rId2"/>
    <p:sldMasterId id="2147483707" r:id="rId3"/>
    <p:sldMasterId id="2147483700" r:id="rId4"/>
    <p:sldMasterId id="2147483698" r:id="rId5"/>
    <p:sldMasterId id="2147483668" r:id="rId6"/>
    <p:sldMasterId id="2147483672" r:id="rId7"/>
  </p:sldMasterIdLst>
  <p:notesMasterIdLst>
    <p:notesMasterId r:id="rId46"/>
  </p:notesMasterIdLst>
  <p:handoutMasterIdLst>
    <p:handoutMasterId r:id="rId47"/>
  </p:handoutMasterIdLst>
  <p:sldIdLst>
    <p:sldId id="462" r:id="rId8"/>
    <p:sldId id="463" r:id="rId9"/>
    <p:sldId id="464" r:id="rId10"/>
    <p:sldId id="466" r:id="rId11"/>
    <p:sldId id="564" r:id="rId12"/>
    <p:sldId id="577" r:id="rId13"/>
    <p:sldId id="578" r:id="rId14"/>
    <p:sldId id="579" r:id="rId15"/>
    <p:sldId id="580" r:id="rId16"/>
    <p:sldId id="581" r:id="rId17"/>
    <p:sldId id="582" r:id="rId18"/>
    <p:sldId id="583" r:id="rId19"/>
    <p:sldId id="584" r:id="rId20"/>
    <p:sldId id="585" r:id="rId21"/>
    <p:sldId id="586" r:id="rId22"/>
    <p:sldId id="587" r:id="rId23"/>
    <p:sldId id="588" r:id="rId24"/>
    <p:sldId id="589" r:id="rId25"/>
    <p:sldId id="590" r:id="rId26"/>
    <p:sldId id="591" r:id="rId27"/>
    <p:sldId id="592" r:id="rId28"/>
    <p:sldId id="593" r:id="rId29"/>
    <p:sldId id="594" r:id="rId30"/>
    <p:sldId id="595" r:id="rId31"/>
    <p:sldId id="596" r:id="rId32"/>
    <p:sldId id="597" r:id="rId33"/>
    <p:sldId id="598" r:id="rId34"/>
    <p:sldId id="599" r:id="rId35"/>
    <p:sldId id="600" r:id="rId36"/>
    <p:sldId id="601" r:id="rId37"/>
    <p:sldId id="602" r:id="rId38"/>
    <p:sldId id="603" r:id="rId39"/>
    <p:sldId id="604" r:id="rId40"/>
    <p:sldId id="605" r:id="rId41"/>
    <p:sldId id="606" r:id="rId42"/>
    <p:sldId id="607" r:id="rId43"/>
    <p:sldId id="608" r:id="rId44"/>
    <p:sldId id="264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006"/>
    <a:srgbClr val="B60206"/>
    <a:srgbClr val="AD2B26"/>
    <a:srgbClr val="49504F"/>
    <a:srgbClr val="FFFFE4"/>
    <a:srgbClr val="919191"/>
    <a:srgbClr val="333333"/>
    <a:srgbClr val="FFFFFF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45" autoAdjust="0"/>
    <p:restoredTop sz="91940" autoAdjust="0"/>
  </p:normalViewPr>
  <p:slideViewPr>
    <p:cSldViewPr snapToGrid="0">
      <p:cViewPr varScale="1">
        <p:scale>
          <a:sx n="79" d="100"/>
          <a:sy n="79" d="100"/>
        </p:scale>
        <p:origin x="504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5BAB8F7-26C7-2345-A2F0-4C70E8EFA8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B0FE49-C86E-0B42-8C7E-921C60B5AA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2021/6/2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928822-8127-CD43-9156-5BB443851D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FC3EF7F-6078-7249-A167-F5C0687992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2655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2021/6/2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59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921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848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969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02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101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555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792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610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820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769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4885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2567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153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522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590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3175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2914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0517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6219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0004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1542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5989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503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0530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8851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551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69F54-72BF-044A-89E7-CDAF75E947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>
            <a:extLst>
              <a:ext uri="{FF2B5EF4-FFF2-40B4-BE49-F238E27FC236}">
                <a16:creationId xmlns:a16="http://schemas.microsoft.com/office/drawing/2014/main" id="{FE68CD30-ECD6-A642-8C7F-BA42D1249D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588721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189" marR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189" marR="0" lvl="0" indent="-457189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u"/>
              <a:tabLst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4694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81B62E64-63F1-3949-8E18-11A80E8D9F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2196259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9209-2A8D-D940-8FA0-61988543E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CA56E57C-1F68-E948-87DC-0FF15A8C7DE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>
            <a:extLst>
              <a:ext uri="{FF2B5EF4-FFF2-40B4-BE49-F238E27FC236}">
                <a16:creationId xmlns:a16="http://schemas.microsoft.com/office/drawing/2014/main" id="{01590D97-7CA9-B247-806A-885950A786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198760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ED1003EB-0D97-5849-AC50-BFB3EDAA3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C8E5D29-3E75-FC46-80C9-2080D9268E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  <p:extLst>
      <p:ext uri="{BB962C8B-B14F-4D97-AF65-F5344CB8AC3E}">
        <p14:creationId xmlns:p14="http://schemas.microsoft.com/office/powerpoint/2010/main" val="33153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BE760B7-955D-46DB-9CF6-0F5E75ACEF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888985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3991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64C54839-92D5-0E4E-B9C2-203FF53C3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E5CC542A-FF04-5243-BA82-1AC7B0A112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862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4D92416-D30F-8049-AD27-C955EC07F2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>
            <a:extLst>
              <a:ext uri="{FF2B5EF4-FFF2-40B4-BE49-F238E27FC236}">
                <a16:creationId xmlns:a16="http://schemas.microsoft.com/office/drawing/2014/main" id="{FB933948-E99B-AD48-8B41-DEA66BC8F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D8BA1B0F-468D-0446-AB7E-B23A83414D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749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9947CB16-8D08-5242-A2E0-936DC1D438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908806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B678CE99-982F-E747-B6C5-B29DECDE38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88D105DB-24C1-B042-AF5E-89B9573312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tabLst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00" indent="-360000">
              <a:lnSpc>
                <a:spcPct val="150000"/>
              </a:lnSpc>
              <a:buFont typeface="+mj-lt"/>
              <a:buAutoNum type="arabicPeriod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88711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>
            <a:extLst>
              <a:ext uri="{FF2B5EF4-FFF2-40B4-BE49-F238E27FC236}">
                <a16:creationId xmlns:a16="http://schemas.microsoft.com/office/drawing/2014/main" id="{9C0915B4-3DAF-C444-883E-818CAE39A5B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buFont typeface="Wingdings" pitchFamily="2" charset="2"/>
              <a:buChar char="l"/>
              <a:tabLst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itchFamily="2" charset="2"/>
              <a:buChar char="l"/>
              <a:tabLst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00" lvl="1" indent="-36000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itchFamily="2" charset="2"/>
              <a:buChar char="p"/>
              <a:tabLst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tabLst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7163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1824831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8063303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24558441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020C514-817B-504E-A325-60842B59A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>
              <a:extLst>
                <a:ext uri="{FF2B5EF4-FFF2-40B4-BE49-F238E27FC236}">
                  <a16:creationId xmlns:a16="http://schemas.microsoft.com/office/drawing/2014/main" id="{C4064CF0-C79B-2F4A-839D-A26938667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4145838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>
            <a:extLst>
              <a:ext uri="{FF2B5EF4-FFF2-40B4-BE49-F238E27FC236}">
                <a16:creationId xmlns:a16="http://schemas.microsoft.com/office/drawing/2014/main" id="{380B9059-6AA7-9E4F-BC56-F30289A262EA}"/>
              </a:ext>
            </a:extLst>
          </p:cNvPr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D71D36F9-1B1C-094A-A062-19A46A7AB388}"/>
              </a:ext>
            </a:extLst>
          </p:cNvPr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493FA365-EB18-4C49-B470-79A013EED4C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45B08E3-3066-3844-87E9-46D7426765C6}"/>
              </a:ext>
            </a:extLst>
          </p:cNvPr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>
            <a:extLst>
              <a:ext uri="{FF2B5EF4-FFF2-40B4-BE49-F238E27FC236}">
                <a16:creationId xmlns:a16="http://schemas.microsoft.com/office/drawing/2014/main" id="{B7A42CA5-7885-7642-B20D-B92B35099CBC}"/>
              </a:ext>
            </a:extLst>
          </p:cNvPr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>
            <a:extLst>
              <a:ext uri="{FF2B5EF4-FFF2-40B4-BE49-F238E27FC236}">
                <a16:creationId xmlns:a16="http://schemas.microsoft.com/office/drawing/2014/main" id="{DE7B2235-1C6B-6B44-BC4F-1EC9BD8B9D8D}"/>
              </a:ext>
            </a:extLst>
          </p:cNvPr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5BF818FD-51C6-E54A-9D53-783E1313F19E}"/>
              </a:ext>
            </a:extLst>
          </p:cNvPr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13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>
              <a:extLst>
                <a:ext uri="{FF2B5EF4-FFF2-40B4-BE49-F238E27FC236}">
                  <a16:creationId xmlns:a16="http://schemas.microsoft.com/office/drawing/2014/main" id="{EBBF2F2F-D96E-4638-A53F-CD7237FF5C1E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itchFamily="34" charset="0"/>
                  <a:ea typeface="微软雅黑 Light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70094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EBBF2F2F-D96E-4638-A53F-CD7237FF5C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>
            <a:extLst>
              <a:ext uri="{FF2B5EF4-FFF2-40B4-BE49-F238E27FC236}">
                <a16:creationId xmlns:a16="http://schemas.microsoft.com/office/drawing/2014/main" id="{0EFAFC56-5B16-1644-BDCA-117D21E2806E}"/>
              </a:ext>
            </a:extLst>
          </p:cNvPr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>
            <a:extLst>
              <a:ext uri="{FF2B5EF4-FFF2-40B4-BE49-F238E27FC236}">
                <a16:creationId xmlns:a16="http://schemas.microsoft.com/office/drawing/2014/main" id="{02C17FF1-E140-B64F-AF1C-FE17A937E731}"/>
              </a:ext>
            </a:extLst>
          </p:cNvPr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>
            <a:extLst>
              <a:ext uri="{FF2B5EF4-FFF2-40B4-BE49-F238E27FC236}">
                <a16:creationId xmlns:a16="http://schemas.microsoft.com/office/drawing/2014/main" id="{F639FB5D-6047-3448-A319-F4FD2BA72BB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>
            <a:extLst>
              <a:ext uri="{FF2B5EF4-FFF2-40B4-BE49-F238E27FC236}">
                <a16:creationId xmlns:a16="http://schemas.microsoft.com/office/drawing/2014/main" id="{0C1BFADD-1066-B04B-BD99-C7E20F0FA73E}"/>
              </a:ext>
            </a:extLst>
          </p:cNvPr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>
            <a:extLst>
              <a:ext uri="{FF2B5EF4-FFF2-40B4-BE49-F238E27FC236}">
                <a16:creationId xmlns:a16="http://schemas.microsoft.com/office/drawing/2014/main" id="{20149FF9-71F5-FB43-A7A0-BB0C90CB4486}"/>
              </a:ext>
            </a:extLst>
          </p:cNvPr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>
            <a:extLst>
              <a:ext uri="{FF2B5EF4-FFF2-40B4-BE49-F238E27FC236}">
                <a16:creationId xmlns:a16="http://schemas.microsoft.com/office/drawing/2014/main" id="{098F3E8C-7A22-A34B-817A-438DDA0CAC1C}"/>
              </a:ext>
            </a:extLst>
          </p:cNvPr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87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4AB6E3BD-F819-724D-9482-568CE7A3A1F8}"/>
              </a:ext>
            </a:extLst>
          </p:cNvPr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BD6F73-BC4E-714F-81EB-5276C9B1460A}"/>
              </a:ext>
            </a:extLst>
          </p:cNvPr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788A09-8D86-D048-B1A9-A02E86D4E252}"/>
              </a:ext>
            </a:extLst>
          </p:cNvPr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9328185-789E-DD42-AA27-851035E2E6BA}"/>
              </a:ext>
            </a:extLst>
          </p:cNvPr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F2080FE-05C6-2340-B7D7-FCDE4D780420}"/>
              </a:ext>
            </a:extLst>
          </p:cNvPr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90C36A6-06C1-0647-8725-306AE7D5DB42}"/>
              </a:ext>
            </a:extLst>
          </p:cNvPr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>
            <a:extLst>
              <a:ext uri="{FF2B5EF4-FFF2-40B4-BE49-F238E27FC236}">
                <a16:creationId xmlns:a16="http://schemas.microsoft.com/office/drawing/2014/main" id="{34600FE5-8DCA-46AA-AB57-2E40352BF0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5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0EF16AB-AE8A-5D46-82EA-397E62F93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>
            <a:extLst>
              <a:ext uri="{FF2B5EF4-FFF2-40B4-BE49-F238E27FC236}">
                <a16:creationId xmlns:a16="http://schemas.microsoft.com/office/drawing/2014/main" id="{C9A22D05-8FDB-7546-BB47-01F708903C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itchFamily="34" charset="0"/>
                <a:ea typeface="微软雅黑 Light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C7A4DAB-DC8A-9A43-A443-C9AE1D1E2698}"/>
              </a:ext>
            </a:extLst>
          </p:cNvPr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922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15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D359BD9D-8F8C-A44C-91CC-CA8F5146AA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>
            <a:extLst>
              <a:ext uri="{FF2B5EF4-FFF2-40B4-BE49-F238E27FC236}">
                <a16:creationId xmlns:a16="http://schemas.microsoft.com/office/drawing/2014/main" id="{6F51DA0D-EA98-B14B-A35B-7EDF8DBC5804}"/>
              </a:ext>
            </a:extLst>
          </p:cNvPr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" fmla="*/ 0 w 1034350"/>
              <a:gd name="connsiteY0" fmla="*/ 1136649 h 1136649"/>
              <a:gd name="connsiteX1" fmla="*/ 0 w 1034350"/>
              <a:gd name="connsiteY1" fmla="*/ 0 h 1136649"/>
              <a:gd name="connsiteX2" fmla="*/ 750188 w 1034350"/>
              <a:gd name="connsiteY2" fmla="*/ 0 h 1136649"/>
              <a:gd name="connsiteX3" fmla="*/ 1034350 w 1034350"/>
              <a:gd name="connsiteY3" fmla="*/ 568325 h 1136649"/>
              <a:gd name="connsiteX4" fmla="*/ 750188 w 1034350"/>
              <a:gd name="connsiteY4" fmla="*/ 1136649 h 1136649"/>
              <a:gd name="connsiteX5" fmla="*/ 0 w 1034350"/>
              <a:gd name="connsiteY5" fmla="*/ 1136649 h 1136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>
            <a:extLst>
              <a:ext uri="{FF2B5EF4-FFF2-40B4-BE49-F238E27FC236}">
                <a16:creationId xmlns:a16="http://schemas.microsoft.com/office/drawing/2014/main" id="{B0F52978-FC9E-FC46-A244-4605B31E7CC6}"/>
              </a:ext>
            </a:extLst>
          </p:cNvPr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>
            <a:extLst>
              <a:ext uri="{FF2B5EF4-FFF2-40B4-BE49-F238E27FC236}">
                <a16:creationId xmlns:a16="http://schemas.microsoft.com/office/drawing/2014/main" id="{6677D3A6-DA28-9444-815A-4524D9FED995}"/>
              </a:ext>
            </a:extLst>
          </p:cNvPr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>
            <a:extLst>
              <a:ext uri="{FF2B5EF4-FFF2-40B4-BE49-F238E27FC236}">
                <a16:creationId xmlns:a16="http://schemas.microsoft.com/office/drawing/2014/main" id="{B3967B50-7DD6-B247-97B6-4844195F68D5}"/>
              </a:ext>
            </a:extLst>
          </p:cNvPr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>
            <a:extLst>
              <a:ext uri="{FF2B5EF4-FFF2-40B4-BE49-F238E27FC236}">
                <a16:creationId xmlns:a16="http://schemas.microsoft.com/office/drawing/2014/main" id="{4C290A33-8D65-DC47-BE12-79B4B22A299D}"/>
              </a:ext>
            </a:extLst>
          </p:cNvPr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E0867641-ABCE-C84A-84A4-696E52E6543B}"/>
              </a:ext>
            </a:extLst>
          </p:cNvPr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>
            <a:extLst>
              <a:ext uri="{FF2B5EF4-FFF2-40B4-BE49-F238E27FC236}">
                <a16:creationId xmlns:a16="http://schemas.microsoft.com/office/drawing/2014/main" id="{3DC81806-A479-FD47-B1B6-A77189F32D48}"/>
              </a:ext>
            </a:extLst>
          </p:cNvPr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>
            <a:extLst>
              <a:ext uri="{FF2B5EF4-FFF2-40B4-BE49-F238E27FC236}">
                <a16:creationId xmlns:a16="http://schemas.microsoft.com/office/drawing/2014/main" id="{D15987B7-89CB-8549-AEE5-ADD4AED257B7}"/>
              </a:ext>
            </a:extLst>
          </p:cNvPr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382A540C-45FC-EB45-96D5-1EA0511DAF21}"/>
              </a:ext>
            </a:extLst>
          </p:cNvPr>
          <p:cNvCxnSpPr>
            <a:cxnSpLocks/>
          </p:cNvCxnSpPr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28569DD6-18D5-5D45-BC4E-E4C2727B945C}"/>
              </a:ext>
            </a:extLst>
          </p:cNvPr>
          <p:cNvCxnSpPr>
            <a:cxnSpLocks/>
          </p:cNvCxnSpPr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6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3A7F5CA1-11F4-B94D-84AE-F6E3E12DEC4D}"/>
              </a:ext>
            </a:extLst>
          </p:cNvPr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B73C1A2-926E-3849-92AB-BCE7B4C71DF2}"/>
                </a:ext>
              </a:extLst>
            </p:cNvPr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3EC96A2F-7D7A-F34F-9BE8-8ADCD2919ACB}"/>
                </a:ext>
              </a:extLst>
            </p:cNvPr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>
              <a:extLst>
                <a:ext uri="{FF2B5EF4-FFF2-40B4-BE49-F238E27FC236}">
                  <a16:creationId xmlns:a16="http://schemas.microsoft.com/office/drawing/2014/main" id="{83E925B0-57FD-8B4B-8FF7-8BCD8AADEF23}"/>
                </a:ext>
              </a:extLst>
            </p:cNvPr>
            <p:cNvCxnSpPr>
              <a:cxnSpLocks/>
            </p:cNvCxnSpPr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>
              <a:extLst>
                <a:ext uri="{FF2B5EF4-FFF2-40B4-BE49-F238E27FC236}">
                  <a16:creationId xmlns:a16="http://schemas.microsoft.com/office/drawing/2014/main" id="{3EDCC472-8CF0-F84C-9270-06FAC7E8DD4D}"/>
                </a:ext>
              </a:extLst>
            </p:cNvPr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>
              <a:extLst>
                <a:ext uri="{FF2B5EF4-FFF2-40B4-BE49-F238E27FC236}">
                  <a16:creationId xmlns:a16="http://schemas.microsoft.com/office/drawing/2014/main" id="{E8F71936-0CC4-CB4A-AF12-89754A9ADA5D}"/>
                </a:ext>
              </a:extLst>
            </p:cNvPr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95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8438130-7B30-A94E-B2AC-38EDD0B85909}"/>
              </a:ext>
            </a:extLst>
          </p:cNvPr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2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B73C1A2-926E-3849-92AB-BCE7B4C71DF2}"/>
              </a:ext>
            </a:extLst>
          </p:cNvPr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C96A2F-7D7A-F34F-9BE8-8ADCD2919ACB}"/>
              </a:ext>
            </a:extLst>
          </p:cNvPr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>
            <a:extLst>
              <a:ext uri="{FF2B5EF4-FFF2-40B4-BE49-F238E27FC236}">
                <a16:creationId xmlns:a16="http://schemas.microsoft.com/office/drawing/2014/main" id="{83E925B0-57FD-8B4B-8FF7-8BCD8AADEF23}"/>
              </a:ext>
            </a:extLst>
          </p:cNvPr>
          <p:cNvCxnSpPr>
            <a:cxnSpLocks/>
          </p:cNvCxnSpPr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>
            <a:extLst>
              <a:ext uri="{FF2B5EF4-FFF2-40B4-BE49-F238E27FC236}">
                <a16:creationId xmlns:a16="http://schemas.microsoft.com/office/drawing/2014/main" id="{A7484BB2-BD94-3C49-9EC4-B9A294E2AF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marR="0" indent="-457189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tabLst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585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91B717BE-9DF9-1B41-9DBF-CB511A9C606B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998722ED-C4DC-C24C-A17B-B9CA36751549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575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>
            <a:extLst>
              <a:ext uri="{FF2B5EF4-FFF2-40B4-BE49-F238E27FC236}">
                <a16:creationId xmlns:a16="http://schemas.microsoft.com/office/drawing/2014/main" id="{D82380DF-4088-5449-BBFC-0B57E0B8F475}"/>
              </a:ext>
            </a:extLst>
          </p:cNvPr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2FB8D235-9189-C14B-8111-0D705B9AA121}"/>
              </a:ext>
            </a:extLst>
          </p:cNvPr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5265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4BCEE7AE-CF55-47A2-9D29-09373E3D62B5}"/>
              </a:ext>
            </a:extLst>
          </p:cNvPr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Segoe UI" pitchFamily="34" charset="0"/>
              <a:ea typeface="微软雅黑" pitchFamily="34" charset="-122"/>
            </a:endParaRPr>
          </a:p>
        </p:txBody>
      </p:sp>
      <p:sp>
        <p:nvSpPr>
          <p:cNvPr id="20" name="矩形 22">
            <a:extLst>
              <a:ext uri="{FF2B5EF4-FFF2-40B4-BE49-F238E27FC236}">
                <a16:creationId xmlns:a16="http://schemas.microsoft.com/office/drawing/2014/main" id="{16A72991-4D35-45FC-8EF2-C9E3B4850B5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>
              <a:buFont typeface="Arial" charset="0"/>
              <a:buNone/>
              <a:defRPr/>
            </a:pPr>
            <a:endParaRPr lang="zh-CN" altLang="en-US" sz="2400" dirty="0">
              <a:latin typeface="Segoe UI" pitchFamily="34" charset="0"/>
              <a:ea typeface="微软雅黑" pitchFamily="34" charset="-122"/>
            </a:endParaRPr>
          </a:p>
        </p:txBody>
      </p:sp>
      <p:cxnSp>
        <p:nvCxnSpPr>
          <p:cNvPr id="11" name="直接连接符 22">
            <a:extLst>
              <a:ext uri="{FF2B5EF4-FFF2-40B4-BE49-F238E27FC236}">
                <a16:creationId xmlns:a16="http://schemas.microsoft.com/office/drawing/2014/main" id="{E3D0AD59-338B-5041-BA54-3D9BB0E399D6}"/>
              </a:ext>
            </a:extLst>
          </p:cNvPr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2197ADE-85E8-B341-8233-C315893A0BCC}"/>
              </a:ext>
            </a:extLst>
          </p:cNvPr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3756651-9738-8349-95DA-B0B282B3FAEA}"/>
                </a:ext>
              </a:extLst>
            </p:cNvPr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5EF63353-41E7-0E43-AFC0-B2282740E9FE}"/>
                </a:ext>
              </a:extLst>
            </p:cNvPr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>
            <a:extLst>
              <a:ext uri="{FF2B5EF4-FFF2-40B4-BE49-F238E27FC236}">
                <a16:creationId xmlns:a16="http://schemas.microsoft.com/office/drawing/2014/main" id="{27893006-C6C0-BC4A-8CFB-289F585A2778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442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83" r:id="rId3"/>
    <p:sldLayoutId id="2147483678" r:id="rId4"/>
    <p:sldLayoutId id="2147483679" r:id="rId5"/>
    <p:sldLayoutId id="2147483680" r:id="rId6"/>
    <p:sldLayoutId id="2147483677" r:id="rId7"/>
    <p:sldLayoutId id="2147483702" r:id="rId8"/>
    <p:sldLayoutId id="2147483703" r:id="rId9"/>
    <p:sldLayoutId id="2147483709" r:id="rId10"/>
    <p:sldLayoutId id="2147483704" r:id="rId11"/>
    <p:sldLayoutId id="2147483681" r:id="rId12"/>
    <p:sldLayoutId id="2147483693" r:id="rId13"/>
    <p:sldLayoutId id="2147483710" r:id="rId14"/>
    <p:sldLayoutId id="2147483706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5pPr>
      <a:lvl6pPr marL="609585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6pPr>
      <a:lvl7pPr marL="121917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7pPr>
      <a:lvl8pPr marL="1828754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8pPr>
      <a:lvl9pPr marL="2438339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itchFamily="49" charset="-122"/>
          <a:ea typeface="黑体" pitchFamily="49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7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71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黑体" pitchFamily="49" charset="-122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6EC87-9B0D-CD4B-997D-0A66FE90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Python</a:t>
            </a:r>
            <a:r>
              <a:rPr lang="zh-CN" altLang="en-US" dirty="0"/>
              <a:t>数据序列（下）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6AC0F8-4890-4046-8499-78F7C69738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3974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691FACA-E1ED-6A48-A1E4-D925AAC030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971231" y="756218"/>
            <a:ext cx="5973761" cy="4256405"/>
          </a:xfrm>
        </p:spPr>
        <p:txBody>
          <a:bodyPr/>
          <a:lstStyle/>
          <a:p>
            <a:r>
              <a:rPr lang="zh-CN" altLang="en-US" dirty="0">
                <a:solidFill>
                  <a:srgbClr val="AD2B26"/>
                </a:solidFill>
              </a:rPr>
              <a:t>字典的定义及其应用场景</a:t>
            </a:r>
            <a:endParaRPr lang="en-US" altLang="zh-CN" dirty="0">
              <a:solidFill>
                <a:srgbClr val="AD2B26"/>
              </a:solidFill>
            </a:endParaRPr>
          </a:p>
          <a:p>
            <a:r>
              <a:rPr lang="zh-CN" altLang="en-US" dirty="0">
                <a:solidFill>
                  <a:srgbClr val="AD2B26"/>
                </a:solidFill>
              </a:rPr>
              <a:t>集合的定义及其应用场景</a:t>
            </a:r>
            <a:endParaRPr lang="en-US" altLang="zh-CN" dirty="0">
              <a:solidFill>
                <a:srgbClr val="AD2B26"/>
              </a:solidFill>
            </a:endParaRPr>
          </a:p>
          <a:p>
            <a:r>
              <a:rPr lang="zh-CN" altLang="en-US" dirty="0">
                <a:solidFill>
                  <a:srgbClr val="AD2B26"/>
                </a:solidFill>
              </a:rPr>
              <a:t>数据序列的公共方法</a:t>
            </a:r>
            <a:endParaRPr lang="en-US" altLang="zh-CN" dirty="0">
              <a:solidFill>
                <a:srgbClr val="AD2B26"/>
              </a:solidFill>
            </a:endParaRPr>
          </a:p>
          <a:p>
            <a:r>
              <a:rPr lang="zh-CN" altLang="en-US" dirty="0">
                <a:solidFill>
                  <a:srgbClr val="AD2B26"/>
                </a:solidFill>
              </a:rPr>
              <a:t>列表集合字典推导式</a:t>
            </a:r>
            <a:endParaRPr lang="en-US" altLang="zh-CN" dirty="0">
              <a:solidFill>
                <a:srgbClr val="AD2B2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18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F5F2403-DAC9-454A-9779-7331986EC4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r>
              <a:rPr lang="zh-CN" altLang="en-US" dirty="0">
                <a:solidFill>
                  <a:srgbClr val="B60206"/>
                </a:solidFill>
              </a:rPr>
              <a:t>掌握字典的定义及其应用场景</a:t>
            </a:r>
            <a:endParaRPr lang="en-US" altLang="zh-CN" dirty="0">
              <a:solidFill>
                <a:srgbClr val="B60206"/>
              </a:solidFill>
            </a:endParaRPr>
          </a:p>
          <a:p>
            <a:r>
              <a:rPr lang="zh-CN" altLang="en-US" dirty="0">
                <a:solidFill>
                  <a:srgbClr val="B60206"/>
                </a:solidFill>
              </a:rPr>
              <a:t>掌握集合的定义及其应用场景</a:t>
            </a:r>
            <a:endParaRPr lang="en-US" altLang="zh-CN" dirty="0">
              <a:solidFill>
                <a:srgbClr val="B60206"/>
              </a:solidFill>
            </a:endParaRPr>
          </a:p>
          <a:p>
            <a:r>
              <a:rPr lang="zh-CN" altLang="en-US" dirty="0">
                <a:solidFill>
                  <a:srgbClr val="B60206"/>
                </a:solidFill>
              </a:rPr>
              <a:t>掌握数据序列的公共方法</a:t>
            </a:r>
            <a:endParaRPr lang="en-US" altLang="zh-CN" dirty="0">
              <a:solidFill>
                <a:srgbClr val="B60206"/>
              </a:solidFill>
            </a:endParaRPr>
          </a:p>
          <a:p>
            <a:r>
              <a:rPr lang="zh-CN" altLang="en-US" dirty="0">
                <a:solidFill>
                  <a:srgbClr val="B60206"/>
                </a:solidFill>
              </a:rPr>
              <a:t>掌握列表、集合、字典的推导式</a:t>
            </a:r>
            <a:endParaRPr lang="en-US" altLang="zh-CN" dirty="0">
              <a:solidFill>
                <a:srgbClr val="B6020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209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字典的定义及其应用场景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33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646133"/>
            <a:ext cx="10964563" cy="4985779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思考</a:t>
            </a:r>
            <a:r>
              <a:rPr lang="en-US" altLang="zh-CN" dirty="0">
                <a:solidFill>
                  <a:srgbClr val="B60206"/>
                </a:solidFill>
              </a:rPr>
              <a:t>1</a:t>
            </a:r>
            <a:r>
              <a:rPr lang="zh-CN" altLang="en-US" dirty="0">
                <a:solidFill>
                  <a:srgbClr val="B60206"/>
                </a:solidFill>
              </a:rPr>
              <a:t>： 如果有多个数据，例如：</a:t>
            </a:r>
            <a:r>
              <a:rPr lang="en-US" altLang="zh-CN" dirty="0">
                <a:solidFill>
                  <a:srgbClr val="B60206"/>
                </a:solidFill>
              </a:rPr>
              <a:t>'Tom', '</a:t>
            </a:r>
            <a:r>
              <a:rPr lang="zh-CN" altLang="en-US" dirty="0">
                <a:solidFill>
                  <a:srgbClr val="B60206"/>
                </a:solidFill>
              </a:rPr>
              <a:t>男</a:t>
            </a:r>
            <a:r>
              <a:rPr lang="en-US" altLang="zh-CN" dirty="0">
                <a:solidFill>
                  <a:srgbClr val="B60206"/>
                </a:solidFill>
              </a:rPr>
              <a:t>', 20</a:t>
            </a:r>
            <a:r>
              <a:rPr lang="zh-CN" altLang="en-US" dirty="0">
                <a:solidFill>
                  <a:srgbClr val="B60206"/>
                </a:solidFill>
              </a:rPr>
              <a:t>，如何快速存储？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答：列表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思考</a:t>
            </a:r>
            <a:r>
              <a:rPr lang="en-US" altLang="zh-CN" dirty="0">
                <a:solidFill>
                  <a:srgbClr val="B60206"/>
                </a:solidFill>
              </a:rPr>
              <a:t>2</a:t>
            </a:r>
            <a:r>
              <a:rPr lang="zh-CN" altLang="en-US" dirty="0">
                <a:solidFill>
                  <a:srgbClr val="B60206"/>
                </a:solidFill>
              </a:rPr>
              <a:t>：如何查找到数据</a:t>
            </a:r>
            <a:r>
              <a:rPr lang="en-US" altLang="zh-CN" dirty="0">
                <a:solidFill>
                  <a:srgbClr val="B60206"/>
                </a:solidFill>
              </a:rPr>
              <a:t>'Tom'</a:t>
            </a:r>
            <a:r>
              <a:rPr lang="zh-CN" altLang="en-US" dirty="0">
                <a:solidFill>
                  <a:srgbClr val="B60206"/>
                </a:solidFill>
              </a:rPr>
              <a:t>？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答：查找到下标为</a:t>
            </a:r>
            <a:r>
              <a:rPr lang="en-US" altLang="zh-CN" dirty="0"/>
              <a:t>0</a:t>
            </a:r>
            <a:r>
              <a:rPr lang="zh-CN" altLang="en-US" dirty="0"/>
              <a:t>的数据即可。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思考</a:t>
            </a:r>
            <a:r>
              <a:rPr lang="en-US" altLang="zh-CN" dirty="0">
                <a:solidFill>
                  <a:srgbClr val="B60206"/>
                </a:solidFill>
              </a:rPr>
              <a:t>3</a:t>
            </a:r>
            <a:r>
              <a:rPr lang="zh-CN" altLang="en-US" dirty="0">
                <a:solidFill>
                  <a:srgbClr val="B60206"/>
                </a:solidFill>
              </a:rPr>
              <a:t>：如果将来数据顺序发生变化，如下所示，还能用</a:t>
            </a:r>
            <a:r>
              <a:rPr lang="en-US" altLang="zh-CN" dirty="0">
                <a:solidFill>
                  <a:srgbClr val="B60206"/>
                </a:solidFill>
              </a:rPr>
              <a:t>`list1[0]`</a:t>
            </a:r>
            <a:r>
              <a:rPr lang="zh-CN" altLang="en-US" dirty="0">
                <a:solidFill>
                  <a:srgbClr val="B60206"/>
                </a:solidFill>
              </a:rPr>
              <a:t>访问到数据</a:t>
            </a:r>
            <a:r>
              <a:rPr lang="en-US" altLang="zh-CN" dirty="0">
                <a:solidFill>
                  <a:srgbClr val="B60206"/>
                </a:solidFill>
              </a:rPr>
              <a:t>'Tom'</a:t>
            </a:r>
            <a:r>
              <a:rPr lang="zh-CN" altLang="en-US" dirty="0">
                <a:solidFill>
                  <a:srgbClr val="B60206"/>
                </a:solidFill>
              </a:rPr>
              <a:t>吗？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答：不能，数据</a:t>
            </a:r>
            <a:r>
              <a:rPr lang="en-US" altLang="zh-CN" dirty="0"/>
              <a:t>'Tom'</a:t>
            </a:r>
            <a:r>
              <a:rPr lang="zh-CN" altLang="en-US" dirty="0"/>
              <a:t>此时下标为</a:t>
            </a:r>
            <a:r>
              <a:rPr lang="en-US" altLang="zh-CN" dirty="0"/>
              <a:t>2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思考</a:t>
            </a:r>
            <a:r>
              <a:rPr lang="en-US" altLang="zh-CN" dirty="0">
                <a:solidFill>
                  <a:srgbClr val="B60206"/>
                </a:solidFill>
              </a:rPr>
              <a:t>4</a:t>
            </a:r>
            <a:r>
              <a:rPr lang="zh-CN" altLang="en-US" dirty="0">
                <a:solidFill>
                  <a:srgbClr val="B60206"/>
                </a:solidFill>
              </a:rPr>
              <a:t>：数据顺序发生变化，每个数据的下标也会随之变化，如何保证数据顺序变化前后能使用同一的标准查找数据呢？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/>
              <a:t>答：字典，字典里面的数据是以</a:t>
            </a:r>
            <a:r>
              <a:rPr lang="zh-CN" altLang="en-US" dirty="0">
                <a:solidFill>
                  <a:srgbClr val="B60206"/>
                </a:solidFill>
              </a:rPr>
              <a:t>键值对</a:t>
            </a:r>
            <a:r>
              <a:rPr lang="zh-CN" altLang="en-US" dirty="0"/>
              <a:t>形式出现，字典数据和数据顺序没有关系，即字典不支持下标，后期无论数据如何变化，只需要按照对应的键的名字查找数据即可。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字典的定义</a:t>
            </a:r>
            <a:r>
              <a:rPr lang="zh-CN" altLang="en-US"/>
              <a:t>及其应用场景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、为什么需要字典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2" y="2547993"/>
            <a:ext cx="10666853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['Tom', '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男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 20]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3807245"/>
            <a:ext cx="10666853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list1[0]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9" y="4682587"/>
            <a:ext cx="10666853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['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男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', 20, 'Tom']</a:t>
            </a:r>
          </a:p>
        </p:txBody>
      </p:sp>
    </p:spTree>
    <p:extLst>
      <p:ext uri="{BB962C8B-B14F-4D97-AF65-F5344CB8AC3E}">
        <p14:creationId xmlns:p14="http://schemas.microsoft.com/office/powerpoint/2010/main" val="1657198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字典特点：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符号为</a:t>
            </a:r>
            <a:r>
              <a:rPr lang="zh-CN" altLang="en-US" dirty="0">
                <a:solidFill>
                  <a:srgbClr val="B60206"/>
                </a:solidFill>
              </a:rPr>
              <a:t>大括号（花括号）</a:t>
            </a:r>
            <a:endParaRPr lang="en-US" altLang="zh-CN" dirty="0">
              <a:solidFill>
                <a:srgbClr val="B60206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数据为</a:t>
            </a:r>
            <a:r>
              <a:rPr lang="zh-CN" altLang="en-US" dirty="0">
                <a:solidFill>
                  <a:srgbClr val="B60206"/>
                </a:solidFill>
              </a:rPr>
              <a:t>键值对</a:t>
            </a:r>
            <a:r>
              <a:rPr lang="zh-CN" altLang="en-US" dirty="0"/>
              <a:t>形式出现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/>
              <a:t>各个键值对之间用</a:t>
            </a:r>
            <a:r>
              <a:rPr lang="zh-CN" altLang="en-US" dirty="0">
                <a:solidFill>
                  <a:srgbClr val="B60206"/>
                </a:solidFill>
              </a:rPr>
              <a:t>逗号</a:t>
            </a:r>
            <a:r>
              <a:rPr lang="zh-CN" altLang="en-US" dirty="0"/>
              <a:t>隔开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基本语法：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字典的定义及其应用场景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、字典的定义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3755920"/>
            <a:ext cx="10666853" cy="160043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有数据字典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 = {'name': 'Tom', 'age': 20, 'gender': 'male'}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空字典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dict2 = {}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dict3 =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</a:p>
        </p:txBody>
      </p:sp>
      <p:sp>
        <p:nvSpPr>
          <p:cNvPr id="7" name="三角形 9">
            <a:extLst>
              <a:ext uri="{FF2B5EF4-FFF2-40B4-BE49-F238E27FC236}">
                <a16:creationId xmlns:a16="http://schemas.microsoft.com/office/drawing/2014/main" id="{23197916-4FF1-4C92-AE7A-4520837F4448}"/>
              </a:ext>
            </a:extLst>
          </p:cNvPr>
          <p:cNvSpPr/>
          <p:nvPr/>
        </p:nvSpPr>
        <p:spPr>
          <a:xfrm rot="2651319">
            <a:off x="717495" y="6023104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FC8F3570-2791-42C7-B320-77955401B7FE}"/>
              </a:ext>
            </a:extLst>
          </p:cNvPr>
          <p:cNvSpPr txBox="1"/>
          <p:nvPr/>
        </p:nvSpPr>
        <p:spPr>
          <a:xfrm>
            <a:off x="1085446" y="6054570"/>
            <a:ext cx="9773285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注意：一般称冒号前面的为键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(key)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，简称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；冒号后面的为值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(value)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，简称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v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；</a:t>
            </a:r>
            <a:r>
              <a:rPr lang="en-US" altLang="zh-CN" sz="1400" dirty="0" err="1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key:value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就是我们通常说的键值对了。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61BF17-00D8-44F9-BBE1-DC58174FF365}"/>
              </a:ext>
            </a:extLst>
          </p:cNvPr>
          <p:cNvSpPr/>
          <p:nvPr/>
        </p:nvSpPr>
        <p:spPr>
          <a:xfrm>
            <a:off x="820969" y="5638004"/>
            <a:ext cx="10302240" cy="95838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21E208-47E6-4A13-99E1-C9CCCAFAB12C}"/>
              </a:ext>
            </a:extLst>
          </p:cNvPr>
          <p:cNvSpPr/>
          <p:nvPr/>
        </p:nvSpPr>
        <p:spPr>
          <a:xfrm>
            <a:off x="710881" y="5738991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1813967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基本语法：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注：</a:t>
            </a:r>
            <a:r>
              <a:rPr lang="zh-CN" altLang="en-US" dirty="0">
                <a:solidFill>
                  <a:srgbClr val="B70006"/>
                </a:solidFill>
              </a:rPr>
              <a:t>如果</a:t>
            </a:r>
            <a:r>
              <a:rPr lang="en-US" altLang="zh-CN" dirty="0">
                <a:solidFill>
                  <a:srgbClr val="B70006"/>
                </a:solidFill>
              </a:rPr>
              <a:t>key</a:t>
            </a:r>
            <a:r>
              <a:rPr lang="zh-CN" altLang="en-US" dirty="0">
                <a:solidFill>
                  <a:srgbClr val="B70006"/>
                </a:solidFill>
              </a:rPr>
              <a:t>存在则修改这个</a:t>
            </a:r>
            <a:r>
              <a:rPr lang="en-US" altLang="zh-CN" dirty="0">
                <a:solidFill>
                  <a:srgbClr val="B70006"/>
                </a:solidFill>
              </a:rPr>
              <a:t>key</a:t>
            </a:r>
            <a:r>
              <a:rPr lang="zh-CN" altLang="en-US" dirty="0">
                <a:solidFill>
                  <a:srgbClr val="B70006"/>
                </a:solidFill>
              </a:rPr>
              <a:t>对应的值；如果</a:t>
            </a:r>
            <a:r>
              <a:rPr lang="en-US" altLang="zh-CN" dirty="0">
                <a:solidFill>
                  <a:srgbClr val="B70006"/>
                </a:solidFill>
              </a:rPr>
              <a:t>key</a:t>
            </a:r>
            <a:r>
              <a:rPr lang="zh-CN" altLang="en-US" dirty="0">
                <a:solidFill>
                  <a:srgbClr val="B70006"/>
                </a:solidFill>
              </a:rPr>
              <a:t>不存在则新增此键值对。</a:t>
            </a:r>
            <a:endParaRPr lang="en-US" altLang="zh-CN" dirty="0">
              <a:solidFill>
                <a:srgbClr val="B700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字典的定义及其应用场景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、字典的</a:t>
            </a:r>
            <a:r>
              <a:rPr lang="en-US" altLang="zh-CN" dirty="0"/>
              <a:t>"</a:t>
            </a:r>
            <a:r>
              <a:rPr lang="zh-CN" altLang="en-US" dirty="0"/>
              <a:t>增</a:t>
            </a:r>
            <a:r>
              <a:rPr lang="en-US" altLang="zh-CN" dirty="0"/>
              <a:t>"</a:t>
            </a:r>
            <a:r>
              <a:rPr lang="zh-CN" altLang="en-US" dirty="0"/>
              <a:t>操作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0319" y="2158126"/>
            <a:ext cx="10666853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字典序列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[key] = value</a:t>
            </a:r>
          </a:p>
        </p:txBody>
      </p:sp>
      <p:sp>
        <p:nvSpPr>
          <p:cNvPr id="7" name="三角形 9">
            <a:extLst>
              <a:ext uri="{FF2B5EF4-FFF2-40B4-BE49-F238E27FC236}">
                <a16:creationId xmlns:a16="http://schemas.microsoft.com/office/drawing/2014/main" id="{23197916-4FF1-4C92-AE7A-4520837F4448}"/>
              </a:ext>
            </a:extLst>
          </p:cNvPr>
          <p:cNvSpPr/>
          <p:nvPr/>
        </p:nvSpPr>
        <p:spPr>
          <a:xfrm rot="2651319">
            <a:off x="717495" y="6023104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FC8F3570-2791-42C7-B320-77955401B7FE}"/>
              </a:ext>
            </a:extLst>
          </p:cNvPr>
          <p:cNvSpPr txBox="1"/>
          <p:nvPr/>
        </p:nvSpPr>
        <p:spPr>
          <a:xfrm>
            <a:off x="1085446" y="6054570"/>
            <a:ext cx="9773285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注意：字典为可变类型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61BF17-00D8-44F9-BBE1-DC58174FF365}"/>
              </a:ext>
            </a:extLst>
          </p:cNvPr>
          <p:cNvSpPr/>
          <p:nvPr/>
        </p:nvSpPr>
        <p:spPr>
          <a:xfrm>
            <a:off x="820969" y="5638004"/>
            <a:ext cx="10302240" cy="95838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21E208-47E6-4A13-99E1-C9CCCAFAB12C}"/>
              </a:ext>
            </a:extLst>
          </p:cNvPr>
          <p:cNvSpPr/>
          <p:nvPr/>
        </p:nvSpPr>
        <p:spPr>
          <a:xfrm>
            <a:off x="710881" y="5738991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0319" y="2998501"/>
            <a:ext cx="10666853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 = {'name': 'Tom', 'age': 20, 'gender': 'male'}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dict1['name'] = 'Rose'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结果：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{'name': 'Rose', 'age': 20, 'gender': 'male'}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print(dict1)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dict1['id'] = 110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{'name': 'Rose', 'age': 20, 'gender': 'male', 'id': 110}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print(dict1)</a:t>
            </a:r>
          </a:p>
        </p:txBody>
      </p:sp>
    </p:spTree>
    <p:extLst>
      <p:ext uri="{BB962C8B-B14F-4D97-AF65-F5344CB8AC3E}">
        <p14:creationId xmlns:p14="http://schemas.microsoft.com/office/powerpoint/2010/main" val="2468296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del() / del</a:t>
            </a:r>
            <a:r>
              <a:rPr lang="zh-CN" altLang="en-US" dirty="0">
                <a:solidFill>
                  <a:srgbClr val="B60206"/>
                </a:solidFill>
              </a:rPr>
              <a:t>：删除字典或删除字典中指定键值对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clear()</a:t>
            </a:r>
            <a:r>
              <a:rPr lang="zh-CN" altLang="en-US" dirty="0">
                <a:solidFill>
                  <a:srgbClr val="B60206"/>
                </a:solidFill>
              </a:rPr>
              <a:t>：清空字典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字典的定义及其应用场景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、字典的</a:t>
            </a:r>
            <a:r>
              <a:rPr lang="en-US" altLang="zh-CN" dirty="0"/>
              <a:t>"</a:t>
            </a:r>
            <a:r>
              <a:rPr lang="zh-CN" altLang="en-US" dirty="0"/>
              <a:t>删</a:t>
            </a:r>
            <a:r>
              <a:rPr lang="en-US" altLang="zh-CN" dirty="0"/>
              <a:t>"</a:t>
            </a:r>
            <a:r>
              <a:rPr lang="zh-CN" altLang="en-US" dirty="0"/>
              <a:t>操作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2" y="2213135"/>
            <a:ext cx="10666853" cy="138499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 = {'name': 'Tom', 'age': 20, 'gender': 'male'}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 dict1['gender']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结果：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{'name': 'Tom', 'age': 20}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print(dict1)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2" y="4253009"/>
            <a:ext cx="10666853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 = {'name': 'Tom', 'age': 20, 'gender': 'male'}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dict1.clear()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print(dict1)  # {}</a:t>
            </a:r>
          </a:p>
        </p:txBody>
      </p:sp>
    </p:spTree>
    <p:extLst>
      <p:ext uri="{BB962C8B-B14F-4D97-AF65-F5344CB8AC3E}">
        <p14:creationId xmlns:p14="http://schemas.microsoft.com/office/powerpoint/2010/main" val="1233581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基本语法：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字典的定义及其应用场景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、字典的</a:t>
            </a:r>
            <a:r>
              <a:rPr lang="en-US" altLang="zh-CN" dirty="0"/>
              <a:t>"</a:t>
            </a:r>
            <a:r>
              <a:rPr lang="zh-CN" altLang="en-US" dirty="0"/>
              <a:t>改</a:t>
            </a:r>
            <a:r>
              <a:rPr lang="en-US" altLang="zh-CN" dirty="0"/>
              <a:t>"</a:t>
            </a:r>
            <a:r>
              <a:rPr lang="zh-CN" altLang="en-US" dirty="0"/>
              <a:t>操作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2" y="2213135"/>
            <a:ext cx="10666853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字典序列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[key] = value</a:t>
            </a:r>
          </a:p>
        </p:txBody>
      </p:sp>
      <p:sp>
        <p:nvSpPr>
          <p:cNvPr id="8" name="三角形 9">
            <a:extLst>
              <a:ext uri="{FF2B5EF4-FFF2-40B4-BE49-F238E27FC236}">
                <a16:creationId xmlns:a16="http://schemas.microsoft.com/office/drawing/2014/main" id="{23197916-4FF1-4C92-AE7A-4520837F4448}"/>
              </a:ext>
            </a:extLst>
          </p:cNvPr>
          <p:cNvSpPr/>
          <p:nvPr/>
        </p:nvSpPr>
        <p:spPr>
          <a:xfrm rot="2651319">
            <a:off x="758867" y="3212527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C8F3570-2791-42C7-B320-77955401B7FE}"/>
              </a:ext>
            </a:extLst>
          </p:cNvPr>
          <p:cNvSpPr txBox="1"/>
          <p:nvPr/>
        </p:nvSpPr>
        <p:spPr>
          <a:xfrm>
            <a:off x="1126818" y="3243993"/>
            <a:ext cx="9773285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注意：如果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key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存在则修改这个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key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对应的值 ；如果</a:t>
            </a:r>
            <a:r>
              <a:rPr lang="en-US" altLang="zh-CN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key</a:t>
            </a: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不存在则新增此键值对。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61BF17-00D8-44F9-BBE1-DC58174FF365}"/>
              </a:ext>
            </a:extLst>
          </p:cNvPr>
          <p:cNvSpPr/>
          <p:nvPr/>
        </p:nvSpPr>
        <p:spPr>
          <a:xfrm>
            <a:off x="862341" y="2827427"/>
            <a:ext cx="10302240" cy="95838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21E208-47E6-4A13-99E1-C9CCCAFAB12C}"/>
              </a:ext>
            </a:extLst>
          </p:cNvPr>
          <p:cNvSpPr/>
          <p:nvPr/>
        </p:nvSpPr>
        <p:spPr>
          <a:xfrm>
            <a:off x="752253" y="2928414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2081949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值查找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说明：如果当前查找的</a:t>
            </a:r>
            <a:r>
              <a:rPr lang="en-US" altLang="zh-CN" dirty="0">
                <a:solidFill>
                  <a:srgbClr val="B60206"/>
                </a:solidFill>
              </a:rPr>
              <a:t>key</a:t>
            </a:r>
            <a:r>
              <a:rPr lang="zh-CN" altLang="en-US" dirty="0">
                <a:solidFill>
                  <a:srgbClr val="B60206"/>
                </a:solidFill>
              </a:rPr>
              <a:t>存在，则返回对应的值；否则则报错。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字典的定义及其应用场景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、字典的</a:t>
            </a:r>
            <a:r>
              <a:rPr lang="en-US" altLang="zh-CN" dirty="0"/>
              <a:t>"</a:t>
            </a:r>
            <a:r>
              <a:rPr lang="zh-CN" altLang="en-US" dirty="0"/>
              <a:t>查</a:t>
            </a:r>
            <a:r>
              <a:rPr lang="en-US" altLang="zh-CN" dirty="0"/>
              <a:t>"</a:t>
            </a:r>
            <a:r>
              <a:rPr lang="zh-CN" altLang="en-US" dirty="0"/>
              <a:t>操作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2" y="2213135"/>
            <a:ext cx="10666853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 = {'name': 'Tom', 'age': 20, 'gender': 'male'}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print(dict1['id'])         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报错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print(dict1['name'])  # Tom</a:t>
            </a: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946196"/>
              </p:ext>
            </p:extLst>
          </p:nvPr>
        </p:nvGraphicFramePr>
        <p:xfrm>
          <a:off x="793626" y="3888606"/>
          <a:ext cx="10666853" cy="26084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3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7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5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765"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编号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函数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作用</a:t>
                      </a:r>
                    </a:p>
                  </a:txBody>
                  <a:tcPr anchor="ctr" anchorCtr="1">
                    <a:solidFill>
                      <a:srgbClr val="AD2B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097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1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get(key, </a:t>
                      </a:r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默认值</a:t>
                      </a: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根据字典的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key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获取对应的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value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值，如果当前查找的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key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不存在则返回第二个参数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默认值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</a:t>
                      </a:r>
                      <a:r>
                        <a:rPr lang="zh-CN" altLang="en-US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，如果省略第二个参数，则返回</a:t>
                      </a:r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None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951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2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keys()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以列表返回一个字典所有的键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263">
                <a:tc>
                  <a:txBody>
                    <a:bodyPr/>
                    <a:lstStyle/>
                    <a:p>
                      <a:r>
                        <a:rPr lang="en-US" altLang="zh-CN" sz="180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3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values()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以列表返回字典中的所有值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388">
                <a:tc>
                  <a:txBody>
                    <a:bodyPr/>
                    <a:lstStyle/>
                    <a:p>
                      <a:r>
                        <a:rPr lang="en-US" altLang="zh-CN" sz="1800" u="none" strike="noStrike" kern="1200" baseline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4</a:t>
                      </a:r>
                      <a:endParaRPr lang="zh-CN" altLang="en-US" sz="180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items()</a:t>
                      </a:r>
                      <a:endParaRPr lang="zh-CN" altLang="en-US" sz="1800" dirty="0"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以列表返回可遍历的</a:t>
                      </a: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(</a:t>
                      </a:r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键</a:t>
                      </a: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, </a:t>
                      </a:r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值</a:t>
                      </a:r>
                      <a:r>
                        <a:rPr lang="en-US" altLang="zh-CN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) </a:t>
                      </a:r>
                      <a:r>
                        <a:rPr lang="zh-CN" altLang="en-US" sz="1800" dirty="0"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元组数组</a:t>
                      </a:r>
                    </a:p>
                  </a:txBody>
                  <a:tcPr marL="90000" anchor="ctr" anchorCtr="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066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get</a:t>
            </a:r>
            <a:r>
              <a:rPr lang="zh-CN" altLang="en-US" dirty="0"/>
              <a:t>方法演示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B70006"/>
                </a:solidFill>
              </a:rPr>
              <a:t>说明：如果当前查找的</a:t>
            </a:r>
            <a:r>
              <a:rPr lang="en-US" altLang="zh-CN" dirty="0">
                <a:solidFill>
                  <a:srgbClr val="B70006"/>
                </a:solidFill>
              </a:rPr>
              <a:t>key</a:t>
            </a:r>
            <a:r>
              <a:rPr lang="zh-CN" altLang="en-US" dirty="0">
                <a:solidFill>
                  <a:srgbClr val="B70006"/>
                </a:solidFill>
              </a:rPr>
              <a:t>不存在则返回第二个参数</a:t>
            </a:r>
            <a:r>
              <a:rPr lang="en-US" altLang="zh-CN" dirty="0">
                <a:solidFill>
                  <a:srgbClr val="B70006"/>
                </a:solidFill>
              </a:rPr>
              <a:t>(</a:t>
            </a:r>
            <a:r>
              <a:rPr lang="zh-CN" altLang="en-US" dirty="0">
                <a:solidFill>
                  <a:srgbClr val="B70006"/>
                </a:solidFill>
              </a:rPr>
              <a:t>默认值</a:t>
            </a:r>
            <a:r>
              <a:rPr lang="en-US" altLang="zh-CN" dirty="0">
                <a:solidFill>
                  <a:srgbClr val="B70006"/>
                </a:solidFill>
              </a:rPr>
              <a:t>)</a:t>
            </a:r>
            <a:r>
              <a:rPr lang="zh-CN" altLang="en-US" dirty="0">
                <a:solidFill>
                  <a:srgbClr val="B70006"/>
                </a:solidFill>
              </a:rPr>
              <a:t>，如果省略第二个参数，则返回</a:t>
            </a:r>
            <a:r>
              <a:rPr lang="en-US" altLang="zh-CN" dirty="0">
                <a:solidFill>
                  <a:srgbClr val="B70006"/>
                </a:solidFill>
              </a:rPr>
              <a:t>None</a:t>
            </a:r>
            <a:r>
              <a:rPr lang="zh-CN" altLang="en-US" dirty="0">
                <a:solidFill>
                  <a:srgbClr val="B70006"/>
                </a:solidFill>
              </a:rPr>
              <a:t>。</a:t>
            </a:r>
            <a:endParaRPr lang="en-US" altLang="zh-CN" dirty="0">
              <a:solidFill>
                <a:srgbClr val="B700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字典的定义及其应用场景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、字典的</a:t>
            </a:r>
            <a:r>
              <a:rPr lang="en-US" altLang="zh-CN" dirty="0"/>
              <a:t>"</a:t>
            </a:r>
            <a:r>
              <a:rPr lang="zh-CN" altLang="en-US" dirty="0"/>
              <a:t>查</a:t>
            </a:r>
            <a:r>
              <a:rPr lang="en-US" altLang="zh-CN" dirty="0"/>
              <a:t>"</a:t>
            </a:r>
            <a:r>
              <a:rPr lang="zh-CN" altLang="en-US" dirty="0"/>
              <a:t>操作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0" y="2987013"/>
            <a:ext cx="10666853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 = {'name': 'Tom', 'age': 20, 'gender': 'male'}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print(dict1.get('name'))    # Tom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print(dict1.get('id', 110))  # 110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print(dict1.get('id'))  	       # None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1" y="2139644"/>
            <a:ext cx="10666853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字典序列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.get(key,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默认值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13233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keys()</a:t>
            </a:r>
            <a:r>
              <a:rPr lang="zh-CN" altLang="en-US" dirty="0"/>
              <a:t>、</a:t>
            </a:r>
            <a:r>
              <a:rPr lang="en-US" altLang="zh-CN" dirty="0"/>
              <a:t>values()</a:t>
            </a:r>
            <a:r>
              <a:rPr lang="zh-CN" altLang="en-US" dirty="0"/>
              <a:t>、</a:t>
            </a:r>
            <a:r>
              <a:rPr lang="en-US" altLang="zh-CN" dirty="0"/>
              <a:t>items()</a:t>
            </a:r>
            <a:r>
              <a:rPr lang="zh-CN" altLang="en-US" dirty="0"/>
              <a:t>案例演示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字典的定义及其应用场景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、字典的</a:t>
            </a:r>
            <a:r>
              <a:rPr lang="en-US" altLang="zh-CN" dirty="0"/>
              <a:t>"</a:t>
            </a:r>
            <a:r>
              <a:rPr lang="zh-CN" altLang="en-US" dirty="0"/>
              <a:t>查</a:t>
            </a:r>
            <a:r>
              <a:rPr lang="en-US" altLang="zh-CN" dirty="0"/>
              <a:t>"</a:t>
            </a:r>
            <a:r>
              <a:rPr lang="zh-CN" altLang="en-US" dirty="0"/>
              <a:t>操作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0" y="3421904"/>
            <a:ext cx="10666853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 = {'name': 'Tom', 'age': 20, 'gender': 'male'}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print(dict1.values())  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结果：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dict_keys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(['Tom', 20, 'male'])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0" y="2187770"/>
            <a:ext cx="10666853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 = {'name': 'Tom', 'age': 20, 'gender': 'male'}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print(dict1.keys())  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结果：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dict_keys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(['name', 'age', 'gender'])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49" y="4656038"/>
            <a:ext cx="10666853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 = {'name': 'Tom', 'age': 20, 'gender': 'male'}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print(dict1.items())  </a:t>
            </a: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结果：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dict_items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([('name', 'Tom'), ('age', 20), ('gender', 'male')])</a:t>
            </a:r>
          </a:p>
        </p:txBody>
      </p:sp>
    </p:spTree>
    <p:extLst>
      <p:ext uri="{BB962C8B-B14F-4D97-AF65-F5344CB8AC3E}">
        <p14:creationId xmlns:p14="http://schemas.microsoft.com/office/powerpoint/2010/main" val="186599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749598" cy="504441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遍历字典的</a:t>
            </a:r>
            <a:r>
              <a:rPr lang="en-US" altLang="zh-CN" dirty="0"/>
              <a:t>key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遍历字典的</a:t>
            </a:r>
            <a:r>
              <a:rPr lang="en-US" altLang="zh-CN" dirty="0"/>
              <a:t>value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遍历字典的元素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遍历字典的键值对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字典的循环遍历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案例演示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0" y="1980643"/>
            <a:ext cx="10666853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 = {'name': 'Tom', 'age': 20, 'gender': 'male'}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key in dict1.keys():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print(key)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0" y="3212818"/>
            <a:ext cx="10666853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 = {'name': 'Tom', 'age': 20, 'gender': 'male'}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value in dict1.values():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print(value)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49" y="4444993"/>
            <a:ext cx="10666853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 = {'name': 'Tom', 'age': 20, 'gender': 'male'}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item in dict1.items():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print(item)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49" y="5677168"/>
            <a:ext cx="10666853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 = {'name': 'Tom', 'age': 20, 'gender': 'male'}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key, value in dict1.items():</a:t>
            </a: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print(f'{key} = {value}')</a:t>
            </a:r>
          </a:p>
        </p:txBody>
      </p:sp>
    </p:spTree>
    <p:extLst>
      <p:ext uri="{BB962C8B-B14F-4D97-AF65-F5344CB8AC3E}">
        <p14:creationId xmlns:p14="http://schemas.microsoft.com/office/powerpoint/2010/main" val="212733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集合的定义及其应用场景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7129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65841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知其然，知其所以然。集合的定义只有一句话：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重复一遍：</a:t>
            </a:r>
            <a:r>
              <a:rPr lang="zh-CN" altLang="en-US" dirty="0">
                <a:solidFill>
                  <a:srgbClr val="B60206"/>
                </a:solidFill>
              </a:rPr>
              <a:t>集合里边的元素是不可重复的并且集合内的元素还是无序的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也就是说，集合可以像元组一样，设置不可改变的类型。也可以默认像字典，列表一样，可以迭代改变。同时</a:t>
            </a:r>
            <a:r>
              <a:rPr lang="zh-CN" altLang="en-US" dirty="0">
                <a:solidFill>
                  <a:srgbClr val="B60206"/>
                </a:solidFill>
              </a:rPr>
              <a:t>集合里的元素可以是列表，元组，字典。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集合的定义及其应用场景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、什么是集合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2" y="2134647"/>
            <a:ext cx="10666853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集合（</a:t>
            </a:r>
            <a:r>
              <a:rPr lang="en-US" altLang="zh-CN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</a:t>
            </a:r>
            <a:r>
              <a:rPr lang="zh-CN" altLang="en-US" sz="1400" dirty="0">
                <a:solidFill>
                  <a:srgbClr val="B6020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）是一个无序的不重复元素序列。</a:t>
            </a:r>
            <a:endParaRPr lang="en-US" altLang="zh-CN" sz="1400" dirty="0">
              <a:solidFill>
                <a:srgbClr val="B6020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386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646133"/>
            <a:ext cx="10749598" cy="465841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基本语法：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创建集合使用</a:t>
            </a:r>
            <a:r>
              <a:rPr lang="en-US" altLang="zh-CN" dirty="0">
                <a:solidFill>
                  <a:srgbClr val="B60206"/>
                </a:solidFill>
              </a:rPr>
              <a:t>`{}`</a:t>
            </a:r>
            <a:r>
              <a:rPr lang="zh-CN" altLang="en-US" dirty="0">
                <a:solidFill>
                  <a:srgbClr val="B60206"/>
                </a:solidFill>
              </a:rPr>
              <a:t>或</a:t>
            </a:r>
            <a:r>
              <a:rPr lang="en-US" altLang="zh-CN" dirty="0">
                <a:solidFill>
                  <a:srgbClr val="B60206"/>
                </a:solidFill>
              </a:rPr>
              <a:t>`set()`</a:t>
            </a:r>
            <a:r>
              <a:rPr lang="zh-CN" altLang="en-US" dirty="0">
                <a:solidFill>
                  <a:srgbClr val="B60206"/>
                </a:solidFill>
              </a:rPr>
              <a:t>， 但是如果要创建空集合只能使用</a:t>
            </a:r>
            <a:r>
              <a:rPr lang="en-US" altLang="zh-CN" dirty="0">
                <a:solidFill>
                  <a:srgbClr val="B60206"/>
                </a:solidFill>
              </a:rPr>
              <a:t>`set()`</a:t>
            </a:r>
            <a:r>
              <a:rPr lang="zh-CN" altLang="en-US" dirty="0">
                <a:solidFill>
                  <a:srgbClr val="B60206"/>
                </a:solidFill>
              </a:rPr>
              <a:t>，因为</a:t>
            </a:r>
            <a:r>
              <a:rPr lang="en-US" altLang="zh-CN" dirty="0">
                <a:solidFill>
                  <a:srgbClr val="B60206"/>
                </a:solidFill>
              </a:rPr>
              <a:t>`{}`</a:t>
            </a:r>
            <a:r>
              <a:rPr lang="zh-CN" altLang="en-US" dirty="0">
                <a:solidFill>
                  <a:srgbClr val="B60206"/>
                </a:solidFill>
              </a:rPr>
              <a:t>用来创建空字典。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集合的定义及其应用场景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、集合的定义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2" y="2712162"/>
            <a:ext cx="10666853" cy="3108543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 = {10, 20, 30, 40, 50}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print(s1)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s2 = {10, 30, 20, 10, 30, 40, 30, 50}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print(s2)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s3 = set('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abcdefg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print(s3)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s4 = set()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print(type(s4))  # set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s5 = {}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print(type(s5))  #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49540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30630"/>
            <a:ext cx="10749598" cy="50241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☆ 增加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① add()</a:t>
            </a:r>
            <a:r>
              <a:rPr lang="zh-CN" altLang="en-US" dirty="0">
                <a:solidFill>
                  <a:srgbClr val="B60206"/>
                </a:solidFill>
              </a:rPr>
              <a:t>方法 ：增加单一元素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因为集合有去重功能，所以，当向集合内追加的数据是当前集合已有数据的话，则不进行任何操作。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70006"/>
                </a:solidFill>
              </a:rPr>
              <a:t>② </a:t>
            </a:r>
            <a:r>
              <a:rPr lang="en-US" altLang="zh-CN" dirty="0">
                <a:solidFill>
                  <a:srgbClr val="B70006"/>
                </a:solidFill>
              </a:rPr>
              <a:t>update()</a:t>
            </a:r>
            <a:r>
              <a:rPr lang="zh-CN" altLang="en-US" dirty="0">
                <a:solidFill>
                  <a:srgbClr val="B70006"/>
                </a:solidFill>
              </a:rPr>
              <a:t>方法 ：增加序列数据</a:t>
            </a: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注：字符串也是一个数据序列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集合的定义及其应用场景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、集合的基本操作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1" y="2531688"/>
            <a:ext cx="10666853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 = {10, 20}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s1.add(100)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s1.add(10)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print(s1)   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结果：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{100, 10, 20}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4919990"/>
            <a:ext cx="10666853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 = {10, 20}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结果：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s1.update(100)  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报错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s1.update([100, 200])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s1.update('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abc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print(s1)</a:t>
            </a:r>
          </a:p>
        </p:txBody>
      </p:sp>
    </p:spTree>
    <p:extLst>
      <p:ext uri="{BB962C8B-B14F-4D97-AF65-F5344CB8AC3E}">
        <p14:creationId xmlns:p14="http://schemas.microsoft.com/office/powerpoint/2010/main" val="4174266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30630"/>
            <a:ext cx="10749598" cy="50241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☆ 删除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① remove()</a:t>
            </a:r>
            <a:r>
              <a:rPr lang="zh-CN" altLang="en-US" dirty="0">
                <a:solidFill>
                  <a:srgbClr val="B60206"/>
                </a:solidFill>
              </a:rPr>
              <a:t>方法：删除集合中的指定数据，如果数据不存在则报错。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② </a:t>
            </a:r>
            <a:r>
              <a:rPr lang="en-US" altLang="zh-CN" dirty="0">
                <a:solidFill>
                  <a:srgbClr val="B60206"/>
                </a:solidFill>
              </a:rPr>
              <a:t>discard()</a:t>
            </a:r>
            <a:r>
              <a:rPr lang="zh-CN" altLang="en-US" dirty="0">
                <a:solidFill>
                  <a:srgbClr val="B60206"/>
                </a:solidFill>
              </a:rPr>
              <a:t>方法：删除集合中的指定数据，如果数据不存在也不会报错。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70006"/>
                </a:solidFill>
              </a:rPr>
              <a:t>③ </a:t>
            </a:r>
            <a:r>
              <a:rPr lang="en-US" altLang="zh-CN" dirty="0">
                <a:solidFill>
                  <a:srgbClr val="B70006"/>
                </a:solidFill>
              </a:rPr>
              <a:t>pop()</a:t>
            </a:r>
            <a:r>
              <a:rPr lang="zh-CN" altLang="en-US" dirty="0">
                <a:solidFill>
                  <a:srgbClr val="B70006"/>
                </a:solidFill>
              </a:rPr>
              <a:t>方法：随机删除集合中的某个数据，并返回这个数据。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集合的定义及其应用场景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、集合的基本操作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9" y="2958952"/>
            <a:ext cx="10666853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 = {10, 20}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s1.remove(10)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print(s1)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s1.remove(10)  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报错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s1.discard(10)  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不报错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print(s1)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52252" y="5371969"/>
            <a:ext cx="10666853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pt-BR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 = {10, 20, 30, 40, 50}</a:t>
            </a:r>
          </a:p>
          <a:p>
            <a:endParaRPr lang="pt-BR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pt-BR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del_num = s1.pop()</a:t>
            </a:r>
          </a:p>
          <a:p>
            <a:r>
              <a:rPr lang="pt-BR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print(del_num)</a:t>
            </a:r>
          </a:p>
          <a:p>
            <a:r>
              <a:rPr lang="pt-BR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print(s1)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3457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30630"/>
            <a:ext cx="10749598" cy="50241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☆ 查询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① in</a:t>
            </a:r>
            <a:r>
              <a:rPr lang="zh-CN" altLang="en-US" dirty="0">
                <a:solidFill>
                  <a:srgbClr val="B60206"/>
                </a:solidFill>
              </a:rPr>
              <a:t>：判断数据在集合序列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② </a:t>
            </a:r>
            <a:r>
              <a:rPr lang="en-US" altLang="zh-CN" dirty="0">
                <a:solidFill>
                  <a:srgbClr val="B60206"/>
                </a:solidFill>
              </a:rPr>
              <a:t>not in</a:t>
            </a:r>
            <a:r>
              <a:rPr lang="zh-CN" altLang="en-US" dirty="0">
                <a:solidFill>
                  <a:srgbClr val="B60206"/>
                </a:solidFill>
              </a:rPr>
              <a:t>：判断数据不在集合序列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集合的定义及其应用场景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、集合的基本操作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9" y="2958952"/>
            <a:ext cx="10666853" cy="95410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 = {10, 20, 30, 40, 50}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print(10 in s1)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print(10 not in s1)</a:t>
            </a:r>
          </a:p>
        </p:txBody>
      </p:sp>
    </p:spTree>
    <p:extLst>
      <p:ext uri="{BB962C8B-B14F-4D97-AF65-F5344CB8AC3E}">
        <p14:creationId xmlns:p14="http://schemas.microsoft.com/office/powerpoint/2010/main" val="18467954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数据序列的公共方法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0690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数据序列的公共方法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、方法介绍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893358"/>
              </p:ext>
            </p:extLst>
          </p:nvPr>
        </p:nvGraphicFramePr>
        <p:xfrm>
          <a:off x="978567" y="1770637"/>
          <a:ext cx="10148236" cy="2830239"/>
        </p:xfrm>
        <a:graphic>
          <a:graphicData uri="http://schemas.openxmlformats.org/drawingml/2006/table">
            <a:tbl>
              <a:tblPr/>
              <a:tblGrid>
                <a:gridCol w="2033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0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214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effectLst/>
                        </a:rPr>
                        <a:t>运算符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00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effectLst/>
                        </a:rPr>
                        <a:t>描述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00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bg1"/>
                          </a:solidFill>
                          <a:effectLst/>
                        </a:rPr>
                        <a:t>支持的容器类型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00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45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effectLst/>
                        </a:rPr>
                        <a:t>+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合并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字符串、列表、元组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6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*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复制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effectLst/>
                        </a:rPr>
                        <a:t>字符串、列表、元组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0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in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元素是否存在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字符串、列表、元组、字典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97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not in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元素是否不存在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字符串、列表、元组、字典</a:t>
                      </a:r>
                    </a:p>
                  </a:txBody>
                  <a:tcPr marL="99060" marR="99060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48000" y="1944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1234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数据序列的公共方法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+ </a:t>
            </a:r>
            <a:r>
              <a:rPr lang="zh-CN" altLang="en-US" dirty="0"/>
              <a:t>合并操作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48000" y="1944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635973"/>
            <a:ext cx="10666853" cy="39703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1.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 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str1 = '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aa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str2 = 'bb'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str3 = str1 + str2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print(str3)  #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aabb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2.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列表 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[1, 2]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list2 = [10, 20]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list3 = list1 + list2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print(list3)  # [1, 2, 10, 20]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3.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元组 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t1 = (1, 2)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t2 = (10, 20)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t3 = t1 + t2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print(t3)  # (10, 20, 100, 200)</a:t>
            </a:r>
          </a:p>
        </p:txBody>
      </p:sp>
    </p:spTree>
    <p:extLst>
      <p:ext uri="{BB962C8B-B14F-4D97-AF65-F5344CB8AC3E}">
        <p14:creationId xmlns:p14="http://schemas.microsoft.com/office/powerpoint/2010/main" val="3253175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数据序列的公共方法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、* 复制操作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48000" y="1944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635973"/>
            <a:ext cx="10666853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1.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字符串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print('-' * 10)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2.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列表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['hello']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print(list1 * 4</a:t>
            </a:r>
          </a:p>
          <a:p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3.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元组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t1 = ('world',)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print(t1 * 4)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4061444"/>
            <a:ext cx="10690742" cy="253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93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数据序列的公共方法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in</a:t>
            </a:r>
            <a:r>
              <a:rPr lang="zh-CN" altLang="en-US" dirty="0"/>
              <a:t>与</a:t>
            </a:r>
            <a:r>
              <a:rPr lang="en-US" altLang="zh-CN" dirty="0"/>
              <a:t>not in</a:t>
            </a:r>
            <a:endParaRPr lang="zh-CN" altLang="en-US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48000" y="1944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1635973"/>
            <a:ext cx="10666853" cy="461664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ea typeface="Alibaba PuHuiTi B"/>
              </a:rPr>
              <a:t># 1. </a:t>
            </a:r>
            <a:r>
              <a:rPr lang="zh-CN" altLang="en-US" sz="1400" dirty="0">
                <a:ea typeface="Alibaba PuHuiTi B"/>
              </a:rPr>
              <a:t>字符串</a:t>
            </a:r>
            <a:br>
              <a:rPr lang="zh-CN" altLang="en-US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print('a' in '</a:t>
            </a:r>
            <a:r>
              <a:rPr lang="en-US" altLang="zh-CN" sz="1400" dirty="0" err="1">
                <a:ea typeface="Alibaba PuHuiTi B"/>
              </a:rPr>
              <a:t>abcd</a:t>
            </a:r>
            <a:r>
              <a:rPr lang="en-US" altLang="zh-CN" sz="1400" dirty="0">
                <a:ea typeface="Alibaba PuHuiTi B"/>
              </a:rPr>
              <a:t>')  # True</a:t>
            </a:r>
            <a:br>
              <a:rPr lang="en-US" altLang="zh-CN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print('a' not in '</a:t>
            </a:r>
            <a:r>
              <a:rPr lang="en-US" altLang="zh-CN" sz="1400" dirty="0" err="1">
                <a:ea typeface="Alibaba PuHuiTi B"/>
              </a:rPr>
              <a:t>abcd</a:t>
            </a:r>
            <a:r>
              <a:rPr lang="en-US" altLang="zh-CN" sz="1400" dirty="0">
                <a:ea typeface="Alibaba PuHuiTi B"/>
              </a:rPr>
              <a:t>')  # False</a:t>
            </a:r>
            <a:br>
              <a:rPr lang="en-US" altLang="zh-CN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print('-' * 10)</a:t>
            </a:r>
            <a:br>
              <a:rPr lang="en-US" altLang="zh-CN" sz="1400" dirty="0">
                <a:ea typeface="Alibaba PuHuiTi B"/>
              </a:rPr>
            </a:br>
            <a:br>
              <a:rPr lang="en-US" altLang="zh-CN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# 2. </a:t>
            </a:r>
            <a:r>
              <a:rPr lang="zh-CN" altLang="en-US" sz="1400" dirty="0">
                <a:ea typeface="Alibaba PuHuiTi B"/>
              </a:rPr>
              <a:t>列表</a:t>
            </a:r>
            <a:br>
              <a:rPr lang="zh-CN" altLang="en-US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list1 = ['a', 'b', 'c', 'd']</a:t>
            </a:r>
            <a:br>
              <a:rPr lang="en-US" altLang="zh-CN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print('a' in list1)  # True</a:t>
            </a:r>
            <a:br>
              <a:rPr lang="en-US" altLang="zh-CN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print('a' not in list1)  # False</a:t>
            </a:r>
            <a:br>
              <a:rPr lang="en-US" altLang="zh-CN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print('-' * 10)</a:t>
            </a:r>
            <a:br>
              <a:rPr lang="en-US" altLang="zh-CN" sz="1400" dirty="0">
                <a:ea typeface="Alibaba PuHuiTi B"/>
              </a:rPr>
            </a:br>
            <a:br>
              <a:rPr lang="en-US" altLang="zh-CN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# 3. </a:t>
            </a:r>
            <a:r>
              <a:rPr lang="zh-CN" altLang="en-US" sz="1400" dirty="0">
                <a:ea typeface="Alibaba PuHuiTi B"/>
              </a:rPr>
              <a:t>元组</a:t>
            </a:r>
            <a:br>
              <a:rPr lang="zh-CN" altLang="en-US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t1 = ('a', 'b', 'c', 'd')</a:t>
            </a:r>
            <a:br>
              <a:rPr lang="en-US" altLang="zh-CN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print('</a:t>
            </a:r>
            <a:r>
              <a:rPr lang="en-US" altLang="zh-CN" sz="1400" dirty="0" err="1">
                <a:ea typeface="Alibaba PuHuiTi B"/>
              </a:rPr>
              <a:t>aa</a:t>
            </a:r>
            <a:r>
              <a:rPr lang="en-US" altLang="zh-CN" sz="1400" dirty="0">
                <a:ea typeface="Alibaba PuHuiTi B"/>
              </a:rPr>
              <a:t>' in t1)  # False</a:t>
            </a:r>
            <a:br>
              <a:rPr lang="en-US" altLang="zh-CN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print('</a:t>
            </a:r>
            <a:r>
              <a:rPr lang="en-US" altLang="zh-CN" sz="1400" dirty="0" err="1">
                <a:ea typeface="Alibaba PuHuiTi B"/>
              </a:rPr>
              <a:t>aa</a:t>
            </a:r>
            <a:r>
              <a:rPr lang="en-US" altLang="zh-CN" sz="1400" dirty="0">
                <a:ea typeface="Alibaba PuHuiTi B"/>
              </a:rPr>
              <a:t>' not in t1)  # True</a:t>
            </a:r>
            <a:br>
              <a:rPr lang="en-US" altLang="zh-CN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print('-' * 10)</a:t>
            </a:r>
            <a:br>
              <a:rPr lang="en-US" altLang="zh-CN" sz="1400" dirty="0">
                <a:ea typeface="Alibaba PuHuiTi B"/>
              </a:rPr>
            </a:br>
            <a:br>
              <a:rPr lang="en-US" altLang="zh-CN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# 4. </a:t>
            </a:r>
            <a:r>
              <a:rPr lang="zh-CN" altLang="en-US" sz="1400" dirty="0">
                <a:ea typeface="Alibaba PuHuiTi B"/>
              </a:rPr>
              <a:t>字典</a:t>
            </a:r>
            <a:br>
              <a:rPr lang="zh-CN" altLang="en-US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dict1 = {'name': '</a:t>
            </a:r>
            <a:r>
              <a:rPr lang="en-US" altLang="zh-CN" sz="1400" dirty="0" err="1">
                <a:ea typeface="Alibaba PuHuiTi B"/>
              </a:rPr>
              <a:t>heima</a:t>
            </a:r>
            <a:r>
              <a:rPr lang="en-US" altLang="zh-CN" sz="1400" dirty="0">
                <a:ea typeface="Alibaba PuHuiTi B"/>
              </a:rPr>
              <a:t>', 'age':18}</a:t>
            </a:r>
            <a:br>
              <a:rPr lang="en-US" altLang="zh-CN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print('name' in dict1)  # True</a:t>
            </a:r>
            <a:br>
              <a:rPr lang="en-US" altLang="zh-CN" sz="1400" dirty="0">
                <a:ea typeface="Alibaba PuHuiTi B"/>
              </a:rPr>
            </a:br>
            <a:r>
              <a:rPr lang="en-US" altLang="zh-CN" sz="1400" dirty="0">
                <a:ea typeface="Alibaba PuHuiTi B"/>
              </a:rPr>
              <a:t>print('age' not in dict1)  # False</a:t>
            </a:r>
          </a:p>
        </p:txBody>
      </p:sp>
    </p:spTree>
    <p:extLst>
      <p:ext uri="{BB962C8B-B14F-4D97-AF65-F5344CB8AC3E}">
        <p14:creationId xmlns:p14="http://schemas.microsoft.com/office/powerpoint/2010/main" val="3903533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数据序列的公共方法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04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25998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数据序列的公共方法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、公共方法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48000" y="1944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671257"/>
              </p:ext>
            </p:extLst>
          </p:nvPr>
        </p:nvGraphicFramePr>
        <p:xfrm>
          <a:off x="904774" y="1738998"/>
          <a:ext cx="10222030" cy="3670400"/>
        </p:xfrm>
        <a:graphic>
          <a:graphicData uri="http://schemas.openxmlformats.org/drawingml/2006/table">
            <a:tbl>
              <a:tblPr/>
              <a:tblGrid>
                <a:gridCol w="808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4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9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81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编号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00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函数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00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bg1"/>
                          </a:solidFill>
                          <a:effectLst/>
                        </a:rPr>
                        <a:t>描述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00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76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1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len()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计算容器中元素个数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2013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2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effectLst/>
                        </a:rPr>
                        <a:t>del </a:t>
                      </a:r>
                      <a:r>
                        <a:rPr lang="zh-CN" altLang="en-US" sz="1600">
                          <a:effectLst/>
                        </a:rPr>
                        <a:t>或 </a:t>
                      </a:r>
                      <a:r>
                        <a:rPr lang="en-US" sz="1600">
                          <a:effectLst/>
                        </a:rPr>
                        <a:t>del()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删除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216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3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max()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返回容器中元素最大值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1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4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min()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返回容器中元素最小值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13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5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range(start, end, step)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>
                          <a:effectLst/>
                        </a:rPr>
                        <a:t>生成从</a:t>
                      </a:r>
                      <a:r>
                        <a:rPr lang="en-US" altLang="zh-CN" sz="1600">
                          <a:effectLst/>
                        </a:rPr>
                        <a:t>start</a:t>
                      </a:r>
                      <a:r>
                        <a:rPr lang="zh-CN" altLang="en-US" sz="1600">
                          <a:effectLst/>
                        </a:rPr>
                        <a:t>到</a:t>
                      </a:r>
                      <a:r>
                        <a:rPr lang="en-US" altLang="zh-CN" sz="1600">
                          <a:effectLst/>
                        </a:rPr>
                        <a:t>end</a:t>
                      </a:r>
                      <a:r>
                        <a:rPr lang="zh-CN" altLang="en-US" sz="1600">
                          <a:effectLst/>
                        </a:rPr>
                        <a:t>的数字，步长为 </a:t>
                      </a:r>
                      <a:r>
                        <a:rPr lang="en-US" altLang="zh-CN" sz="1600">
                          <a:effectLst/>
                        </a:rPr>
                        <a:t>step</a:t>
                      </a:r>
                      <a:r>
                        <a:rPr lang="zh-CN" altLang="en-US" sz="1600">
                          <a:effectLst/>
                        </a:rPr>
                        <a:t>，供</a:t>
                      </a:r>
                      <a:r>
                        <a:rPr lang="en-US" altLang="zh-CN" sz="1600">
                          <a:effectLst/>
                        </a:rPr>
                        <a:t>for</a:t>
                      </a:r>
                      <a:r>
                        <a:rPr lang="zh-CN" altLang="en-US" sz="1600">
                          <a:effectLst/>
                        </a:rPr>
                        <a:t>循环使用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739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6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effectLst/>
                        </a:rPr>
                        <a:t>enumerate()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600" dirty="0">
                          <a:effectLst/>
                        </a:rPr>
                        <a:t>函数用于将一个可遍历的数据对象</a:t>
                      </a:r>
                      <a:r>
                        <a:rPr lang="en-US" altLang="zh-CN" sz="1600" dirty="0">
                          <a:effectLst/>
                        </a:rPr>
                        <a:t>(</a:t>
                      </a:r>
                      <a:r>
                        <a:rPr lang="zh-CN" altLang="en-US" sz="1600" dirty="0">
                          <a:effectLst/>
                        </a:rPr>
                        <a:t>如列表、元组或字符串</a:t>
                      </a:r>
                      <a:r>
                        <a:rPr lang="en-US" altLang="zh-CN" sz="1600" dirty="0">
                          <a:effectLst/>
                        </a:rPr>
                        <a:t>)</a:t>
                      </a:r>
                      <a:r>
                        <a:rPr lang="zh-CN" altLang="en-US" sz="1600" dirty="0">
                          <a:effectLst/>
                        </a:rPr>
                        <a:t>组合为一个索引序列，同时列出数据和数据下标，一般用在 </a:t>
                      </a:r>
                      <a:r>
                        <a:rPr lang="en-US" altLang="zh-CN" sz="1600" dirty="0">
                          <a:effectLst/>
                        </a:rPr>
                        <a:t>for </a:t>
                      </a:r>
                      <a:r>
                        <a:rPr lang="zh-CN" altLang="en-US" sz="1600" dirty="0">
                          <a:effectLst/>
                        </a:rPr>
                        <a:t>循环当中。</a:t>
                      </a:r>
                    </a:p>
                  </a:txBody>
                  <a:tcPr marL="62853" marR="62853" marT="29009" marB="29009" anchor="ctr">
                    <a:lnL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F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16242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210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数据序列的公共方法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enumerate()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48000" y="1944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16242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30630"/>
            <a:ext cx="10749598" cy="50241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基本语法：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B60206"/>
                </a:solidFill>
              </a:rPr>
              <a:t>注意：</a:t>
            </a:r>
            <a:r>
              <a:rPr lang="en-US" altLang="zh-CN" dirty="0">
                <a:solidFill>
                  <a:srgbClr val="B60206"/>
                </a:solidFill>
              </a:rPr>
              <a:t>start</a:t>
            </a:r>
            <a:r>
              <a:rPr lang="zh-CN" altLang="en-US" dirty="0">
                <a:solidFill>
                  <a:srgbClr val="B60206"/>
                </a:solidFill>
              </a:rPr>
              <a:t>参数用来设置遍历数据的下标的起始值，默认为</a:t>
            </a:r>
            <a:r>
              <a:rPr lang="en-US" altLang="zh-CN" dirty="0">
                <a:solidFill>
                  <a:srgbClr val="B60206"/>
                </a:solidFill>
              </a:rPr>
              <a:t>0</a:t>
            </a:r>
            <a:r>
              <a:rPr lang="zh-CN" altLang="en-US" dirty="0">
                <a:solidFill>
                  <a:srgbClr val="B60206"/>
                </a:solidFill>
              </a:rPr>
              <a:t>。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040091"/>
            <a:ext cx="10666853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enumerate(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可遍历对象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start=0)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857329"/>
            <a:ext cx="10666853" cy="160043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['a', 'b', 'c', 'd', 'e']</a:t>
            </a:r>
          </a:p>
          <a:p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enumerate(list1):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key, value in enumerate(list1, start=1):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print(f'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下标是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{key},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对应的字符是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{value}')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4572739"/>
            <a:ext cx="7306964" cy="210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956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数据序列的公共方法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、容器类型转换</a:t>
            </a:r>
            <a:endParaRPr lang="en-US" altLang="zh-CN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48000" y="1944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16242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30630"/>
            <a:ext cx="10749598" cy="5024174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tuple()</a:t>
            </a:r>
            <a:r>
              <a:rPr lang="zh-CN" altLang="en-US" dirty="0">
                <a:solidFill>
                  <a:srgbClr val="B60206"/>
                </a:solidFill>
              </a:rPr>
              <a:t>方法：将某个序列转换成元组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list()</a:t>
            </a:r>
            <a:r>
              <a:rPr lang="zh-CN" altLang="en-US" dirty="0">
                <a:solidFill>
                  <a:srgbClr val="B60206"/>
                </a:solidFill>
              </a:rPr>
              <a:t>方法：将某个序列转换成列表</a:t>
            </a: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60206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B60206"/>
                </a:solidFill>
              </a:rPr>
              <a:t>set()</a:t>
            </a:r>
            <a:r>
              <a:rPr lang="zh-CN" altLang="en-US" dirty="0">
                <a:solidFill>
                  <a:srgbClr val="B60206"/>
                </a:solidFill>
              </a:rPr>
              <a:t>方法：将某个序列转换成集合（但是要注意两件事 </a:t>
            </a:r>
            <a:r>
              <a:rPr lang="en-US" altLang="zh-CN" dirty="0">
                <a:solidFill>
                  <a:srgbClr val="B60206"/>
                </a:solidFill>
              </a:rPr>
              <a:t>=&gt; </a:t>
            </a:r>
            <a:r>
              <a:rPr lang="zh-CN" altLang="en-US" dirty="0">
                <a:solidFill>
                  <a:srgbClr val="B60206"/>
                </a:solidFill>
              </a:rPr>
              <a:t>① 集合可以快速完成列表去重 ② 集合不支持下标）</a:t>
            </a:r>
            <a:endParaRPr lang="en-US" altLang="zh-CN" dirty="0">
              <a:solidFill>
                <a:srgbClr val="B60206"/>
              </a:solidFill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040091"/>
            <a:ext cx="10666853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[10, 20, 30, 40, 50, 20]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 = {100, 200, 300, 400, 500}</a:t>
            </a:r>
          </a:p>
          <a:p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print(tuple(list1))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print(tuple(s1))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9" y="3664971"/>
            <a:ext cx="10666853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t1 = ('a', 'b', 'c', 'd', 'e')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s1 = {100, 200, 300, 400, 500}</a:t>
            </a:r>
          </a:p>
          <a:p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print(list(t1))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print(list(s1))</a:t>
            </a:r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9" y="5417342"/>
            <a:ext cx="10666853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[10, 20, 30, 40, 50, 20]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t1 = ('a', 'b', 'c', 'd', 'e')</a:t>
            </a:r>
          </a:p>
          <a:p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print(set(list1))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print(set(t1))</a:t>
            </a:r>
          </a:p>
        </p:txBody>
      </p:sp>
    </p:spTree>
    <p:extLst>
      <p:ext uri="{BB962C8B-B14F-4D97-AF65-F5344CB8AC3E}">
        <p14:creationId xmlns:p14="http://schemas.microsoft.com/office/powerpoint/2010/main" val="2569018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7A42-DEB9-4846-9885-EF1F65B29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列表集合字典推导式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0D98B5-82FB-804B-8565-7E31DD4B40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05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674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数据序列的公共方法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、什么是推导式</a:t>
            </a:r>
            <a:endParaRPr lang="en-US" altLang="zh-CN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48000" y="1944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16242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30630"/>
            <a:ext cx="10749598" cy="50241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推导式</a:t>
            </a:r>
            <a:r>
              <a:rPr lang="en-US" altLang="zh-CN" dirty="0">
                <a:solidFill>
                  <a:srgbClr val="B70006"/>
                </a:solidFill>
              </a:rPr>
              <a:t>comprehensions</a:t>
            </a:r>
            <a:r>
              <a:rPr lang="zh-CN" altLang="en-US" dirty="0"/>
              <a:t>（又称解析式），是</a:t>
            </a:r>
            <a:r>
              <a:rPr lang="en-US" altLang="zh-CN" dirty="0"/>
              <a:t>Python</a:t>
            </a:r>
            <a:r>
              <a:rPr lang="zh-CN" altLang="en-US" dirty="0"/>
              <a:t>的一种独有特性。</a:t>
            </a:r>
            <a:r>
              <a:rPr lang="zh-CN" altLang="en-US" dirty="0">
                <a:solidFill>
                  <a:srgbClr val="B70006"/>
                </a:solidFill>
              </a:rPr>
              <a:t>推导式是可以从一个数据序列构建另一个新的数据序列（一个有规律的列表或控制一个有规律列表）的结构体。 共有三种推导：</a:t>
            </a:r>
            <a:r>
              <a:rPr lang="en-US" altLang="zh-CN" dirty="0">
                <a:solidFill>
                  <a:srgbClr val="B70006"/>
                </a:solidFill>
              </a:rPr>
              <a:t>`</a:t>
            </a:r>
            <a:r>
              <a:rPr lang="zh-CN" altLang="en-US" dirty="0">
                <a:solidFill>
                  <a:srgbClr val="B70006"/>
                </a:solidFill>
              </a:rPr>
              <a:t>列表推导式</a:t>
            </a:r>
            <a:r>
              <a:rPr lang="en-US" altLang="zh-CN" dirty="0">
                <a:solidFill>
                  <a:srgbClr val="B70006"/>
                </a:solidFill>
              </a:rPr>
              <a:t>`</a:t>
            </a:r>
            <a:r>
              <a:rPr lang="zh-CN" altLang="en-US" dirty="0">
                <a:solidFill>
                  <a:srgbClr val="B70006"/>
                </a:solidFill>
              </a:rPr>
              <a:t>、</a:t>
            </a:r>
            <a:r>
              <a:rPr lang="en-US" altLang="zh-CN" dirty="0">
                <a:solidFill>
                  <a:srgbClr val="B70006"/>
                </a:solidFill>
              </a:rPr>
              <a:t>`</a:t>
            </a:r>
            <a:r>
              <a:rPr lang="zh-CN" altLang="en-US" dirty="0">
                <a:solidFill>
                  <a:srgbClr val="B70006"/>
                </a:solidFill>
              </a:rPr>
              <a:t>集合推导式</a:t>
            </a:r>
            <a:r>
              <a:rPr lang="en-US" altLang="zh-CN" dirty="0">
                <a:solidFill>
                  <a:srgbClr val="B70006"/>
                </a:solidFill>
              </a:rPr>
              <a:t>`</a:t>
            </a:r>
            <a:r>
              <a:rPr lang="zh-CN" altLang="en-US" dirty="0">
                <a:solidFill>
                  <a:srgbClr val="B70006"/>
                </a:solidFill>
              </a:rPr>
              <a:t>、</a:t>
            </a:r>
            <a:r>
              <a:rPr lang="en-US" altLang="zh-CN" dirty="0">
                <a:solidFill>
                  <a:srgbClr val="B70006"/>
                </a:solidFill>
              </a:rPr>
              <a:t>`</a:t>
            </a:r>
            <a:r>
              <a:rPr lang="zh-CN" altLang="en-US" dirty="0">
                <a:solidFill>
                  <a:srgbClr val="B70006"/>
                </a:solidFill>
              </a:rPr>
              <a:t>字典推导式。</a:t>
            </a:r>
            <a:endParaRPr lang="en-US" altLang="zh-CN" dirty="0">
              <a:solidFill>
                <a:srgbClr val="B7000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1303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数据序列的公共方法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、为什么需要列表推导式</a:t>
            </a:r>
            <a:endParaRPr lang="en-US" altLang="zh-CN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48000" y="1944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16242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30630"/>
            <a:ext cx="10749598" cy="50241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案例：创建一个</a:t>
            </a:r>
            <a:r>
              <a:rPr lang="en-US" altLang="zh-CN" dirty="0"/>
              <a:t>0-9</a:t>
            </a:r>
            <a:r>
              <a:rPr lang="zh-CN" altLang="en-US" dirty="0"/>
              <a:t>的列表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B70006"/>
                </a:solidFill>
              </a:rPr>
              <a:t>while</a:t>
            </a: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B70006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B70006"/>
                </a:solidFill>
              </a:rPr>
              <a:t>for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376357"/>
            <a:ext cx="10666853" cy="224676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1.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准备一个空列表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[]</a:t>
            </a:r>
          </a:p>
          <a:p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2.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书写循环，依次追加数字到空列表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</a:t>
            </a:r>
          </a:p>
          <a:p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0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while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&lt; 10: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list1.append(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+= 1</a:t>
            </a:r>
          </a:p>
          <a:p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print(list1)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5385253"/>
            <a:ext cx="10666853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[]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for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range(10):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list1.append(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</a:p>
          <a:p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print(list1)</a:t>
            </a:r>
          </a:p>
        </p:txBody>
      </p:sp>
    </p:spTree>
    <p:extLst>
      <p:ext uri="{BB962C8B-B14F-4D97-AF65-F5344CB8AC3E}">
        <p14:creationId xmlns:p14="http://schemas.microsoft.com/office/powerpoint/2010/main" val="951499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数据序列的公共方法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、列表推导式</a:t>
            </a:r>
            <a:endParaRPr lang="en-US" altLang="zh-CN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48000" y="1944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16242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30630"/>
            <a:ext cx="10749598" cy="50241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基本语法：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案例：创建一个</a:t>
            </a:r>
            <a:r>
              <a:rPr lang="en-US" altLang="zh-CN" dirty="0"/>
              <a:t>0-9</a:t>
            </a:r>
            <a:r>
              <a:rPr lang="zh-CN" altLang="en-US" dirty="0"/>
              <a:t>的列表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运行结果：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3355366"/>
            <a:ext cx="10666853" cy="52322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for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range(10)]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print(list1)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93626" y="2082815"/>
            <a:ext cx="10666853" cy="52322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/>
              <a:t>变量名 </a:t>
            </a:r>
            <a:r>
              <a:rPr lang="en-US" altLang="zh-CN" sz="1400" dirty="0"/>
              <a:t>= [</a:t>
            </a:r>
            <a:r>
              <a:rPr lang="zh-CN" altLang="en-US" sz="1400" dirty="0"/>
              <a:t>表达式 </a:t>
            </a:r>
            <a:r>
              <a:rPr lang="en-US" altLang="zh-CN" sz="1400" dirty="0"/>
              <a:t>for </a:t>
            </a:r>
            <a:r>
              <a:rPr lang="zh-CN" altLang="en-US" sz="1400" dirty="0"/>
              <a:t>变量 </a:t>
            </a:r>
            <a:r>
              <a:rPr lang="en-US" altLang="zh-CN" sz="1400" dirty="0"/>
              <a:t>in </a:t>
            </a:r>
            <a:r>
              <a:rPr lang="zh-CN" altLang="en-US" sz="1400" dirty="0"/>
              <a:t>列表 </a:t>
            </a:r>
            <a:r>
              <a:rPr lang="en-US" altLang="zh-CN" sz="1400" dirty="0"/>
              <a:t>for </a:t>
            </a:r>
            <a:r>
              <a:rPr lang="zh-CN" altLang="en-US" sz="1400" dirty="0"/>
              <a:t>变量 </a:t>
            </a:r>
            <a:r>
              <a:rPr lang="en-US" altLang="zh-CN" sz="1400" dirty="0"/>
              <a:t>in  </a:t>
            </a:r>
            <a:r>
              <a:rPr lang="zh-CN" altLang="en-US" sz="1400" dirty="0"/>
              <a:t>列表</a:t>
            </a:r>
            <a:r>
              <a:rPr lang="en-US" altLang="zh-CN" sz="1400" dirty="0"/>
              <a:t>]</a:t>
            </a:r>
          </a:p>
          <a:p>
            <a:r>
              <a:rPr lang="zh-CN" altLang="en-US" sz="1400" dirty="0"/>
              <a:t>变量名 </a:t>
            </a:r>
            <a:r>
              <a:rPr lang="en-US" altLang="zh-CN" sz="1400" dirty="0"/>
              <a:t>= [</a:t>
            </a:r>
            <a:r>
              <a:rPr lang="zh-CN" altLang="en-US" sz="1400" dirty="0"/>
              <a:t>表达式 </a:t>
            </a:r>
            <a:r>
              <a:rPr lang="en-US" altLang="zh-CN" sz="1400" dirty="0"/>
              <a:t>for </a:t>
            </a:r>
            <a:r>
              <a:rPr lang="zh-CN" altLang="en-US" sz="1400" dirty="0"/>
              <a:t>变量 </a:t>
            </a:r>
            <a:r>
              <a:rPr lang="en-US" altLang="zh-CN" sz="1400" dirty="0"/>
              <a:t>in </a:t>
            </a:r>
            <a:r>
              <a:rPr lang="zh-CN" altLang="en-US" sz="1400" dirty="0"/>
              <a:t>列表 </a:t>
            </a:r>
            <a:r>
              <a:rPr lang="en-US" altLang="zh-CN" sz="1400" dirty="0"/>
              <a:t>if </a:t>
            </a:r>
            <a:r>
              <a:rPr lang="zh-CN" altLang="en-US" sz="1400" dirty="0"/>
              <a:t>条件</a:t>
            </a:r>
            <a:r>
              <a:rPr lang="en-US" altLang="zh-CN" sz="1400" dirty="0"/>
              <a:t>]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25" y="4488922"/>
            <a:ext cx="10697629" cy="185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6378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数据序列的公共方法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、带</a:t>
            </a:r>
            <a:r>
              <a:rPr lang="en-US" altLang="zh-CN" dirty="0"/>
              <a:t>if</a:t>
            </a:r>
            <a:r>
              <a:rPr lang="zh-CN" altLang="en-US" dirty="0"/>
              <a:t>的列表推导式</a:t>
            </a:r>
            <a:endParaRPr lang="en-US" altLang="zh-CN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48000" y="1944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16242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30630"/>
            <a:ext cx="10749598" cy="50241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案例：创建一个</a:t>
            </a:r>
            <a:r>
              <a:rPr lang="en-US" altLang="zh-CN" dirty="0"/>
              <a:t>0-9</a:t>
            </a:r>
            <a:r>
              <a:rPr lang="zh-CN" altLang="en-US" dirty="0"/>
              <a:t>的偶数列表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方法一：</a:t>
            </a:r>
            <a:r>
              <a:rPr lang="en-US" altLang="zh-CN" dirty="0"/>
              <a:t>range()</a:t>
            </a:r>
            <a:r>
              <a:rPr lang="zh-CN" altLang="en-US" dirty="0"/>
              <a:t>步长实现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方法二：</a:t>
            </a:r>
            <a:r>
              <a:rPr lang="en-US" altLang="zh-CN" dirty="0"/>
              <a:t>if</a:t>
            </a:r>
            <a:r>
              <a:rPr lang="zh-CN" altLang="en-US" dirty="0"/>
              <a:t>实现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80" y="2543216"/>
            <a:ext cx="10666853" cy="52322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for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range(0, 10, 2)]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print(list1)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9" y="3781107"/>
            <a:ext cx="10666853" cy="52322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for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range(10) if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% 2 == 0]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print(list1)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78" y="4470584"/>
            <a:ext cx="10299303" cy="2203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2460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数据序列的公共方法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、多个</a:t>
            </a:r>
            <a:r>
              <a:rPr lang="en-US" altLang="zh-CN" dirty="0"/>
              <a:t>for</a:t>
            </a:r>
            <a:r>
              <a:rPr lang="zh-CN" altLang="en-US" dirty="0"/>
              <a:t>循环实现列表推导式</a:t>
            </a:r>
            <a:endParaRPr lang="en-US" altLang="zh-CN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48000" y="1944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16242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30630"/>
            <a:ext cx="10749598" cy="50241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案例：创建列表 </a:t>
            </a:r>
            <a:r>
              <a:rPr lang="en-US" altLang="zh-CN" dirty="0"/>
              <a:t>=&gt; [(1, 0), (1, 1), (1, 2), (2, 0), (2, 1), (2, 2)]</a:t>
            </a:r>
            <a:endParaRPr lang="zh-CN" altLang="en-US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8" y="2132649"/>
            <a:ext cx="10666853" cy="52322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[(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j) for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range(1, 3) for j in range(3)]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print(list1)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77" y="2983487"/>
            <a:ext cx="10683285" cy="232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262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数据序列的公共方法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、字典推导式</a:t>
            </a:r>
            <a:endParaRPr lang="en-US" altLang="zh-CN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48000" y="1944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16242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30630"/>
            <a:ext cx="10749598" cy="50241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思考：有如下两个列表，如何快速合并为一个字典？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>
                <a:solidFill>
                  <a:srgbClr val="B70006"/>
                </a:solidFill>
              </a:rPr>
              <a:t>list1 = ['name', 'age', 'gender']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B70006"/>
                </a:solidFill>
              </a:rPr>
              <a:t>list2 = ['Tom', 20, 'man']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答：使用字典推导式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基本语法：</a:t>
            </a:r>
            <a:endParaRPr lang="en-US" altLang="zh-CN" dirty="0"/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C00000"/>
                </a:solidFill>
              </a:rPr>
              <a:t>字典推导式列表推导式思想的延续，语法差不多，只不过产生的是字典而已。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C00000"/>
                </a:solidFill>
              </a:rPr>
              <a:t>字典推导式格式：</a:t>
            </a:r>
          </a:p>
          <a:p>
            <a:pPr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C00000"/>
                </a:solidFill>
              </a:rPr>
              <a:t> 变量名 </a:t>
            </a:r>
            <a:r>
              <a:rPr lang="en-US" altLang="zh-CN" dirty="0">
                <a:solidFill>
                  <a:srgbClr val="C00000"/>
                </a:solidFill>
              </a:rPr>
              <a:t>= {....}</a:t>
            </a:r>
          </a:p>
          <a:p>
            <a:pPr marL="0" indent="0">
              <a:buNone/>
            </a:pPr>
            <a:r>
              <a:rPr lang="zh-CN" altLang="en-US" dirty="0"/>
              <a:t>字典推导式作用：快速合并列表为字典或提取字典中目标数据。</a:t>
            </a:r>
          </a:p>
        </p:txBody>
      </p:sp>
    </p:spTree>
    <p:extLst>
      <p:ext uri="{BB962C8B-B14F-4D97-AF65-F5344CB8AC3E}">
        <p14:creationId xmlns:p14="http://schemas.microsoft.com/office/powerpoint/2010/main" val="17564006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数据序列的公共方法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、字典推导式</a:t>
            </a:r>
            <a:endParaRPr lang="en-US" altLang="zh-CN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48000" y="1944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16242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30630"/>
            <a:ext cx="10749598" cy="50241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案例</a:t>
            </a:r>
            <a:r>
              <a:rPr lang="en-US" altLang="zh-CN" dirty="0"/>
              <a:t>1</a:t>
            </a:r>
            <a:r>
              <a:rPr lang="zh-CN" altLang="en-US" dirty="0"/>
              <a:t>：创建一个字典：字典</a:t>
            </a:r>
            <a:r>
              <a:rPr lang="en-US" altLang="zh-CN" dirty="0"/>
              <a:t>key</a:t>
            </a:r>
            <a:r>
              <a:rPr lang="zh-CN" altLang="en-US" dirty="0"/>
              <a:t>是</a:t>
            </a:r>
            <a:r>
              <a:rPr lang="en-US" altLang="zh-CN" dirty="0"/>
              <a:t>1-5</a:t>
            </a:r>
            <a:r>
              <a:rPr lang="zh-CN" altLang="en-US" dirty="0"/>
              <a:t>数字，</a:t>
            </a:r>
            <a:r>
              <a:rPr lang="en-US" altLang="zh-CN" dirty="0"/>
              <a:t>value</a:t>
            </a:r>
            <a:r>
              <a:rPr lang="zh-CN" altLang="en-US" dirty="0"/>
              <a:t>是这个数字的</a:t>
            </a:r>
            <a:r>
              <a:rPr lang="en-US" altLang="zh-CN" dirty="0"/>
              <a:t>2</a:t>
            </a:r>
            <a:r>
              <a:rPr lang="zh-CN" altLang="en-US" dirty="0"/>
              <a:t>次方。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案例</a:t>
            </a:r>
            <a:r>
              <a:rPr lang="en-US" altLang="zh-CN" dirty="0"/>
              <a:t>2</a:t>
            </a:r>
            <a:r>
              <a:rPr lang="zh-CN" altLang="en-US" dirty="0"/>
              <a:t>：将两个列表合并为一个字典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案例</a:t>
            </a:r>
            <a:r>
              <a:rPr lang="en-US" altLang="zh-CN" dirty="0"/>
              <a:t>3</a:t>
            </a:r>
            <a:r>
              <a:rPr lang="zh-CN" altLang="en-US" dirty="0"/>
              <a:t>：提取字典中目标数据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8" y="2132649"/>
            <a:ext cx="10666853" cy="52322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 = {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: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**2 for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range(1, 5)}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print(dict1)  # {1: 1, 2: 4, 3: 9, 4: 16}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8" y="3257888"/>
            <a:ext cx="10666853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['name', 'age', 'gender']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list2 = ['Tom', 20, 'man']</a:t>
            </a:r>
          </a:p>
          <a:p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dict1 = {list1[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]: list2[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] for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range(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len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(list1))}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print(dict1)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7" y="4894458"/>
            <a:ext cx="10666853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counts = {'MBP': 268, 'HP': 125, 'DELL': 201, 'Lenovo': 199, '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acer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': 99}</a:t>
            </a:r>
          </a:p>
          <a:p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需求：提取上述电脑数量大于等于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200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的字典数据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count1 = {key: value for key, value in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counts.items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 if value &gt;= 200}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print(count1)  # {'MBP': 268, 'DELL': 201}</a:t>
            </a:r>
          </a:p>
        </p:txBody>
      </p:sp>
    </p:spTree>
    <p:extLst>
      <p:ext uri="{BB962C8B-B14F-4D97-AF65-F5344CB8AC3E}">
        <p14:creationId xmlns:p14="http://schemas.microsoft.com/office/powerpoint/2010/main" val="18232459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数据序列的公共方法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、集合推导式</a:t>
            </a:r>
            <a:endParaRPr lang="en-US" altLang="zh-CN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048000" y="19446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162425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1" y="1530630"/>
            <a:ext cx="10749598" cy="5024174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集合推导式跟列表推导式非常相似，唯一区别在于用 </a:t>
            </a:r>
            <a:r>
              <a:rPr lang="en-US" altLang="zh-CN" dirty="0">
                <a:solidFill>
                  <a:srgbClr val="C00000"/>
                </a:solidFill>
              </a:rPr>
              <a:t>{ } </a:t>
            </a:r>
            <a:r>
              <a:rPr lang="zh-CN" altLang="en-US" dirty="0">
                <a:solidFill>
                  <a:srgbClr val="C00000"/>
                </a:solidFill>
              </a:rPr>
              <a:t>代替 </a:t>
            </a:r>
            <a:r>
              <a:rPr lang="en-US" altLang="zh-CN" dirty="0">
                <a:solidFill>
                  <a:srgbClr val="C00000"/>
                </a:solidFill>
              </a:rPr>
              <a:t>[ ]</a:t>
            </a:r>
          </a:p>
          <a:p>
            <a:pPr marL="0" indent="0">
              <a:buNone/>
            </a:pPr>
            <a:r>
              <a:rPr lang="zh-CN" altLang="en-US" dirty="0"/>
              <a:t>需求：创建一个集合，数据为下方列表的</a:t>
            </a:r>
            <a:r>
              <a:rPr lang="en-US" altLang="zh-CN" dirty="0"/>
              <a:t>2</a:t>
            </a:r>
            <a:r>
              <a:rPr lang="zh-CN" altLang="en-US" dirty="0"/>
              <a:t>次方。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代码：</a:t>
            </a:r>
            <a:endParaRPr lang="en-US" altLang="zh-CN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6" y="2468991"/>
            <a:ext cx="10666853" cy="30777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[1, 1, 2]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0C998B78-AB18-3C47-A1C7-25AE9A3A40B0}"/>
              </a:ext>
            </a:extLst>
          </p:cNvPr>
          <p:cNvSpPr txBox="1"/>
          <p:nvPr/>
        </p:nvSpPr>
        <p:spPr>
          <a:xfrm>
            <a:off x="710876" y="3322196"/>
            <a:ext cx="10666853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list1 = [1, 1, 2]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set1 = {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** 2 for </a:t>
            </a:r>
            <a:r>
              <a:rPr lang="en-US" altLang="zh-CN" sz="1400" dirty="0" err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in list1}</a:t>
            </a:r>
          </a:p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print(set1)  # {1, 4}</a:t>
            </a:r>
          </a:p>
        </p:txBody>
      </p:sp>
      <p:sp>
        <p:nvSpPr>
          <p:cNvPr id="12" name="三角形 9">
            <a:extLst>
              <a:ext uri="{FF2B5EF4-FFF2-40B4-BE49-F238E27FC236}">
                <a16:creationId xmlns:a16="http://schemas.microsoft.com/office/drawing/2014/main" id="{23197916-4FF1-4C92-AE7A-4520837F4448}"/>
              </a:ext>
            </a:extLst>
          </p:cNvPr>
          <p:cNvSpPr/>
          <p:nvPr/>
        </p:nvSpPr>
        <p:spPr>
          <a:xfrm rot="2651319">
            <a:off x="607402" y="496101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FC8F3570-2791-42C7-B320-77955401B7FE}"/>
              </a:ext>
            </a:extLst>
          </p:cNvPr>
          <p:cNvSpPr txBox="1"/>
          <p:nvPr/>
        </p:nvSpPr>
        <p:spPr>
          <a:xfrm>
            <a:off x="975353" y="4992479"/>
            <a:ext cx="9773285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AD2B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注意：集合有数据去重功能。</a:t>
            </a:r>
            <a:endParaRPr lang="en-US" altLang="zh-CN" sz="1400" dirty="0">
              <a:solidFill>
                <a:srgbClr val="2626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561BF17-00D8-44F9-BBE1-DC58174FF365}"/>
              </a:ext>
            </a:extLst>
          </p:cNvPr>
          <p:cNvSpPr/>
          <p:nvPr/>
        </p:nvSpPr>
        <p:spPr>
          <a:xfrm>
            <a:off x="710876" y="4575913"/>
            <a:ext cx="10302240" cy="958385"/>
          </a:xfrm>
          <a:prstGeom prst="rect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521E208-47E6-4A13-99E1-C9CCCAFAB12C}"/>
              </a:ext>
            </a:extLst>
          </p:cNvPr>
          <p:cNvSpPr/>
          <p:nvPr/>
        </p:nvSpPr>
        <p:spPr>
          <a:xfrm>
            <a:off x="600788" y="4676900"/>
            <a:ext cx="1053296" cy="300942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注意事项</a:t>
            </a:r>
          </a:p>
        </p:txBody>
      </p:sp>
    </p:spTree>
    <p:extLst>
      <p:ext uri="{BB962C8B-B14F-4D97-AF65-F5344CB8AC3E}">
        <p14:creationId xmlns:p14="http://schemas.microsoft.com/office/powerpoint/2010/main" val="457628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5645788"/>
      </p:ext>
    </p:extLst>
  </p:cSld>
  <p:clrMapOvr>
    <a:masterClrMapping/>
  </p:clrMapOvr>
</p:sld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8770</TotalTime>
  <Words>3401</Words>
  <Application>Microsoft Office PowerPoint</Application>
  <PresentationFormat>宽屏</PresentationFormat>
  <Paragraphs>527</Paragraphs>
  <Slides>38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38</vt:i4>
      </vt:variant>
    </vt:vector>
  </HeadingPairs>
  <TitlesOfParts>
    <vt:vector size="56" baseType="lpstr">
      <vt:lpstr>Alibaba PuHuiTi B</vt:lpstr>
      <vt:lpstr>Alibaba PuHuiTi M</vt:lpstr>
      <vt:lpstr>Alibaba PuHuiTi R</vt:lpstr>
      <vt:lpstr>阿里巴巴普惠体</vt:lpstr>
      <vt:lpstr>等线</vt:lpstr>
      <vt:lpstr>黑体</vt:lpstr>
      <vt:lpstr>Arial</vt:lpstr>
      <vt:lpstr>Calibri</vt:lpstr>
      <vt:lpstr>Segoe UI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Python数据序列（下）</vt:lpstr>
      <vt:lpstr>PowerPoint 演示文稿</vt:lpstr>
      <vt:lpstr>PowerPoint 演示文稿</vt:lpstr>
      <vt:lpstr>字典的定义及其应用场景</vt:lpstr>
      <vt:lpstr>字典的定义及其应用场景</vt:lpstr>
      <vt:lpstr>字典的定义及其应用场景</vt:lpstr>
      <vt:lpstr>字典的定义及其应用场景</vt:lpstr>
      <vt:lpstr>字典的定义及其应用场景</vt:lpstr>
      <vt:lpstr>字典的定义及其应用场景</vt:lpstr>
      <vt:lpstr>字典的定义及其应用场景</vt:lpstr>
      <vt:lpstr>字典的定义及其应用场景</vt:lpstr>
      <vt:lpstr>字典的定义及其应用场景</vt:lpstr>
      <vt:lpstr>字典的循环遍历</vt:lpstr>
      <vt:lpstr>集合的定义及其应用场景</vt:lpstr>
      <vt:lpstr>集合的定义及其应用场景</vt:lpstr>
      <vt:lpstr>集合的定义及其应用场景</vt:lpstr>
      <vt:lpstr>集合的定义及其应用场景</vt:lpstr>
      <vt:lpstr>集合的定义及其应用场景</vt:lpstr>
      <vt:lpstr>集合的定义及其应用场景</vt:lpstr>
      <vt:lpstr>数据序列的公共方法</vt:lpstr>
      <vt:lpstr>数据序列的公共方法</vt:lpstr>
      <vt:lpstr>数据序列的公共方法</vt:lpstr>
      <vt:lpstr>数据序列的公共方法</vt:lpstr>
      <vt:lpstr>数据序列的公共方法</vt:lpstr>
      <vt:lpstr>数据序列的公共方法</vt:lpstr>
      <vt:lpstr>数据序列的公共方法</vt:lpstr>
      <vt:lpstr>数据序列的公共方法</vt:lpstr>
      <vt:lpstr>数据序列的公共方法</vt:lpstr>
      <vt:lpstr>列表集合字典推导式</vt:lpstr>
      <vt:lpstr>数据序列的公共方法</vt:lpstr>
      <vt:lpstr>数据序列的公共方法</vt:lpstr>
      <vt:lpstr>数据序列的公共方法</vt:lpstr>
      <vt:lpstr>数据序列的公共方法</vt:lpstr>
      <vt:lpstr>数据序列的公共方法</vt:lpstr>
      <vt:lpstr>数据序列的公共方法</vt:lpstr>
      <vt:lpstr>数据序列的公共方法</vt:lpstr>
      <vt:lpstr>数据序列的公共方法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Administrator</cp:lastModifiedBy>
  <cp:revision>720</cp:revision>
  <dcterms:created xsi:type="dcterms:W3CDTF">2020-03-31T02:23:27Z</dcterms:created>
  <dcterms:modified xsi:type="dcterms:W3CDTF">2021-06-02T10:40:00Z</dcterms:modified>
</cp:coreProperties>
</file>