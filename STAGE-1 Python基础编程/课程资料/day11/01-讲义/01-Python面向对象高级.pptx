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6"/>
  </p:notesMasterIdLst>
  <p:handoutMasterIdLst>
    <p:handoutMasterId r:id="rId47"/>
  </p:handoutMasterIdLst>
  <p:sldIdLst>
    <p:sldId id="462" r:id="rId8"/>
    <p:sldId id="463" r:id="rId9"/>
    <p:sldId id="464" r:id="rId10"/>
    <p:sldId id="466" r:id="rId11"/>
    <p:sldId id="587" r:id="rId12"/>
    <p:sldId id="622" r:id="rId13"/>
    <p:sldId id="623" r:id="rId14"/>
    <p:sldId id="608" r:id="rId15"/>
    <p:sldId id="601" r:id="rId16"/>
    <p:sldId id="624" r:id="rId17"/>
    <p:sldId id="589" r:id="rId18"/>
    <p:sldId id="588" r:id="rId19"/>
    <p:sldId id="590" r:id="rId20"/>
    <p:sldId id="592" r:id="rId21"/>
    <p:sldId id="593" r:id="rId22"/>
    <p:sldId id="594" r:id="rId23"/>
    <p:sldId id="595" r:id="rId24"/>
    <p:sldId id="596" r:id="rId25"/>
    <p:sldId id="597" r:id="rId26"/>
    <p:sldId id="598" r:id="rId27"/>
    <p:sldId id="599" r:id="rId28"/>
    <p:sldId id="600" r:id="rId29"/>
    <p:sldId id="591" r:id="rId30"/>
    <p:sldId id="602" r:id="rId31"/>
    <p:sldId id="603" r:id="rId32"/>
    <p:sldId id="604" r:id="rId33"/>
    <p:sldId id="605" r:id="rId34"/>
    <p:sldId id="606" r:id="rId35"/>
    <p:sldId id="609" r:id="rId36"/>
    <p:sldId id="610" r:id="rId37"/>
    <p:sldId id="611" r:id="rId38"/>
    <p:sldId id="612" r:id="rId39"/>
    <p:sldId id="613" r:id="rId40"/>
    <p:sldId id="614" r:id="rId41"/>
    <p:sldId id="615" r:id="rId42"/>
    <p:sldId id="616" r:id="rId43"/>
    <p:sldId id="617" r:id="rId44"/>
    <p:sldId id="264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FFFFFF"/>
    <a:srgbClr val="B6020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62" autoAdjust="0"/>
    <p:restoredTop sz="92831" autoAdjust="0"/>
  </p:normalViewPr>
  <p:slideViewPr>
    <p:cSldViewPr snapToGrid="0">
      <p:cViewPr varScale="1">
        <p:scale>
          <a:sx n="80" d="100"/>
          <a:sy n="80" d="100"/>
        </p:scale>
        <p:origin x="4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2021/11/16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Dog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snoopy = Dog('Snoopy', 2, 'male')</a:t>
            </a:r>
          </a:p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print(snoopy)</a:t>
            </a:r>
          </a:p>
          <a:p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Cat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kitty = Cat('Kitty', 1, 'female')</a:t>
            </a:r>
          </a:p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print(kitty)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31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434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951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类属性的优点：记录的某项数据 始终保持一致时，则定义类属性。</a:t>
            </a:r>
            <a:endParaRPr lang="en-US" altLang="zh-CN" dirty="0"/>
          </a:p>
          <a:p>
            <a:r>
              <a:rPr lang="zh-CN" altLang="en-US" dirty="0"/>
              <a:t>实例属性 要求 每个对象为其单独开辟一份内存空间来记录数据，而类属性为全类所共有 ，仅占用一份内存，更加节省内存空间。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1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822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92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8458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900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91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228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709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面向对象高级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6430194" cy="4256405"/>
          </a:xfrm>
        </p:spPr>
        <p:txBody>
          <a:bodyPr/>
          <a:lstStyle/>
          <a:p>
            <a:r>
              <a:rPr lang="zh-CN" altLang="en-US" dirty="0"/>
              <a:t>面向对象的三大特性</a:t>
            </a:r>
            <a:endParaRPr lang="en-US" altLang="zh-CN" dirty="0"/>
          </a:p>
          <a:p>
            <a:r>
              <a:rPr lang="en-US" altLang="zh-CN" dirty="0">
                <a:solidFill>
                  <a:srgbClr val="B70006"/>
                </a:solidFill>
              </a:rPr>
              <a:t>Python</a:t>
            </a:r>
            <a:r>
              <a:rPr lang="zh-CN" altLang="en-US" dirty="0">
                <a:solidFill>
                  <a:srgbClr val="B70006"/>
                </a:solidFill>
              </a:rPr>
              <a:t>中的继承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en-US" altLang="zh-CN" dirty="0">
                <a:solidFill>
                  <a:srgbClr val="B70006"/>
                </a:solidFill>
              </a:rPr>
              <a:t>Python</a:t>
            </a:r>
            <a:r>
              <a:rPr lang="zh-CN" altLang="en-US" dirty="0">
                <a:solidFill>
                  <a:srgbClr val="B70006"/>
                </a:solidFill>
              </a:rPr>
              <a:t>中的多态</a:t>
            </a:r>
            <a:endParaRPr lang="en-US" altLang="zh-CN" dirty="0">
              <a:solidFill>
                <a:srgbClr val="B70006"/>
              </a:solidFill>
            </a:endParaRPr>
          </a:p>
          <a:p>
            <a:r>
              <a:rPr lang="en-US" altLang="zh-CN" dirty="0">
                <a:solidFill>
                  <a:srgbClr val="B60206"/>
                </a:solidFill>
              </a:rPr>
              <a:t>Python</a:t>
            </a:r>
            <a:r>
              <a:rPr lang="zh-CN" altLang="en-US" dirty="0">
                <a:solidFill>
                  <a:srgbClr val="B60206"/>
                </a:solidFill>
              </a:rPr>
              <a:t>中的其他特性（类属性、类方法、静态方法）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en-US" altLang="zh-CN" dirty="0">
                <a:solidFill>
                  <a:srgbClr val="B60206"/>
                </a:solidFill>
              </a:rPr>
              <a:t>Python</a:t>
            </a:r>
            <a:r>
              <a:rPr lang="zh-CN" altLang="en-US" dirty="0">
                <a:solidFill>
                  <a:srgbClr val="B60206"/>
                </a:solidFill>
              </a:rPr>
              <a:t>综合案例：学生管理系统（面向对象版）</a:t>
            </a:r>
          </a:p>
          <a:p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了解面向对象的三大特性</a:t>
            </a:r>
            <a:endParaRPr lang="en-US" altLang="zh-CN" dirty="0"/>
          </a:p>
          <a:p>
            <a:r>
              <a:rPr lang="zh-CN" altLang="en-US" dirty="0">
                <a:solidFill>
                  <a:srgbClr val="B60206"/>
                </a:solidFill>
              </a:rPr>
              <a:t>掌握</a:t>
            </a:r>
            <a:r>
              <a:rPr lang="en-US" altLang="zh-CN" dirty="0">
                <a:solidFill>
                  <a:srgbClr val="B60206"/>
                </a:solidFill>
              </a:rPr>
              <a:t>Python</a:t>
            </a:r>
            <a:r>
              <a:rPr lang="zh-CN" altLang="en-US" dirty="0">
                <a:solidFill>
                  <a:srgbClr val="B60206"/>
                </a:solidFill>
              </a:rPr>
              <a:t>中单继承与多继承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掌握私有属性和私有方法的定义与使用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掌握面向对象的其他特性（类属性、类方法、静态方法）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掌握学生管理系统（面向对象版）的编写</a:t>
            </a: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面向对象三大特性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面向对象的三大特性：</a:t>
            </a:r>
            <a:r>
              <a:rPr lang="zh-CN" altLang="en-US" dirty="0">
                <a:solidFill>
                  <a:srgbClr val="AD2B26"/>
                </a:solidFill>
              </a:rPr>
              <a:t>封装、继承、多态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封装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将属性和方法书写到类的里面的操作即为封装，封装可以为属性和方法添加私有权限。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继承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子类默认继承父类的所有属性和方法，与此同时子类也可以重写父类属性和方法。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多态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多态是同一类事物具有的多种形态。不同的对象调用同一个接口（方法），表现出不同的状态，称为多态。</a:t>
            </a: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面向对象的三大特性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、封装、继承、多态</a:t>
            </a:r>
          </a:p>
        </p:txBody>
      </p:sp>
    </p:spTree>
    <p:extLst>
      <p:ext uri="{BB962C8B-B14F-4D97-AF65-F5344CB8AC3E}">
        <p14:creationId xmlns:p14="http://schemas.microsoft.com/office/powerpoint/2010/main" val="287701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中的封装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3733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中，可以为实例属性和方法设置私有权限，即设置某个实例属性或实例方法不继承给子类。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设置私有属性和私有方法的方式非常简单：在属性名和方法名 前面 加上两个下划线 </a:t>
            </a:r>
            <a:r>
              <a:rPr lang="en-US" altLang="zh-CN" dirty="0"/>
              <a:t>"__" </a:t>
            </a:r>
            <a:r>
              <a:rPr lang="zh-CN" altLang="en-US" dirty="0"/>
              <a:t>即可。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案例</a:t>
            </a:r>
            <a:r>
              <a:rPr lang="en-US" altLang="zh-CN" dirty="0">
                <a:solidFill>
                  <a:srgbClr val="B60206"/>
                </a:solidFill>
              </a:rPr>
              <a:t>1</a:t>
            </a:r>
            <a:r>
              <a:rPr lang="zh-CN" altLang="en-US" dirty="0">
                <a:solidFill>
                  <a:srgbClr val="B60206"/>
                </a:solidFill>
              </a:rPr>
              <a:t>：私有属性和私有方法设置方式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、私有属性和私有方法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86294" y="3425982"/>
            <a:ext cx="10302240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Girl():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18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，年龄：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%d' % (self.name,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 = Girl()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print(girl.name)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外界不能直接访问私有属性和私有方法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922123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中，一般定义函数名</a:t>
            </a:r>
            <a:r>
              <a:rPr lang="en-US" altLang="zh-CN" dirty="0">
                <a:solidFill>
                  <a:srgbClr val="AD2B26"/>
                </a:solidFill>
              </a:rPr>
              <a:t>' </a:t>
            </a:r>
            <a:r>
              <a:rPr lang="en-US" altLang="zh-CN" dirty="0" err="1">
                <a:solidFill>
                  <a:srgbClr val="AD2B26"/>
                </a:solidFill>
              </a:rPr>
              <a:t>get_xx</a:t>
            </a:r>
            <a:r>
              <a:rPr lang="en-US" altLang="zh-CN" dirty="0">
                <a:solidFill>
                  <a:srgbClr val="AD2B26"/>
                </a:solidFill>
              </a:rPr>
              <a:t> '</a:t>
            </a:r>
            <a:r>
              <a:rPr lang="zh-CN" altLang="en-US" dirty="0"/>
              <a:t>用来获取私有属性，定义</a:t>
            </a:r>
            <a:r>
              <a:rPr lang="en-US" altLang="zh-CN" dirty="0">
                <a:solidFill>
                  <a:srgbClr val="AD2B26"/>
                </a:solidFill>
              </a:rPr>
              <a:t>' </a:t>
            </a:r>
            <a:r>
              <a:rPr lang="en-US" altLang="zh-CN" dirty="0" err="1">
                <a:solidFill>
                  <a:srgbClr val="AD2B26"/>
                </a:solidFill>
              </a:rPr>
              <a:t>set_xx</a:t>
            </a:r>
            <a:r>
              <a:rPr lang="en-US" altLang="zh-CN" dirty="0">
                <a:solidFill>
                  <a:srgbClr val="AD2B26"/>
                </a:solidFill>
              </a:rPr>
              <a:t> '</a:t>
            </a:r>
            <a:r>
              <a:rPr lang="zh-CN" altLang="en-US" dirty="0"/>
              <a:t>用来修改私有属性值。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、获取与设置私有属性值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19351"/>
            <a:ext cx="1030224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Girl():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18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endParaRPr lang="en-US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age):</a:t>
            </a:r>
          </a:p>
          <a:p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 = Girl()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girl.set_age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(19)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girl.get_age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165905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3280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① 封装数据属性：明确的区分内外，控制外部对对隐藏的属性的操作行为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、封装的意义在哪里？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19351"/>
            <a:ext cx="10302240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People(object):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tell_info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print('Name:&lt;%s&gt; Age:&lt;%s&gt;' % 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set_info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not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isinstance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(name,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名字必须是字符串类型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return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if not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isinstance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(age,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年龄必须是数字类型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  return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606352" y="2809852"/>
            <a:ext cx="4302493" cy="2573868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/>
              <a:t>p = People('jack', 38)</a:t>
            </a:r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 err="1"/>
              <a:t>p.set_info</a:t>
            </a:r>
            <a:r>
              <a:rPr lang="en-US" altLang="zh-CN" dirty="0"/>
              <a:t>('</a:t>
            </a:r>
            <a:r>
              <a:rPr lang="en-US" altLang="zh-CN" dirty="0" err="1"/>
              <a:t>jennifer</a:t>
            </a:r>
            <a:r>
              <a:rPr lang="en-US" altLang="zh-CN" dirty="0"/>
              <a:t>', 18)</a:t>
            </a:r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  <a:p>
            <a:endParaRPr lang="en-US" altLang="zh-CN" dirty="0"/>
          </a:p>
          <a:p>
            <a:r>
              <a:rPr lang="en-US" altLang="zh-CN" dirty="0" err="1"/>
              <a:t>p.set_info</a:t>
            </a:r>
            <a:r>
              <a:rPr lang="en-US" altLang="zh-CN" dirty="0"/>
              <a:t>(123, 35)</a:t>
            </a:r>
          </a:p>
          <a:p>
            <a:r>
              <a:rPr lang="en-US" altLang="zh-CN" dirty="0" err="1"/>
              <a:t>p.tell_info</a:t>
            </a:r>
            <a:r>
              <a:rPr lang="en-US" altLang="zh-CN" dirty="0"/>
              <a:t>()</a:t>
            </a:r>
          </a:p>
        </p:txBody>
      </p:sp>
      <p:sp>
        <p:nvSpPr>
          <p:cNvPr id="8" name="右箭头 7"/>
          <p:cNvSpPr/>
          <p:nvPr/>
        </p:nvSpPr>
        <p:spPr>
          <a:xfrm>
            <a:off x="6030440" y="3841717"/>
            <a:ext cx="471638" cy="51013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309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49883"/>
            <a:ext cx="10749598" cy="432809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封装方法：隔离复杂度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面向对象中的封装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、封装的意义在哪里？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026845"/>
            <a:ext cx="10302240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ATM: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__card(self):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插卡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auth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用户认证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__input(self):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输入取款金额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print_bill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打印账单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take_money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取款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withdraw(self):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self.__card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self.__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auth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self.__input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self.__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print_bill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  self.__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take_money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atm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ATM()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atm.withdraw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425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中的继承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85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7017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生活中的继承，一般指的是子女继承父辈的财产。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我们接下来来聊聊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代码中的“继承”：</a:t>
            </a:r>
            <a:r>
              <a:rPr lang="zh-CN" altLang="en-US" dirty="0">
                <a:solidFill>
                  <a:srgbClr val="B60206"/>
                </a:solidFill>
              </a:rPr>
              <a:t>类是用来描述现实世界中同一组事务的共有特性的抽象模型，但是类也有上下级和范围之分，比如：生物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动物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哺乳动物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灵长型动物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人类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黄种人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zh-CN" altLang="en-US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从哲学上说，就是共性与个性之间的关系，比如：白马和马！所以，我们在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OOP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代码中，也一样要体现出类与类之间的共性与个性关系，这里就需要通过类的继承来体现。简单来说，如果一个类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使用了另一个类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的成员（属性和方法），我们就可以说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类继承了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类，同时这也体现了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OOP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中代码重用的特性！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、什么是继承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482" y="2068625"/>
            <a:ext cx="7605419" cy="204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6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、继承的基本语法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0970" y="2191190"/>
            <a:ext cx="10302240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B(object):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A(B):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  <p:sp>
        <p:nvSpPr>
          <p:cNvPr id="19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453119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4562659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在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Python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中，所有类默认继承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类，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object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类是顶级类或基类；其他子类叫做派生类。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4146093"/>
            <a:ext cx="10302240" cy="1022952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424708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3864583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继承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：一个类从另一个已有的类获得其成员的相关特性，就叫作继承！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派生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：从一个已有的类产生一个新的类，称为派生！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很显然，继承和派生其实就是从不同的方向来描述的相同的概念而已，本质上是一样的！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父类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：也叫作基类，就是指已有被继承的类！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子类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：也叫作派生类或扩展类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扩展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：在子类中增加一些自己特有的特性，就叫作扩展，没有扩展，继承也就没有意义了！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单继承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：一个类只能继承自一个其他的类，不能继承多个类，单继承也是大多数面向对象语言的特性！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多继承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：一个类同时继承了多个父类， （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C++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等语言都支持多继承）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、与继承相关的几个概念</a:t>
            </a:r>
          </a:p>
        </p:txBody>
      </p:sp>
    </p:spTree>
    <p:extLst>
      <p:ext uri="{BB962C8B-B14F-4D97-AF65-F5344CB8AC3E}">
        <p14:creationId xmlns:p14="http://schemas.microsoft.com/office/powerpoint/2010/main" val="1907643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单继承：一个类只能继承自一个其他的类，不能继承多个类。这个类会有具有父类的属性和方法。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中的单继承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37700"/>
            <a:ext cx="10302240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B(object):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A(B):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558475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案例：猫，狗 都属于动物，它们行为相似性高。都会吃、会睡、会叫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中的单继承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55482"/>
            <a:ext cx="10302240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86898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重写也叫作覆盖，就是当子类成员与父类成员名字相同的时候，从父类继承下来的成员会重新定义！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此时，通过子类实例化出来的对象访问相关成员的时候，真正其作用的是子类中定义的成员！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上面单继承例子中 </a:t>
            </a:r>
            <a:r>
              <a:rPr lang="en-US" altLang="zh-CN" dirty="0">
                <a:solidFill>
                  <a:srgbClr val="C00000"/>
                </a:solidFill>
              </a:rPr>
              <a:t>Animal </a:t>
            </a:r>
            <a:r>
              <a:rPr lang="zh-CN" altLang="en-US" dirty="0">
                <a:solidFill>
                  <a:srgbClr val="C00000"/>
                </a:solidFill>
              </a:rPr>
              <a:t>的子类 </a:t>
            </a:r>
            <a:r>
              <a:rPr lang="en-US" altLang="zh-CN" dirty="0">
                <a:solidFill>
                  <a:srgbClr val="C00000"/>
                </a:solidFill>
              </a:rPr>
              <a:t>Cat</a:t>
            </a:r>
            <a:r>
              <a:rPr lang="zh-CN" altLang="en-US" dirty="0">
                <a:solidFill>
                  <a:srgbClr val="C00000"/>
                </a:solidFill>
              </a:rPr>
              <a:t>和</a:t>
            </a:r>
            <a:r>
              <a:rPr lang="en-US" altLang="zh-CN" dirty="0">
                <a:solidFill>
                  <a:srgbClr val="C00000"/>
                </a:solidFill>
              </a:rPr>
              <a:t>Dog </a:t>
            </a:r>
            <a:r>
              <a:rPr lang="zh-CN" altLang="en-US" dirty="0">
                <a:solidFill>
                  <a:srgbClr val="C00000"/>
                </a:solidFill>
              </a:rPr>
              <a:t>继承了父类的属性和方法，但是我们狗类</a:t>
            </a:r>
            <a:r>
              <a:rPr lang="en-US" altLang="zh-CN" dirty="0">
                <a:solidFill>
                  <a:srgbClr val="C00000"/>
                </a:solidFill>
              </a:rPr>
              <a:t>Dog </a:t>
            </a:r>
            <a:r>
              <a:rPr lang="zh-CN" altLang="en-US" dirty="0">
                <a:solidFill>
                  <a:srgbClr val="C00000"/>
                </a:solidFill>
              </a:rPr>
              <a:t>有自己的叫声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汪汪叫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，猫类 </a:t>
            </a:r>
            <a:r>
              <a:rPr lang="en-US" altLang="zh-CN" dirty="0">
                <a:solidFill>
                  <a:srgbClr val="C00000"/>
                </a:solidFill>
              </a:rPr>
              <a:t>Cat </a:t>
            </a:r>
            <a:r>
              <a:rPr lang="zh-CN" altLang="en-US" dirty="0">
                <a:solidFill>
                  <a:srgbClr val="C00000"/>
                </a:solidFill>
              </a:rPr>
              <a:t>有自己的叫声 </a:t>
            </a:r>
            <a:r>
              <a:rPr lang="en-US" altLang="zh-CN" dirty="0">
                <a:solidFill>
                  <a:srgbClr val="C00000"/>
                </a:solidFill>
              </a:rPr>
              <a:t>'</a:t>
            </a:r>
            <a:r>
              <a:rPr lang="zh-CN" altLang="en-US" dirty="0">
                <a:solidFill>
                  <a:srgbClr val="C00000"/>
                </a:solidFill>
              </a:rPr>
              <a:t>喵喵叫</a:t>
            </a:r>
            <a:r>
              <a:rPr lang="en-US" altLang="zh-CN" dirty="0">
                <a:solidFill>
                  <a:srgbClr val="C00000"/>
                </a:solidFill>
              </a:rPr>
              <a:t>' </a:t>
            </a:r>
            <a:r>
              <a:rPr lang="zh-CN" altLang="en-US" dirty="0">
                <a:solidFill>
                  <a:srgbClr val="C00000"/>
                </a:solidFill>
              </a:rPr>
              <a:t>，这时我们需要对父类的 </a:t>
            </a:r>
            <a:r>
              <a:rPr lang="en-US" altLang="zh-CN" dirty="0">
                <a:solidFill>
                  <a:srgbClr val="C00000"/>
                </a:solidFill>
              </a:rPr>
              <a:t>call() </a:t>
            </a:r>
            <a:r>
              <a:rPr lang="zh-CN" altLang="en-US" dirty="0">
                <a:solidFill>
                  <a:srgbClr val="C00000"/>
                </a:solidFill>
              </a:rPr>
              <a:t>方法进行重构。如下：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、重写父类属性和方法</a:t>
            </a:r>
          </a:p>
        </p:txBody>
      </p:sp>
    </p:spTree>
    <p:extLst>
      <p:ext uri="{BB962C8B-B14F-4D97-AF65-F5344CB8AC3E}">
        <p14:creationId xmlns:p14="http://schemas.microsoft.com/office/powerpoint/2010/main" val="4045854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案例：猫，狗 都属于动物，它们行为相似性高。都会吃、会睡、会叫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、重写父类属性和方法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26276"/>
            <a:ext cx="4948775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定义属性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name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汪汪叫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喵喵叫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Dog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 = Dog()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dog.eat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Cat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实例对象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 = Cat()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cat.eat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cat.call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0180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49504F"/>
                </a:solidFill>
              </a:rPr>
              <a:t>思考一个问题：此时父类中的</a:t>
            </a:r>
            <a:r>
              <a:rPr lang="en-US" altLang="zh-CN" dirty="0">
                <a:solidFill>
                  <a:srgbClr val="49504F"/>
                </a:solidFill>
              </a:rPr>
              <a:t>call</a:t>
            </a:r>
            <a:r>
              <a:rPr lang="zh-CN" altLang="en-US" dirty="0">
                <a:solidFill>
                  <a:srgbClr val="49504F"/>
                </a:solidFill>
              </a:rPr>
              <a:t>方法还在不在？</a:t>
            </a: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答：还在，只不过是在其子类中找不到了。类方法的调用顺序，当我们在子类中重构父类的方法后，</a:t>
            </a:r>
            <a:r>
              <a:rPr lang="en-US" altLang="zh-CN" dirty="0">
                <a:solidFill>
                  <a:srgbClr val="C00000"/>
                </a:solidFill>
              </a:rPr>
              <a:t>Cat</a:t>
            </a:r>
            <a:r>
              <a:rPr lang="zh-CN" altLang="en-US" dirty="0">
                <a:solidFill>
                  <a:srgbClr val="C00000"/>
                </a:solidFill>
              </a:rPr>
              <a:t>子类的实例先会在自己的类 </a:t>
            </a:r>
            <a:r>
              <a:rPr lang="en-US" altLang="zh-CN" dirty="0">
                <a:solidFill>
                  <a:srgbClr val="C00000"/>
                </a:solidFill>
              </a:rPr>
              <a:t>Cat </a:t>
            </a:r>
            <a:r>
              <a:rPr lang="zh-CN" altLang="en-US" dirty="0">
                <a:solidFill>
                  <a:srgbClr val="C00000"/>
                </a:solidFill>
              </a:rPr>
              <a:t>中查找该方法，当找不到该方法时才会去父类 </a:t>
            </a:r>
            <a:r>
              <a:rPr lang="en-US" altLang="zh-CN" dirty="0">
                <a:solidFill>
                  <a:srgbClr val="C00000"/>
                </a:solidFill>
              </a:rPr>
              <a:t>Animal </a:t>
            </a:r>
            <a:r>
              <a:rPr lang="zh-CN" altLang="en-US" dirty="0">
                <a:solidFill>
                  <a:srgbClr val="C00000"/>
                </a:solidFill>
              </a:rPr>
              <a:t>中查找对应的方法。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思考题：</a:t>
            </a:r>
          </a:p>
        </p:txBody>
      </p:sp>
    </p:spTree>
    <p:extLst>
      <p:ext uri="{BB962C8B-B14F-4D97-AF65-F5344CB8AC3E}">
        <p14:creationId xmlns:p14="http://schemas.microsoft.com/office/powerpoint/2010/main" val="3895026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659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49504F"/>
                </a:solidFill>
              </a:rPr>
              <a:t>super()</a:t>
            </a:r>
            <a:r>
              <a:rPr lang="zh-CN" altLang="en-US" dirty="0">
                <a:solidFill>
                  <a:srgbClr val="49504F"/>
                </a:solidFill>
              </a:rPr>
              <a:t>：调用父类属性或方法，完整写法：</a:t>
            </a:r>
            <a:r>
              <a:rPr lang="en-US" altLang="zh-CN" dirty="0">
                <a:solidFill>
                  <a:srgbClr val="C00000"/>
                </a:solidFill>
              </a:rPr>
              <a:t>super(</a:t>
            </a:r>
            <a:r>
              <a:rPr lang="zh-CN" altLang="en-US" dirty="0">
                <a:solidFill>
                  <a:srgbClr val="C00000"/>
                </a:solidFill>
              </a:rPr>
              <a:t>当前类名</a:t>
            </a:r>
            <a:r>
              <a:rPr lang="en-US" altLang="zh-CN" dirty="0">
                <a:solidFill>
                  <a:srgbClr val="C00000"/>
                </a:solidFill>
              </a:rPr>
              <a:t>, self).</a:t>
            </a:r>
            <a:r>
              <a:rPr lang="zh-CN" altLang="en-US" dirty="0">
                <a:solidFill>
                  <a:srgbClr val="C00000"/>
                </a:solidFill>
              </a:rPr>
              <a:t>属性或方法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、调用父类属性和方法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26276"/>
            <a:ext cx="4948775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eat(self):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sleep(self):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418576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super().__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，今年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岁了，我会汪汪叫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super().__</a:t>
            </a:r>
            <a:r>
              <a:rPr lang="en-US" altLang="zh-CN" sz="1400" dirty="0" err="1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return f'{self.name}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，今年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岁了，我会喵喵叫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84137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6590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49504F"/>
                </a:solidFill>
              </a:rPr>
              <a:t>多继承：一个类同时继承了多个父类，并且同时具有所有父类的属性和方法例如：孩子会继承父亲 和 母亲的方法。</a:t>
            </a: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49504F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注：</a:t>
            </a:r>
            <a:r>
              <a:rPr lang="en-US" altLang="zh-CN" dirty="0">
                <a:solidFill>
                  <a:srgbClr val="C00000"/>
                </a:solidFill>
              </a:rPr>
              <a:t>MRO(Method Resolution Order)</a:t>
            </a:r>
            <a:r>
              <a:rPr lang="zh-CN" altLang="en-US" dirty="0">
                <a:solidFill>
                  <a:srgbClr val="C00000"/>
                </a:solidFill>
              </a:rPr>
              <a:t>：方法解析顺序，我们可以通过类名</a:t>
            </a:r>
            <a:r>
              <a:rPr lang="en-US" altLang="zh-CN" dirty="0">
                <a:solidFill>
                  <a:srgbClr val="C00000"/>
                </a:solidFill>
              </a:rPr>
              <a:t>.__</a:t>
            </a:r>
            <a:r>
              <a:rPr lang="en-US" altLang="zh-CN" dirty="0" err="1">
                <a:solidFill>
                  <a:srgbClr val="C00000"/>
                </a:solidFill>
              </a:rPr>
              <a:t>mro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zh-CN" altLang="en-US" dirty="0">
                <a:solidFill>
                  <a:srgbClr val="C00000"/>
                </a:solidFill>
              </a:rPr>
              <a:t>或类名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mro</a:t>
            </a:r>
            <a:r>
              <a:rPr lang="en-US" altLang="zh-CN" dirty="0">
                <a:solidFill>
                  <a:srgbClr val="C00000"/>
                </a:solidFill>
              </a:rPr>
              <a:t>()</a:t>
            </a:r>
            <a:r>
              <a:rPr lang="zh-CN" altLang="en-US" dirty="0">
                <a:solidFill>
                  <a:srgbClr val="C00000"/>
                </a:solidFill>
              </a:rPr>
              <a:t>获得“类的层次结构”，方法解析顺序也是按照这个“类的层次结构”寻找到。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中的继承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中的多继承实现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191522"/>
            <a:ext cx="10749599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Father(object):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Mother(object):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Child(Father, Mother):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399151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中的多态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2268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多态指的是一类事物有多种形态。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定义：</a:t>
            </a:r>
            <a:r>
              <a:rPr lang="zh-CN" altLang="en-US" dirty="0">
                <a:solidFill>
                  <a:srgbClr val="C00000"/>
                </a:solidFill>
              </a:rPr>
              <a:t>多态是一种使用对象的方式，子类重写父类方法，调用不同子类对象的相同父类方法，可以产生不同的执行结果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① 多态依赖继承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② 子类方法必须要重写父类方法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好处：调用灵活，有了多态，更容易编写出通用的代码，做出通用的编程，以适应需求的不断变化！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中的多态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、什么是多态</a:t>
            </a:r>
          </a:p>
        </p:txBody>
      </p:sp>
    </p:spTree>
    <p:extLst>
      <p:ext uri="{BB962C8B-B14F-4D97-AF65-F5344CB8AC3E}">
        <p14:creationId xmlns:p14="http://schemas.microsoft.com/office/powerpoint/2010/main" val="3410196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B60206"/>
                </a:solidFill>
              </a:rPr>
              <a:t>定义父类，并提供公共方法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B60206"/>
                </a:solidFill>
              </a:rPr>
              <a:t>定义子类，并重写父类方法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B60206"/>
                </a:solidFill>
              </a:rPr>
              <a:t>传递子类对象给调用者，可以看到不同子类执行效果不同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中的多态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、多态的实现步骤</a:t>
            </a:r>
          </a:p>
        </p:txBody>
      </p:sp>
    </p:spTree>
    <p:extLst>
      <p:ext uri="{BB962C8B-B14F-4D97-AF65-F5344CB8AC3E}">
        <p14:creationId xmlns:p14="http://schemas.microsoft.com/office/powerpoint/2010/main" val="3032183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类具有继承关系，并且子类类型可以向上转型看做父类类型，如果我们从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派生出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Dog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，并都写了一个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方法，如下示例：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中的多态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、多态实现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188049"/>
            <a:ext cx="3125829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Animal(object):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self.age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age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5961806" y="2326276"/>
            <a:ext cx="5174623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Cat(Animal):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super(Cat, self).__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会“喵喵”叫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Dog(Animal):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name, age, sex):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super(Dog, self).__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__(name, age)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self.sex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sex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call(self):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print(self.name,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会“汪汪”叫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</p:txBody>
      </p:sp>
      <p:sp>
        <p:nvSpPr>
          <p:cNvPr id="7" name="右箭头 6"/>
          <p:cNvSpPr/>
          <p:nvPr/>
        </p:nvSpPr>
        <p:spPr>
          <a:xfrm>
            <a:off x="4119513" y="3657601"/>
            <a:ext cx="1611983" cy="46191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983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88664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接下来我们定义一个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函数，接收一个变量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'all'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，如下：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这种行为称为多态。也就是说，方法调用将作用在 </a:t>
            </a:r>
            <a:r>
              <a:rPr lang="en-US" altLang="zh-CN" dirty="0">
                <a:solidFill>
                  <a:srgbClr val="AD2B26"/>
                </a:solidFill>
              </a:rPr>
              <a:t>all </a:t>
            </a:r>
            <a:r>
              <a:rPr lang="zh-CN" altLang="en-US" dirty="0">
                <a:solidFill>
                  <a:srgbClr val="AD2B26"/>
                </a:solidFill>
              </a:rPr>
              <a:t>的实际类型上。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类型，它实际上拥有自己的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方法以及从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方法，但调用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 .call()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总是先查找它自身的定义，如果没有定义，则顺着继承链向上查找，直到在某个父类中找到为止。传递给函数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do(all)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的参数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不一定是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的子类型。任何数据类型的实例都可以，只要它有一个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call()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的方法即可。其他类不继承于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Animal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，具备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方法也可以使用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函数。这就是动态语言，动态语言调用实例方法，不检查类型，只要方法存在，参数正确，就可以调用。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中的多态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、多态实现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241298"/>
            <a:ext cx="3125829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do(all):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all.call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= Animal('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',4)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 = Cat('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2,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 = Dog('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旺财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5, 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女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x in (A,C,D):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do(x)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008676" y="2887628"/>
            <a:ext cx="517462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小黑 会叫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喵喵 会“喵喵”叫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旺财 会“汪汪”叫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4119513" y="3026005"/>
            <a:ext cx="1611983" cy="46191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235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中的多态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、再举个栗子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50515" y="1918133"/>
            <a:ext cx="5080981" cy="289310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Dog(object):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父类提供统一的方法，哪怕是空方法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指哪打哪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ArmyDog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(Dog):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继承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子类重写父类同名方法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追击敌人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DrugDog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(Dog):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work(self):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追查毒品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688879" y="2133576"/>
            <a:ext cx="3209266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Person(object):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(self, dog):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dog.work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ArmyDog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DrugDog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 = Person()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police.work_with_dog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(ad)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police.work_with_dog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dd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  <p:sp>
        <p:nvSpPr>
          <p:cNvPr id="7" name="右箭头 6"/>
          <p:cNvSpPr/>
          <p:nvPr/>
        </p:nvSpPr>
        <p:spPr>
          <a:xfrm>
            <a:off x="5807191" y="3133725"/>
            <a:ext cx="805992" cy="40132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650515" y="5211506"/>
            <a:ext cx="10749598" cy="509047"/>
          </a:xfrm>
        </p:spPr>
        <p:txBody>
          <a:bodyPr/>
          <a:lstStyle/>
          <a:p>
            <a:pPr marL="0" indent="0">
              <a:buNone/>
            </a:pP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def work_with_dog(self, dog):  # 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传入不同的对象，执行不同的代码，即不同的</a:t>
            </a:r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</a:rPr>
              <a:t>work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函数。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424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面向对象的其他特性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695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类属性就是 </a:t>
            </a:r>
            <a:r>
              <a:rPr lang="zh-CN" altLang="en-US" dirty="0">
                <a:solidFill>
                  <a:srgbClr val="AD2B26"/>
                </a:solidFill>
              </a:rPr>
              <a:t>类对象中定义的属性</a:t>
            </a:r>
            <a:r>
              <a:rPr lang="zh-CN" altLang="en-US" dirty="0"/>
              <a:t>，它被</a:t>
            </a:r>
            <a:r>
              <a:rPr lang="zh-CN" altLang="en-US" dirty="0">
                <a:solidFill>
                  <a:srgbClr val="AD2B26"/>
                </a:solidFill>
              </a:rPr>
              <a:t>该类的所有实例对象所共有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通常用来记录 </a:t>
            </a:r>
            <a:r>
              <a:rPr lang="zh-CN" altLang="en-US" dirty="0">
                <a:solidFill>
                  <a:srgbClr val="C00000"/>
                </a:solidFill>
              </a:rPr>
              <a:t>与这类相关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的特征，类属性 不会用于记录 </a:t>
            </a:r>
            <a:r>
              <a:rPr lang="zh-CN" altLang="en-US" dirty="0">
                <a:solidFill>
                  <a:srgbClr val="C00000"/>
                </a:solidFill>
              </a:rPr>
              <a:t>具体对象的特征。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案例：定义一个工具类， 每件工具都有自己的名称，需求：知道使用这个类，创建了多少个工具对象？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、类属性和实例属性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945215"/>
            <a:ext cx="10302240" cy="353943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Tool(object):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定义类属性，用于记录创建了多少个工具对象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= 0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针对类属性做一个计数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tool1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斧头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tool2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榔头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tool3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铁锹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输出工具对象的总数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02706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类方法就是针对类对象定义的方法，在</a:t>
            </a:r>
            <a:r>
              <a:rPr lang="zh-CN" altLang="en-US" dirty="0">
                <a:solidFill>
                  <a:srgbClr val="C00000"/>
                </a:solidFill>
              </a:rPr>
              <a:t>类方法中可以直接访问类属性或者调用其他类方法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类方法需要用修饰器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@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classmethod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"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来标识，告诉解释器这是一个类方法类方法的第一个参数应该是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 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"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① 有哪一个类调用的方法，方法内的</a:t>
            </a:r>
            <a:r>
              <a:rPr lang="en-US" altLang="zh-CN" dirty="0">
                <a:solidFill>
                  <a:srgbClr val="C00000"/>
                </a:solidFill>
              </a:rPr>
              <a:t>" 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 "</a:t>
            </a:r>
            <a:r>
              <a:rPr lang="zh-CN" altLang="en-US" dirty="0">
                <a:solidFill>
                  <a:srgbClr val="C00000"/>
                </a:solidFill>
              </a:rPr>
              <a:t>就是哪一个类的引用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② 这个参数和示例方法的第一个参数是</a:t>
            </a:r>
            <a:r>
              <a:rPr lang="en-US" altLang="zh-CN" dirty="0">
                <a:solidFill>
                  <a:srgbClr val="C00000"/>
                </a:solidFill>
              </a:rPr>
              <a:t>"self"</a:t>
            </a:r>
            <a:r>
              <a:rPr lang="zh-CN" altLang="en-US" dirty="0">
                <a:solidFill>
                  <a:srgbClr val="C00000"/>
                </a:solidFill>
              </a:rPr>
              <a:t>类似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③ 提示使用其他名称也可以，不过习惯使用</a:t>
            </a:r>
            <a:r>
              <a:rPr lang="en-US" altLang="zh-CN" dirty="0">
                <a:solidFill>
                  <a:srgbClr val="C00000"/>
                </a:solidFill>
              </a:rPr>
              <a:t>" 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 " </a:t>
            </a:r>
            <a:r>
              <a:rPr lang="zh-CN" altLang="en-US" dirty="0">
                <a:solidFill>
                  <a:srgbClr val="C00000"/>
                </a:solidFill>
              </a:rPr>
              <a:t>通过类名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zh-CN" altLang="en-US" dirty="0">
                <a:solidFill>
                  <a:srgbClr val="C00000"/>
                </a:solidFill>
              </a:rPr>
              <a:t>调用类方法，调用方法时，不需要传递</a:t>
            </a:r>
            <a:r>
              <a:rPr lang="en-US" altLang="zh-CN" dirty="0">
                <a:solidFill>
                  <a:srgbClr val="C00000"/>
                </a:solidFill>
              </a:rPr>
              <a:t>" 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 "</a:t>
            </a:r>
            <a:r>
              <a:rPr lang="zh-CN" altLang="en-US" dirty="0">
                <a:solidFill>
                  <a:srgbClr val="C00000"/>
                </a:solidFill>
              </a:rPr>
              <a:t>参数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在方法内部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① 可以通过</a:t>
            </a:r>
            <a:r>
              <a:rPr lang="en-US" altLang="zh-CN" dirty="0">
                <a:solidFill>
                  <a:srgbClr val="C00000"/>
                </a:solidFill>
              </a:rPr>
              <a:t>"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."</a:t>
            </a:r>
            <a:r>
              <a:rPr lang="zh-CN" altLang="en-US" dirty="0">
                <a:solidFill>
                  <a:srgbClr val="C00000"/>
                </a:solidFill>
              </a:rPr>
              <a:t>访问类的属性  ② 也可以通过</a:t>
            </a:r>
            <a:r>
              <a:rPr lang="en-US" altLang="zh-CN" dirty="0">
                <a:solidFill>
                  <a:srgbClr val="C00000"/>
                </a:solidFill>
              </a:rPr>
              <a:t> "</a:t>
            </a:r>
            <a:r>
              <a:rPr lang="en-US" altLang="zh-CN" dirty="0" err="1">
                <a:solidFill>
                  <a:srgbClr val="C00000"/>
                </a:solidFill>
              </a:rPr>
              <a:t>cls</a:t>
            </a:r>
            <a:r>
              <a:rPr lang="en-US" altLang="zh-CN" dirty="0">
                <a:solidFill>
                  <a:srgbClr val="C00000"/>
                </a:solidFill>
              </a:rPr>
              <a:t>." </a:t>
            </a:r>
            <a:r>
              <a:rPr lang="zh-CN" altLang="en-US" dirty="0">
                <a:solidFill>
                  <a:srgbClr val="C00000"/>
                </a:solidFill>
              </a:rPr>
              <a:t>调用其他的类方法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、类方法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53329"/>
            <a:ext cx="10302240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类方法名称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1361982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案例：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定义一个工具类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每件工具都有自己的名称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需求 ：在类封装一个</a:t>
            </a:r>
            <a:r>
              <a:rPr lang="en-US" altLang="zh-CN" dirty="0">
                <a:solidFill>
                  <a:srgbClr val="C00000"/>
                </a:solidFill>
              </a:rPr>
              <a:t>" </a:t>
            </a:r>
            <a:r>
              <a:rPr lang="en-US" altLang="zh-CN" dirty="0" err="1">
                <a:solidFill>
                  <a:srgbClr val="C00000"/>
                </a:solidFill>
              </a:rPr>
              <a:t>show_tool_count</a:t>
            </a:r>
            <a:r>
              <a:rPr lang="en-US" altLang="zh-CN" dirty="0">
                <a:solidFill>
                  <a:srgbClr val="C00000"/>
                </a:solidFill>
              </a:rPr>
              <a:t> "</a:t>
            </a:r>
            <a:r>
              <a:rPr lang="zh-CN" altLang="en-US" dirty="0">
                <a:solidFill>
                  <a:srgbClr val="C00000"/>
                </a:solidFill>
              </a:rPr>
              <a:t>的类方法，输出使用当前这个类，创建的对象个数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、类方法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522655"/>
            <a:ext cx="4141038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Tool(object):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定义类属性，用于记录创建了多少个工具对象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 = 0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show_tools_count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工具对象的数量：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name):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self.name = name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针对类属性做一个计数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+1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操作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083811" y="4168984"/>
            <a:ext cx="4141038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tool1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斧头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tool2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榔头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tool3 = Tool('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铁锹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输出工具对象的总数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Tool.show_tools_count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6" name="右箭头 5"/>
          <p:cNvSpPr/>
          <p:nvPr/>
        </p:nvSpPr>
        <p:spPr>
          <a:xfrm>
            <a:off x="5217688" y="4646878"/>
            <a:ext cx="1500353" cy="42920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844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在开发时，如果需要在类中封装一个方法，这个方法：​  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既 </a:t>
            </a:r>
            <a:r>
              <a:rPr lang="zh-CN" altLang="en-US" dirty="0">
                <a:solidFill>
                  <a:srgbClr val="C00000"/>
                </a:solidFill>
              </a:rPr>
              <a:t>不需要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访问</a:t>
            </a:r>
            <a:r>
              <a:rPr lang="zh-CN" altLang="en-US" dirty="0">
                <a:solidFill>
                  <a:srgbClr val="C00000"/>
                </a:solidFill>
              </a:rPr>
              <a:t>实例属性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或者调用</a:t>
            </a:r>
            <a:r>
              <a:rPr lang="zh-CN" altLang="en-US" dirty="0">
                <a:solidFill>
                  <a:srgbClr val="C00000"/>
                </a:solidFill>
              </a:rPr>
              <a:t>实例方法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也 </a:t>
            </a:r>
            <a:r>
              <a:rPr lang="zh-CN" altLang="en-US" dirty="0">
                <a:solidFill>
                  <a:srgbClr val="C00000"/>
                </a:solidFill>
              </a:rPr>
              <a:t>不需要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访问</a:t>
            </a:r>
            <a:r>
              <a:rPr lang="zh-CN" altLang="en-US" dirty="0">
                <a:solidFill>
                  <a:srgbClr val="C00000"/>
                </a:solidFill>
              </a:rPr>
              <a:t>类属性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或者调用</a:t>
            </a:r>
            <a:r>
              <a:rPr lang="zh-CN" altLang="en-US" dirty="0">
                <a:solidFill>
                  <a:srgbClr val="C00000"/>
                </a:solidFill>
              </a:rPr>
              <a:t>类方法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这个时候，可以把这个方法封装成一个</a:t>
            </a:r>
            <a:r>
              <a:rPr lang="zh-CN" altLang="en-US" dirty="0">
                <a:solidFill>
                  <a:srgbClr val="C00000"/>
                </a:solidFill>
              </a:rPr>
              <a:t>静态方法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基本语法：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、静态方法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828755" y="4203789"/>
            <a:ext cx="10513847" cy="73210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静态方法名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    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1283275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静态方法需要用修饰器 </a:t>
            </a:r>
            <a:r>
              <a:rPr lang="en-US" altLang="zh-CN" dirty="0">
                <a:solidFill>
                  <a:srgbClr val="AD2B26"/>
                </a:solidFill>
              </a:rPr>
              <a:t>"@</a:t>
            </a:r>
            <a:r>
              <a:rPr lang="en-US" altLang="zh-CN" dirty="0" err="1">
                <a:solidFill>
                  <a:srgbClr val="AD2B26"/>
                </a:solidFill>
              </a:rPr>
              <a:t>staticmethod</a:t>
            </a:r>
            <a:r>
              <a:rPr lang="en-US" altLang="zh-CN" dirty="0">
                <a:solidFill>
                  <a:srgbClr val="AD2B26"/>
                </a:solidFill>
              </a:rPr>
              <a:t>"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来标识，告诉解释器这是一个静态方法。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 静态方法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、静态方法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98924"/>
            <a:ext cx="10532508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Game: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menu():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print('------')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[1]')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暂停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[2]')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退出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[3]')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Game.menu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81819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综合案例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06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540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设计一个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`Game`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定义一个类属性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top_score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记录游戏的历史最高分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定义一个实例属性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player_name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记录当前游戏的玩家姓名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show_help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显示游戏帮助信息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show_top_score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显示历史最高分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实例方法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start_game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开始当前玩家的游戏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、需求分析</a:t>
            </a:r>
          </a:p>
        </p:txBody>
      </p:sp>
    </p:spTree>
    <p:extLst>
      <p:ext uri="{BB962C8B-B14F-4D97-AF65-F5344CB8AC3E}">
        <p14:creationId xmlns:p14="http://schemas.microsoft.com/office/powerpoint/2010/main" val="32213605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① 查看帮助信息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② 查看历史最高分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③ 创建游戏对象，开始游戏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、主程序步骤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41" y="3167994"/>
            <a:ext cx="7712108" cy="269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8508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面向对象的其他特性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、代码实现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727858"/>
            <a:ext cx="4788273" cy="375487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 Game(object):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历史最高分</a:t>
            </a: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0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__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init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__(self,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self.player_name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player_name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show_help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游戏帮助信息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@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classmethod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show_top_score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历史最高分：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cls.top_score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start_game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(self):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print(f'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开始游戏啦，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self.player_name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}')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6946840" y="2805076"/>
            <a:ext cx="478827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、查看游戏帮助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Game.show_help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、显示历史最高分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Game.show_top_score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、开始游戏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 = Game('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heima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game.start_game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9" name="右箭头 8"/>
          <p:cNvSpPr/>
          <p:nvPr/>
        </p:nvSpPr>
        <p:spPr>
          <a:xfrm>
            <a:off x="5660727" y="3452326"/>
            <a:ext cx="1124538" cy="4758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49255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9887</TotalTime>
  <Words>3948</Words>
  <Application>Microsoft Office PowerPoint</Application>
  <PresentationFormat>宽屏</PresentationFormat>
  <Paragraphs>540</Paragraphs>
  <Slides>38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38</vt:i4>
      </vt:variant>
    </vt:vector>
  </HeadingPairs>
  <TitlesOfParts>
    <vt:vector size="56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Python面向对象高级</vt:lpstr>
      <vt:lpstr>PowerPoint 演示文稿</vt:lpstr>
      <vt:lpstr>PowerPoint 演示文稿</vt:lpstr>
      <vt:lpstr>面向对象三大特性</vt:lpstr>
      <vt:lpstr>面向对象的三大特性</vt:lpstr>
      <vt:lpstr>Python中的封装</vt:lpstr>
      <vt:lpstr>面向对象中的封装</vt:lpstr>
      <vt:lpstr>面向对象中的封装</vt:lpstr>
      <vt:lpstr>面向对象中的封装</vt:lpstr>
      <vt:lpstr>面向对象中的封装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Python中的继承</vt:lpstr>
      <vt:lpstr>Python中的多态</vt:lpstr>
      <vt:lpstr>Python中的多态</vt:lpstr>
      <vt:lpstr>Python中的多态</vt:lpstr>
      <vt:lpstr>Python中的多态</vt:lpstr>
      <vt:lpstr>Python中的多态</vt:lpstr>
      <vt:lpstr>Python中的多态</vt:lpstr>
      <vt:lpstr>面向对象的其他特性</vt:lpstr>
      <vt:lpstr>面向对象的其他特性</vt:lpstr>
      <vt:lpstr>面向对象的其他特性</vt:lpstr>
      <vt:lpstr>面向对象的其他特性</vt:lpstr>
      <vt:lpstr>面向对象的其他特性</vt:lpstr>
      <vt:lpstr>面向对象的其他特性</vt:lpstr>
      <vt:lpstr>综合案例</vt:lpstr>
      <vt:lpstr>面向对象的其他特性</vt:lpstr>
      <vt:lpstr>面向对象的其他特性</vt:lpstr>
      <vt:lpstr>面向对象的其他特性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任 逍遥</cp:lastModifiedBy>
  <cp:revision>920</cp:revision>
  <dcterms:created xsi:type="dcterms:W3CDTF">2020-03-31T02:23:27Z</dcterms:created>
  <dcterms:modified xsi:type="dcterms:W3CDTF">2021-11-16T08:50:12Z</dcterms:modified>
</cp:coreProperties>
</file>