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6.xml" ContentType="application/vnd.openxmlformats-officedocument.theme+xml"/>
  <Override PartName="/ppt/slideLayouts/slideLayout21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665" r:id="rId2"/>
    <p:sldMasterId id="2147483707" r:id="rId3"/>
    <p:sldMasterId id="2147483700" r:id="rId4"/>
    <p:sldMasterId id="2147483698" r:id="rId5"/>
    <p:sldMasterId id="2147483668" r:id="rId6"/>
    <p:sldMasterId id="2147483672" r:id="rId7"/>
  </p:sldMasterIdLst>
  <p:notesMasterIdLst>
    <p:notesMasterId r:id="rId41"/>
  </p:notesMasterIdLst>
  <p:handoutMasterIdLst>
    <p:handoutMasterId r:id="rId42"/>
  </p:handoutMasterIdLst>
  <p:sldIdLst>
    <p:sldId id="462" r:id="rId8"/>
    <p:sldId id="463" r:id="rId9"/>
    <p:sldId id="464" r:id="rId10"/>
    <p:sldId id="466" r:id="rId11"/>
    <p:sldId id="577" r:id="rId12"/>
    <p:sldId id="583" r:id="rId13"/>
    <p:sldId id="584" r:id="rId14"/>
    <p:sldId id="585" r:id="rId15"/>
    <p:sldId id="586" r:id="rId16"/>
    <p:sldId id="587" r:id="rId17"/>
    <p:sldId id="588" r:id="rId18"/>
    <p:sldId id="581" r:id="rId19"/>
    <p:sldId id="589" r:id="rId20"/>
    <p:sldId id="590" r:id="rId21"/>
    <p:sldId id="591" r:id="rId22"/>
    <p:sldId id="592" r:id="rId23"/>
    <p:sldId id="593" r:id="rId24"/>
    <p:sldId id="594" r:id="rId25"/>
    <p:sldId id="595" r:id="rId26"/>
    <p:sldId id="596" r:id="rId27"/>
    <p:sldId id="597" r:id="rId28"/>
    <p:sldId id="598" r:id="rId29"/>
    <p:sldId id="599" r:id="rId30"/>
    <p:sldId id="600" r:id="rId31"/>
    <p:sldId id="601" r:id="rId32"/>
    <p:sldId id="602" r:id="rId33"/>
    <p:sldId id="603" r:id="rId34"/>
    <p:sldId id="604" r:id="rId35"/>
    <p:sldId id="608" r:id="rId36"/>
    <p:sldId id="606" r:id="rId37"/>
    <p:sldId id="605" r:id="rId38"/>
    <p:sldId id="607" r:id="rId39"/>
    <p:sldId id="264" r:id="rId4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2B26"/>
    <a:srgbClr val="FFFFFF"/>
    <a:srgbClr val="B60206"/>
    <a:srgbClr val="B70006"/>
    <a:srgbClr val="49504F"/>
    <a:srgbClr val="FFFFE4"/>
    <a:srgbClr val="919191"/>
    <a:srgbClr val="333333"/>
    <a:srgbClr val="D9D9D9"/>
    <a:srgbClr val="515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45" autoAdjust="0"/>
    <p:restoredTop sz="91940" autoAdjust="0"/>
  </p:normalViewPr>
  <p:slideViewPr>
    <p:cSldViewPr snapToGrid="0">
      <p:cViewPr varScale="1">
        <p:scale>
          <a:sx n="90" d="100"/>
          <a:sy n="90" d="100"/>
        </p:scale>
        <p:origin x="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handoutMaster" Target="handoutMasters/handoutMaster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presProps" Target="presProps.xml"/><Relationship Id="rId8" Type="http://schemas.openxmlformats.org/officeDocument/2006/relationships/slide" Target="slides/slid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tableStyles" Target="tableStyles.xml"/><Relationship Id="rId20" Type="http://schemas.openxmlformats.org/officeDocument/2006/relationships/slide" Target="slides/slide13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5BAB8F7-26C7-2345-A2F0-4C70E8EFA8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B0FE49-C86E-0B42-8C7E-921C60B5AA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  <a:t>2021/7/16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928822-8127-CD43-9156-5BB443851D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C3EF7F-6078-7249-A167-F5C0687992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626559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  <a:t>2021/7/16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594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89214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32222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46410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01014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1175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8694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40038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0038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19272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58966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02721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63019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01451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39185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01682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28454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28645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9960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96594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5833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469F54-72BF-044A-89E7-CDAF75E947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</a:p>
        </p:txBody>
      </p:sp>
      <p:sp>
        <p:nvSpPr>
          <p:cNvPr id="3" name="文本占位符 3">
            <a:extLst>
              <a:ext uri="{FF2B5EF4-FFF2-40B4-BE49-F238E27FC236}">
                <a16:creationId xmlns:a16="http://schemas.microsoft.com/office/drawing/2014/main" id="{FE68CD30-ECD6-A642-8C7F-BA42D1249D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</a:p>
        </p:txBody>
      </p:sp>
    </p:spTree>
    <p:extLst>
      <p:ext uri="{BB962C8B-B14F-4D97-AF65-F5344CB8AC3E}">
        <p14:creationId xmlns:p14="http://schemas.microsoft.com/office/powerpoint/2010/main" val="588721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1B62E64-63F1-3949-8E18-11A80E8D9F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189" marR="0" lvl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4694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1B62E64-63F1-3949-8E18-11A80E8D9F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</a:p>
        </p:txBody>
      </p:sp>
    </p:spTree>
    <p:extLst>
      <p:ext uri="{BB962C8B-B14F-4D97-AF65-F5344CB8AC3E}">
        <p14:creationId xmlns:p14="http://schemas.microsoft.com/office/powerpoint/2010/main" val="2196259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39209-2A8D-D940-8FA0-61988543E49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CA56E57C-1F68-E948-87DC-0FF15A8C7DE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>
            <a:extLst>
              <a:ext uri="{FF2B5EF4-FFF2-40B4-BE49-F238E27FC236}">
                <a16:creationId xmlns:a16="http://schemas.microsoft.com/office/drawing/2014/main" id="{01590D97-7CA9-B247-806A-885950A786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198760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>
            <a:extLst>
              <a:ext uri="{FF2B5EF4-FFF2-40B4-BE49-F238E27FC236}">
                <a16:creationId xmlns:a16="http://schemas.microsoft.com/office/drawing/2014/main" id="{ED1003EB-0D97-5849-AC50-BFB3EDAA3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0C8E5D29-3E75-FC46-80C9-2080D9268E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3315334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1BE760B7-955D-46DB-9CF6-0F5E75ACEF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8889851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lnSpc>
                <a:spcPct val="150000"/>
              </a:lnSpc>
              <a:buFont typeface="Wingdings" pitchFamily="2" charset="2"/>
              <a:buChar char="l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9FCFB1A-E1EE-3245-9778-ABB7ACB14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2DD40269-A2A6-814E-991D-1DBB128738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639914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64C54839-92D5-0E4E-B9C2-203FF53C32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E5CC542A-FF04-5243-BA82-1AC7B0A112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862767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E4D92416-D30F-8049-AD27-C955EC07F2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5" name="文本占位符 9">
            <a:extLst>
              <a:ext uri="{FF2B5EF4-FFF2-40B4-BE49-F238E27FC236}">
                <a16:creationId xmlns:a16="http://schemas.microsoft.com/office/drawing/2014/main" id="{FB933948-E99B-AD48-8B41-DEA66BC8F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>
            <a:extLst>
              <a:ext uri="{FF2B5EF4-FFF2-40B4-BE49-F238E27FC236}">
                <a16:creationId xmlns:a16="http://schemas.microsoft.com/office/drawing/2014/main" id="{D8BA1B0F-468D-0446-AB7E-B23A83414D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7497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9947CB16-8D08-5242-A2E0-936DC1D438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908806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B678CE99-982F-E747-B6C5-B29DECDE38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:a16="http://schemas.microsoft.com/office/drawing/2014/main" id="{88D105DB-24C1-B042-AF5E-89B9573312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88711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:a16="http://schemas.microsoft.com/office/drawing/2014/main" id="{9C0915B4-3DAF-C444-883E-818CAE39A5B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71635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1824831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28063303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24558441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4145838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>
            <a:extLst>
              <a:ext uri="{FF2B5EF4-FFF2-40B4-BE49-F238E27FC236}">
                <a16:creationId xmlns:a16="http://schemas.microsoft.com/office/drawing/2014/main" id="{380B9059-6AA7-9E4F-BC56-F30289A262EA}"/>
              </a:ext>
            </a:extLst>
          </p:cNvPr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D71D36F9-1B1C-094A-A062-19A46A7AB388}"/>
              </a:ext>
            </a:extLst>
          </p:cNvPr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493FA365-EB18-4C49-B470-79A013EED4C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45B08E3-3066-3844-87E9-46D7426765C6}"/>
              </a:ext>
            </a:extLst>
          </p:cNvPr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>
            <a:extLst>
              <a:ext uri="{FF2B5EF4-FFF2-40B4-BE49-F238E27FC236}">
                <a16:creationId xmlns:a16="http://schemas.microsoft.com/office/drawing/2014/main" id="{B7A42CA5-7885-7642-B20D-B92B35099CBC}"/>
              </a:ext>
            </a:extLst>
          </p:cNvPr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>
            <a:extLst>
              <a:ext uri="{FF2B5EF4-FFF2-40B4-BE49-F238E27FC236}">
                <a16:creationId xmlns:a16="http://schemas.microsoft.com/office/drawing/2014/main" id="{DE7B2235-1C6B-6B44-BC4F-1EC9BD8B9D8D}"/>
              </a:ext>
            </a:extLst>
          </p:cNvPr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>
            <a:extLst>
              <a:ext uri="{FF2B5EF4-FFF2-40B4-BE49-F238E27FC236}">
                <a16:creationId xmlns:a16="http://schemas.microsoft.com/office/drawing/2014/main" id="{5BF818FD-51C6-E54A-9D53-783E1313F19E}"/>
              </a:ext>
            </a:extLst>
          </p:cNvPr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1137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  <p:sp>
        <p:nvSpPr>
          <p:cNvPr id="21" name="标题 1">
            <a:extLst>
              <a:ext uri="{FF2B5EF4-FFF2-40B4-BE49-F238E27FC236}">
                <a16:creationId xmlns:a16="http://schemas.microsoft.com/office/drawing/2014/main" id="{B0EF16AB-AE8A-5D46-82EA-397E62F93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41700943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B0EF16AB-AE8A-5D46-82EA-397E62F93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15" name="泪珠形 14">
            <a:extLst>
              <a:ext uri="{FF2B5EF4-FFF2-40B4-BE49-F238E27FC236}">
                <a16:creationId xmlns:a16="http://schemas.microsoft.com/office/drawing/2014/main" id="{0EFAFC56-5B16-1644-BDCA-117D21E2806E}"/>
              </a:ext>
            </a:extLst>
          </p:cNvPr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>
            <a:extLst>
              <a:ext uri="{FF2B5EF4-FFF2-40B4-BE49-F238E27FC236}">
                <a16:creationId xmlns:a16="http://schemas.microsoft.com/office/drawing/2014/main" id="{02C17FF1-E140-B64F-AF1C-FE17A937E731}"/>
              </a:ext>
            </a:extLst>
          </p:cNvPr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>
            <a:extLst>
              <a:ext uri="{FF2B5EF4-FFF2-40B4-BE49-F238E27FC236}">
                <a16:creationId xmlns:a16="http://schemas.microsoft.com/office/drawing/2014/main" id="{F639FB5D-6047-3448-A319-F4FD2BA72BB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>
            <a:extLst>
              <a:ext uri="{FF2B5EF4-FFF2-40B4-BE49-F238E27FC236}">
                <a16:creationId xmlns:a16="http://schemas.microsoft.com/office/drawing/2014/main" id="{0C1BFADD-1066-B04B-BD99-C7E20F0FA73E}"/>
              </a:ext>
            </a:extLst>
          </p:cNvPr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>
            <a:extLst>
              <a:ext uri="{FF2B5EF4-FFF2-40B4-BE49-F238E27FC236}">
                <a16:creationId xmlns:a16="http://schemas.microsoft.com/office/drawing/2014/main" id="{20149FF9-71F5-FB43-A7A0-BB0C90CB4486}"/>
              </a:ext>
            </a:extLst>
          </p:cNvPr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>
            <a:extLst>
              <a:ext uri="{FF2B5EF4-FFF2-40B4-BE49-F238E27FC236}">
                <a16:creationId xmlns:a16="http://schemas.microsoft.com/office/drawing/2014/main" id="{098F3E8C-7A22-A34B-817A-438DDA0CAC1C}"/>
              </a:ext>
            </a:extLst>
          </p:cNvPr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6875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4AB6E3BD-F819-724D-9482-568CE7A3A1F8}"/>
              </a:ext>
            </a:extLst>
          </p:cNvPr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BD6F73-BC4E-714F-81EB-5276C9B1460A}"/>
              </a:ext>
            </a:extLst>
          </p:cNvPr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3788A09-8D86-D048-B1A9-A02E86D4E252}"/>
              </a:ext>
            </a:extLst>
          </p:cNvPr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9328185-789E-DD42-AA27-851035E2E6BA}"/>
              </a:ext>
            </a:extLst>
          </p:cNvPr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F2080FE-05C6-2340-B7D7-FCDE4D780420}"/>
              </a:ext>
            </a:extLst>
          </p:cNvPr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90C36A6-06C1-0647-8725-306AE7D5DB42}"/>
              </a:ext>
            </a:extLst>
          </p:cNvPr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B0EF16AB-AE8A-5D46-82EA-397E62F93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3" name="标题占位符 1">
            <a:extLst>
              <a:ext uri="{FF2B5EF4-FFF2-40B4-BE49-F238E27FC236}">
                <a16:creationId xmlns:a16="http://schemas.microsoft.com/office/drawing/2014/main" id="{C9A22D05-8FDB-7546-BB47-01F708903CC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C7A4DAB-DC8A-9A43-A443-C9AE1D1E2698}"/>
              </a:ext>
            </a:extLst>
          </p:cNvPr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39224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4151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svg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6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>
            <a:extLst>
              <a:ext uri="{FF2B5EF4-FFF2-40B4-BE49-F238E27FC236}">
                <a16:creationId xmlns:a16="http://schemas.microsoft.com/office/drawing/2014/main" id="{D359BD9D-8F8C-A44C-91CC-CA8F5146AA4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>
            <a:extLst>
              <a:ext uri="{FF2B5EF4-FFF2-40B4-BE49-F238E27FC236}">
                <a16:creationId xmlns:a16="http://schemas.microsoft.com/office/drawing/2014/main" id="{6F51DA0D-EA98-B14B-A35B-7EDF8DBC5804}"/>
              </a:ext>
            </a:extLst>
          </p:cNvPr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" fmla="*/ 0 w 1034350"/>
              <a:gd name="connsiteY0" fmla="*/ 1136649 h 1136649"/>
              <a:gd name="connsiteX1" fmla="*/ 0 w 1034350"/>
              <a:gd name="connsiteY1" fmla="*/ 0 h 1136649"/>
              <a:gd name="connsiteX2" fmla="*/ 750188 w 1034350"/>
              <a:gd name="connsiteY2" fmla="*/ 0 h 1136649"/>
              <a:gd name="connsiteX3" fmla="*/ 1034350 w 1034350"/>
              <a:gd name="connsiteY3" fmla="*/ 568325 h 1136649"/>
              <a:gd name="connsiteX4" fmla="*/ 750188 w 1034350"/>
              <a:gd name="connsiteY4" fmla="*/ 1136649 h 1136649"/>
              <a:gd name="connsiteX5" fmla="*/ 0 w 1034350"/>
              <a:gd name="connsiteY5" fmla="*/ 1136649 h 1136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>
            <a:extLst>
              <a:ext uri="{FF2B5EF4-FFF2-40B4-BE49-F238E27FC236}">
                <a16:creationId xmlns:a16="http://schemas.microsoft.com/office/drawing/2014/main" id="{B0F52978-FC9E-FC46-A244-4605B31E7CC6}"/>
              </a:ext>
            </a:extLst>
          </p:cNvPr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>
            <a:extLst>
              <a:ext uri="{FF2B5EF4-FFF2-40B4-BE49-F238E27FC236}">
                <a16:creationId xmlns:a16="http://schemas.microsoft.com/office/drawing/2014/main" id="{6677D3A6-DA28-9444-815A-4524D9FED995}"/>
              </a:ext>
            </a:extLst>
          </p:cNvPr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>
            <a:extLst>
              <a:ext uri="{FF2B5EF4-FFF2-40B4-BE49-F238E27FC236}">
                <a16:creationId xmlns:a16="http://schemas.microsoft.com/office/drawing/2014/main" id="{B3967B50-7DD6-B247-97B6-4844195F68D5}"/>
              </a:ext>
            </a:extLst>
          </p:cNvPr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>
            <a:extLst>
              <a:ext uri="{FF2B5EF4-FFF2-40B4-BE49-F238E27FC236}">
                <a16:creationId xmlns:a16="http://schemas.microsoft.com/office/drawing/2014/main" id="{4C290A33-8D65-DC47-BE12-79B4B22A299D}"/>
              </a:ext>
            </a:extLst>
          </p:cNvPr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>
            <a:extLst>
              <a:ext uri="{FF2B5EF4-FFF2-40B4-BE49-F238E27FC236}">
                <a16:creationId xmlns:a16="http://schemas.microsoft.com/office/drawing/2014/main" id="{E0867641-ABCE-C84A-84A4-696E52E6543B}"/>
              </a:ext>
            </a:extLst>
          </p:cNvPr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>
            <a:extLst>
              <a:ext uri="{FF2B5EF4-FFF2-40B4-BE49-F238E27FC236}">
                <a16:creationId xmlns:a16="http://schemas.microsoft.com/office/drawing/2014/main" id="{3DC81806-A479-FD47-B1B6-A77189F32D48}"/>
              </a:ext>
            </a:extLst>
          </p:cNvPr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>
            <a:extLst>
              <a:ext uri="{FF2B5EF4-FFF2-40B4-BE49-F238E27FC236}">
                <a16:creationId xmlns:a16="http://schemas.microsoft.com/office/drawing/2014/main" id="{D15987B7-89CB-8549-AEE5-ADD4AED257B7}"/>
              </a:ext>
            </a:extLst>
          </p:cNvPr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382A540C-45FC-EB45-96D5-1EA0511DAF21}"/>
              </a:ext>
            </a:extLst>
          </p:cNvPr>
          <p:cNvCxnSpPr>
            <a:cxnSpLocks/>
          </p:cNvCxnSpPr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>
            <a:extLst>
              <a:ext uri="{FF2B5EF4-FFF2-40B4-BE49-F238E27FC236}">
                <a16:creationId xmlns:a16="http://schemas.microsoft.com/office/drawing/2014/main" id="{28569DD6-18D5-5D45-BC4E-E4C2727B945C}"/>
              </a:ext>
            </a:extLst>
          </p:cNvPr>
          <p:cNvCxnSpPr>
            <a:cxnSpLocks/>
          </p:cNvCxnSpPr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7860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2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3A7F5CA1-11F4-B94D-84AE-F6E3E12DEC4D}"/>
              </a:ext>
            </a:extLst>
          </p:cNvPr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B73C1A2-926E-3849-92AB-BCE7B4C71DF2}"/>
                </a:ext>
              </a:extLst>
            </p:cNvPr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3EC96A2F-7D7A-F34F-9BE8-8ADCD2919ACB}"/>
                </a:ext>
              </a:extLst>
            </p:cNvPr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>
              <a:extLst>
                <a:ext uri="{FF2B5EF4-FFF2-40B4-BE49-F238E27FC236}">
                  <a16:creationId xmlns:a16="http://schemas.microsoft.com/office/drawing/2014/main" id="{83E925B0-57FD-8B4B-8FF7-8BCD8AADEF23}"/>
                </a:ext>
              </a:extLst>
            </p:cNvPr>
            <p:cNvCxnSpPr>
              <a:cxnSpLocks/>
            </p:cNvCxnSpPr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>
              <a:extLst>
                <a:ext uri="{FF2B5EF4-FFF2-40B4-BE49-F238E27FC236}">
                  <a16:creationId xmlns:a16="http://schemas.microsoft.com/office/drawing/2014/main" id="{3EDCC472-8CF0-F84C-9270-06FAC7E8DD4D}"/>
                </a:ext>
              </a:extLst>
            </p:cNvPr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>
              <a:extLst>
                <a:ext uri="{FF2B5EF4-FFF2-40B4-BE49-F238E27FC236}">
                  <a16:creationId xmlns:a16="http://schemas.microsoft.com/office/drawing/2014/main" id="{E8F71936-0CC4-CB4A-AF12-89754A9ADA5D}"/>
                </a:ext>
              </a:extLst>
            </p:cNvPr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59586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marR="0" indent="-457189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tabLst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585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8438130-7B30-A94E-B2AC-38EDD0B85909}"/>
              </a:ext>
            </a:extLst>
          </p:cNvPr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2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B73C1A2-926E-3849-92AB-BCE7B4C71DF2}"/>
              </a:ext>
            </a:extLst>
          </p:cNvPr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EC96A2F-7D7A-F34F-9BE8-8ADCD2919ACB}"/>
              </a:ext>
            </a:extLst>
          </p:cNvPr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>
            <a:extLst>
              <a:ext uri="{FF2B5EF4-FFF2-40B4-BE49-F238E27FC236}">
                <a16:creationId xmlns:a16="http://schemas.microsoft.com/office/drawing/2014/main" id="{83E925B0-57FD-8B4B-8FF7-8BCD8AADEF23}"/>
              </a:ext>
            </a:extLst>
          </p:cNvPr>
          <p:cNvCxnSpPr>
            <a:cxnSpLocks/>
          </p:cNvCxnSpPr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>
            <a:extLst>
              <a:ext uri="{FF2B5EF4-FFF2-40B4-BE49-F238E27FC236}">
                <a16:creationId xmlns:a16="http://schemas.microsoft.com/office/drawing/2014/main" id="{A7484BB2-BD94-3C49-9EC4-B9A294E2AF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87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marR="0" indent="-457189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tabLst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585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>
            <a:extLst>
              <a:ext uri="{FF2B5EF4-FFF2-40B4-BE49-F238E27FC236}">
                <a16:creationId xmlns:a16="http://schemas.microsoft.com/office/drawing/2014/main" id="{91B717BE-9DF9-1B41-9DBF-CB511A9C606B}"/>
              </a:ext>
            </a:extLst>
          </p:cNvPr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>
            <a:extLst>
              <a:ext uri="{FF2B5EF4-FFF2-40B4-BE49-F238E27FC236}">
                <a16:creationId xmlns:a16="http://schemas.microsoft.com/office/drawing/2014/main" id="{998722ED-C4DC-C24C-A17B-B9CA36751549}"/>
              </a:ext>
            </a:extLst>
          </p:cNvPr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7575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>
            <a:extLst>
              <a:ext uri="{FF2B5EF4-FFF2-40B4-BE49-F238E27FC236}">
                <a16:creationId xmlns:a16="http://schemas.microsoft.com/office/drawing/2014/main" id="{D82380DF-4088-5449-BBFC-0B57E0B8F475}"/>
              </a:ext>
            </a:extLst>
          </p:cNvPr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>
            <a:extLst>
              <a:ext uri="{FF2B5EF4-FFF2-40B4-BE49-F238E27FC236}">
                <a16:creationId xmlns:a16="http://schemas.microsoft.com/office/drawing/2014/main" id="{2FB8D235-9189-C14B-8111-0D705B9AA121}"/>
              </a:ext>
            </a:extLst>
          </p:cNvPr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5265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0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cxnSp>
        <p:nvCxnSpPr>
          <p:cNvPr id="11" name="直接连接符 22">
            <a:extLst>
              <a:ext uri="{FF2B5EF4-FFF2-40B4-BE49-F238E27FC236}">
                <a16:creationId xmlns:a16="http://schemas.microsoft.com/office/drawing/2014/main" id="{E3D0AD59-338B-5041-BA54-3D9BB0E399D6}"/>
              </a:ext>
            </a:extLst>
          </p:cNvPr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2197ADE-85E8-B341-8233-C315893A0BCC}"/>
              </a:ext>
            </a:extLst>
          </p:cNvPr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C3756651-9738-8349-95DA-B0B282B3FAEA}"/>
                </a:ext>
              </a:extLst>
            </p:cNvPr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5EF63353-41E7-0E43-AFC0-B2282740E9FE}"/>
                </a:ext>
              </a:extLst>
            </p:cNvPr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>
            <a:extLst>
              <a:ext uri="{FF2B5EF4-FFF2-40B4-BE49-F238E27FC236}">
                <a16:creationId xmlns:a16="http://schemas.microsoft.com/office/drawing/2014/main" id="{27893006-C6C0-BC4A-8CFB-289F585A2778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442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83" r:id="rId3"/>
    <p:sldLayoutId id="2147483678" r:id="rId4"/>
    <p:sldLayoutId id="2147483679" r:id="rId5"/>
    <p:sldLayoutId id="2147483680" r:id="rId6"/>
    <p:sldLayoutId id="2147483677" r:id="rId7"/>
    <p:sldLayoutId id="2147483702" r:id="rId8"/>
    <p:sldLayoutId id="2147483703" r:id="rId9"/>
    <p:sldLayoutId id="2147483709" r:id="rId10"/>
    <p:sldLayoutId id="2147483704" r:id="rId11"/>
    <p:sldLayoutId id="2147483681" r:id="rId12"/>
    <p:sldLayoutId id="2147483693" r:id="rId13"/>
    <p:sldLayoutId id="2147483710" r:id="rId14"/>
    <p:sldLayoutId id="2147483706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715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16EC87-9B0D-CD4B-997D-0A66FE90B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Python</a:t>
            </a:r>
            <a:r>
              <a:rPr lang="zh-CN" altLang="en-US" dirty="0"/>
              <a:t>文件操作</a:t>
            </a:r>
            <a:endParaRPr kumimoji="1"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6AC0F8-4890-4046-8499-78F7C69738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/>
              <a:t>人生苦短，我学</a:t>
            </a:r>
            <a:r>
              <a:rPr kumimoji="1" lang="en-US" altLang="zh-CN" dirty="0"/>
              <a:t>Python!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3974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691FACA-E1ED-6A48-A1E4-D925AAC030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71231" y="756218"/>
            <a:ext cx="5973761" cy="4256405"/>
          </a:xfrm>
        </p:spPr>
        <p:txBody>
          <a:bodyPr/>
          <a:lstStyle/>
          <a:p>
            <a:r>
              <a:rPr lang="zh-CN" altLang="en-US" dirty="0"/>
              <a:t>文件操作概述</a:t>
            </a:r>
            <a:endParaRPr lang="en-US" altLang="zh-CN" dirty="0"/>
          </a:p>
          <a:p>
            <a:r>
              <a:rPr lang="zh-CN" altLang="en-US" dirty="0">
                <a:solidFill>
                  <a:srgbClr val="B70006"/>
                </a:solidFill>
              </a:rPr>
              <a:t>文件的基本操作</a:t>
            </a:r>
            <a:endParaRPr lang="en-US" altLang="zh-CN" dirty="0">
              <a:solidFill>
                <a:srgbClr val="B70006"/>
              </a:solidFill>
            </a:endParaRPr>
          </a:p>
          <a:p>
            <a:r>
              <a:rPr lang="zh-CN" altLang="en-US" dirty="0">
                <a:solidFill>
                  <a:srgbClr val="B70006"/>
                </a:solidFill>
              </a:rPr>
              <a:t>文件和文件夹操作</a:t>
            </a:r>
            <a:endParaRPr lang="en-US" altLang="zh-CN" dirty="0">
              <a:solidFill>
                <a:srgbClr val="B70006"/>
              </a:solidFill>
            </a:endParaRPr>
          </a:p>
          <a:p>
            <a:r>
              <a:rPr lang="zh-CN" altLang="en-US" dirty="0">
                <a:solidFill>
                  <a:srgbClr val="B70006"/>
                </a:solidFill>
              </a:rPr>
              <a:t>文件操作综合案例</a:t>
            </a:r>
            <a:endParaRPr lang="en-US" altLang="zh-CN" dirty="0">
              <a:solidFill>
                <a:srgbClr val="B7000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0185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F5F2403-DAC9-454A-9779-7331986EC4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9581" y="423612"/>
            <a:ext cx="6654482" cy="4855845"/>
          </a:xfrm>
        </p:spPr>
        <p:txBody>
          <a:bodyPr/>
          <a:lstStyle/>
          <a:p>
            <a:r>
              <a:rPr lang="zh-CN" altLang="en-US" dirty="0"/>
              <a:t>了解文件操作的作用</a:t>
            </a:r>
            <a:endParaRPr lang="en-US" altLang="zh-CN" dirty="0"/>
          </a:p>
          <a:p>
            <a:r>
              <a:rPr lang="zh-CN" altLang="en-US" dirty="0">
                <a:solidFill>
                  <a:srgbClr val="B60206"/>
                </a:solidFill>
              </a:rPr>
              <a:t>掌握文件的基本操作如打开、读写、关闭、备份等等</a:t>
            </a:r>
            <a:endParaRPr lang="en-US" altLang="zh-CN" dirty="0">
              <a:solidFill>
                <a:srgbClr val="B60206"/>
              </a:solidFill>
            </a:endParaRPr>
          </a:p>
          <a:p>
            <a:r>
              <a:rPr lang="zh-CN" altLang="en-US" dirty="0">
                <a:solidFill>
                  <a:srgbClr val="B60206"/>
                </a:solidFill>
              </a:rPr>
              <a:t>掌握</a:t>
            </a:r>
            <a:r>
              <a:rPr lang="en-US" altLang="zh-CN" dirty="0">
                <a:solidFill>
                  <a:srgbClr val="B60206"/>
                </a:solidFill>
              </a:rPr>
              <a:t>Python</a:t>
            </a:r>
            <a:r>
              <a:rPr lang="zh-CN" altLang="en-US" dirty="0">
                <a:solidFill>
                  <a:srgbClr val="B60206"/>
                </a:solidFill>
              </a:rPr>
              <a:t>操作文件和文件夹的方法</a:t>
            </a:r>
            <a:endParaRPr lang="en-US" altLang="zh-CN" dirty="0">
              <a:solidFill>
                <a:srgbClr val="B60206"/>
              </a:solidFill>
            </a:endParaRPr>
          </a:p>
          <a:p>
            <a:r>
              <a:rPr lang="zh-CN" altLang="en-US" dirty="0">
                <a:solidFill>
                  <a:srgbClr val="B60206"/>
                </a:solidFill>
              </a:rPr>
              <a:t>能独立完成文件操作应用案例的编写</a:t>
            </a:r>
            <a:endParaRPr lang="en-US" altLang="zh-CN" dirty="0">
              <a:solidFill>
                <a:srgbClr val="B6020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6209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文件操作概述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01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1335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内存中存放的数据在计算机关机后就会消失。要长久保存数据，就要使用硬盘、光盘、</a:t>
            </a:r>
            <a:r>
              <a:rPr lang="en-US" altLang="zh-CN" dirty="0"/>
              <a:t>U </a:t>
            </a:r>
            <a:r>
              <a:rPr lang="zh-CN" altLang="en-US" dirty="0"/>
              <a:t>盘等设备。为了便于数据的管理和检索，引入了</a:t>
            </a:r>
            <a:r>
              <a:rPr lang="zh-CN" altLang="en-US" dirty="0">
                <a:solidFill>
                  <a:srgbClr val="B60206"/>
                </a:solidFill>
              </a:rPr>
              <a:t>“文件”</a:t>
            </a:r>
            <a:r>
              <a:rPr lang="zh-CN" altLang="en-US" dirty="0"/>
              <a:t>的概念。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solidFill>
                  <a:srgbClr val="B60206"/>
                </a:solidFill>
              </a:rPr>
              <a:t>一篇文章、一段视频、一个可执行程序，都可以被保存为一个文件，并赋予一个文件名。</a:t>
            </a:r>
            <a:r>
              <a:rPr lang="zh-CN" altLang="en-US" dirty="0"/>
              <a:t>操作系统以文件为单位管理磁盘中的数据。一般来说，文件可分为</a:t>
            </a:r>
            <a:r>
              <a:rPr lang="zh-CN" altLang="en-US" dirty="0">
                <a:solidFill>
                  <a:srgbClr val="B60206"/>
                </a:solidFill>
              </a:rPr>
              <a:t>文本文件、视频文件、音频文件、图像文件、可执行文件等多种类别</a:t>
            </a:r>
            <a:r>
              <a:rPr lang="zh-CN" altLang="en-US" dirty="0"/>
              <a:t>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文件操作概述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、什么是文件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234" y="3314530"/>
            <a:ext cx="5102245" cy="3383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967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在日常生活中，文件操作主要包括</a:t>
            </a:r>
            <a:r>
              <a:rPr lang="zh-CN" altLang="en-US" dirty="0">
                <a:solidFill>
                  <a:srgbClr val="B60206"/>
                </a:solidFill>
              </a:rPr>
              <a:t>打开、关闭、读、写、备份</a:t>
            </a:r>
            <a:r>
              <a:rPr lang="zh-CN" altLang="en-US" dirty="0"/>
              <a:t>等操作。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文件操作概述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、文件操作包含哪些内容呢？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80" y="2402167"/>
            <a:ext cx="5567115" cy="203507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1845" y="3829749"/>
            <a:ext cx="5677392" cy="159271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0491" y="4885038"/>
            <a:ext cx="5417492" cy="1735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092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文件操作的作用</a:t>
            </a:r>
            <a:r>
              <a:rPr lang="zh-CN" altLang="en-US" dirty="0">
                <a:solidFill>
                  <a:srgbClr val="B60206"/>
                </a:solidFill>
              </a:rPr>
              <a:t>就是把一些内容</a:t>
            </a:r>
            <a:r>
              <a:rPr lang="en-US" altLang="zh-CN" dirty="0">
                <a:solidFill>
                  <a:srgbClr val="B60206"/>
                </a:solidFill>
              </a:rPr>
              <a:t>(</a:t>
            </a:r>
            <a:r>
              <a:rPr lang="zh-CN" altLang="en-US" dirty="0">
                <a:solidFill>
                  <a:srgbClr val="B60206"/>
                </a:solidFill>
              </a:rPr>
              <a:t>数据</a:t>
            </a:r>
            <a:r>
              <a:rPr lang="en-US" altLang="zh-CN" dirty="0">
                <a:solidFill>
                  <a:srgbClr val="B60206"/>
                </a:solidFill>
              </a:rPr>
              <a:t>)</a:t>
            </a:r>
            <a:r>
              <a:rPr lang="zh-CN" altLang="en-US" dirty="0">
                <a:solidFill>
                  <a:srgbClr val="B60206"/>
                </a:solidFill>
              </a:rPr>
              <a:t>存储存放起来，可以让程序下一次执行的时候直接使用，而不必重新制作一份，省时省力</a:t>
            </a:r>
            <a:r>
              <a:rPr lang="zh-CN" altLang="en-US" dirty="0"/>
              <a:t>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文件操作概述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、文件操作的作用</a:t>
            </a:r>
          </a:p>
        </p:txBody>
      </p:sp>
    </p:spTree>
    <p:extLst>
      <p:ext uri="{BB962C8B-B14F-4D97-AF65-F5344CB8AC3E}">
        <p14:creationId xmlns:p14="http://schemas.microsoft.com/office/powerpoint/2010/main" val="67115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文件的基本操作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02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13006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想想我们平常对文件的基本操作，大概可以分为三个步骤（简称文件操作三步走）：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solidFill>
                  <a:srgbClr val="B60206"/>
                </a:solidFill>
              </a:rPr>
              <a:t>① 打开文件</a:t>
            </a: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B60206"/>
                </a:solidFill>
              </a:rPr>
              <a:t>② 读写文件</a:t>
            </a: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B60206"/>
                </a:solidFill>
              </a:rPr>
              <a:t>③ 关闭文件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文件的基本操作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、文件的操作步骤</a:t>
            </a:r>
          </a:p>
        </p:txBody>
      </p:sp>
      <p:sp>
        <p:nvSpPr>
          <p:cNvPr id="5" name="三角形 9">
            <a:extLst>
              <a:ext uri="{FF2B5EF4-FFF2-40B4-BE49-F238E27FC236}">
                <a16:creationId xmlns:a16="http://schemas.microsoft.com/office/drawing/2014/main" id="{23197916-4FF1-4C92-AE7A-4520837F4448}"/>
              </a:ext>
            </a:extLst>
          </p:cNvPr>
          <p:cNvSpPr/>
          <p:nvPr/>
        </p:nvSpPr>
        <p:spPr>
          <a:xfrm rot="2651319">
            <a:off x="717495" y="4069176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C8F3570-2791-42C7-B320-77955401B7FE}"/>
              </a:ext>
            </a:extLst>
          </p:cNvPr>
          <p:cNvSpPr txBox="1"/>
          <p:nvPr/>
        </p:nvSpPr>
        <p:spPr>
          <a:xfrm>
            <a:off x="1085446" y="4100642"/>
            <a:ext cx="9773285" cy="38093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注意：可以只打开和关闭文件，不进行任何读写</a:t>
            </a:r>
            <a:endParaRPr lang="en-US" altLang="zh-CN" sz="1400" dirty="0">
              <a:solidFill>
                <a:srgbClr val="262626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561BF17-00D8-44F9-BBE1-DC58174FF365}"/>
              </a:ext>
            </a:extLst>
          </p:cNvPr>
          <p:cNvSpPr/>
          <p:nvPr/>
        </p:nvSpPr>
        <p:spPr>
          <a:xfrm>
            <a:off x="820969" y="3684076"/>
            <a:ext cx="10302240" cy="958385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521E208-47E6-4A13-99E1-C9CCCAFAB12C}"/>
              </a:ext>
            </a:extLst>
          </p:cNvPr>
          <p:cNvSpPr/>
          <p:nvPr/>
        </p:nvSpPr>
        <p:spPr>
          <a:xfrm>
            <a:off x="710881" y="3785063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注意事项</a:t>
            </a:r>
          </a:p>
        </p:txBody>
      </p:sp>
    </p:spTree>
    <p:extLst>
      <p:ext uri="{BB962C8B-B14F-4D97-AF65-F5344CB8AC3E}">
        <p14:creationId xmlns:p14="http://schemas.microsoft.com/office/powerpoint/2010/main" val="3311869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在</a:t>
            </a:r>
            <a:r>
              <a:rPr lang="en-US" altLang="zh-CN" dirty="0"/>
              <a:t>Python</a:t>
            </a:r>
            <a:r>
              <a:rPr lang="zh-CN" altLang="en-US" dirty="0"/>
              <a:t>，使用</a:t>
            </a:r>
            <a:r>
              <a:rPr lang="en-US" altLang="zh-CN" dirty="0"/>
              <a:t>open</a:t>
            </a:r>
            <a:r>
              <a:rPr lang="zh-CN" altLang="en-US" dirty="0"/>
              <a:t>函数，可以打开一个已经存在的文件，或者创建一个新文件，语法如下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olidFill>
                  <a:srgbClr val="B60206"/>
                </a:solidFill>
              </a:rPr>
              <a:t>name</a:t>
            </a:r>
            <a:r>
              <a:rPr lang="zh-CN" altLang="en-US" dirty="0">
                <a:solidFill>
                  <a:srgbClr val="B60206"/>
                </a:solidFill>
              </a:rPr>
              <a:t>：是要打开的目标文件名的字符串</a:t>
            </a:r>
            <a:r>
              <a:rPr lang="en-US" altLang="zh-CN" dirty="0">
                <a:solidFill>
                  <a:srgbClr val="B60206"/>
                </a:solidFill>
              </a:rPr>
              <a:t>(</a:t>
            </a:r>
            <a:r>
              <a:rPr lang="zh-CN" altLang="en-US" dirty="0">
                <a:solidFill>
                  <a:srgbClr val="B60206"/>
                </a:solidFill>
              </a:rPr>
              <a:t>可以包含文件所在的具体路径</a:t>
            </a:r>
            <a:r>
              <a:rPr lang="en-US" altLang="zh-CN" dirty="0">
                <a:solidFill>
                  <a:srgbClr val="B60206"/>
                </a:solidFill>
              </a:rPr>
              <a:t>)</a:t>
            </a:r>
            <a:r>
              <a:rPr lang="zh-CN" altLang="en-US" dirty="0">
                <a:solidFill>
                  <a:srgbClr val="B60206"/>
                </a:solidFill>
              </a:rPr>
              <a:t>。</a:t>
            </a: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B60206"/>
                </a:solidFill>
              </a:rPr>
              <a:t>mode</a:t>
            </a:r>
            <a:r>
              <a:rPr lang="zh-CN" altLang="en-US" dirty="0">
                <a:solidFill>
                  <a:srgbClr val="B60206"/>
                </a:solidFill>
              </a:rPr>
              <a:t>：设置打开文件的模式</a:t>
            </a:r>
            <a:r>
              <a:rPr lang="en-US" altLang="zh-CN" dirty="0">
                <a:solidFill>
                  <a:srgbClr val="B60206"/>
                </a:solidFill>
              </a:rPr>
              <a:t>(</a:t>
            </a:r>
            <a:r>
              <a:rPr lang="zh-CN" altLang="en-US" dirty="0">
                <a:solidFill>
                  <a:srgbClr val="B60206"/>
                </a:solidFill>
              </a:rPr>
              <a:t>访问模式</a:t>
            </a:r>
            <a:r>
              <a:rPr lang="en-US" altLang="zh-CN" dirty="0">
                <a:solidFill>
                  <a:srgbClr val="B60206"/>
                </a:solidFill>
              </a:rPr>
              <a:t>)</a:t>
            </a:r>
            <a:r>
              <a:rPr lang="zh-CN" altLang="en-US" dirty="0">
                <a:solidFill>
                  <a:srgbClr val="B60206"/>
                </a:solidFill>
              </a:rPr>
              <a:t>：只读、写入、追加等。</a:t>
            </a: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B60206"/>
                </a:solidFill>
              </a:rPr>
              <a:t>示例代码：</a:t>
            </a:r>
            <a:endParaRPr lang="en-US" altLang="zh-CN" dirty="0">
              <a:solidFill>
                <a:srgbClr val="B60206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文件的基本操作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open()</a:t>
            </a:r>
            <a:r>
              <a:rPr lang="zh-CN" altLang="en-US" dirty="0"/>
              <a:t>打开函数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820970" y="2191190"/>
            <a:ext cx="10302240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open(name, mode)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820970" y="4259455"/>
            <a:ext cx="10302240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 = open('python.txt', 'r')</a:t>
            </a:r>
          </a:p>
        </p:txBody>
      </p:sp>
      <p:sp>
        <p:nvSpPr>
          <p:cNvPr id="19" name="三角形 9">
            <a:extLst>
              <a:ext uri="{FF2B5EF4-FFF2-40B4-BE49-F238E27FC236}">
                <a16:creationId xmlns:a16="http://schemas.microsoft.com/office/drawing/2014/main" id="{23197916-4FF1-4C92-AE7A-4520837F4448}"/>
              </a:ext>
            </a:extLst>
          </p:cNvPr>
          <p:cNvSpPr/>
          <p:nvPr/>
        </p:nvSpPr>
        <p:spPr>
          <a:xfrm rot="2651319">
            <a:off x="717495" y="5416718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FC8F3570-2791-42C7-B320-77955401B7FE}"/>
              </a:ext>
            </a:extLst>
          </p:cNvPr>
          <p:cNvSpPr txBox="1"/>
          <p:nvPr/>
        </p:nvSpPr>
        <p:spPr>
          <a:xfrm>
            <a:off x="1085446" y="5448184"/>
            <a:ext cx="977328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注意：此时的</a:t>
            </a:r>
            <a:r>
              <a:rPr lang="en-US" altLang="zh-CN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`f`</a:t>
            </a: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是</a:t>
            </a:r>
            <a:r>
              <a:rPr lang="en-US" altLang="zh-CN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`open`</a:t>
            </a: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函数的文件对象，对象是</a:t>
            </a:r>
            <a:r>
              <a:rPr lang="en-US" altLang="zh-CN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Python</a:t>
            </a: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中一种特殊的数据类型，拥有属性和方法，可以使用对象</a:t>
            </a:r>
            <a:r>
              <a:rPr lang="en-US" altLang="zh-CN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.</a:t>
            </a: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属性或对象</a:t>
            </a:r>
            <a:r>
              <a:rPr lang="en-US" altLang="zh-CN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.</a:t>
            </a: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方法对其进行访问，后续面向对象课程会给大家进行详细的介绍。</a:t>
            </a:r>
            <a:endParaRPr lang="en-US" altLang="zh-CN" sz="1400" dirty="0">
              <a:solidFill>
                <a:srgbClr val="262626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561BF17-00D8-44F9-BBE1-DC58174FF365}"/>
              </a:ext>
            </a:extLst>
          </p:cNvPr>
          <p:cNvSpPr/>
          <p:nvPr/>
        </p:nvSpPr>
        <p:spPr>
          <a:xfrm>
            <a:off x="820969" y="5031618"/>
            <a:ext cx="10302240" cy="1296102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521E208-47E6-4A13-99E1-C9CCCAFAB12C}"/>
              </a:ext>
            </a:extLst>
          </p:cNvPr>
          <p:cNvSpPr/>
          <p:nvPr/>
        </p:nvSpPr>
        <p:spPr>
          <a:xfrm>
            <a:off x="710881" y="5132605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注意事项</a:t>
            </a:r>
          </a:p>
        </p:txBody>
      </p:sp>
    </p:spTree>
    <p:extLst>
      <p:ext uri="{BB962C8B-B14F-4D97-AF65-F5344CB8AC3E}">
        <p14:creationId xmlns:p14="http://schemas.microsoft.com/office/powerpoint/2010/main" val="2877011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文件的基本操作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/>
              <a:t>mode</a:t>
            </a:r>
            <a:r>
              <a:rPr lang="zh-CN" altLang="en-US" dirty="0"/>
              <a:t>访问模式详解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422842"/>
              </p:ext>
            </p:extLst>
          </p:nvPr>
        </p:nvGraphicFramePr>
        <p:xfrm>
          <a:off x="595376" y="1457271"/>
          <a:ext cx="11003066" cy="5123077"/>
        </p:xfrm>
        <a:graphic>
          <a:graphicData uri="http://schemas.openxmlformats.org/drawingml/2006/table">
            <a:tbl>
              <a:tblPr/>
              <a:tblGrid>
                <a:gridCol w="6655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37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69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solidFill>
                            <a:schemeClr val="bg1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模式</a:t>
                      </a:r>
                    </a:p>
                  </a:txBody>
                  <a:tcPr marL="14328" marR="14328" marT="6613" marB="6613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solidFill>
                            <a:schemeClr val="bg1"/>
                          </a:solidFill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描述</a:t>
                      </a:r>
                    </a:p>
                  </a:txBody>
                  <a:tcPr marL="14328" marR="14328" marT="6613" marB="6613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90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r</a:t>
                      </a:r>
                    </a:p>
                  </a:txBody>
                  <a:tcPr marL="14328" marR="14328" marT="6613" marB="6613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以只读方式打开文件。文件的指针将会放在文件的开头。这是默认模式。</a:t>
                      </a:r>
                    </a:p>
                  </a:txBody>
                  <a:tcPr marL="14328" marR="14328" marT="6613" marB="6613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423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rb</a:t>
                      </a:r>
                    </a:p>
                  </a:txBody>
                  <a:tcPr marL="14328" marR="14328" marT="6613" marB="6613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以二进制格式打开一个文件用于只读。文件指针将会放在文件的开头。这是默认模式。</a:t>
                      </a:r>
                    </a:p>
                  </a:txBody>
                  <a:tcPr marL="14328" marR="14328" marT="6613" marB="6613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5902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r+</a:t>
                      </a:r>
                    </a:p>
                  </a:txBody>
                  <a:tcPr marL="14328" marR="14328" marT="6613" marB="6613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打开一个文件用于读写。文件指针将会放在文件的开头。</a:t>
                      </a:r>
                    </a:p>
                  </a:txBody>
                  <a:tcPr marL="14328" marR="14328" marT="6613" marB="6613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5902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rb+</a:t>
                      </a:r>
                    </a:p>
                  </a:txBody>
                  <a:tcPr marL="14328" marR="14328" marT="6613" marB="6613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以二进制格式打开一个文件用于读写。文件指针将会放在文件的开头。</a:t>
                      </a:r>
                    </a:p>
                  </a:txBody>
                  <a:tcPr marL="14328" marR="14328" marT="6613" marB="6613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242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w</a:t>
                      </a:r>
                    </a:p>
                  </a:txBody>
                  <a:tcPr marL="14328" marR="14328" marT="6613" marB="6613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打开一个文件只用于写入。如果该文件已存在则打开文件，并从开头开始编辑，即原有内容会被删除。如果该文件不存在，创建新文件。</a:t>
                      </a:r>
                    </a:p>
                  </a:txBody>
                  <a:tcPr marL="14328" marR="14328" marT="6613" marB="6613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451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wb</a:t>
                      </a:r>
                    </a:p>
                  </a:txBody>
                  <a:tcPr marL="14328" marR="14328" marT="6613" marB="6613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以二进制格式打开一个文件只用于写入。如果该文件已存在则打开文件，并从开头开始编辑，即原有内容会被删除。如果该文件不存在，创建新文件。</a:t>
                      </a:r>
                    </a:p>
                  </a:txBody>
                  <a:tcPr marL="14328" marR="14328" marT="6613" marB="6613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6251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w+</a:t>
                      </a:r>
                    </a:p>
                  </a:txBody>
                  <a:tcPr marL="14328" marR="14328" marT="6613" marB="6613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打开一个文件用于读写。如果该文件已存在则打开文件，并从开头开始编辑，即原有内容会被删除。如果该文件不存在，创建新文件。</a:t>
                      </a:r>
                    </a:p>
                  </a:txBody>
                  <a:tcPr marL="14328" marR="14328" marT="6613" marB="6613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7451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wb+</a:t>
                      </a:r>
                    </a:p>
                  </a:txBody>
                  <a:tcPr marL="14328" marR="14328" marT="6613" marB="6613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以二进制格式打开一个文件用于读写。如果该文件已存在则打开文件，并从开头开始编辑，即原有内容会被删除。如果该文件不存在，创建新文件。</a:t>
                      </a:r>
                    </a:p>
                  </a:txBody>
                  <a:tcPr marL="14328" marR="14328" marT="6613" marB="6613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31077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</a:t>
                      </a:r>
                    </a:p>
                  </a:txBody>
                  <a:tcPr marL="14328" marR="14328" marT="6613" marB="6613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打开一个文件用于追加。如果该文件已存在，文件指针将会放在文件的结尾。也就是说，新的内容将会被写入到已有内容之后。如果该文件不存在，创建新文件进行写入。</a:t>
                      </a:r>
                    </a:p>
                  </a:txBody>
                  <a:tcPr marL="14328" marR="14328" marT="6613" marB="6613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31077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ab</a:t>
                      </a:r>
                    </a:p>
                  </a:txBody>
                  <a:tcPr marL="14328" marR="14328" marT="6613" marB="6613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以二进制格式打开一个文件用于追加。如果该文件已存在，文件指针将会放在文件的结尾。也就是说，新的内容将会被写入到已有内容之后。如果该文件不存在，创建新文件进行写入。</a:t>
                      </a:r>
                    </a:p>
                  </a:txBody>
                  <a:tcPr marL="14328" marR="14328" marT="6613" marB="6613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77451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a+</a:t>
                      </a:r>
                    </a:p>
                  </a:txBody>
                  <a:tcPr marL="14328" marR="14328" marT="6613" marB="6613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打开一个文件用于读写。如果该文件已存在，文件指针将会放在文件的结尾。文件打开时会是追加模式。如果该文件不存在，创建新文件用于读写。</a:t>
                      </a:r>
                    </a:p>
                  </a:txBody>
                  <a:tcPr marL="14328" marR="14328" marT="6613" marB="6613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16251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ab+</a:t>
                      </a:r>
                    </a:p>
                  </a:txBody>
                  <a:tcPr marL="14328" marR="14328" marT="6613" marB="6613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以二进制格式打开一个文件用于追加。如果该文件已存在，文件指针将会放在文件的结尾。如果该文件不存在，创建新文件用于读写。</a:t>
                      </a:r>
                    </a:p>
                  </a:txBody>
                  <a:tcPr marL="14328" marR="14328" marT="6613" marB="6613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654675" y="18256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31211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案例演示：</a:t>
            </a:r>
            <a:endParaRPr lang="en-US" altLang="zh-CN" dirty="0">
              <a:solidFill>
                <a:srgbClr val="B700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700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B60206"/>
                </a:solidFill>
              </a:rPr>
              <a:t>注意：</a:t>
            </a:r>
            <a:endParaRPr lang="en-US" altLang="zh-CN" dirty="0">
              <a:solidFill>
                <a:srgbClr val="B60206"/>
              </a:solidFill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dirty="0">
                <a:solidFill>
                  <a:srgbClr val="B60206"/>
                </a:solidFill>
              </a:rPr>
              <a:t>w</a:t>
            </a:r>
            <a:r>
              <a:rPr lang="zh-CN" altLang="en-US" dirty="0">
                <a:solidFill>
                  <a:srgbClr val="B60206"/>
                </a:solidFill>
              </a:rPr>
              <a:t>模式和</a:t>
            </a:r>
            <a:r>
              <a:rPr lang="en-US" altLang="zh-CN" dirty="0">
                <a:solidFill>
                  <a:srgbClr val="B60206"/>
                </a:solidFill>
              </a:rPr>
              <a:t>a</a:t>
            </a:r>
            <a:r>
              <a:rPr lang="zh-CN" altLang="en-US" dirty="0">
                <a:solidFill>
                  <a:srgbClr val="B60206"/>
                </a:solidFill>
              </a:rPr>
              <a:t>模式：如果文件不存在则创建该文件；如果文件存在，</a:t>
            </a:r>
            <a:r>
              <a:rPr lang="en-US" altLang="zh-CN" dirty="0">
                <a:solidFill>
                  <a:srgbClr val="B60206"/>
                </a:solidFill>
              </a:rPr>
              <a:t>w</a:t>
            </a:r>
            <a:r>
              <a:rPr lang="zh-CN" altLang="en-US" dirty="0">
                <a:solidFill>
                  <a:srgbClr val="B60206"/>
                </a:solidFill>
              </a:rPr>
              <a:t>模式先清空再写入，</a:t>
            </a:r>
            <a:r>
              <a:rPr lang="en-US" altLang="zh-CN" dirty="0">
                <a:solidFill>
                  <a:srgbClr val="B60206"/>
                </a:solidFill>
              </a:rPr>
              <a:t>a</a:t>
            </a:r>
            <a:r>
              <a:rPr lang="zh-CN" altLang="en-US" dirty="0">
                <a:solidFill>
                  <a:srgbClr val="B60206"/>
                </a:solidFill>
              </a:rPr>
              <a:t>模式直接末尾追加。</a:t>
            </a:r>
            <a:endParaRPr lang="en-US" altLang="zh-CN" dirty="0">
              <a:solidFill>
                <a:srgbClr val="B60206"/>
              </a:solidFill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dirty="0">
                <a:solidFill>
                  <a:srgbClr val="B60206"/>
                </a:solidFill>
              </a:rPr>
              <a:t>r</a:t>
            </a:r>
            <a:r>
              <a:rPr lang="zh-CN" altLang="en-US" dirty="0">
                <a:solidFill>
                  <a:srgbClr val="B60206"/>
                </a:solidFill>
              </a:rPr>
              <a:t>模式：如果文件不存在则报错。</a:t>
            </a:r>
            <a:endParaRPr lang="en-US" altLang="zh-CN" dirty="0">
              <a:solidFill>
                <a:srgbClr val="B60206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文件的基本操作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、写操作快速入门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174633"/>
            <a:ext cx="10666853" cy="1815882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1.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打开文件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 = open('python.txt', 'w')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2.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文件写入</a:t>
            </a:r>
          </a:p>
          <a:p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f.write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('hello world')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3.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关闭文件</a:t>
            </a:r>
          </a:p>
          <a:p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f.close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313066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AD2B26"/>
                </a:solidFill>
              </a:rPr>
              <a:t>read()</a:t>
            </a:r>
            <a:r>
              <a:rPr lang="zh-CN" altLang="en-US" dirty="0">
                <a:solidFill>
                  <a:srgbClr val="AD2B26"/>
                </a:solidFill>
              </a:rPr>
              <a:t>方法：</a:t>
            </a: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num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表示要从文件中读取的数据的长度（单位是字节），如果没有传入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num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，那么就表示读取文件中所有的数据。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 dirty="0" err="1">
                <a:solidFill>
                  <a:srgbClr val="AD2B26"/>
                </a:solidFill>
              </a:rPr>
              <a:t>readlines</a:t>
            </a:r>
            <a:r>
              <a:rPr lang="en-US" altLang="zh-CN" dirty="0">
                <a:solidFill>
                  <a:srgbClr val="AD2B26"/>
                </a:solidFill>
              </a:rPr>
              <a:t>()</a:t>
            </a:r>
            <a:r>
              <a:rPr lang="zh-CN" altLang="en-US" dirty="0">
                <a:solidFill>
                  <a:srgbClr val="AD2B26"/>
                </a:solidFill>
              </a:rPr>
              <a:t>方法：</a:t>
            </a: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readlines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可以按照行的方式把整个文件中的内容进行一次性读取，并且返回的是一个</a:t>
            </a:r>
            <a:r>
              <a:rPr lang="zh-CN" altLang="en-US" dirty="0">
                <a:solidFill>
                  <a:srgbClr val="AD2B26"/>
                </a:solidFill>
              </a:rPr>
              <a:t>列表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，其中每一行的数据为一个元素。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文件的基本操作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、读操作相关方法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174633"/>
            <a:ext cx="10666853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文件对象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.read(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num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4589575"/>
            <a:ext cx="10666853" cy="1815882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 = open('python.txt')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content =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f.readlines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['hello world\n', '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abcdefg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\n', '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aaa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\n', '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bbb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\n', 'ccc']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print(content)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关闭文件</a:t>
            </a:r>
          </a:p>
          <a:p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f.close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3038369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err="1">
                <a:solidFill>
                  <a:srgbClr val="AD2B26"/>
                </a:solidFill>
              </a:rPr>
              <a:t>readline</a:t>
            </a:r>
            <a:r>
              <a:rPr lang="en-US" altLang="zh-CN" dirty="0">
                <a:solidFill>
                  <a:srgbClr val="AD2B26"/>
                </a:solidFill>
              </a:rPr>
              <a:t>()</a:t>
            </a:r>
            <a:r>
              <a:rPr lang="zh-CN" altLang="en-US" dirty="0">
                <a:solidFill>
                  <a:srgbClr val="AD2B26"/>
                </a:solidFill>
              </a:rPr>
              <a:t>方法：一次读取一行内容，每运行一次</a:t>
            </a:r>
            <a:r>
              <a:rPr lang="en-US" altLang="zh-CN" dirty="0" err="1">
                <a:solidFill>
                  <a:srgbClr val="AD2B26"/>
                </a:solidFill>
              </a:rPr>
              <a:t>readline</a:t>
            </a:r>
            <a:r>
              <a:rPr lang="en-US" altLang="zh-CN" dirty="0">
                <a:solidFill>
                  <a:srgbClr val="AD2B26"/>
                </a:solidFill>
              </a:rPr>
              <a:t>()</a:t>
            </a:r>
            <a:r>
              <a:rPr lang="zh-CN" altLang="en-US" dirty="0">
                <a:solidFill>
                  <a:srgbClr val="AD2B26"/>
                </a:solidFill>
              </a:rPr>
              <a:t>函数，其就会将文件的指针向下移动一行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文件的基本操作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、读操作相关方法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174633"/>
            <a:ext cx="10666853" cy="2246769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 = open('python.txt')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content =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f.readline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print(f'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第一行：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{content}')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content =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f.readline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print(f'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第二行：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{content}')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关闭文件</a:t>
            </a:r>
          </a:p>
          <a:p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f.close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2542260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AD2B26"/>
                </a:solidFill>
              </a:rPr>
              <a:t>seek()</a:t>
            </a:r>
            <a:r>
              <a:rPr lang="zh-CN" altLang="en-US" dirty="0">
                <a:solidFill>
                  <a:srgbClr val="AD2B26"/>
                </a:solidFill>
              </a:rPr>
              <a:t>方法：用来移动文件指针。</a:t>
            </a: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AD2B26"/>
                </a:solidFill>
              </a:rPr>
              <a:t>offset</a:t>
            </a:r>
            <a:r>
              <a:rPr lang="zh-CN" altLang="en-US" dirty="0">
                <a:solidFill>
                  <a:srgbClr val="AD2B26"/>
                </a:solidFill>
              </a:rPr>
              <a:t>：开始的偏移量，也就是代表需要移动偏移的字节数</a:t>
            </a: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AD2B26"/>
                </a:solidFill>
              </a:rPr>
              <a:t>whence</a:t>
            </a:r>
            <a:r>
              <a:rPr lang="zh-CN" altLang="en-US" dirty="0">
                <a:solidFill>
                  <a:srgbClr val="AD2B26"/>
                </a:solidFill>
              </a:rPr>
              <a:t>：给</a:t>
            </a:r>
            <a:r>
              <a:rPr lang="en-US" altLang="zh-CN" dirty="0">
                <a:solidFill>
                  <a:srgbClr val="AD2B26"/>
                </a:solidFill>
              </a:rPr>
              <a:t>offset</a:t>
            </a:r>
            <a:r>
              <a:rPr lang="zh-CN" altLang="en-US" dirty="0">
                <a:solidFill>
                  <a:srgbClr val="AD2B26"/>
                </a:solidFill>
              </a:rPr>
              <a:t>参数一个定义，表示要从哪个位置开始偏移；</a:t>
            </a:r>
            <a:r>
              <a:rPr lang="en-US" altLang="zh-CN" dirty="0">
                <a:solidFill>
                  <a:srgbClr val="AD2B26"/>
                </a:solidFill>
              </a:rPr>
              <a:t>0</a:t>
            </a:r>
            <a:r>
              <a:rPr lang="zh-CN" altLang="en-US" dirty="0">
                <a:solidFill>
                  <a:srgbClr val="AD2B26"/>
                </a:solidFill>
              </a:rPr>
              <a:t>代表从文件开头开始算起，</a:t>
            </a:r>
            <a:r>
              <a:rPr lang="en-US" altLang="zh-CN" dirty="0">
                <a:solidFill>
                  <a:srgbClr val="AD2B26"/>
                </a:solidFill>
              </a:rPr>
              <a:t>1</a:t>
            </a:r>
            <a:r>
              <a:rPr lang="zh-CN" altLang="en-US" dirty="0">
                <a:solidFill>
                  <a:srgbClr val="AD2B26"/>
                </a:solidFill>
              </a:rPr>
              <a:t>代表从当前位置开始算起，</a:t>
            </a:r>
            <a:r>
              <a:rPr lang="en-US" altLang="zh-CN" dirty="0">
                <a:solidFill>
                  <a:srgbClr val="AD2B26"/>
                </a:solidFill>
              </a:rPr>
              <a:t>2</a:t>
            </a:r>
            <a:r>
              <a:rPr lang="zh-CN" altLang="en-US" dirty="0">
                <a:solidFill>
                  <a:srgbClr val="AD2B26"/>
                </a:solidFill>
              </a:rPr>
              <a:t>代表从文件末尾算起。</a:t>
            </a: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如果操作成功，则返回新的文件位置，如果操作失败，则函数返回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-1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文件的基本操作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、读操作相关方法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93627" y="2174633"/>
            <a:ext cx="10467932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文件对象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.seek(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offset,whence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=0)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90060" y="4195937"/>
            <a:ext cx="10467932" cy="246221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&gt;&gt;&gt; f = open('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workfile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', '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rb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&gt;&gt;&gt;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f.write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(b'0123456789abcdef')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16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&gt;&gt;&gt; </a:t>
            </a:r>
            <a:r>
              <a:rPr lang="en-US" altLang="zh-CN" sz="1400" dirty="0" err="1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f.seek</a:t>
            </a:r>
            <a:r>
              <a:rPr lang="en-US" altLang="zh-CN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(5)      # </a:t>
            </a:r>
            <a:r>
              <a:rPr lang="zh-CN" altLang="en-US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从</a:t>
            </a:r>
            <a:r>
              <a:rPr lang="en-US" altLang="zh-CN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</a:t>
            </a:r>
            <a:r>
              <a:rPr lang="zh-CN" altLang="en-US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开始向右移动</a:t>
            </a:r>
            <a:r>
              <a:rPr lang="en-US" altLang="zh-CN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5</a:t>
            </a:r>
            <a:r>
              <a:rPr lang="zh-CN" altLang="en-US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个字节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5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&gt;&gt;&gt;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f.read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(1)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b'5'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&gt;&gt;&gt; </a:t>
            </a:r>
            <a:r>
              <a:rPr lang="en-US" altLang="zh-CN" sz="1400" dirty="0" err="1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f.seek</a:t>
            </a:r>
            <a:r>
              <a:rPr lang="en-US" altLang="zh-CN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(-3, 2)  # </a:t>
            </a:r>
            <a:r>
              <a:rPr lang="zh-CN" altLang="en-US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从右向左移动</a:t>
            </a:r>
            <a:r>
              <a:rPr lang="en-US" altLang="zh-CN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</a:t>
            </a:r>
            <a:r>
              <a:rPr lang="zh-CN" altLang="en-US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个字节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13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&gt;&gt;&gt;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f.read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(1)</a:t>
            </a:r>
          </a:p>
          <a:p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b'd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</a:t>
            </a:r>
          </a:p>
        </p:txBody>
      </p:sp>
      <p:sp>
        <p:nvSpPr>
          <p:cNvPr id="8" name="三角形 9">
            <a:extLst>
              <a:ext uri="{FF2B5EF4-FFF2-40B4-BE49-F238E27FC236}">
                <a16:creationId xmlns:a16="http://schemas.microsoft.com/office/drawing/2014/main" id="{23197916-4FF1-4C92-AE7A-4520837F4448}"/>
              </a:ext>
            </a:extLst>
          </p:cNvPr>
          <p:cNvSpPr/>
          <p:nvPr/>
        </p:nvSpPr>
        <p:spPr>
          <a:xfrm rot="2651319">
            <a:off x="5135491" y="5272339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FC8F3570-2791-42C7-B320-77955401B7FE}"/>
              </a:ext>
            </a:extLst>
          </p:cNvPr>
          <p:cNvSpPr txBox="1"/>
          <p:nvPr/>
        </p:nvSpPr>
        <p:spPr>
          <a:xfrm>
            <a:off x="5366932" y="5274197"/>
            <a:ext cx="549533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r</a:t>
            </a: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：</a:t>
            </a:r>
            <a:r>
              <a:rPr lang="en-US" altLang="zh-CN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Python </a:t>
            </a: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将会按照编码格式进行解析，</a:t>
            </a:r>
            <a:r>
              <a:rPr lang="en-US" altLang="zh-CN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read() </a:t>
            </a: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操作返回的是</a:t>
            </a:r>
            <a:r>
              <a:rPr lang="en-US" altLang="zh-CN" sz="1400" dirty="0" err="1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str</a:t>
            </a:r>
            <a:endParaRPr lang="en-US" altLang="zh-CN" sz="1400" dirty="0">
              <a:solidFill>
                <a:srgbClr val="AD2B26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rb</a:t>
            </a: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：也即 </a:t>
            </a:r>
            <a:r>
              <a:rPr lang="en-US" altLang="zh-CN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binary mode</a:t>
            </a: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，</a:t>
            </a:r>
            <a:r>
              <a:rPr lang="en-US" altLang="zh-CN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read()</a:t>
            </a: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操作返回的是</a:t>
            </a:r>
            <a:r>
              <a:rPr lang="en-US" altLang="zh-CN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bytes</a:t>
            </a:r>
            <a:endParaRPr lang="en-US" altLang="zh-CN" sz="1400" dirty="0">
              <a:solidFill>
                <a:srgbClr val="262626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561BF17-00D8-44F9-BBE1-DC58174FF365}"/>
              </a:ext>
            </a:extLst>
          </p:cNvPr>
          <p:cNvSpPr/>
          <p:nvPr/>
        </p:nvSpPr>
        <p:spPr>
          <a:xfrm>
            <a:off x="5238965" y="4887239"/>
            <a:ext cx="5791587" cy="1296102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521E208-47E6-4A13-99E1-C9CCCAFAB12C}"/>
              </a:ext>
            </a:extLst>
          </p:cNvPr>
          <p:cNvSpPr/>
          <p:nvPr/>
        </p:nvSpPr>
        <p:spPr>
          <a:xfrm>
            <a:off x="5128877" y="4988226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注意事项</a:t>
            </a: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0" y="-215419"/>
            <a:ext cx="65" cy="430839"/>
          </a:xfrm>
          <a:prstGeom prst="rect">
            <a:avLst/>
          </a:prstGeom>
          <a:solidFill>
            <a:srgbClr val="F9F2F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5235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87595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AD2B26"/>
                </a:solidFill>
              </a:rPr>
              <a:t>重置指针到文件的开头：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文件的基本操作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r>
              <a:rPr lang="zh-CN" altLang="en-US" dirty="0"/>
              <a:t>、读操作相关方法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93627" y="2174633"/>
            <a:ext cx="10467932" cy="73866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f.seek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(0)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或</a:t>
            </a:r>
          </a:p>
          <a:p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f.seek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(0, 0)</a:t>
            </a:r>
          </a:p>
        </p:txBody>
      </p:sp>
    </p:spTree>
    <p:extLst>
      <p:ext uri="{BB962C8B-B14F-4D97-AF65-F5344CB8AC3E}">
        <p14:creationId xmlns:p14="http://schemas.microsoft.com/office/powerpoint/2010/main" val="4122915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基本语法：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文件的基本操作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r>
              <a:rPr lang="zh-CN" altLang="en-US" dirty="0"/>
              <a:t>、</a:t>
            </a:r>
            <a:r>
              <a:rPr lang="en-US" altLang="zh-CN" dirty="0"/>
              <a:t>close()</a:t>
            </a:r>
            <a:r>
              <a:rPr lang="zh-CN" altLang="en-US" dirty="0"/>
              <a:t>关闭函数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93627" y="2174633"/>
            <a:ext cx="10467932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文件对象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.close()</a:t>
            </a:r>
          </a:p>
        </p:txBody>
      </p:sp>
    </p:spTree>
    <p:extLst>
      <p:ext uri="{BB962C8B-B14F-4D97-AF65-F5344CB8AC3E}">
        <p14:creationId xmlns:p14="http://schemas.microsoft.com/office/powerpoint/2010/main" val="37301302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文件备份案例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03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745792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需求：用户输入当前目录下任意文件名，完成对该文件的备份功能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备份文件名为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xx[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备份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]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后缀，例如：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test[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备份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].txt)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实现思路：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AD2B26"/>
                </a:solidFill>
              </a:rPr>
              <a:t>① 接收用户输入的文件名</a:t>
            </a: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AD2B26"/>
                </a:solidFill>
              </a:rPr>
              <a:t>② 规划备份文件名</a:t>
            </a: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AD2B26"/>
                </a:solidFill>
              </a:rPr>
              <a:t>③ 备份文件写入数据</a:t>
            </a:r>
            <a:endParaRPr lang="en-US" altLang="zh-CN" dirty="0">
              <a:solidFill>
                <a:srgbClr val="AD2B26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文件备份案例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、需求分析</a:t>
            </a:r>
          </a:p>
        </p:txBody>
      </p:sp>
    </p:spTree>
    <p:extLst>
      <p:ext uri="{BB962C8B-B14F-4D97-AF65-F5344CB8AC3E}">
        <p14:creationId xmlns:p14="http://schemas.microsoft.com/office/powerpoint/2010/main" val="27191413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① 接收用户输入目标文件名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运行结果：</a:t>
            </a:r>
            <a:endParaRPr lang="en-US" altLang="zh-CN" dirty="0">
              <a:solidFill>
                <a:srgbClr val="AD2B26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文件备份案例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、文件备份代码实现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93627" y="2174633"/>
            <a:ext cx="10467932" cy="52322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1.0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获取要备份的文件名称</a:t>
            </a:r>
          </a:p>
          <a:p>
            <a:r>
              <a:rPr lang="en-US" altLang="zh-CN" sz="1400" dirty="0" err="1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old_name</a:t>
            </a:r>
            <a:r>
              <a:rPr lang="en-US" altLang="zh-CN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input('</a:t>
            </a:r>
            <a:r>
              <a:rPr lang="zh-CN" altLang="en-US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请输入您要备份的文件名：</a:t>
            </a:r>
            <a:r>
              <a:rPr lang="en-US" altLang="zh-CN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27" y="3361385"/>
            <a:ext cx="10478475" cy="2394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040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② 规划备份文件名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AD2B26"/>
                </a:solidFill>
              </a:rPr>
              <a:t>提取目标文件后缀</a:t>
            </a:r>
            <a:endParaRPr lang="en-US" altLang="zh-CN" dirty="0">
              <a:solidFill>
                <a:srgbClr val="AD2B26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AD2B26"/>
                </a:solidFill>
              </a:rPr>
              <a:t>组织备份的文件名，</a:t>
            </a:r>
            <a:r>
              <a:rPr lang="en-US" altLang="zh-CN" dirty="0">
                <a:solidFill>
                  <a:srgbClr val="AD2B26"/>
                </a:solidFill>
              </a:rPr>
              <a:t>xx[</a:t>
            </a:r>
            <a:r>
              <a:rPr lang="zh-CN" altLang="en-US" dirty="0">
                <a:solidFill>
                  <a:srgbClr val="AD2B26"/>
                </a:solidFill>
              </a:rPr>
              <a:t>备份</a:t>
            </a:r>
            <a:r>
              <a:rPr lang="en-US" altLang="zh-CN" dirty="0">
                <a:solidFill>
                  <a:srgbClr val="AD2B26"/>
                </a:solidFill>
              </a:rPr>
              <a:t>]</a:t>
            </a:r>
            <a:r>
              <a:rPr lang="zh-CN" altLang="en-US" dirty="0">
                <a:solidFill>
                  <a:srgbClr val="AD2B26"/>
                </a:solidFill>
              </a:rPr>
              <a:t>后缀</a:t>
            </a:r>
            <a:endParaRPr lang="en-US" altLang="zh-CN" dirty="0">
              <a:solidFill>
                <a:srgbClr val="AD2B26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文件备份案例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、文件备份代码实现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3050531"/>
            <a:ext cx="10467932" cy="2677656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2.1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提取文件后缀点的下标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index =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old_name.rfind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('.')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print(index)  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后缀中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的下标</a:t>
            </a:r>
          </a:p>
          <a:p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print(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old_name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[:index])  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源文件名（无后缀）</a:t>
            </a:r>
          </a:p>
          <a:p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2.1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组织新文件名 旧文件名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 [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备份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] +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后缀</a:t>
            </a:r>
          </a:p>
          <a:p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new_name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old_name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[:index] + '[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备份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]' +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old_name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[index:]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打印新文件名（带后缀）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print(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new_name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en-US" altLang="zh-CN" sz="1400" dirty="0">
              <a:solidFill>
                <a:srgbClr val="AD2B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990720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90757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③ 备份文件写入数据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AD2B26"/>
                </a:solidFill>
              </a:rPr>
              <a:t>打开源文件 和 备份文件</a:t>
            </a:r>
            <a:endParaRPr lang="en-US" altLang="zh-CN" dirty="0">
              <a:solidFill>
                <a:srgbClr val="AD2B26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AD2B26"/>
                </a:solidFill>
              </a:rPr>
              <a:t>将源文件数据写入备份文件</a:t>
            </a:r>
            <a:endParaRPr lang="en-US" altLang="zh-CN" dirty="0">
              <a:solidFill>
                <a:srgbClr val="AD2B26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AD2B26"/>
                </a:solidFill>
              </a:rPr>
              <a:t>关闭文件</a:t>
            </a:r>
            <a:endParaRPr lang="en-US" altLang="zh-CN" dirty="0">
              <a:solidFill>
                <a:srgbClr val="AD2B26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文件备份案例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、文件备份代码实现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3445166"/>
            <a:ext cx="10467932" cy="310854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3.1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打开文件</a:t>
            </a:r>
          </a:p>
          <a:p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old_f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open(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old_name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'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rb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new_f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open(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new_name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'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wb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3.2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将源文件数据写入备份文件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while True: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con =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old_f.read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(1024)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if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len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(con) == 0: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break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new_f.write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(con)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3.3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关闭文件</a:t>
            </a:r>
          </a:p>
          <a:p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old_f.close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new_f.close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  <a:endParaRPr lang="en-US" altLang="zh-CN" sz="1400" dirty="0">
              <a:solidFill>
                <a:srgbClr val="AD2B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5007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5051143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④ 异常处理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如果用户输入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`.txt`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，这是一个无效文件，程序如何更改才能限制只有有效的文件名才能备份？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文件备份案例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、文件备份代码实现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511515"/>
            <a:ext cx="10467932" cy="4185761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old_name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input('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请输入您要备份的文件名：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index =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old_name.rfind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('.')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if index &gt; 0: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postfix =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old_name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[index:]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new_name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old_name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[:index] + '[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备份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]' + postfix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old_f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open(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old_name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'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rb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new_f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open(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new_name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'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wb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while True: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con =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old_f.read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(1024)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if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len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(con) == 0: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break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new_f.write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(con)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old_f.close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new_f.close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  <a:endParaRPr lang="en-US" altLang="zh-CN" sz="1400" dirty="0">
              <a:solidFill>
                <a:srgbClr val="AD2B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975319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文件和文件夹的操作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04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4475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5051143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中文件和文件夹的操作要借助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os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模块里面的相关功能，具体步骤如下：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① 导入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os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模块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② 还用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os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模块的相关功能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文件和文件夹的操作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 err="1"/>
              <a:t>os</a:t>
            </a:r>
            <a:r>
              <a:rPr lang="zh-CN" altLang="en-US" dirty="0"/>
              <a:t>模块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560085"/>
            <a:ext cx="10467932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import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os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3376629"/>
            <a:ext cx="10467932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os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函数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1433652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5051143"/>
          </a:xfrm>
        </p:spPr>
        <p:txBody>
          <a:bodyPr/>
          <a:lstStyle/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案例：把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项目目录下的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python.txt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文件，更名为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linux.txt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，查看效果后，对文件进行删除操作。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文件和文件夹的操作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、文件操作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7736147"/>
              </p:ext>
            </p:extLst>
          </p:nvPr>
        </p:nvGraphicFramePr>
        <p:xfrm>
          <a:off x="710878" y="1646133"/>
          <a:ext cx="10749600" cy="1031720"/>
        </p:xfrm>
        <a:graphic>
          <a:graphicData uri="http://schemas.openxmlformats.org/drawingml/2006/table">
            <a:tbl>
              <a:tblPr/>
              <a:tblGrid>
                <a:gridCol w="1060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6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1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rgbClr val="FFFFFF"/>
                          </a:solidFill>
                          <a:effectLst/>
                        </a:rPr>
                        <a:t>编号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>
                          <a:solidFill>
                            <a:srgbClr val="FFFFFF"/>
                          </a:solidFill>
                          <a:effectLst/>
                        </a:rPr>
                        <a:t>函数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rgbClr val="FFFFFF"/>
                          </a:solidFill>
                          <a:effectLst/>
                        </a:rPr>
                        <a:t>功能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effectLst/>
                        </a:rPr>
                        <a:t>1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>
                          <a:effectLst/>
                        </a:rPr>
                        <a:t>os.rename(</a:t>
                      </a:r>
                      <a:r>
                        <a:rPr lang="zh-CN" altLang="en-US" sz="1600">
                          <a:effectLst/>
                        </a:rPr>
                        <a:t>目标文件名称，新文件名称</a:t>
                      </a:r>
                      <a:r>
                        <a:rPr lang="en-US" altLang="zh-CN" sz="1600">
                          <a:effectLst/>
                        </a:rPr>
                        <a:t>)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effectLst/>
                        </a:rPr>
                        <a:t>对文件进行重命名操作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effectLst/>
                        </a:rPr>
                        <a:t>2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>
                          <a:effectLst/>
                        </a:rPr>
                        <a:t>os.remove</a:t>
                      </a:r>
                      <a:r>
                        <a:rPr lang="en-US" sz="1600" dirty="0">
                          <a:effectLst/>
                        </a:rPr>
                        <a:t>(</a:t>
                      </a:r>
                      <a:r>
                        <a:rPr lang="zh-CN" altLang="en-US" sz="1600" dirty="0">
                          <a:effectLst/>
                        </a:rPr>
                        <a:t>要删除文件名称</a:t>
                      </a:r>
                      <a:r>
                        <a:rPr lang="en-US" altLang="zh-CN" sz="1600" dirty="0">
                          <a:effectLst/>
                        </a:rPr>
                        <a:t>)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effectLst/>
                        </a:rPr>
                        <a:t>对文件进行删除操作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855132" y="164629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3415130"/>
            <a:ext cx="10467932" cy="2677656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、导入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os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模块、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time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模块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import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os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import time</a:t>
            </a: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2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、调用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rename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方法实现重命名（需要手工刷新左侧导航栏）</a:t>
            </a:r>
          </a:p>
          <a:p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os.rename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('python.txt', 'readme.txt')</a:t>
            </a: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3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、调用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time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模块中的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sleep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方法休眠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100s</a:t>
            </a:r>
          </a:p>
          <a:p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time.sleep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(100)</a:t>
            </a: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4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、删除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readme.txt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文件</a:t>
            </a:r>
          </a:p>
          <a:p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os.remove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('readme.txt')</a:t>
            </a:r>
          </a:p>
        </p:txBody>
      </p:sp>
    </p:spTree>
    <p:extLst>
      <p:ext uri="{BB962C8B-B14F-4D97-AF65-F5344CB8AC3E}">
        <p14:creationId xmlns:p14="http://schemas.microsoft.com/office/powerpoint/2010/main" val="13532697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4"/>
            <a:ext cx="10749598" cy="4716166"/>
          </a:xfrm>
        </p:spPr>
        <p:txBody>
          <a:bodyPr/>
          <a:lstStyle/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文件和文件夹的操作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、文件夹操作</a:t>
            </a: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855132" y="164629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8965088"/>
              </p:ext>
            </p:extLst>
          </p:nvPr>
        </p:nvGraphicFramePr>
        <p:xfrm>
          <a:off x="710878" y="1646133"/>
          <a:ext cx="10749600" cy="2037560"/>
        </p:xfrm>
        <a:graphic>
          <a:graphicData uri="http://schemas.openxmlformats.org/drawingml/2006/table">
            <a:tbl>
              <a:tblPr/>
              <a:tblGrid>
                <a:gridCol w="1060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90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1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rgbClr val="FFFFFF"/>
                          </a:solidFill>
                          <a:effectLst/>
                        </a:rPr>
                        <a:t>编号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>
                          <a:solidFill>
                            <a:srgbClr val="FFFFFF"/>
                          </a:solidFill>
                          <a:effectLst/>
                        </a:rPr>
                        <a:t>函数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>
                          <a:solidFill>
                            <a:srgbClr val="FFFFFF"/>
                          </a:solidFill>
                          <a:effectLst/>
                        </a:rPr>
                        <a:t>功能</a:t>
                      </a:r>
                      <a:endParaRPr lang="zh-CN" altLang="en-US" sz="1600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effectLst/>
                        </a:rPr>
                        <a:t>1</a:t>
                      </a:r>
                      <a:endParaRPr lang="en-US" altLang="zh-CN" sz="16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>
                          <a:effectLst/>
                        </a:rPr>
                        <a:t>os.mkdir(</a:t>
                      </a:r>
                      <a:r>
                        <a:rPr lang="zh-CN" altLang="en-US" sz="1600">
                          <a:effectLst/>
                        </a:rPr>
                        <a:t>新文件夹名称</a:t>
                      </a:r>
                      <a:r>
                        <a:rPr lang="en-US" altLang="zh-CN" sz="1600">
                          <a:effectLst/>
                        </a:rPr>
                        <a:t>)</a:t>
                      </a:r>
                      <a:endParaRPr lang="en-US" altLang="zh-CN" sz="16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effectLst/>
                        </a:rPr>
                        <a:t>创建一个指定名称的文件夹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effectLst/>
                        </a:rPr>
                        <a:t>2</a:t>
                      </a:r>
                      <a:endParaRPr lang="en-US" altLang="zh-CN" sz="16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>
                          <a:effectLst/>
                        </a:rPr>
                        <a:t>os.getcwd</a:t>
                      </a:r>
                      <a:r>
                        <a:rPr lang="en-US" sz="1600" dirty="0">
                          <a:effectLst/>
                        </a:rPr>
                        <a:t>()</a:t>
                      </a:r>
                      <a:endParaRPr lang="en-US" altLang="zh-CN" sz="16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effectLst/>
                        </a:rPr>
                        <a:t>current  work  directory</a:t>
                      </a:r>
                      <a:r>
                        <a:rPr lang="zh-CN" altLang="en-US" sz="1600" dirty="0">
                          <a:effectLst/>
                        </a:rPr>
                        <a:t>，获取当前目录名称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effectLst/>
                        </a:rPr>
                        <a:t>3</a:t>
                      </a:r>
                      <a:endParaRPr lang="en-US" altLang="zh-CN" sz="16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 err="1">
                          <a:effectLst/>
                        </a:rPr>
                        <a:t>os.chdir</a:t>
                      </a:r>
                      <a:r>
                        <a:rPr lang="en-US" altLang="zh-CN" sz="1600" dirty="0">
                          <a:effectLst/>
                        </a:rPr>
                        <a:t>(</a:t>
                      </a:r>
                      <a:r>
                        <a:rPr lang="zh-CN" altLang="en-US" sz="1600" dirty="0">
                          <a:effectLst/>
                        </a:rPr>
                        <a:t>切换后目录名称</a:t>
                      </a:r>
                      <a:r>
                        <a:rPr lang="en-US" altLang="zh-CN" sz="1600" dirty="0">
                          <a:effectLst/>
                        </a:rPr>
                        <a:t>)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effectLst/>
                        </a:rPr>
                        <a:t>change directory</a:t>
                      </a:r>
                      <a:r>
                        <a:rPr lang="zh-CN" altLang="en-US" sz="1600" dirty="0">
                          <a:effectLst/>
                        </a:rPr>
                        <a:t>，切换目录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effectLst/>
                        </a:rPr>
                        <a:t>4</a:t>
                      </a:r>
                      <a:endParaRPr lang="en-US" altLang="zh-CN" sz="1600" dirty="0">
                        <a:effectLst/>
                      </a:endParaRP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 err="1">
                          <a:effectLst/>
                        </a:rPr>
                        <a:t>os.listdir</a:t>
                      </a:r>
                      <a:r>
                        <a:rPr lang="en-US" altLang="zh-CN" sz="1600" dirty="0">
                          <a:effectLst/>
                        </a:rPr>
                        <a:t>(</a:t>
                      </a:r>
                      <a:r>
                        <a:rPr lang="zh-CN" altLang="en-US" sz="1600" dirty="0">
                          <a:effectLst/>
                        </a:rPr>
                        <a:t>目标目录</a:t>
                      </a:r>
                      <a:r>
                        <a:rPr lang="en-US" altLang="zh-CN" sz="1600" dirty="0">
                          <a:effectLst/>
                        </a:rPr>
                        <a:t>)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effectLst/>
                        </a:rPr>
                        <a:t>获取指定目录下的文件信息，返回列表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effectLst/>
                        </a:rPr>
                        <a:t>5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 err="1">
                          <a:effectLst/>
                        </a:rPr>
                        <a:t>os.rmdir</a:t>
                      </a:r>
                      <a:r>
                        <a:rPr lang="en-US" altLang="zh-CN" sz="1600" dirty="0">
                          <a:effectLst/>
                        </a:rPr>
                        <a:t>(</a:t>
                      </a:r>
                      <a:r>
                        <a:rPr lang="zh-CN" altLang="en-US" sz="1600" dirty="0">
                          <a:effectLst/>
                        </a:rPr>
                        <a:t>目标目录</a:t>
                      </a:r>
                      <a:r>
                        <a:rPr lang="en-US" altLang="zh-CN" sz="1600" dirty="0">
                          <a:effectLst/>
                        </a:rPr>
                        <a:t>)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effectLst/>
                        </a:rPr>
                        <a:t>用于删除一个指定名称的</a:t>
                      </a:r>
                      <a:r>
                        <a:rPr lang="en-US" altLang="zh-CN" sz="1600" dirty="0">
                          <a:effectLst/>
                        </a:rPr>
                        <a:t>"</a:t>
                      </a:r>
                      <a:r>
                        <a:rPr lang="zh-CN" altLang="en-US" sz="1600" dirty="0">
                          <a:effectLst/>
                        </a:rPr>
                        <a:t>空</a:t>
                      </a:r>
                      <a:r>
                        <a:rPr lang="en-US" altLang="zh-CN" sz="1600" dirty="0">
                          <a:effectLst/>
                        </a:rPr>
                        <a:t>"</a:t>
                      </a:r>
                      <a:r>
                        <a:rPr lang="zh-CN" altLang="en-US" sz="1600" dirty="0">
                          <a:effectLst/>
                        </a:rPr>
                        <a:t>文件夹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文本占位符 1"/>
          <p:cNvSpPr txBox="1">
            <a:spLocks/>
          </p:cNvSpPr>
          <p:nvPr/>
        </p:nvSpPr>
        <p:spPr>
          <a:xfrm>
            <a:off x="710879" y="1635973"/>
            <a:ext cx="10749598" cy="5051143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Font typeface="Wingdings" pitchFamily="2" charset="2"/>
              <a:buNone/>
            </a:pP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Font typeface="Wingdings" pitchFamily="2" charset="2"/>
              <a:buNone/>
            </a:pP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Font typeface="Wingdings" pitchFamily="2" charset="2"/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Font typeface="Wingdings" pitchFamily="2" charset="2"/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Font typeface="Wingdings" pitchFamily="2" charset="2"/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案例：准备一个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static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文件夹以及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file1.txt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、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file2.txt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、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file3.txt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三个文件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① 在程序中，将当前目录切换到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static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文件夹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② 创建一个新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images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文件夹以及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test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文件夹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③ 获取目录下的所有文件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④ 移除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test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文件夹</a:t>
            </a:r>
          </a:p>
        </p:txBody>
      </p:sp>
    </p:spTree>
    <p:extLst>
      <p:ext uri="{BB962C8B-B14F-4D97-AF65-F5344CB8AC3E}">
        <p14:creationId xmlns:p14="http://schemas.microsoft.com/office/powerpoint/2010/main" val="29087643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4"/>
            <a:ext cx="10749598" cy="4716166"/>
          </a:xfrm>
        </p:spPr>
        <p:txBody>
          <a:bodyPr/>
          <a:lstStyle/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文件和文件夹的操作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、文件夹操作</a:t>
            </a: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855132" y="164629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文本占位符 1"/>
          <p:cNvSpPr txBox="1">
            <a:spLocks/>
          </p:cNvSpPr>
          <p:nvPr/>
        </p:nvSpPr>
        <p:spPr>
          <a:xfrm>
            <a:off x="710879" y="1635973"/>
            <a:ext cx="10749598" cy="5051143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代码实现：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77" y="2211972"/>
            <a:ext cx="10467932" cy="3970318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、导入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os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模块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import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os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2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、将当前工作目录切换到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static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文件夹</a:t>
            </a:r>
          </a:p>
          <a:p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os.chdir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('static')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print(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os.getcwd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())</a:t>
            </a: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3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、创建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images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以及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test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文件夹</a:t>
            </a:r>
          </a:p>
          <a:p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os.mkdir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('images')</a:t>
            </a:r>
          </a:p>
          <a:p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os.mkdir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('test')</a:t>
            </a: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4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、获取目录下的所有文件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for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in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os.listdir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():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print(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5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、移除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test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文件夹</a:t>
            </a:r>
          </a:p>
          <a:p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os.rmdir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('test')</a:t>
            </a:r>
          </a:p>
        </p:txBody>
      </p:sp>
    </p:spTree>
    <p:extLst>
      <p:ext uri="{BB962C8B-B14F-4D97-AF65-F5344CB8AC3E}">
        <p14:creationId xmlns:p14="http://schemas.microsoft.com/office/powerpoint/2010/main" val="1034431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有时候我们可能想删除一个非空目录（文件夹），但是默认情况下，</a:t>
            </a:r>
            <a:r>
              <a:rPr lang="en-US" altLang="zh-CN" dirty="0" err="1"/>
              <a:t>rmdir</a:t>
            </a:r>
            <a:r>
              <a:rPr lang="zh-CN" altLang="en-US" dirty="0"/>
              <a:t>只能删除空目录，这个问题应该如何解决？</a:t>
            </a:r>
            <a:endParaRPr lang="en-US" altLang="zh-CN" dirty="0"/>
          </a:p>
        </p:txBody>
      </p:sp>
      <p:sp>
        <p:nvSpPr>
          <p:cNvPr id="5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r>
              <a:rPr lang="zh-CN" altLang="en-US" dirty="0"/>
              <a:t>、递归删除非空目录（慎重）</a:t>
            </a:r>
          </a:p>
        </p:txBody>
      </p:sp>
      <p:sp>
        <p:nvSpPr>
          <p:cNvPr id="6" name="标题 2"/>
          <p:cNvSpPr>
            <a:spLocks noGrp="1"/>
          </p:cNvSpPr>
          <p:nvPr>
            <p:ph type="title"/>
          </p:nvPr>
        </p:nvSpPr>
        <p:spPr>
          <a:xfrm>
            <a:off x="710880" y="244189"/>
            <a:ext cx="8771021" cy="517190"/>
          </a:xfrm>
        </p:spPr>
        <p:txBody>
          <a:bodyPr/>
          <a:lstStyle/>
          <a:p>
            <a:r>
              <a:rPr lang="zh-CN" altLang="en-US" dirty="0"/>
              <a:t>文件和文件夹的操作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851713" y="2211972"/>
            <a:ext cx="10467932" cy="1323439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import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shutil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调用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rmtree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方法递归删除非空目录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shutil.rmtree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(path)</a:t>
            </a:r>
          </a:p>
        </p:txBody>
      </p:sp>
    </p:spTree>
    <p:extLst>
      <p:ext uri="{BB962C8B-B14F-4D97-AF65-F5344CB8AC3E}">
        <p14:creationId xmlns:p14="http://schemas.microsoft.com/office/powerpoint/2010/main" val="3962292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文件操作应用案例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05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3817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4"/>
            <a:ext cx="10749598" cy="4716166"/>
          </a:xfrm>
        </p:spPr>
        <p:txBody>
          <a:bodyPr/>
          <a:lstStyle/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文件和文件夹的操作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、需求分析</a:t>
            </a: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855132" y="164629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文本占位符 1"/>
          <p:cNvSpPr txBox="1">
            <a:spLocks/>
          </p:cNvSpPr>
          <p:nvPr/>
        </p:nvSpPr>
        <p:spPr>
          <a:xfrm>
            <a:off x="710879" y="1635973"/>
            <a:ext cx="10749598" cy="5051143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需求：批量修改文件名，既可添加指定字符串，又能删除指定字符串。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步骤：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AD2B26"/>
                </a:solidFill>
              </a:rPr>
              <a:t>① 设置添加删除字符串的的标识</a:t>
            </a: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AD2B26"/>
                </a:solidFill>
              </a:rPr>
              <a:t>② 获取指定目录的所有文件</a:t>
            </a: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AD2B26"/>
                </a:solidFill>
              </a:rPr>
              <a:t>③ 将原有文件名添加</a:t>
            </a:r>
            <a:r>
              <a:rPr lang="en-US" altLang="zh-CN" dirty="0">
                <a:solidFill>
                  <a:srgbClr val="AD2B26"/>
                </a:solidFill>
              </a:rPr>
              <a:t>/</a:t>
            </a:r>
            <a:r>
              <a:rPr lang="zh-CN" altLang="en-US" dirty="0">
                <a:solidFill>
                  <a:srgbClr val="AD2B26"/>
                </a:solidFill>
              </a:rPr>
              <a:t>删除指定字符串，构造新名字</a:t>
            </a: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AD2B26"/>
                </a:solidFill>
              </a:rPr>
              <a:t>④ </a:t>
            </a:r>
            <a:r>
              <a:rPr lang="en-US" altLang="zh-CN" dirty="0" err="1">
                <a:solidFill>
                  <a:srgbClr val="AD2B26"/>
                </a:solidFill>
              </a:rPr>
              <a:t>os.rename</a:t>
            </a:r>
            <a:r>
              <a:rPr lang="en-US" altLang="zh-CN" dirty="0">
                <a:solidFill>
                  <a:srgbClr val="AD2B26"/>
                </a:solidFill>
              </a:rPr>
              <a:t>()</a:t>
            </a:r>
            <a:r>
              <a:rPr lang="zh-CN" altLang="en-US" dirty="0">
                <a:solidFill>
                  <a:srgbClr val="AD2B26"/>
                </a:solidFill>
              </a:rPr>
              <a:t>重命名</a:t>
            </a:r>
          </a:p>
        </p:txBody>
      </p:sp>
    </p:spTree>
    <p:extLst>
      <p:ext uri="{BB962C8B-B14F-4D97-AF65-F5344CB8AC3E}">
        <p14:creationId xmlns:p14="http://schemas.microsoft.com/office/powerpoint/2010/main" val="7100732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文件和文件夹的操作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、代码实现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585749" y="1635973"/>
            <a:ext cx="5468541" cy="353943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import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os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设置标识：如果为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则添加指定字符，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flag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取值为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则删除指定字符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flag = 1</a:t>
            </a: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获取指定目录</a:t>
            </a:r>
          </a:p>
          <a:p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dir_name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'./static'</a:t>
            </a: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获取指定目录的文件列表</a:t>
            </a:r>
          </a:p>
          <a:p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file_list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os.listdir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dir_name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print(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file_list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6239682" y="1635973"/>
            <a:ext cx="5468543" cy="353943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遍历文件列表内的文件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for name in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file_list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#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添加指定字符</a:t>
            </a:r>
          </a:p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if flag == 1: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new_name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'Python-' + name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#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删除指定字符</a:t>
            </a:r>
          </a:p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elif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flag == 2: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num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len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('Python-')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new_name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name[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num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:]</a:t>
            </a: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#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打印新文件名，测试程序正确性</a:t>
            </a:r>
          </a:p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new_name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#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重命名</a:t>
            </a:r>
          </a:p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os.rename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dir_name+name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dir_name+new_name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</p:txBody>
      </p:sp>
      <p:sp>
        <p:nvSpPr>
          <p:cNvPr id="11" name="同心圆 10"/>
          <p:cNvSpPr/>
          <p:nvPr/>
        </p:nvSpPr>
        <p:spPr>
          <a:xfrm>
            <a:off x="2810577" y="5428648"/>
            <a:ext cx="798898" cy="770021"/>
          </a:xfrm>
          <a:prstGeom prst="donu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4" name="同心圆 13"/>
          <p:cNvSpPr/>
          <p:nvPr/>
        </p:nvSpPr>
        <p:spPr>
          <a:xfrm>
            <a:off x="8256872" y="5388313"/>
            <a:ext cx="798898" cy="770021"/>
          </a:xfrm>
          <a:prstGeom prst="donu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2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19263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5645788"/>
      </p:ext>
    </p:extLst>
  </p:cSld>
  <p:clrMapOvr>
    <a:masterClrMapping/>
  </p:clrMapOvr>
</p:sld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8643</TotalTime>
  <Words>2775</Words>
  <Application>Microsoft Office PowerPoint</Application>
  <PresentationFormat>宽屏</PresentationFormat>
  <Paragraphs>403</Paragraphs>
  <Slides>33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33</vt:i4>
      </vt:variant>
    </vt:vector>
  </HeadingPairs>
  <TitlesOfParts>
    <vt:vector size="51" baseType="lpstr">
      <vt:lpstr>Alibaba PuHuiTi B</vt:lpstr>
      <vt:lpstr>Alibaba PuHuiTi M</vt:lpstr>
      <vt:lpstr>Alibaba PuHuiTi R</vt:lpstr>
      <vt:lpstr>阿里巴巴普惠体</vt:lpstr>
      <vt:lpstr>等线</vt:lpstr>
      <vt:lpstr>黑体</vt:lpstr>
      <vt:lpstr>Arial</vt:lpstr>
      <vt:lpstr>Calibri</vt:lpstr>
      <vt:lpstr>Segoe UI</vt:lpstr>
      <vt:lpstr>Verdana</vt:lpstr>
      <vt:lpstr>Wingdings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Python文件操作</vt:lpstr>
      <vt:lpstr>PowerPoint 演示文稿</vt:lpstr>
      <vt:lpstr>PowerPoint 演示文稿</vt:lpstr>
      <vt:lpstr>文件操作概述</vt:lpstr>
      <vt:lpstr>文件操作概述</vt:lpstr>
      <vt:lpstr>文件操作概述</vt:lpstr>
      <vt:lpstr>文件操作概述</vt:lpstr>
      <vt:lpstr>文件的基本操作</vt:lpstr>
      <vt:lpstr>文件的基本操作</vt:lpstr>
      <vt:lpstr>文件的基本操作</vt:lpstr>
      <vt:lpstr>文件的基本操作</vt:lpstr>
      <vt:lpstr>文件的基本操作</vt:lpstr>
      <vt:lpstr>文件的基本操作</vt:lpstr>
      <vt:lpstr>文件的基本操作</vt:lpstr>
      <vt:lpstr>文件的基本操作</vt:lpstr>
      <vt:lpstr>文件的基本操作</vt:lpstr>
      <vt:lpstr>文件的基本操作</vt:lpstr>
      <vt:lpstr>文件备份案例</vt:lpstr>
      <vt:lpstr>文件备份案例</vt:lpstr>
      <vt:lpstr>文件备份案例</vt:lpstr>
      <vt:lpstr>文件备份案例</vt:lpstr>
      <vt:lpstr>文件备份案例</vt:lpstr>
      <vt:lpstr>文件备份案例</vt:lpstr>
      <vt:lpstr>文件和文件夹的操作</vt:lpstr>
      <vt:lpstr>文件和文件夹的操作</vt:lpstr>
      <vt:lpstr>文件和文件夹的操作</vt:lpstr>
      <vt:lpstr>文件和文件夹的操作</vt:lpstr>
      <vt:lpstr>文件和文件夹的操作</vt:lpstr>
      <vt:lpstr>文件和文件夹的操作</vt:lpstr>
      <vt:lpstr>文件操作应用案例</vt:lpstr>
      <vt:lpstr>文件和文件夹的操作</vt:lpstr>
      <vt:lpstr>文件和文件夹的操作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Administrator</cp:lastModifiedBy>
  <cp:revision>779</cp:revision>
  <dcterms:created xsi:type="dcterms:W3CDTF">2020-03-31T02:23:27Z</dcterms:created>
  <dcterms:modified xsi:type="dcterms:W3CDTF">2021-07-16T10:42:43Z</dcterms:modified>
</cp:coreProperties>
</file>