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69"/>
  </p:notesMasterIdLst>
  <p:handoutMasterIdLst>
    <p:handoutMasterId r:id="rId70"/>
  </p:handoutMasterIdLst>
  <p:sldIdLst>
    <p:sldId id="462" r:id="rId8"/>
    <p:sldId id="463" r:id="rId9"/>
    <p:sldId id="464" r:id="rId10"/>
    <p:sldId id="466" r:id="rId11"/>
    <p:sldId id="467" r:id="rId12"/>
    <p:sldId id="556" r:id="rId13"/>
    <p:sldId id="557" r:id="rId14"/>
    <p:sldId id="558" r:id="rId15"/>
    <p:sldId id="559" r:id="rId16"/>
    <p:sldId id="512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568" r:id="rId26"/>
    <p:sldId id="569" r:id="rId27"/>
    <p:sldId id="570" r:id="rId28"/>
    <p:sldId id="571" r:id="rId29"/>
    <p:sldId id="572" r:id="rId30"/>
    <p:sldId id="573" r:id="rId31"/>
    <p:sldId id="574" r:id="rId32"/>
    <p:sldId id="578" r:id="rId33"/>
    <p:sldId id="576" r:id="rId34"/>
    <p:sldId id="579" r:id="rId35"/>
    <p:sldId id="577" r:id="rId36"/>
    <p:sldId id="580" r:id="rId37"/>
    <p:sldId id="575" r:id="rId38"/>
    <p:sldId id="581" r:id="rId39"/>
    <p:sldId id="582" r:id="rId40"/>
    <p:sldId id="583" r:id="rId41"/>
    <p:sldId id="584" r:id="rId42"/>
    <p:sldId id="585" r:id="rId43"/>
    <p:sldId id="586" r:id="rId44"/>
    <p:sldId id="587" r:id="rId45"/>
    <p:sldId id="588" r:id="rId46"/>
    <p:sldId id="589" r:id="rId47"/>
    <p:sldId id="590" r:id="rId48"/>
    <p:sldId id="591" r:id="rId49"/>
    <p:sldId id="535" r:id="rId50"/>
    <p:sldId id="593" r:id="rId51"/>
    <p:sldId id="594" r:id="rId52"/>
    <p:sldId id="595" r:id="rId53"/>
    <p:sldId id="596" r:id="rId54"/>
    <p:sldId id="597" r:id="rId55"/>
    <p:sldId id="598" r:id="rId56"/>
    <p:sldId id="599" r:id="rId57"/>
    <p:sldId id="600" r:id="rId58"/>
    <p:sldId id="601" r:id="rId59"/>
    <p:sldId id="602" r:id="rId60"/>
    <p:sldId id="603" r:id="rId61"/>
    <p:sldId id="604" r:id="rId62"/>
    <p:sldId id="605" r:id="rId63"/>
    <p:sldId id="606" r:id="rId64"/>
    <p:sldId id="607" r:id="rId65"/>
    <p:sldId id="608" r:id="rId66"/>
    <p:sldId id="609" r:id="rId67"/>
    <p:sldId id="264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E4"/>
    <a:srgbClr val="B60206"/>
    <a:srgbClr val="AD2B26"/>
    <a:srgbClr val="49504F"/>
    <a:srgbClr val="B70006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 autoAdjust="0"/>
    <p:restoredTop sz="89612" autoAdjust="0"/>
  </p:normalViewPr>
  <p:slideViewPr>
    <p:cSldViewPr snapToGrid="0">
      <p:cViewPr varScale="1">
        <p:scale>
          <a:sx n="77" d="100"/>
          <a:sy n="77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7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点击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Network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标签选项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在浏览器的地址栏输入百度的网址，就能看到请求百度首页的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的通信过程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这里的每项记录都是请求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+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响应的一次过程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0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947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44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904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15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8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472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90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916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678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104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527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20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679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81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96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806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68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381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691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133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534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942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2083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4151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33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977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3817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1787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057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1982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866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208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3689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3450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822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18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&#12289;http/&#12289;ftp:/" TargetMode="External"/><Relationship Id="rId2" Type="http://schemas.openxmlformats.org/officeDocument/2006/relationships/hyperlink" Target="https://news.163.com/18/1122/10/E178J2O4000189FH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163.com/hello.html?page=1&amp;count=10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81" y="2224847"/>
            <a:ext cx="11565835" cy="1158875"/>
          </a:xfrm>
        </p:spPr>
        <p:txBody>
          <a:bodyPr/>
          <a:lstStyle/>
          <a:p>
            <a:r>
              <a:rPr kumimoji="1" lang="zh-CN" altLang="en-US" dirty="0">
                <a:latin typeface="Alibaba PuHuiTi M"/>
              </a:rPr>
              <a:t>静态</a:t>
            </a:r>
            <a:r>
              <a:rPr kumimoji="1" lang="en-US" altLang="zh-CN" dirty="0">
                <a:latin typeface="Alibaba PuHuiTi M"/>
              </a:rPr>
              <a:t>Web</a:t>
            </a:r>
            <a:r>
              <a:rPr kumimoji="1" lang="zh-CN" altLang="en-US" dirty="0">
                <a:latin typeface="Alibaba PuHuiTi M"/>
              </a:rPr>
              <a:t>服务器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14558" y="1300797"/>
            <a:ext cx="5973761" cy="4256405"/>
          </a:xfrm>
        </p:spPr>
        <p:txBody>
          <a:bodyPr/>
          <a:lstStyle/>
          <a:p>
            <a:r>
              <a:rPr kumimoji="1" lang="en-US" altLang="zh-CN" dirty="0"/>
              <a:t>HTTP</a:t>
            </a:r>
            <a:r>
              <a:rPr kumimoji="1" lang="zh-CN" altLang="en-US" dirty="0"/>
              <a:t>协议介绍</a:t>
            </a:r>
            <a:endParaRPr kumimoji="1" lang="en-US" altLang="zh-CN" dirty="0"/>
          </a:p>
          <a:p>
            <a:r>
              <a:rPr kumimoji="1" lang="en-US" altLang="zh-CN" dirty="0"/>
              <a:t>URL</a:t>
            </a:r>
          </a:p>
          <a:p>
            <a:r>
              <a:rPr kumimoji="1" lang="en-US" altLang="zh-CN" dirty="0">
                <a:solidFill>
                  <a:srgbClr val="C00000"/>
                </a:solidFill>
              </a:rPr>
              <a:t>HTTP</a:t>
            </a:r>
            <a:r>
              <a:rPr kumimoji="1" lang="zh-CN" altLang="en-US" dirty="0">
                <a:solidFill>
                  <a:srgbClr val="C00000"/>
                </a:solidFill>
              </a:rPr>
              <a:t>请求与响应报文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/>
              <a:t>搭建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自带静态</a:t>
            </a:r>
            <a:r>
              <a:rPr kumimoji="1" lang="en-US" altLang="zh-CN" dirty="0"/>
              <a:t>Web</a:t>
            </a:r>
            <a:r>
              <a:rPr kumimoji="1" lang="zh-CN" altLang="en-US" dirty="0"/>
              <a:t>服务器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静态</a:t>
            </a:r>
            <a:r>
              <a:rPr kumimoji="1" lang="en-US" altLang="zh-CN" dirty="0">
                <a:solidFill>
                  <a:srgbClr val="C00000"/>
                </a:solidFill>
              </a:rPr>
              <a:t>Web</a:t>
            </a:r>
            <a:r>
              <a:rPr kumimoji="1" lang="zh-CN" altLang="en-US" dirty="0">
                <a:solidFill>
                  <a:srgbClr val="C00000"/>
                </a:solidFill>
              </a:rPr>
              <a:t>服务器开发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面向对象版</a:t>
            </a:r>
            <a:r>
              <a:rPr kumimoji="1" lang="en-US" altLang="zh-CN" dirty="0">
                <a:solidFill>
                  <a:srgbClr val="C00000"/>
                </a:solidFill>
              </a:rPr>
              <a:t>Web</a:t>
            </a:r>
            <a:r>
              <a:rPr kumimoji="1" lang="zh-CN" altLang="en-US" dirty="0">
                <a:solidFill>
                  <a:srgbClr val="C00000"/>
                </a:solidFill>
              </a:rPr>
              <a:t>服务器开发之</a:t>
            </a:r>
            <a:r>
              <a:rPr kumimoji="1" lang="en-US" altLang="zh-CN" dirty="0" err="1">
                <a:solidFill>
                  <a:srgbClr val="C00000"/>
                </a:solidFill>
              </a:rPr>
              <a:t>FastAPI</a:t>
            </a:r>
            <a:r>
              <a:rPr kumimoji="1" lang="zh-CN" altLang="en-US" dirty="0">
                <a:solidFill>
                  <a:srgbClr val="C00000"/>
                </a:solidFill>
              </a:rPr>
              <a:t>框架</a:t>
            </a: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7749" y="610677"/>
            <a:ext cx="6781703" cy="4855845"/>
          </a:xfrm>
        </p:spPr>
        <p:txBody>
          <a:bodyPr/>
          <a:lstStyle/>
          <a:p>
            <a:r>
              <a:rPr lang="zh-CN" altLang="en-US" dirty="0"/>
              <a:t>能够知道 </a:t>
            </a:r>
            <a:r>
              <a:rPr lang="en-US" altLang="zh-CN" dirty="0"/>
              <a:t>HTTP </a:t>
            </a:r>
            <a:r>
              <a:rPr lang="zh-CN" altLang="en-US" dirty="0"/>
              <a:t>协议的作用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能够知道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的组成部分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能够使用谷歌浏览器的开发者工具查看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协议的通信过程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能够知道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请求报文结构与响应报文的结构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能够知道搭建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自带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服务器</a:t>
            </a:r>
          </a:p>
          <a:p>
            <a:r>
              <a:rPr kumimoji="1" lang="zh-CN" altLang="en-US" dirty="0">
                <a:solidFill>
                  <a:srgbClr val="C00000"/>
                </a:solidFill>
              </a:rPr>
              <a:t>面向对象版</a:t>
            </a:r>
            <a:r>
              <a:rPr kumimoji="1" lang="en-US" altLang="zh-CN" dirty="0">
                <a:solidFill>
                  <a:srgbClr val="C00000"/>
                </a:solidFill>
              </a:rPr>
              <a:t>Web</a:t>
            </a:r>
            <a:r>
              <a:rPr kumimoji="1" lang="zh-CN" altLang="en-US" dirty="0">
                <a:solidFill>
                  <a:srgbClr val="C00000"/>
                </a:solidFill>
              </a:rPr>
              <a:t>服务器开发之</a:t>
            </a:r>
            <a:r>
              <a:rPr kumimoji="1" lang="en-US" altLang="zh-CN" dirty="0" err="1">
                <a:solidFill>
                  <a:srgbClr val="C00000"/>
                </a:solidFill>
              </a:rPr>
              <a:t>FastAPI</a:t>
            </a:r>
            <a:r>
              <a:rPr kumimoji="1" lang="zh-CN" altLang="en-US" dirty="0">
                <a:solidFill>
                  <a:srgbClr val="C00000"/>
                </a:solidFill>
              </a:rPr>
              <a:t>框架</a:t>
            </a: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协议的全称是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HyperText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Transfer Protocol)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，翻译过来就是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超文本传输协议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超文本是超级文本的缩写，是指超越文本限制或者超链接，比如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图片、音乐、视频、超链接等等都属于超文本。</a:t>
            </a:r>
          </a:p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协议的制作者是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蒂姆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·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伯纳斯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李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1991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年设计出来的，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协议设计之前目的是传输网页数据的，现在允许传输任意类型的数据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</a:p>
          <a:p>
            <a:pPr algn="l"/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传输 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协议格式的数据是基于 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TCP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传输协议的，发送数据之前需要先建立连接。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HTTP</a:t>
            </a:r>
            <a:r>
              <a:rPr kumimoji="1" lang="zh-CN" altLang="en-US" dirty="0"/>
              <a:t>协议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协议的介绍</a:t>
            </a:r>
          </a:p>
        </p:txBody>
      </p:sp>
    </p:spTree>
    <p:extLst>
      <p:ext uri="{BB962C8B-B14F-4D97-AF65-F5344CB8AC3E}">
        <p14:creationId xmlns:p14="http://schemas.microsoft.com/office/powerpoint/2010/main" val="187426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规定了浏览器和 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Web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服务器通信数据的格式，也就是说浏览器和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服务器通信需要使用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协议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HTTP</a:t>
            </a:r>
            <a:r>
              <a:rPr kumimoji="1" lang="zh-CN" altLang="en-US" dirty="0"/>
              <a:t>协议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HTTP</a:t>
            </a:r>
            <a:r>
              <a:rPr kumimoji="1" lang="zh-CN" altLang="en-US" dirty="0"/>
              <a:t>的作用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6755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通信效果图：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HTTP</a:t>
            </a:r>
            <a:r>
              <a:rPr kumimoji="1" lang="zh-CN" altLang="en-US" dirty="0"/>
              <a:t>协议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、浏览器访问</a:t>
            </a:r>
            <a:r>
              <a:rPr kumimoji="1" lang="en-US" altLang="zh-CN" dirty="0"/>
              <a:t>Web</a:t>
            </a:r>
            <a:r>
              <a:rPr kumimoji="1" lang="zh-CN" altLang="en-US" dirty="0"/>
              <a:t>服务器的通信过程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090AC8-5EA6-4D97-A4C9-23E19E6C4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67" y="2088571"/>
            <a:ext cx="994686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2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协议是一个超文本传输协议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协议是一个基于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TCP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传输协议传输数据的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协议规定了浏览器和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服务器通信数据的格式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HTTP</a:t>
            </a:r>
            <a:r>
              <a:rPr kumimoji="1" lang="zh-CN" altLang="en-US" dirty="0"/>
              <a:t>协议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、小结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3293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537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的英文全拼是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Uniform 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Resoure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 Locator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表达的意思是统一资源定位符，通俗理解就是网络资源地址，也就是我们常说的网址。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URL</a:t>
            </a:r>
            <a:r>
              <a:rPr kumimoji="1" lang="zh-CN" altLang="en-US" dirty="0"/>
              <a:t>的概念</a:t>
            </a:r>
          </a:p>
        </p:txBody>
      </p:sp>
    </p:spTree>
    <p:extLst>
      <p:ext uri="{BB962C8B-B14F-4D97-AF65-F5344CB8AC3E}">
        <p14:creationId xmlns:p14="http://schemas.microsoft.com/office/powerpoint/2010/main" val="325349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的样子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u="none" strike="noStrike" dirty="0">
                <a:solidFill>
                  <a:srgbClr val="4183C4"/>
                </a:solidFill>
                <a:effectLst/>
                <a:latin typeface="Helvetica Neue"/>
                <a:hlinkClick r:id="rId2"/>
              </a:rPr>
              <a:t>https://news.163.com/18/1122/10/E178J2O4000189FH.html</a:t>
            </a:r>
            <a:endParaRPr lang="en-US" altLang="zh-CN" b="0" i="0" u="none" strike="noStrike" dirty="0">
              <a:solidFill>
                <a:srgbClr val="4183C4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的组成部分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① 协议部分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 </a:t>
            </a:r>
            <a:r>
              <a:rPr lang="en-US" altLang="zh-CN" b="0" i="0" u="none" strike="noStrike" dirty="0">
                <a:solidFill>
                  <a:srgbClr val="0000FF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zh-CN" altLang="en-US" b="0" i="0" u="none" strike="noStrike" dirty="0">
                <a:solidFill>
                  <a:srgbClr val="0000FF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、</a:t>
            </a:r>
            <a:r>
              <a:rPr lang="en-US" altLang="zh-CN" b="0" i="0" u="none" strike="noStrike" dirty="0">
                <a:solidFill>
                  <a:srgbClr val="0000FF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zh-CN" altLang="en-US" b="0" i="0" u="none" strike="noStrike" dirty="0">
                <a:solidFill>
                  <a:srgbClr val="0000FF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、</a:t>
            </a:r>
            <a:r>
              <a:rPr lang="en-US" altLang="zh-CN" b="0" i="0" u="none" strike="noStrike" dirty="0">
                <a:solidFill>
                  <a:srgbClr val="C00000"/>
                </a:solidFill>
                <a:effectLst/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ftp://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② 域名部分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 news.163.com =&gt;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转换为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地址（有了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IP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地址就能找到这个计算机了）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③ 资源路径部分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 /18/1122/10/E178J2O4000189FH.html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URL</a:t>
            </a:r>
            <a:r>
              <a:rPr kumimoji="1" lang="zh-CN" altLang="en-US" dirty="0"/>
              <a:t>的组成</a:t>
            </a:r>
          </a:p>
        </p:txBody>
      </p:sp>
    </p:spTree>
    <p:extLst>
      <p:ext uri="{BB962C8B-B14F-4D97-AF65-F5344CB8AC3E}">
        <p14:creationId xmlns:p14="http://schemas.microsoft.com/office/powerpoint/2010/main" val="38332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域名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域名就是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IP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地址的别名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，它是用点进行分割使用英文字母和数字组成的名字，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使用域名目的就是方便的记住某台主机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IP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地址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的扩展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u="none" strike="noStrike" dirty="0">
                <a:solidFill>
                  <a:srgbClr val="4183C4"/>
                </a:solidFill>
                <a:effectLst/>
                <a:latin typeface="Helvetica Neue"/>
                <a:hlinkClick r:id="rId2"/>
              </a:rPr>
              <a:t>https://news.163.com/hello.html?page=1&amp;count=10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查询参数部分：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?page=1&amp;count</a:t>
            </a:r>
            <a:r>
              <a:rPr lang="en-US" altLang="zh-CN" b="0" i="0">
                <a:solidFill>
                  <a:srgbClr val="C00000"/>
                </a:solidFill>
                <a:effectLst/>
                <a:latin typeface="Helvetica Neue"/>
              </a:rPr>
              <a:t>=10</a:t>
            </a:r>
          </a:p>
          <a:p>
            <a:pPr marL="0" indent="0" algn="l">
              <a:buNone/>
            </a:pPr>
            <a:r>
              <a:rPr lang="zh-CN" altLang="en-US" b="1" i="0">
                <a:solidFill>
                  <a:srgbClr val="333333"/>
                </a:solidFill>
                <a:effectLst/>
                <a:latin typeface="Helvetica Neue"/>
              </a:rPr>
              <a:t>参数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?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后面的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page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表示第一个参数，后面的参数都使用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&amp;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进行连接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、域名与</a:t>
            </a:r>
            <a:r>
              <a:rPr kumimoji="1" lang="en-US" altLang="zh-CN" dirty="0"/>
              <a:t>URL</a:t>
            </a:r>
            <a:r>
              <a:rPr kumimoji="1" lang="zh-CN" altLang="en-US" dirty="0"/>
              <a:t>扩展</a:t>
            </a:r>
          </a:p>
        </p:txBody>
      </p:sp>
    </p:spTree>
    <p:extLst>
      <p:ext uri="{BB962C8B-B14F-4D97-AF65-F5344CB8AC3E}">
        <p14:creationId xmlns:p14="http://schemas.microsoft.com/office/powerpoint/2010/main" val="355925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就是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网络资源的地址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，简称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网址，通过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URL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能够找到网络中对应的资源数据。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组成部分</a:t>
            </a:r>
          </a:p>
          <a:p>
            <a:pPr marL="383812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协议部分</a:t>
            </a:r>
          </a:p>
          <a:p>
            <a:pPr marL="383812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域名部分</a:t>
            </a:r>
          </a:p>
          <a:p>
            <a:pPr marL="383812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资源路径部分</a:t>
            </a:r>
          </a:p>
          <a:p>
            <a:pPr marL="383812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查询参数部分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[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可选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URL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、小结</a:t>
            </a:r>
          </a:p>
        </p:txBody>
      </p:sp>
    </p:spTree>
    <p:extLst>
      <p:ext uri="{BB962C8B-B14F-4D97-AF65-F5344CB8AC3E}">
        <p14:creationId xmlns:p14="http://schemas.microsoft.com/office/powerpoint/2010/main" val="189208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789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首先需要安装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Google Chrome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浏览器，然后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Windows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Linux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平台按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F12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调出开发者工具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mac 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选择 视图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-&gt;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开发者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-&gt;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开发者工具或者直接使用 </a:t>
            </a:r>
            <a:r>
              <a:rPr lang="en-US" altLang="zh-CN" b="1" i="0" dirty="0" err="1">
                <a:solidFill>
                  <a:srgbClr val="C00000"/>
                </a:solidFill>
                <a:effectLst/>
                <a:latin typeface="Helvetica Neue"/>
              </a:rPr>
              <a:t>alt+command+i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这个快捷键，还有一个多平台通用的操作就是在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网页右击选择检查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开发者工具的效果图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谷歌浏览器开发者工具的使用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236BE3-A7E2-4F3E-9468-58D4BCCEB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851061"/>
            <a:ext cx="4389500" cy="3322608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A481F1-7F3A-417D-A891-CBB33D26C7F8}"/>
              </a:ext>
            </a:extLst>
          </p:cNvPr>
          <p:cNvSpPr/>
          <p:nvPr/>
        </p:nvSpPr>
        <p:spPr>
          <a:xfrm>
            <a:off x="5695122" y="2851061"/>
            <a:ext cx="5865510" cy="3241796"/>
          </a:xfrm>
          <a:prstGeom prst="roundRect">
            <a:avLst>
              <a:gd name="adj" fmla="val 716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b="1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开发者工具的标签选项说明</a:t>
            </a:r>
            <a:r>
              <a:rPr lang="en-US" altLang="zh-CN" sz="1600" b="1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lang="zh-CN" altLang="en-US" sz="1600" b="0" i="0" dirty="0">
              <a:solidFill>
                <a:srgbClr val="FFFFFF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元素（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Elements</a:t>
            </a:r>
            <a:r>
              <a: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  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：用于查看或修改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HTML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控制台（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Console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）：执行</a:t>
            </a:r>
            <a:r>
              <a:rPr lang="en-US" altLang="zh-CN" sz="1600" b="0" i="0" dirty="0" err="1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源代码（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Sources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）：查看静态资源文件，断点调试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网络（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Network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   ：查看</a:t>
            </a:r>
            <a:r>
              <a:rPr lang="en-US" altLang="zh-CN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http</a:t>
            </a:r>
            <a:r>
              <a:rPr lang="zh-CN" altLang="en-US" sz="1600" b="0" i="0" dirty="0">
                <a:solidFill>
                  <a:srgbClr val="FFFFF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协议的通信过程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85EA4D8-D795-42BA-9B7A-E064D8452822}"/>
              </a:ext>
            </a:extLst>
          </p:cNvPr>
          <p:cNvSpPr/>
          <p:nvPr/>
        </p:nvSpPr>
        <p:spPr>
          <a:xfrm>
            <a:off x="5214258" y="4368247"/>
            <a:ext cx="387626" cy="4472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1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协议的通信过程（请求）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BC0750-D4D3-4FEC-B653-BC6B01880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19" y="1401655"/>
            <a:ext cx="4389500" cy="496867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560FB12-56A8-4908-85E5-8F0AFE23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50" y="1394035"/>
            <a:ext cx="4389500" cy="4976291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9AF7240B-D817-4C4E-9E5B-439607B12242}"/>
              </a:ext>
            </a:extLst>
          </p:cNvPr>
          <p:cNvSpPr/>
          <p:nvPr/>
        </p:nvSpPr>
        <p:spPr>
          <a:xfrm>
            <a:off x="5442669" y="3623585"/>
            <a:ext cx="1232452" cy="5171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2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协议的通信过程（响应）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AF7240B-D817-4C4E-9E5B-439607B12242}"/>
              </a:ext>
            </a:extLst>
          </p:cNvPr>
          <p:cNvSpPr/>
          <p:nvPr/>
        </p:nvSpPr>
        <p:spPr>
          <a:xfrm>
            <a:off x="5442669" y="3623585"/>
            <a:ext cx="1232452" cy="5171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E6EA56-4A70-4A8B-91D9-BD73B651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457271"/>
            <a:ext cx="4389500" cy="49686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B55136-2128-41D7-960B-5F6FDA6D4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10" y="1510745"/>
            <a:ext cx="438950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24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协议的通信过程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、小结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谷歌浏览器的开发者工具是查看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协议的通信过程利器，通过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Network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标签选项可以查看每一次的请求和响应的通信过程，调出开发者工具的通用方法是在网页右击选择检查。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开发者工具的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Headers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选项总共有三部分组成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General: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主要信息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Response Headers: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响应头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Request Headers: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请求头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Response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选项是查看响应体信息的</a:t>
            </a:r>
          </a:p>
        </p:txBody>
      </p:sp>
    </p:spTree>
    <p:extLst>
      <p:ext uri="{BB962C8B-B14F-4D97-AF65-F5344CB8AC3E}">
        <p14:creationId xmlns:p14="http://schemas.microsoft.com/office/powerpoint/2010/main" val="88052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5469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介绍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最常见的请求报文有两种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GET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方式的请求报文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POST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方式的请求报文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p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GET: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获取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服务器数据</a:t>
            </a:r>
          </a:p>
          <a:p>
            <a:pPr algn="l">
              <a:buFont typeface="Wingdings" panose="05000000000000000000" pitchFamily="2" charset="2"/>
              <a:buChar char="p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POST: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向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服务器提交数据</a:t>
            </a:r>
          </a:p>
        </p:txBody>
      </p:sp>
    </p:spTree>
    <p:extLst>
      <p:ext uri="{BB962C8B-B14F-4D97-AF65-F5344CB8AC3E}">
        <p14:creationId xmlns:p14="http://schemas.microsoft.com/office/powerpoint/2010/main" val="3816964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GET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请求报文分析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47252" y="1457271"/>
            <a:ext cx="6659217" cy="5063374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请求行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GET / HTTP/1.1  # GET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请求方式 请求资源路径 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协议版本</a:t>
            </a:r>
            <a:endParaRPr lang="en-US" altLang="zh-CN" sz="120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sz="120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请求头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-----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Host: www.itcast.cn 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服务器的主机地址和端口号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,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默认是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80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Connection: keep-alive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和服务端保持长连接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Upgrade-Insecure-Requests: 1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让浏览器升级不安全请求，使用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https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请求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User-Agent: Mozilla/5.0 (Macintosh; Intel Mac OS X 10_12_4) 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AppleWebKit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/537.36 (KHTML, like Gecko) Chrome/69.0.3497.100 Safari/537.36 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用户代理，也就是客户端的名称</a:t>
            </a:r>
          </a:p>
          <a:p>
            <a:pPr marL="0" indent="0" algn="l">
              <a:buNone/>
            </a:pP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Accept:text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html,application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xhtml+xml,application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xml;q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=0.9,image/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webp,image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apng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,*/*;q=0.8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可接受的数据类型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Accept-Encoding: 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gzip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, deflate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可接受的压缩格式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Accept-Language: 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zh-CN,zh;q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=0.9 #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可接受的语言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Cookie: </a:t>
            </a:r>
            <a:r>
              <a:rPr lang="en-US" altLang="zh-CN" sz="1200" i="0" dirty="0" err="1">
                <a:solidFill>
                  <a:srgbClr val="333333"/>
                </a:solidFill>
                <a:effectLst/>
                <a:latin typeface="Helvetica Neue"/>
              </a:rPr>
              <a:t>pgv_pvi</a:t>
            </a:r>
            <a:r>
              <a:rPr lang="en-US" altLang="zh-CN" sz="1200" i="0" dirty="0">
                <a:solidFill>
                  <a:srgbClr val="333333"/>
                </a:solidFill>
                <a:effectLst/>
                <a:latin typeface="Helvetica Neue"/>
              </a:rPr>
              <a:t>=1246921728; # </a:t>
            </a:r>
            <a:r>
              <a:rPr lang="zh-CN" altLang="en-US" sz="1200" i="0" dirty="0">
                <a:solidFill>
                  <a:srgbClr val="333333"/>
                </a:solidFill>
                <a:effectLst/>
                <a:latin typeface="Helvetica Neue"/>
              </a:rPr>
              <a:t>登录用户的身份标识</a:t>
            </a:r>
          </a:p>
          <a:p>
            <a:pPr marL="0" indent="0" algn="l">
              <a:buNone/>
            </a:pPr>
            <a:endParaRPr lang="zh-CN" altLang="en-US" sz="120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空行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  <a:endParaRPr lang="zh-CN" altLang="en-US" sz="120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6F61C0-B0FE-4FA3-B52D-1D1C4B165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1457271"/>
            <a:ext cx="4468383" cy="50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98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GET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请求原始报文说明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522" y="1550503"/>
            <a:ext cx="11274948" cy="497014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GET / HTTP/1.1\r\n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Host: www.itcast.cn\r\n  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Connection: keep-alive\r\n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Upgrade-Insecure-Requests: 1\r\n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User-Agent: Mozilla/5.0 (Macintosh; Intel Mac OS X 10_12_4)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AppleWebKit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/537.36 (KHTML, like Gecko) Chrome/69.0.3497.100 Safari/537.36\r\n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Accept: text/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html,application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xhtml+xml,application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xml;q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=0.9,image/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webp,image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apng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,*/*;q=0.8\r\n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Accept-Encoding: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gzip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, deflate\r\n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Accept-Language: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zh-CN,zh;q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=0.9\r\n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Cookie: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pgv_pvi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=1246921728; 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  (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请求头信息后面还有一个单独的’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\r\n’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不能省略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)</a:t>
            </a:r>
          </a:p>
          <a:p>
            <a:pPr marL="0" indent="0" algn="l">
              <a:buNone/>
            </a:pPr>
            <a:endParaRPr lang="en-US" altLang="zh-CN" sz="14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C00000"/>
                </a:solidFill>
                <a:latin typeface="Helvetica Neue"/>
              </a:rPr>
              <a:t>注：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Helvetica Neue"/>
              </a:rPr>
              <a:t>每项数据之间使用</a:t>
            </a:r>
            <a:r>
              <a:rPr lang="en-US" altLang="zh-CN" sz="1400" b="0" i="0" dirty="0">
                <a:solidFill>
                  <a:srgbClr val="C00000"/>
                </a:solidFill>
                <a:effectLst/>
                <a:latin typeface="Helvetica Neue"/>
              </a:rPr>
              <a:t>:</a:t>
            </a:r>
            <a:r>
              <a:rPr lang="en-US" altLang="zh-CN" sz="1400" b="1" i="0" dirty="0">
                <a:solidFill>
                  <a:srgbClr val="C00000"/>
                </a:solidFill>
                <a:effectLst/>
                <a:latin typeface="Helvetica Neue"/>
              </a:rPr>
              <a:t>\r\n</a:t>
            </a:r>
            <a:endParaRPr lang="en-US" altLang="zh-CN" sz="1400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59980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POST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请求报文分析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47252" y="1457271"/>
            <a:ext cx="6659217" cy="5063374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请求行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POST /</a:t>
            </a:r>
            <a:r>
              <a:rPr lang="en-US" altLang="zh-CN" sz="12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xmweb?host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=mail.itcast.</a:t>
            </a:r>
            <a:r>
              <a:rPr lang="en-US" altLang="zh-CN" sz="12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cn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&amp;_t=1542884567319 HTTP/1.1 # POST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请求方式 请求资源路径 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HTTP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协议版本</a:t>
            </a: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请求头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Host: mail.itcast.cn # 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服务器的主机地址和端口号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,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默认是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80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Connection: keep-alive # 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和服务端保持长连接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Content-Type: application/x-www-form-</a:t>
            </a:r>
            <a:r>
              <a:rPr lang="en-US" altLang="zh-CN" sz="12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urlencoded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  # 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告诉服务端请求的数据类型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User-Agent: Mozilla/5.0 (Macintosh; Intel Mac OS X 10_12_4) </a:t>
            </a:r>
            <a:r>
              <a:rPr lang="en-US" altLang="zh-CN" sz="12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AppleWebKit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/537.36 (KHTML, like Gecko) Chrome/69.0.3497.100 Safari/537.36 # 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客户端的名称</a:t>
            </a: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空行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</a:p>
          <a:p>
            <a:pPr marL="0" indent="0" algn="l">
              <a:buNone/>
            </a:pP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请求体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----</a:t>
            </a:r>
          </a:p>
          <a:p>
            <a:pPr marL="0" indent="0" algn="l">
              <a:buNone/>
            </a:pP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username=</a:t>
            </a:r>
            <a:r>
              <a:rPr lang="en-US" altLang="zh-CN" sz="12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hello&amp;pass</a:t>
            </a:r>
            <a:r>
              <a:rPr lang="en-US" altLang="zh-CN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=hello # </a:t>
            </a:r>
            <a:r>
              <a:rPr lang="zh-CN" altLang="en-US" sz="12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请求参数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9CB7C-8D15-4EE6-B54D-280D9FDC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23" y="1457270"/>
            <a:ext cx="4489486" cy="50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97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5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POST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原始报文说明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522" y="1550503"/>
            <a:ext cx="11274948" cy="497014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POST /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xmweb?host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=mail.itcast.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cn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&amp;_t=1542884567319 HTTP/1.1\r\n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Host: mail.itcast.cn\r\n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Connection: keep-alive\r\n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Content-Type: application/x-www-form-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urlencoded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User-Agent: Mozilla/5.0 (Macintosh; Intel Mac OS X 10_12_4)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AppleWebKit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/537.36 (KHTML, like Gecko) Chrome/69.0.3497.100 Safari/537.36\r\n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\r\n(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请求头信息后面还有一个单独的’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\r\n’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不能省略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)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username=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hello&amp;pass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=hello</a:t>
            </a:r>
          </a:p>
          <a:p>
            <a:pPr marL="0" indent="0" algn="l"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Helvetica Neue"/>
            </a:endParaRPr>
          </a:p>
          <a:p>
            <a:pPr marL="0" indent="0">
              <a:buNone/>
            </a:pPr>
            <a:r>
              <a:rPr lang="zh-CN" altLang="en-US" sz="1400" i="0" dirty="0">
                <a:solidFill>
                  <a:srgbClr val="C00000"/>
                </a:solidFill>
                <a:effectLst/>
                <a:latin typeface="Helvetica Neue"/>
              </a:rPr>
              <a:t>注：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每项数据之间使用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\r\n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31957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请求报文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6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、小结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请求报文可以由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请求行、请求头、空行和请求体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个部分组成。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请求行是由三部分组成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</a:rPr>
              <a:t>请求方式</a:t>
            </a:r>
            <a:endParaRPr lang="zh-CN" alt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</a:rPr>
              <a:t>请求资源路径</a:t>
            </a:r>
            <a:endParaRPr lang="zh-CN" alt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en-US" altLang="zh-CN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</a:rPr>
              <a:t>HTTP</a:t>
            </a:r>
            <a:r>
              <a:rPr lang="zh-CN" alt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</a:rPr>
              <a:t>协议版本</a:t>
            </a:r>
            <a:endParaRPr lang="zh-CN" alt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GET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方式的请求报文没有请求体，只有请求行、请求头、空行组成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POST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方式的请求报文可以有请求行、请求头、空行、请求体四部分组成，注意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:POST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方式可以允许没有请求体，但是这种格式很少见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GET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POST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请求对比效果图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7E60EF-2531-47F3-AA20-81248F06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996" y="4671031"/>
            <a:ext cx="5564462" cy="180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12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报文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4935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报文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D7D9983-9B62-48A1-AD49-975E92138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55" y="1457271"/>
            <a:ext cx="4903966" cy="5151293"/>
          </a:xfrm>
          <a:prstGeom prst="rect">
            <a:avLst/>
          </a:prstGeom>
        </p:spPr>
      </p:pic>
      <p:sp>
        <p:nvSpPr>
          <p:cNvPr id="9" name="文本占位符 8">
            <a:extLst>
              <a:ext uri="{FF2B5EF4-FFF2-40B4-BE49-F238E27FC236}">
                <a16:creationId xmlns:a16="http://schemas.microsoft.com/office/drawing/2014/main" id="{44C52D72-1D0E-4EF2-A2A8-2CF1E53C0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HTTP</a:t>
            </a:r>
            <a:r>
              <a:rPr lang="zh-CN" altLang="en-US" dirty="0"/>
              <a:t>响应报文分析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30761C0-1E97-4855-BE2C-EF2130E12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041" y="1457271"/>
            <a:ext cx="5317152" cy="51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28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、响应报文说明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522" y="1550503"/>
            <a:ext cx="11274948" cy="497014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响应行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/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状态行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HTTP/1.1 200 OK # HTTP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协议版本 状态码 状态描述</a:t>
            </a:r>
            <a:endParaRPr lang="en-US" altLang="zh-CN" sz="14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响应头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Server: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Tengine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服务器名称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Content-Type: text/html; charset=UTF-8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内容类型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Transfer-Encoding: chunked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发送给客户端内容不确定内容长度，发送结束的标记是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0\r\n, Content-Length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表示服务端确定发送给客户端的内容大小，但是二者只能用其一。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Connection: keep-alive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和客户端保持长连接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Date: Fri, 23 Nov 2018 02:01:05 GMT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服务端的响应时间</a:t>
            </a:r>
            <a:endParaRPr lang="zh-CN" altLang="en-US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空行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</a:t>
            </a:r>
          </a:p>
          <a:p>
            <a:pPr marL="0" indent="0" algn="l">
              <a:buNone/>
            </a:pP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 </a:t>
            </a:r>
            <a:r>
              <a:rPr lang="zh-CN" altLang="en-US" sz="1200" i="0" dirty="0">
                <a:solidFill>
                  <a:srgbClr val="C00000"/>
                </a:solidFill>
                <a:effectLst/>
                <a:latin typeface="Helvetica Neue"/>
              </a:rPr>
              <a:t>响应体 </a:t>
            </a:r>
            <a:r>
              <a:rPr lang="en-US" altLang="zh-CN" sz="1200" i="0" dirty="0">
                <a:solidFill>
                  <a:srgbClr val="C00000"/>
                </a:solidFill>
                <a:effectLst/>
                <a:latin typeface="Helvetica Neue"/>
              </a:rPr>
              <a:t>---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&lt;!DOCTYPE html&gt;&lt;html lang=“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en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”&gt; …&lt;/html&gt; # 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响应给客户端的数据</a:t>
            </a:r>
            <a:endParaRPr lang="zh-CN" altLang="en-US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8865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报文</a:t>
            </a:r>
            <a:endParaRPr kumimoji="1"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44C52D72-1D0E-4EF2-A2A8-2CF1E53C0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、原始响应报文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D8F2B662-4E84-4CB2-9C6D-F4033691DE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522" y="1550503"/>
            <a:ext cx="11274948" cy="497014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HTTP/1.1 200 OK\r\n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Server: 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Tengine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Content-Type: text/html; charset=UTF-8\r\n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Transfer-Encoding: chunked\r\n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Connection: keep-alive\r\n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Date: Fri, 23 Nov 2018 02:01:05 GMT\r\n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\r\n(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响应头信息后面还有一个单独的’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\r\n’</a:t>
            </a: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不能省略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)</a:t>
            </a:r>
          </a:p>
          <a:p>
            <a:pPr marL="0" indent="0" algn="l">
              <a:buNone/>
            </a:pP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&lt;!DOCTYPE html&gt;&lt;html lang=“</a:t>
            </a:r>
            <a:r>
              <a:rPr lang="en-US" altLang="zh-CN" sz="14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en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”&gt; …&lt;/html&gt;</a:t>
            </a:r>
          </a:p>
          <a:p>
            <a:pPr marL="0" indent="0" algn="l">
              <a:buNone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sz="12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注：每项数据之间使用</a:t>
            </a:r>
            <a:r>
              <a:rPr lang="en-US" altLang="zh-CN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:\r\n</a:t>
            </a:r>
            <a:endParaRPr lang="zh-CN" altLang="en-US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30407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响应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报文</a:t>
            </a:r>
            <a:endParaRPr kumimoji="1"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44C52D72-1D0E-4EF2-A2A8-2CF1E53C0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状态码介绍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D8F2B662-4E84-4CB2-9C6D-F4033691DE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522" y="1550503"/>
            <a:ext cx="11274948" cy="4970141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状态码是</a:t>
            </a:r>
            <a:r>
              <a:rPr lang="zh-CN" altLang="en-US" sz="1400" b="1" i="0" dirty="0">
                <a:solidFill>
                  <a:srgbClr val="C00000"/>
                </a:solidFill>
                <a:effectLst/>
                <a:latin typeface="Helvetica Neue"/>
              </a:rPr>
              <a:t>用于表示</a:t>
            </a:r>
            <a:r>
              <a:rPr lang="en-US" altLang="zh-CN" sz="1400" b="1" i="0" dirty="0">
                <a:solidFill>
                  <a:srgbClr val="C00000"/>
                </a:solidFill>
                <a:effectLst/>
                <a:latin typeface="Helvetica Neue"/>
              </a:rPr>
              <a:t>web</a:t>
            </a:r>
            <a:r>
              <a:rPr lang="zh-CN" altLang="en-US" sz="1400" b="1" i="0" dirty="0">
                <a:solidFill>
                  <a:srgbClr val="C00000"/>
                </a:solidFill>
                <a:effectLst/>
                <a:latin typeface="Helvetica Neue"/>
              </a:rPr>
              <a:t>服务器响应状态的</a:t>
            </a:r>
            <a:r>
              <a:rPr lang="en-US" altLang="zh-CN" sz="1400" b="1" i="0" dirty="0">
                <a:solidFill>
                  <a:srgbClr val="C00000"/>
                </a:solidFill>
                <a:effectLst/>
                <a:latin typeface="Helvetica Neue"/>
              </a:rPr>
              <a:t>3</a:t>
            </a:r>
            <a:r>
              <a:rPr lang="zh-CN" altLang="en-US" sz="1400" b="1" i="0" dirty="0">
                <a:solidFill>
                  <a:srgbClr val="C00000"/>
                </a:solidFill>
                <a:effectLst/>
                <a:latin typeface="Helvetica Neue"/>
              </a:rPr>
              <a:t>位数字代码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  <a:endParaRPr lang="zh-CN" altLang="en-US" sz="140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0B5504-C1C7-434B-BBF2-D1D7A260D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874806"/>
              </p:ext>
            </p:extLst>
          </p:nvPr>
        </p:nvGraphicFramePr>
        <p:xfrm>
          <a:off x="731522" y="2174446"/>
          <a:ext cx="10728956" cy="2377440"/>
        </p:xfrm>
        <a:graphic>
          <a:graphicData uri="http://schemas.openxmlformats.org/drawingml/2006/table">
            <a:tbl>
              <a:tblPr/>
              <a:tblGrid>
                <a:gridCol w="2190582">
                  <a:extLst>
                    <a:ext uri="{9D8B030D-6E8A-4147-A177-3AD203B41FA5}">
                      <a16:colId xmlns:a16="http://schemas.microsoft.com/office/drawing/2014/main" val="2616713922"/>
                    </a:ext>
                  </a:extLst>
                </a:gridCol>
                <a:gridCol w="8538374">
                  <a:extLst>
                    <a:ext uri="{9D8B030D-6E8A-4147-A177-3AD203B41FA5}">
                      <a16:colId xmlns:a16="http://schemas.microsoft.com/office/drawing/2014/main" val="2296414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状态码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7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</a:rPr>
                        <a:t>200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effectLst/>
                        </a:rPr>
                        <a:t>请求成功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9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</a:rPr>
                        <a:t>301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effectLst/>
                        </a:rPr>
                        <a:t>重定向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12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</a:rPr>
                        <a:t>400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effectLst/>
                        </a:rPr>
                        <a:t>错误的请求，请求地址或者参数有误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969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</a:rPr>
                        <a:t>404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effectLst/>
                        </a:rPr>
                        <a:t>请求资源在服务器不存在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</a:rPr>
                        <a:t>500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effectLst/>
                        </a:rPr>
                        <a:t>服务器内部源代码出现错误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1623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5EE8D0F-F78E-4A8F-922C-B0EB01788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20812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28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HTTP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响应报文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5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、小结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响应报文是由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响应行、响应头、空行和响应体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个部分组成。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响应行是由三部分组成：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协议版本 状态码 状态描述，最常见的状态码是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200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zh-CN" altLang="en-US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63C3C3-FDB3-4E26-88E6-EAD2893D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737" y="2893699"/>
            <a:ext cx="2031123" cy="257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76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077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服务器是什么？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可以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为发出请求的浏览器提供静态文档的程序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平时我们浏览百度新闻数据的时候，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每天的新闻数据都会发生变化，那访问的这个页面就是动态的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，而我们开发的是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静态的，页面的数据不会发生变化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6696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如何搭建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自带的静态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自带的静态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服务器使用 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python3 -m </a:t>
            </a:r>
            <a:r>
              <a:rPr lang="en-US" altLang="zh-CN" b="1" i="0" dirty="0" err="1">
                <a:solidFill>
                  <a:srgbClr val="C00000"/>
                </a:solidFill>
                <a:effectLst/>
                <a:latin typeface="Helvetica Neue"/>
              </a:rPr>
              <a:t>http.server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端口号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效果图如下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-m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选项说明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-m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运行包里面的模块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，执行这个命令的时候，需要进入你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自己指定静态文件的目录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，然后通过浏览器就能访问对应的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文件了，这样一个静态的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服务器就搭建好了。</a:t>
            </a:r>
          </a:p>
          <a:p>
            <a:pPr marL="0" indent="0" algn="l">
              <a:buNone/>
            </a:pP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0CF5E4-4322-4849-A95C-57203AE33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80" y="2322551"/>
            <a:ext cx="10706850" cy="192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00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访问搭建的静态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通过浏览器访问搭建的静态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服务器，效果图如下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3C0772-B5D6-46A0-AFD2-937026F8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24" y="2888984"/>
            <a:ext cx="9648710" cy="276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26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4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查看浏览器和搭建的静态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服务器的通信过程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查看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的通信过程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效果图如下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09B1B6-B5F8-4BF2-B0BC-DEC74B512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2226199"/>
            <a:ext cx="11044240" cy="429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9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自带静态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5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、小结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服务器是为发出请求的浏览器提供静态文档的程序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搭建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自带的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python3 –m 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http.server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端口号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这个命令即可，端口号不指定默认是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42240258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返回固定页面数据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420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返回固定页面数据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开发自己的静态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52E3D5B-69DA-49F3-BFF2-51445A697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实现步骤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编写一个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TCP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服务端程序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获取浏览器发送的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请求报文数据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读取固定页面数据，把页面数据组装成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响应报文数据发送给浏览器。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HTTP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响应报文数据发送完成以后，关闭服务于客户端的套接字。</a:t>
            </a:r>
          </a:p>
        </p:txBody>
      </p:sp>
    </p:spTree>
    <p:extLst>
      <p:ext uri="{BB962C8B-B14F-4D97-AF65-F5344CB8AC3E}">
        <p14:creationId xmlns:p14="http://schemas.microsoft.com/office/powerpoint/2010/main" val="2768436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返回固定页面数据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3E3499-A1EE-4F80-8839-DEA8AEB33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3" y="1635973"/>
            <a:ext cx="9769687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98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返回固定页面数据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C3D1B4-D2CD-43A8-97C8-81C664BDF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1457271"/>
            <a:ext cx="10341433" cy="527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33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08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2209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服务器的问题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F5420-A3EF-43B4-9E6C-10386A0B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64" y="1508594"/>
            <a:ext cx="8311420" cy="1920406"/>
          </a:xfrm>
          <a:prstGeom prst="rect">
            <a:avLst/>
          </a:prstGeom>
        </p:spPr>
      </p:pic>
      <p:sp>
        <p:nvSpPr>
          <p:cNvPr id="8" name="文本占位符 1">
            <a:extLst>
              <a:ext uri="{FF2B5EF4-FFF2-40B4-BE49-F238E27FC236}">
                <a16:creationId xmlns:a16="http://schemas.microsoft.com/office/drawing/2014/main" id="{F937E140-8EF5-4080-BC23-D02719C8C5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3617843"/>
            <a:ext cx="10749598" cy="2995968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目前的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服务器，不管用户访问什么页面，返回的都是固定页面的数据，接下来需要根据用户的请求返回指定页面的数据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返回指定页面数据的实现步骤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获取用户请求资源的路径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根据请求资源的路径，读取指定文件的数据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组装指定文件数据的响应报文，发送给浏览器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判断请求的文件在服务端不存在，组装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404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状态的响应报文，发送给浏览器</a:t>
            </a:r>
          </a:p>
        </p:txBody>
      </p:sp>
    </p:spTree>
    <p:extLst>
      <p:ext uri="{BB962C8B-B14F-4D97-AF65-F5344CB8AC3E}">
        <p14:creationId xmlns:p14="http://schemas.microsoft.com/office/powerpoint/2010/main" val="576229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A3B244-A848-4B9B-B96F-4766DC0E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457271"/>
            <a:ext cx="10619729" cy="494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47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62AA30-5A54-44DC-BD94-9B17309CC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635973"/>
            <a:ext cx="10950889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10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014D2-B777-4E0B-8D09-10FA4165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8" y="1635973"/>
            <a:ext cx="10725081" cy="313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12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返回指定页面数据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、代码实践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F40CA1-E6D1-4AD2-B566-D53F0CB96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635973"/>
            <a:ext cx="10912686" cy="371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18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7901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服务器的问题</a:t>
            </a: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95EEDAC3-0E98-4084-98CB-E2F6A2E86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99596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目前的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服务器，不能支持多用户同时访问，只能一个一个的处理客户端的请求，那么如何开发多任务版的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服务器同时处理 多个客户端的请求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?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可以使用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多线程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，比进程更加节省内存资源。</a:t>
            </a:r>
          </a:p>
          <a:p>
            <a:pPr marL="0" indent="0" algn="l">
              <a:buNone/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服务器程序的实现步骤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当客户端和服务端建立连接成功，创建子线程，使用子线程专门处理客户端的请求，防止主线程阻塞。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把创建的子线程设置成为守护主线程，防止主线程无法退出。</a:t>
            </a:r>
          </a:p>
        </p:txBody>
      </p:sp>
    </p:spTree>
    <p:extLst>
      <p:ext uri="{BB962C8B-B14F-4D97-AF65-F5344CB8AC3E}">
        <p14:creationId xmlns:p14="http://schemas.microsoft.com/office/powerpoint/2010/main" val="1479501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多任务版的示例代码</a:t>
            </a: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95EEDAC3-0E98-4084-98CB-E2F6A2E86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99596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当客户端和服务端建立连接成功，创建子线程，使用子线程专门处理客户端的请求，防止主线程阻塞。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871A085-5CBC-48EE-8C60-8E93EED3C048}"/>
              </a:ext>
            </a:extLst>
          </p:cNvPr>
          <p:cNvSpPr txBox="1"/>
          <p:nvPr/>
        </p:nvSpPr>
        <p:spPr>
          <a:xfrm>
            <a:off x="724514" y="2187748"/>
            <a:ext cx="10405417" cy="1705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while True: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conn_socket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ip_port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tcp_server_socket.accept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#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开辟子线程并执行对应的任务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sub_thread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threading.Thread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(target=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handle_client_request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=(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conn_socket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,))</a:t>
            </a:r>
            <a:endParaRPr lang="zh-CN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4789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多任务版的示例代码</a:t>
            </a: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95EEDAC3-0E98-4084-98CB-E2F6A2E86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99596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把创建的子线程设置成为守护主线程，防止主线程无法退出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871A085-5CBC-48EE-8C60-8E93EED3C048}"/>
              </a:ext>
            </a:extLst>
          </p:cNvPr>
          <p:cNvSpPr txBox="1"/>
          <p:nvPr/>
        </p:nvSpPr>
        <p:spPr>
          <a:xfrm>
            <a:off x="724514" y="2187748"/>
            <a:ext cx="10405417" cy="1705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开辟子线程并执行对应的任务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sub_thread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threading.Thread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(target=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handle_client_request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=(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conn_socket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,))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sub_thread.setDaemon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(True) #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设置守护主线程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sub_thread.start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  <a:endParaRPr lang="zh-CN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80008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05466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以面向对象的方式开发静态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95EEDAC3-0E98-4084-98CB-E2F6A2E86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99596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实现步骤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把提供服务的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服务器抽象成一个类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HTTPWebServer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提供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服务器的初始化方法，在初始化方法里面创建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socket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对象</a:t>
            </a: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③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提供一个开启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服务器的方法，让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服务器处理客户端请求操作。</a:t>
            </a:r>
          </a:p>
        </p:txBody>
      </p:sp>
    </p:spTree>
    <p:extLst>
      <p:ext uri="{BB962C8B-B14F-4D97-AF65-F5344CB8AC3E}">
        <p14:creationId xmlns:p14="http://schemas.microsoft.com/office/powerpoint/2010/main" val="10315964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、实现代码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CC3E2D-8A1D-4068-B67C-20E76C755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635973"/>
            <a:ext cx="11339543" cy="47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599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、实现代码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6F5DB6-9BA8-4660-9CB2-D4589B0D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457271"/>
            <a:ext cx="10770240" cy="502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523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、实现代码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95710-F55B-4114-A863-0BDFBF20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1457272"/>
            <a:ext cx="10609027" cy="49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62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面向对象开发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、实现代码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BCFF6E-33DA-4C5E-AFA5-3C5FDED6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493352"/>
            <a:ext cx="10888085" cy="18573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BE76BF-D371-4A44-9536-715402ED3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80" y="4322613"/>
            <a:ext cx="9160034" cy="19051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D0AF2A-2E1D-479C-B1B0-04120FB02DF4}"/>
              </a:ext>
            </a:extLst>
          </p:cNvPr>
          <p:cNvSpPr txBox="1"/>
          <p:nvPr/>
        </p:nvSpPr>
        <p:spPr>
          <a:xfrm>
            <a:off x="710880" y="3677478"/>
            <a:ext cx="2996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509359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命令行启动动态绑定端口号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237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命令行启动动态绑定端口号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开发命令行启动动态绑定端口号的静态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服务器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2BC3791F-760F-4564-A3A5-2AD73CA06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2995968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实现步骤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获取执行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程序的终端命令行参数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判断参数的类型，设置端口号必须是整型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③ 给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服务器类的初始化方法添加一个端口号参数，用于绑定端口号</a:t>
            </a:r>
          </a:p>
        </p:txBody>
      </p:sp>
    </p:spTree>
    <p:extLst>
      <p:ext uri="{BB962C8B-B14F-4D97-AF65-F5344CB8AC3E}">
        <p14:creationId xmlns:p14="http://schemas.microsoft.com/office/powerpoint/2010/main" val="38407655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命令行启动动态绑定端口号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kumimoji="1"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命令行启动动态绑定端口号的示例代码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2BC3791F-760F-4564-A3A5-2AD73CA06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3568148"/>
            <a:ext cx="1236808" cy="517190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import sys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03A4D6-6FC1-4763-AA39-54423A018E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952"/>
          <a:stretch/>
        </p:blipFill>
        <p:spPr>
          <a:xfrm>
            <a:off x="2081385" y="1457271"/>
            <a:ext cx="4014615" cy="48924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3F2A07-693C-448F-A5C7-6A290964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198" y="2388480"/>
            <a:ext cx="5602735" cy="287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199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8766</TotalTime>
  <Words>3108</Words>
  <Application>Microsoft Office PowerPoint</Application>
  <PresentationFormat>宽屏</PresentationFormat>
  <Paragraphs>369</Paragraphs>
  <Slides>61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61</vt:i4>
      </vt:variant>
    </vt:vector>
  </HeadingPairs>
  <TitlesOfParts>
    <vt:vector size="80" baseType="lpstr">
      <vt:lpstr>Alibaba PuHuiTi B</vt:lpstr>
      <vt:lpstr>Alibaba PuHuiTi M</vt:lpstr>
      <vt:lpstr>Alibaba PuHuiTi R</vt:lpstr>
      <vt:lpstr>Helvetica Neue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静态Web服务器</vt:lpstr>
      <vt:lpstr>PowerPoint 演示文稿</vt:lpstr>
      <vt:lpstr>PowerPoint 演示文稿</vt:lpstr>
      <vt:lpstr>HTTP 协议</vt:lpstr>
      <vt:lpstr>HTTP协议</vt:lpstr>
      <vt:lpstr>HTTP协议</vt:lpstr>
      <vt:lpstr>HTTP协议</vt:lpstr>
      <vt:lpstr>HTTP协议</vt:lpstr>
      <vt:lpstr>URL</vt:lpstr>
      <vt:lpstr>URL</vt:lpstr>
      <vt:lpstr>URL</vt:lpstr>
      <vt:lpstr>URL</vt:lpstr>
      <vt:lpstr>URL</vt:lpstr>
      <vt:lpstr>查看HTTP协议的通信过程</vt:lpstr>
      <vt:lpstr>查看HTTP协议的通信过程</vt:lpstr>
      <vt:lpstr>查看HTTP协议的通信过程</vt:lpstr>
      <vt:lpstr>查看HTTP协议的通信过程</vt:lpstr>
      <vt:lpstr>查看HTTP协议的通信过程</vt:lpstr>
      <vt:lpstr>HTTP 请求报文</vt:lpstr>
      <vt:lpstr>HTTP 请求报文</vt:lpstr>
      <vt:lpstr>HTTP 请求报文</vt:lpstr>
      <vt:lpstr>HTTP 请求报文</vt:lpstr>
      <vt:lpstr>HTTP 请求报文</vt:lpstr>
      <vt:lpstr>HTTP 请求报文</vt:lpstr>
      <vt:lpstr>HTTP 请求报文</vt:lpstr>
      <vt:lpstr>HTTP 响应报文</vt:lpstr>
      <vt:lpstr>HTTP 响应报文</vt:lpstr>
      <vt:lpstr>HTTP 响应报文</vt:lpstr>
      <vt:lpstr>HTTP 响应报文</vt:lpstr>
      <vt:lpstr>HTTP 响应报文</vt:lpstr>
      <vt:lpstr>HTTP 响应报文</vt:lpstr>
      <vt:lpstr>搭建Python自带静态Web服务器</vt:lpstr>
      <vt:lpstr>搭建Python自带静态Web服务器</vt:lpstr>
      <vt:lpstr>搭建Python自带静态Web服务器</vt:lpstr>
      <vt:lpstr>搭建Python自带静态Web服务器</vt:lpstr>
      <vt:lpstr>搭建Python自带静态Web服务器</vt:lpstr>
      <vt:lpstr>搭建Python自带静态Web服务器</vt:lpstr>
      <vt:lpstr>静态Web服务器-返回固定页面数据</vt:lpstr>
      <vt:lpstr>静态Web服务器-返回固定页面数据</vt:lpstr>
      <vt:lpstr>静态Web服务器-返回固定页面数据</vt:lpstr>
      <vt:lpstr>静态Web服务器-返回固定页面数据</vt:lpstr>
      <vt:lpstr>静态Web服务器-返回指定页面数据</vt:lpstr>
      <vt:lpstr>静态Web服务器-返回指定页面数据</vt:lpstr>
      <vt:lpstr>静态Web服务器-返回指定页面数据</vt:lpstr>
      <vt:lpstr>静态Web服务器-返回指定页面数据</vt:lpstr>
      <vt:lpstr>静态Web服务器-返回指定页面数据</vt:lpstr>
      <vt:lpstr>静态Web服务器-返回指定页面数据</vt:lpstr>
      <vt:lpstr>多任务版静态Web服务器</vt:lpstr>
      <vt:lpstr>多任务版静态Web服务器</vt:lpstr>
      <vt:lpstr>多任务版静态Web服务器</vt:lpstr>
      <vt:lpstr>多任务版静态Web服务器</vt:lpstr>
      <vt:lpstr>静态Web服务器-面向对象开发</vt:lpstr>
      <vt:lpstr>静态Web服务器-面向对象开发</vt:lpstr>
      <vt:lpstr>静态Web服务器-面向对象开发</vt:lpstr>
      <vt:lpstr>静态Web服务器-面向对象开发</vt:lpstr>
      <vt:lpstr>静态Web服务器-面向对象开发</vt:lpstr>
      <vt:lpstr>静态Web服务器-面向对象开发</vt:lpstr>
      <vt:lpstr>命令行启动动态绑定端口号</vt:lpstr>
      <vt:lpstr>命令行启动动态绑定端口号</vt:lpstr>
      <vt:lpstr>命令行启动动态绑定端口号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631</cp:revision>
  <dcterms:created xsi:type="dcterms:W3CDTF">2020-03-31T02:23:27Z</dcterms:created>
  <dcterms:modified xsi:type="dcterms:W3CDTF">2021-11-25T09:42:37Z</dcterms:modified>
</cp:coreProperties>
</file>