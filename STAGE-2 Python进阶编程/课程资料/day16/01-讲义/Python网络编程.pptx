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1.xml" ContentType="application/vnd.openxmlformats-officedocument.themeOverride+xml"/>
  <Override PartName="/ppt/notesSlides/notesSlide15.xml" ContentType="application/vnd.openxmlformats-officedocument.presentationml.notesSlide+xml"/>
  <Override PartName="/ppt/theme/themeOverride2.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65" r:id="rId2"/>
    <p:sldMasterId id="2147483707" r:id="rId3"/>
    <p:sldMasterId id="2147483700" r:id="rId4"/>
    <p:sldMasterId id="2147483698" r:id="rId5"/>
    <p:sldMasterId id="2147483668" r:id="rId6"/>
    <p:sldMasterId id="2147483672" r:id="rId7"/>
  </p:sldMasterIdLst>
  <p:notesMasterIdLst>
    <p:notesMasterId r:id="rId48"/>
  </p:notesMasterIdLst>
  <p:handoutMasterIdLst>
    <p:handoutMasterId r:id="rId49"/>
  </p:handoutMasterIdLst>
  <p:sldIdLst>
    <p:sldId id="462" r:id="rId8"/>
    <p:sldId id="463" r:id="rId9"/>
    <p:sldId id="464" r:id="rId10"/>
    <p:sldId id="466" r:id="rId11"/>
    <p:sldId id="467" r:id="rId12"/>
    <p:sldId id="512" r:id="rId13"/>
    <p:sldId id="513" r:id="rId14"/>
    <p:sldId id="514" r:id="rId15"/>
    <p:sldId id="515" r:id="rId16"/>
    <p:sldId id="516" r:id="rId17"/>
    <p:sldId id="517" r:id="rId18"/>
    <p:sldId id="518" r:id="rId19"/>
    <p:sldId id="519" r:id="rId20"/>
    <p:sldId id="520" r:id="rId21"/>
    <p:sldId id="521" r:id="rId22"/>
    <p:sldId id="522" r:id="rId23"/>
    <p:sldId id="523" r:id="rId24"/>
    <p:sldId id="524" r:id="rId25"/>
    <p:sldId id="525" r:id="rId26"/>
    <p:sldId id="526" r:id="rId27"/>
    <p:sldId id="527" r:id="rId28"/>
    <p:sldId id="528" r:id="rId29"/>
    <p:sldId id="530" r:id="rId30"/>
    <p:sldId id="529" r:id="rId31"/>
    <p:sldId id="531" r:id="rId32"/>
    <p:sldId id="532" r:id="rId33"/>
    <p:sldId id="533" r:id="rId34"/>
    <p:sldId id="511" r:id="rId35"/>
    <p:sldId id="534" r:id="rId36"/>
    <p:sldId id="535" r:id="rId37"/>
    <p:sldId id="536" r:id="rId38"/>
    <p:sldId id="537" r:id="rId39"/>
    <p:sldId id="538" r:id="rId40"/>
    <p:sldId id="539" r:id="rId41"/>
    <p:sldId id="540" r:id="rId42"/>
    <p:sldId id="542" r:id="rId43"/>
    <p:sldId id="543" r:id="rId44"/>
    <p:sldId id="545" r:id="rId45"/>
    <p:sldId id="544" r:id="rId46"/>
    <p:sldId id="264"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4"/>
    <a:srgbClr val="B60206"/>
    <a:srgbClr val="AD2B26"/>
    <a:srgbClr val="49504F"/>
    <a:srgbClr val="B70006"/>
    <a:srgbClr val="919191"/>
    <a:srgbClr val="333333"/>
    <a:srgbClr val="FFFFFF"/>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93" autoAdjust="0"/>
    <p:restoredTop sz="89612" autoAdjust="0"/>
  </p:normalViewPr>
  <p:slideViewPr>
    <p:cSldViewPr snapToGrid="0">
      <p:cViewPr varScale="1">
        <p:scale>
          <a:sx n="77" d="100"/>
          <a:sy n="77" d="100"/>
        </p:scale>
        <p:origin x="710" y="62"/>
      </p:cViewPr>
      <p:guideLst/>
    </p:cSldViewPr>
  </p:slideViewPr>
  <p:notesTextViewPr>
    <p:cViewPr>
      <p:scale>
        <a:sx n="1" d="1"/>
        <a:sy n="1" d="1"/>
      </p:scale>
      <p:origin x="0" y="0"/>
    </p:cViewPr>
  </p:notesTextViewPr>
  <p:notesViewPr>
    <p:cSldViewPr snapToGrid="0" showGuides="1">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BAB8F7-26C7-2345-A2F0-4C70E8EFA8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EB0FE49-C86E-0B42-8C7E-921C60B5AA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2021/11/23</a:t>
            </a:fld>
            <a:endParaRPr kumimoji="1" lang="zh-CN" altLang="en-US"/>
          </a:p>
        </p:txBody>
      </p:sp>
      <p:sp>
        <p:nvSpPr>
          <p:cNvPr id="4" name="页脚占位符 3">
            <a:extLst>
              <a:ext uri="{FF2B5EF4-FFF2-40B4-BE49-F238E27FC236}">
                <a16:creationId xmlns:a16="http://schemas.microsoft.com/office/drawing/2014/main" id="{9E928822-8127-CD43-9156-5BB443851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4FC3EF7F-6078-7249-A167-F5C0687992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2762655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2021/11/23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extLst>
      <p:ext uri="{BB962C8B-B14F-4D97-AF65-F5344CB8AC3E}">
        <p14:creationId xmlns:p14="http://schemas.microsoft.com/office/powerpoint/2010/main" val="308559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en-US" altLang="zh-CN" b="0" i="0" dirty="0">
                <a:solidFill>
                  <a:srgbClr val="B60206"/>
                </a:solidFill>
                <a:effectLst/>
                <a:latin typeface="Helvetica Neue"/>
              </a:rPr>
              <a:t>192.168.1.107</a:t>
            </a:r>
            <a:r>
              <a:rPr lang="zh-CN" altLang="en-US" b="0" i="0" dirty="0">
                <a:solidFill>
                  <a:srgbClr val="B60206"/>
                </a:solidFill>
                <a:effectLst/>
                <a:latin typeface="Helvetica Neue"/>
              </a:rPr>
              <a:t>是设备在网络中的</a:t>
            </a:r>
            <a:r>
              <a:rPr lang="en-US" altLang="zh-CN" b="0" i="0" dirty="0">
                <a:solidFill>
                  <a:srgbClr val="B60206"/>
                </a:solidFill>
                <a:effectLst/>
                <a:latin typeface="Helvetica Neue"/>
              </a:rPr>
              <a:t>IP</a:t>
            </a:r>
            <a:r>
              <a:rPr lang="zh-CN" altLang="en-US" b="0" i="0" dirty="0">
                <a:solidFill>
                  <a:srgbClr val="B60206"/>
                </a:solidFill>
                <a:effectLst/>
                <a:latin typeface="Helvetica Neue"/>
              </a:rPr>
              <a:t>地址</a:t>
            </a:r>
          </a:p>
          <a:p>
            <a:pPr algn="l">
              <a:buFont typeface="Arial" panose="020B0604020202020204" pitchFamily="34" charset="0"/>
              <a:buChar char="•"/>
            </a:pPr>
            <a:r>
              <a:rPr lang="en-US" altLang="zh-CN" b="0" i="0" dirty="0">
                <a:solidFill>
                  <a:srgbClr val="B60206"/>
                </a:solidFill>
                <a:effectLst/>
                <a:latin typeface="Helvetica Neue"/>
              </a:rPr>
              <a:t>127.0.0.1</a:t>
            </a:r>
            <a:r>
              <a:rPr lang="zh-CN" altLang="en-US" b="0" i="0" dirty="0">
                <a:solidFill>
                  <a:srgbClr val="B60206"/>
                </a:solidFill>
                <a:effectLst/>
                <a:latin typeface="Helvetica Neue"/>
              </a:rPr>
              <a:t>表示本机地址，提示：如果和自己的电脑通信就可以使用该地址。</a:t>
            </a:r>
          </a:p>
          <a:p>
            <a:pPr algn="l">
              <a:buFont typeface="Arial" panose="020B0604020202020204" pitchFamily="34" charset="0"/>
              <a:buChar char="•"/>
            </a:pPr>
            <a:r>
              <a:rPr lang="en-US" altLang="zh-CN" b="0" i="0" dirty="0">
                <a:solidFill>
                  <a:srgbClr val="B60206"/>
                </a:solidFill>
                <a:effectLst/>
                <a:latin typeface="Helvetica Neue"/>
              </a:rPr>
              <a:t>127.0.0.1</a:t>
            </a:r>
            <a:r>
              <a:rPr lang="zh-CN" altLang="en-US" b="0" i="0" dirty="0">
                <a:solidFill>
                  <a:srgbClr val="B60206"/>
                </a:solidFill>
                <a:effectLst/>
                <a:latin typeface="Helvetica Neue"/>
              </a:rPr>
              <a:t>该地址对应的域名是</a:t>
            </a:r>
            <a:r>
              <a:rPr lang="en-US" altLang="zh-CN" b="1" i="0" dirty="0">
                <a:solidFill>
                  <a:srgbClr val="B60206"/>
                </a:solidFill>
                <a:effectLst/>
                <a:latin typeface="Helvetica Neue"/>
              </a:rPr>
              <a:t>localhost</a:t>
            </a:r>
            <a:r>
              <a:rPr lang="zh-CN" altLang="en-US" b="0" i="0" dirty="0">
                <a:solidFill>
                  <a:srgbClr val="B60206"/>
                </a:solidFill>
                <a:effectLst/>
                <a:latin typeface="Helvetica Neue"/>
              </a:rPr>
              <a:t>，</a:t>
            </a:r>
            <a:r>
              <a:rPr lang="zh-CN" altLang="en-US" b="1" i="0" dirty="0">
                <a:solidFill>
                  <a:srgbClr val="B60206"/>
                </a:solidFill>
                <a:effectLst/>
                <a:latin typeface="Helvetica Neue"/>
              </a:rPr>
              <a:t>域名是 </a:t>
            </a:r>
            <a:r>
              <a:rPr lang="en-US" altLang="zh-CN" b="1" i="0" dirty="0" err="1">
                <a:solidFill>
                  <a:srgbClr val="B60206"/>
                </a:solidFill>
                <a:effectLst/>
                <a:latin typeface="Helvetica Neue"/>
              </a:rPr>
              <a:t>ip</a:t>
            </a:r>
            <a:r>
              <a:rPr lang="en-US" altLang="zh-CN" b="1" i="0" dirty="0">
                <a:solidFill>
                  <a:srgbClr val="B60206"/>
                </a:solidFill>
                <a:effectLst/>
                <a:latin typeface="Helvetica Neue"/>
              </a:rPr>
              <a:t> </a:t>
            </a:r>
            <a:r>
              <a:rPr lang="zh-CN" altLang="en-US" b="1" i="0" dirty="0">
                <a:solidFill>
                  <a:srgbClr val="B60206"/>
                </a:solidFill>
                <a:effectLst/>
                <a:latin typeface="Helvetica Neue"/>
              </a:rPr>
              <a:t>地址的别名</a:t>
            </a:r>
            <a:r>
              <a:rPr lang="zh-CN" altLang="en-US" b="0" i="0" dirty="0">
                <a:solidFill>
                  <a:srgbClr val="B60206"/>
                </a:solidFill>
                <a:effectLst/>
                <a:latin typeface="Helvetica Neue"/>
              </a:rPr>
              <a:t>，通过域名能解析出一个对应的</a:t>
            </a:r>
            <a:r>
              <a:rPr lang="en-US" altLang="zh-CN" b="0" i="0" dirty="0" err="1">
                <a:solidFill>
                  <a:srgbClr val="B60206"/>
                </a:solidFill>
                <a:effectLst/>
                <a:latin typeface="Helvetica Neue"/>
              </a:rPr>
              <a:t>ip</a:t>
            </a:r>
            <a:r>
              <a:rPr lang="zh-CN" altLang="en-US" b="0" i="0" dirty="0">
                <a:solidFill>
                  <a:srgbClr val="B60206"/>
                </a:solidFill>
                <a:effectLst/>
                <a:latin typeface="Helvetica Neue"/>
              </a:rPr>
              <a:t>地址。</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8</a:t>
            </a:fld>
            <a:endParaRPr lang="zh-CN" altLang="en-US"/>
          </a:p>
        </p:txBody>
      </p:sp>
    </p:spTree>
    <p:extLst>
      <p:ext uri="{BB962C8B-B14F-4D97-AF65-F5344CB8AC3E}">
        <p14:creationId xmlns:p14="http://schemas.microsoft.com/office/powerpoint/2010/main" val="2852240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en-US" altLang="zh-CN" b="0" i="0" dirty="0">
                <a:solidFill>
                  <a:srgbClr val="333333"/>
                </a:solidFill>
                <a:effectLst/>
                <a:latin typeface="Helvetica Neue"/>
              </a:rPr>
              <a:t>ping www.baidu.com </a:t>
            </a:r>
            <a:r>
              <a:rPr lang="zh-CN" altLang="en-US" b="0" i="0" dirty="0">
                <a:solidFill>
                  <a:srgbClr val="333333"/>
                </a:solidFill>
                <a:effectLst/>
                <a:latin typeface="Helvetica Neue"/>
              </a:rPr>
              <a:t>检查是否能上公网</a:t>
            </a:r>
          </a:p>
          <a:p>
            <a:pPr algn="l">
              <a:buFont typeface="Arial" panose="020B0604020202020204" pitchFamily="34" charset="0"/>
              <a:buChar char="•"/>
            </a:pPr>
            <a:r>
              <a:rPr lang="en-US" altLang="zh-CN" b="0" i="0" dirty="0">
                <a:solidFill>
                  <a:srgbClr val="333333"/>
                </a:solidFill>
                <a:effectLst/>
                <a:latin typeface="Helvetica Neue"/>
              </a:rPr>
              <a:t>ping </a:t>
            </a:r>
            <a:r>
              <a:rPr lang="zh-CN" altLang="en-US" b="0" i="0" dirty="0">
                <a:solidFill>
                  <a:srgbClr val="333333"/>
                </a:solidFill>
                <a:effectLst/>
                <a:latin typeface="Helvetica Neue"/>
              </a:rPr>
              <a:t>当前局域网的</a:t>
            </a:r>
            <a:r>
              <a:rPr lang="en-US" altLang="zh-CN" b="0" i="0" dirty="0" err="1">
                <a:solidFill>
                  <a:srgbClr val="333333"/>
                </a:solidFill>
                <a:effectLst/>
                <a:latin typeface="Helvetica Neue"/>
              </a:rPr>
              <a:t>ip</a:t>
            </a:r>
            <a:r>
              <a:rPr lang="zh-CN" altLang="en-US" b="0" i="0" dirty="0">
                <a:solidFill>
                  <a:srgbClr val="333333"/>
                </a:solidFill>
                <a:effectLst/>
                <a:latin typeface="Helvetica Neue"/>
              </a:rPr>
              <a:t>地址 检查是否在同一个局域网内</a:t>
            </a:r>
          </a:p>
          <a:p>
            <a:pPr algn="l">
              <a:buFont typeface="Arial" panose="020B0604020202020204" pitchFamily="34" charset="0"/>
              <a:buChar char="•"/>
            </a:pPr>
            <a:r>
              <a:rPr lang="en-US" altLang="zh-CN" b="0" i="0" dirty="0">
                <a:solidFill>
                  <a:srgbClr val="333333"/>
                </a:solidFill>
                <a:effectLst/>
                <a:latin typeface="Helvetica Neue"/>
              </a:rPr>
              <a:t>ping 127.0.0.1 </a:t>
            </a:r>
            <a:r>
              <a:rPr lang="zh-CN" altLang="en-US" b="0" i="0" dirty="0">
                <a:solidFill>
                  <a:srgbClr val="333333"/>
                </a:solidFill>
                <a:effectLst/>
                <a:latin typeface="Helvetica Neue"/>
              </a:rPr>
              <a:t>检查本地网卡是否正常</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9</a:t>
            </a:fld>
            <a:endParaRPr lang="zh-CN" altLang="en-US"/>
          </a:p>
        </p:txBody>
      </p:sp>
    </p:spTree>
    <p:extLst>
      <p:ext uri="{BB962C8B-B14F-4D97-AF65-F5344CB8AC3E}">
        <p14:creationId xmlns:p14="http://schemas.microsoft.com/office/powerpoint/2010/main" val="2570473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10</a:t>
            </a:fld>
            <a:endParaRPr lang="zh-CN" altLang="en-US"/>
          </a:p>
        </p:txBody>
      </p:sp>
    </p:spTree>
    <p:extLst>
      <p:ext uri="{BB962C8B-B14F-4D97-AF65-F5344CB8AC3E}">
        <p14:creationId xmlns:p14="http://schemas.microsoft.com/office/powerpoint/2010/main" val="3540754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11</a:t>
            </a:fld>
            <a:endParaRPr lang="zh-CN" altLang="en-US"/>
          </a:p>
        </p:txBody>
      </p:sp>
    </p:spTree>
    <p:extLst>
      <p:ext uri="{BB962C8B-B14F-4D97-AF65-F5344CB8AC3E}">
        <p14:creationId xmlns:p14="http://schemas.microsoft.com/office/powerpoint/2010/main" val="2511136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b="0" i="0" dirty="0">
                <a:solidFill>
                  <a:srgbClr val="333333"/>
                </a:solidFill>
                <a:effectLst/>
                <a:latin typeface="Helvetica Neue"/>
              </a:rPr>
              <a:t>问题：端口和端口号有什么关系了？</a:t>
            </a:r>
            <a:endParaRPr lang="en-US" altLang="zh-CN" b="0" i="0" dirty="0">
              <a:solidFill>
                <a:srgbClr val="333333"/>
              </a:solidFill>
              <a:effectLst/>
              <a:latin typeface="Helvetica Neue"/>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b="0" i="0" dirty="0">
                <a:solidFill>
                  <a:srgbClr val="333333"/>
                </a:solidFill>
                <a:effectLst/>
                <a:latin typeface="Helvetica Neue"/>
              </a:rPr>
              <a:t>答：端口号可以标识唯一的一个端口。</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12</a:t>
            </a:fld>
            <a:endParaRPr lang="zh-CN" altLang="en-US"/>
          </a:p>
        </p:txBody>
      </p:sp>
    </p:spTree>
    <p:extLst>
      <p:ext uri="{BB962C8B-B14F-4D97-AF65-F5344CB8AC3E}">
        <p14:creationId xmlns:p14="http://schemas.microsoft.com/office/powerpoint/2010/main" val="117198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13</a:t>
            </a:fld>
            <a:endParaRPr lang="zh-CN" altLang="en-US"/>
          </a:p>
        </p:txBody>
      </p:sp>
    </p:spTree>
    <p:extLst>
      <p:ext uri="{BB962C8B-B14F-4D97-AF65-F5344CB8AC3E}">
        <p14:creationId xmlns:p14="http://schemas.microsoft.com/office/powerpoint/2010/main" val="2574050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14</a:t>
            </a:fld>
            <a:endParaRPr lang="zh-CN" altLang="en-US"/>
          </a:p>
        </p:txBody>
      </p:sp>
    </p:spTree>
    <p:extLst>
      <p:ext uri="{BB962C8B-B14F-4D97-AF65-F5344CB8AC3E}">
        <p14:creationId xmlns:p14="http://schemas.microsoft.com/office/powerpoint/2010/main" val="3328808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16</a:t>
            </a:fld>
            <a:endParaRPr lang="zh-CN" altLang="en-US"/>
          </a:p>
        </p:txBody>
      </p:sp>
    </p:spTree>
    <p:extLst>
      <p:ext uri="{BB962C8B-B14F-4D97-AF65-F5344CB8AC3E}">
        <p14:creationId xmlns:p14="http://schemas.microsoft.com/office/powerpoint/2010/main" val="4235699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333333"/>
                </a:solidFill>
                <a:effectLst/>
                <a:latin typeface="Helvetica Neue"/>
              </a:rPr>
              <a:t>TCP </a:t>
            </a:r>
            <a:r>
              <a:rPr lang="zh-CN" altLang="en-US" b="0" i="0" dirty="0">
                <a:solidFill>
                  <a:srgbClr val="333333"/>
                </a:solidFill>
                <a:effectLst/>
                <a:latin typeface="Helvetica Neue"/>
              </a:rPr>
              <a:t>通信模型相当于生活中的’打电话‘，在通信开始之前，一定要先建立好连接，才能发送数据，通信结束要关闭连接。</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17</a:t>
            </a:fld>
            <a:endParaRPr lang="zh-CN" altLang="en-US"/>
          </a:p>
        </p:txBody>
      </p:sp>
    </p:spTree>
    <p:extLst>
      <p:ext uri="{BB962C8B-B14F-4D97-AF65-F5344CB8AC3E}">
        <p14:creationId xmlns:p14="http://schemas.microsoft.com/office/powerpoint/2010/main" val="391371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333333"/>
                </a:solidFill>
                <a:effectLst/>
                <a:latin typeface="Helvetica Neue"/>
              </a:rPr>
              <a:t>TCP </a:t>
            </a:r>
            <a:r>
              <a:rPr lang="zh-CN" altLang="en-US" b="0" i="0" dirty="0">
                <a:solidFill>
                  <a:srgbClr val="333333"/>
                </a:solidFill>
                <a:effectLst/>
                <a:latin typeface="Helvetica Neue"/>
              </a:rPr>
              <a:t>通信模型相当于生活中的</a:t>
            </a:r>
            <a:r>
              <a:rPr lang="en-US" altLang="zh-CN" b="0" i="0" dirty="0">
                <a:solidFill>
                  <a:srgbClr val="333333"/>
                </a:solidFill>
                <a:effectLst/>
                <a:latin typeface="Helvetica Neue"/>
              </a:rPr>
              <a:t>"</a:t>
            </a:r>
            <a:r>
              <a:rPr lang="zh-CN" altLang="en-US" b="0" i="0" dirty="0">
                <a:solidFill>
                  <a:srgbClr val="333333"/>
                </a:solidFill>
                <a:effectLst/>
                <a:latin typeface="Helvetica Neue"/>
              </a:rPr>
              <a:t>打电话</a:t>
            </a:r>
            <a:r>
              <a:rPr lang="en-US" altLang="zh-CN" b="0" i="0" dirty="0">
                <a:solidFill>
                  <a:srgbClr val="333333"/>
                </a:solidFill>
                <a:effectLst/>
                <a:latin typeface="Helvetica Neue"/>
              </a:rPr>
              <a:t>"</a:t>
            </a:r>
            <a:r>
              <a:rPr lang="zh-CN" altLang="en-US" b="0" i="0" dirty="0">
                <a:solidFill>
                  <a:srgbClr val="333333"/>
                </a:solidFill>
                <a:effectLst/>
                <a:latin typeface="Helvetica Neue"/>
              </a:rPr>
              <a:t>，在通信开始之前，一定要先建立好连接，才能发送数据，通信结束要关闭连接。</a:t>
            </a:r>
            <a:r>
              <a:rPr lang="en-US" altLang="zh-CN" b="0" i="0" dirty="0">
                <a:solidFill>
                  <a:srgbClr val="333333"/>
                </a:solidFill>
                <a:effectLst/>
                <a:latin typeface="Helvetica Neue"/>
              </a:rPr>
              <a:t>TCP </a:t>
            </a:r>
            <a:r>
              <a:rPr lang="zh-CN" altLang="en-US" b="0" i="0" dirty="0">
                <a:solidFill>
                  <a:srgbClr val="333333"/>
                </a:solidFill>
                <a:effectLst/>
                <a:latin typeface="Helvetica Neue"/>
              </a:rPr>
              <a:t>是一个</a:t>
            </a:r>
            <a:r>
              <a:rPr lang="zh-CN" altLang="en-US" b="1" i="0" dirty="0">
                <a:solidFill>
                  <a:srgbClr val="333333"/>
                </a:solidFill>
                <a:effectLst/>
                <a:latin typeface="Helvetica Neue"/>
              </a:rPr>
              <a:t>稳定、可靠的传输协议，常用于对数据进行准确无误的传输，比如</a:t>
            </a:r>
            <a:r>
              <a:rPr lang="en-US" altLang="zh-CN" b="1" i="0" dirty="0">
                <a:solidFill>
                  <a:srgbClr val="333333"/>
                </a:solidFill>
                <a:effectLst/>
                <a:latin typeface="Helvetica Neue"/>
              </a:rPr>
              <a:t>: </a:t>
            </a:r>
            <a:r>
              <a:rPr lang="zh-CN" altLang="en-US" b="1" i="0" dirty="0">
                <a:solidFill>
                  <a:srgbClr val="333333"/>
                </a:solidFill>
                <a:effectLst/>
                <a:latin typeface="Helvetica Neue"/>
              </a:rPr>
              <a:t>文件下载，浏览器上网</a:t>
            </a:r>
            <a:r>
              <a:rPr lang="zh-CN" altLang="en-US" b="0" i="0" dirty="0">
                <a:solidFill>
                  <a:srgbClr val="333333"/>
                </a:solidFill>
                <a:effectLst/>
                <a:latin typeface="Helvetica Neue"/>
              </a:rPr>
              <a:t>。</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18</a:t>
            </a:fld>
            <a:endParaRPr lang="zh-CN" altLang="en-US"/>
          </a:p>
        </p:txBody>
      </p:sp>
    </p:spTree>
    <p:extLst>
      <p:ext uri="{BB962C8B-B14F-4D97-AF65-F5344CB8AC3E}">
        <p14:creationId xmlns:p14="http://schemas.microsoft.com/office/powerpoint/2010/main" val="42938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20</a:t>
            </a:fld>
            <a:endParaRPr lang="zh-CN" altLang="en-US"/>
          </a:p>
        </p:txBody>
      </p:sp>
    </p:spTree>
    <p:extLst>
      <p:ext uri="{BB962C8B-B14F-4D97-AF65-F5344CB8AC3E}">
        <p14:creationId xmlns:p14="http://schemas.microsoft.com/office/powerpoint/2010/main" val="3054943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21</a:t>
            </a:fld>
            <a:endParaRPr lang="zh-CN" altLang="en-US"/>
          </a:p>
        </p:txBody>
      </p:sp>
    </p:spTree>
    <p:extLst>
      <p:ext uri="{BB962C8B-B14F-4D97-AF65-F5344CB8AC3E}">
        <p14:creationId xmlns:p14="http://schemas.microsoft.com/office/powerpoint/2010/main" val="1121299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Helvetica Neue"/>
              </a:rPr>
              <a:t>进程之间</a:t>
            </a:r>
            <a:r>
              <a:rPr lang="zh-CN" altLang="en-US" b="1" i="0" dirty="0">
                <a:solidFill>
                  <a:srgbClr val="333333"/>
                </a:solidFill>
                <a:effectLst/>
                <a:latin typeface="Helvetica Neue"/>
              </a:rPr>
              <a:t>网络数据的传输</a:t>
            </a:r>
            <a:r>
              <a:rPr lang="zh-CN" altLang="en-US" b="0" i="0" dirty="0">
                <a:solidFill>
                  <a:srgbClr val="333333"/>
                </a:solidFill>
                <a:effectLst/>
                <a:latin typeface="Helvetica Neue"/>
              </a:rPr>
              <a:t>也可以通过 </a:t>
            </a:r>
            <a:r>
              <a:rPr lang="en-US" altLang="zh-CN" b="1" i="0" dirty="0">
                <a:solidFill>
                  <a:srgbClr val="333333"/>
                </a:solidFill>
                <a:effectLst/>
                <a:latin typeface="Helvetica Neue"/>
              </a:rPr>
              <a:t>socket </a:t>
            </a:r>
            <a:r>
              <a:rPr lang="zh-CN" altLang="en-US" b="0" i="0" dirty="0">
                <a:solidFill>
                  <a:srgbClr val="333333"/>
                </a:solidFill>
                <a:effectLst/>
                <a:latin typeface="Helvetica Neue"/>
              </a:rPr>
              <a:t>来完成，</a:t>
            </a:r>
            <a:r>
              <a:rPr lang="zh-CN" altLang="en-US" b="1" i="0" dirty="0">
                <a:solidFill>
                  <a:srgbClr val="333333"/>
                </a:solidFill>
                <a:effectLst/>
                <a:latin typeface="Helvetica Neue"/>
              </a:rPr>
              <a:t> </a:t>
            </a:r>
            <a:r>
              <a:rPr lang="en-US" altLang="zh-CN" b="1" i="0" dirty="0">
                <a:solidFill>
                  <a:srgbClr val="333333"/>
                </a:solidFill>
                <a:effectLst/>
                <a:latin typeface="Helvetica Neue"/>
              </a:rPr>
              <a:t>socket </a:t>
            </a:r>
            <a:r>
              <a:rPr lang="zh-CN" altLang="en-US" b="1" i="0" dirty="0">
                <a:solidFill>
                  <a:srgbClr val="333333"/>
                </a:solidFill>
                <a:effectLst/>
                <a:latin typeface="Helvetica Neue"/>
              </a:rPr>
              <a:t>就是进程间网络数据通信的工具。</a:t>
            </a: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22</a:t>
            </a:fld>
            <a:endParaRPr lang="zh-CN" altLang="en-US"/>
          </a:p>
        </p:txBody>
      </p:sp>
    </p:spTree>
    <p:extLst>
      <p:ext uri="{BB962C8B-B14F-4D97-AF65-F5344CB8AC3E}">
        <p14:creationId xmlns:p14="http://schemas.microsoft.com/office/powerpoint/2010/main" val="3196724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24</a:t>
            </a:fld>
            <a:endParaRPr lang="zh-CN" altLang="en-US"/>
          </a:p>
        </p:txBody>
      </p:sp>
    </p:spTree>
    <p:extLst>
      <p:ext uri="{BB962C8B-B14F-4D97-AF65-F5344CB8AC3E}">
        <p14:creationId xmlns:p14="http://schemas.microsoft.com/office/powerpoint/2010/main" val="2093683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25</a:t>
            </a:fld>
            <a:endParaRPr lang="zh-CN" altLang="en-US"/>
          </a:p>
        </p:txBody>
      </p:sp>
    </p:spTree>
    <p:extLst>
      <p:ext uri="{BB962C8B-B14F-4D97-AF65-F5344CB8AC3E}">
        <p14:creationId xmlns:p14="http://schemas.microsoft.com/office/powerpoint/2010/main" val="2000399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en-US" altLang="zh-CN" b="0" i="0" dirty="0">
                <a:solidFill>
                  <a:srgbClr val="333333"/>
                </a:solidFill>
                <a:effectLst/>
                <a:latin typeface="Helvetica Neue"/>
              </a:rPr>
              <a:t>TCP </a:t>
            </a:r>
            <a:r>
              <a:rPr lang="zh-CN" altLang="en-US" b="0" i="0" dirty="0">
                <a:solidFill>
                  <a:srgbClr val="333333"/>
                </a:solidFill>
                <a:effectLst/>
                <a:latin typeface="Helvetica Neue"/>
              </a:rPr>
              <a:t>网络应用程序开发分为</a:t>
            </a:r>
            <a:r>
              <a:rPr lang="zh-CN" altLang="en-US" b="1" i="0" dirty="0">
                <a:solidFill>
                  <a:srgbClr val="333333"/>
                </a:solidFill>
                <a:effectLst/>
                <a:latin typeface="Helvetica Neue"/>
              </a:rPr>
              <a:t>客户端程序开发</a:t>
            </a:r>
            <a:r>
              <a:rPr lang="zh-CN" altLang="en-US" b="0" i="0" dirty="0">
                <a:solidFill>
                  <a:srgbClr val="333333"/>
                </a:solidFill>
                <a:effectLst/>
                <a:latin typeface="Helvetica Neue"/>
              </a:rPr>
              <a:t>和</a:t>
            </a:r>
            <a:r>
              <a:rPr lang="zh-CN" altLang="en-US" b="1" i="0" dirty="0">
                <a:solidFill>
                  <a:srgbClr val="333333"/>
                </a:solidFill>
                <a:effectLst/>
                <a:latin typeface="Helvetica Neue"/>
              </a:rPr>
              <a:t>服务端程序开发</a:t>
            </a:r>
            <a:r>
              <a:rPr lang="zh-CN" altLang="en-US" b="0" i="0" dirty="0">
                <a:solidFill>
                  <a:srgbClr val="333333"/>
                </a:solidFill>
                <a:effectLst/>
                <a:latin typeface="Helvetica Neue"/>
              </a:rPr>
              <a:t>。</a:t>
            </a:r>
          </a:p>
          <a:p>
            <a:pPr algn="l">
              <a:buFont typeface="+mj-lt"/>
              <a:buAutoNum type="arabicPeriod"/>
            </a:pPr>
            <a:r>
              <a:rPr lang="zh-CN" altLang="en-US" b="1" i="0" dirty="0">
                <a:solidFill>
                  <a:srgbClr val="333333"/>
                </a:solidFill>
                <a:effectLst/>
                <a:latin typeface="Helvetica Neue"/>
              </a:rPr>
              <a:t>主动发起建立连接请求的</a:t>
            </a:r>
            <a:r>
              <a:rPr lang="zh-CN" altLang="en-US" b="0" i="0" dirty="0">
                <a:solidFill>
                  <a:srgbClr val="333333"/>
                </a:solidFill>
                <a:effectLst/>
                <a:latin typeface="Helvetica Neue"/>
              </a:rPr>
              <a:t>是客户端程序</a:t>
            </a:r>
          </a:p>
          <a:p>
            <a:pPr algn="l">
              <a:buFont typeface="+mj-lt"/>
              <a:buAutoNum type="arabicPeriod"/>
            </a:pPr>
            <a:r>
              <a:rPr lang="zh-CN" altLang="en-US" b="1" i="0" dirty="0">
                <a:solidFill>
                  <a:srgbClr val="333333"/>
                </a:solidFill>
                <a:effectLst/>
                <a:latin typeface="Helvetica Neue"/>
              </a:rPr>
              <a:t>等待接受连接请求的</a:t>
            </a:r>
            <a:r>
              <a:rPr lang="zh-CN" altLang="en-US" b="0" i="0" dirty="0">
                <a:solidFill>
                  <a:srgbClr val="333333"/>
                </a:solidFill>
                <a:effectLst/>
                <a:latin typeface="Helvetica Neue"/>
              </a:rPr>
              <a:t>是服务端程序</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26</a:t>
            </a:fld>
            <a:endParaRPr lang="zh-CN" altLang="en-US"/>
          </a:p>
        </p:txBody>
      </p:sp>
    </p:spTree>
    <p:extLst>
      <p:ext uri="{BB962C8B-B14F-4D97-AF65-F5344CB8AC3E}">
        <p14:creationId xmlns:p14="http://schemas.microsoft.com/office/powerpoint/2010/main" val="1736181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30</a:t>
            </a:fld>
            <a:endParaRPr lang="zh-CN" altLang="en-US"/>
          </a:p>
        </p:txBody>
      </p:sp>
    </p:spTree>
    <p:extLst>
      <p:ext uri="{BB962C8B-B14F-4D97-AF65-F5344CB8AC3E}">
        <p14:creationId xmlns:p14="http://schemas.microsoft.com/office/powerpoint/2010/main" val="2489942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31</a:t>
            </a:fld>
            <a:endParaRPr lang="zh-CN" altLang="en-US"/>
          </a:p>
        </p:txBody>
      </p:sp>
    </p:spTree>
    <p:extLst>
      <p:ext uri="{BB962C8B-B14F-4D97-AF65-F5344CB8AC3E}">
        <p14:creationId xmlns:p14="http://schemas.microsoft.com/office/powerpoint/2010/main" val="3871768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32</a:t>
            </a:fld>
            <a:endParaRPr lang="zh-CN" altLang="en-US"/>
          </a:p>
        </p:txBody>
      </p:sp>
    </p:spTree>
    <p:extLst>
      <p:ext uri="{BB962C8B-B14F-4D97-AF65-F5344CB8AC3E}">
        <p14:creationId xmlns:p14="http://schemas.microsoft.com/office/powerpoint/2010/main" val="3660023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35</a:t>
            </a:fld>
            <a:endParaRPr lang="zh-CN" altLang="en-US"/>
          </a:p>
        </p:txBody>
      </p:sp>
    </p:spTree>
    <p:extLst>
      <p:ext uri="{BB962C8B-B14F-4D97-AF65-F5344CB8AC3E}">
        <p14:creationId xmlns:p14="http://schemas.microsoft.com/office/powerpoint/2010/main" val="1777569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36</a:t>
            </a:fld>
            <a:endParaRPr lang="zh-CN" altLang="en-US"/>
          </a:p>
        </p:txBody>
      </p:sp>
    </p:spTree>
    <p:extLst>
      <p:ext uri="{BB962C8B-B14F-4D97-AF65-F5344CB8AC3E}">
        <p14:creationId xmlns:p14="http://schemas.microsoft.com/office/powerpoint/2010/main" val="25828954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37</a:t>
            </a:fld>
            <a:endParaRPr lang="zh-CN" altLang="en-US"/>
          </a:p>
        </p:txBody>
      </p:sp>
    </p:spTree>
    <p:extLst>
      <p:ext uri="{BB962C8B-B14F-4D97-AF65-F5344CB8AC3E}">
        <p14:creationId xmlns:p14="http://schemas.microsoft.com/office/powerpoint/2010/main" val="2611594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t>39</a:t>
            </a:fld>
            <a:endParaRPr lang="zh-CN" altLang="en-US"/>
          </a:p>
        </p:txBody>
      </p:sp>
    </p:spTree>
    <p:extLst>
      <p:ext uri="{BB962C8B-B14F-4D97-AF65-F5344CB8AC3E}">
        <p14:creationId xmlns:p14="http://schemas.microsoft.com/office/powerpoint/2010/main" val="55198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69F54-72BF-044A-89E7-CDAF75E947E3}"/>
              </a:ext>
            </a:extLst>
          </p:cNvPr>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a:extLst>
              <a:ext uri="{FF2B5EF4-FFF2-40B4-BE49-F238E27FC236}">
                <a16:creationId xmlns:a16="http://schemas.microsoft.com/office/drawing/2014/main" id="{FE68CD30-ECD6-A642-8C7F-BA42D1249DFD}"/>
              </a:ext>
            </a:extLst>
          </p:cNvPr>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extLst>
      <p:ext uri="{BB962C8B-B14F-4D97-AF65-F5344CB8AC3E}">
        <p14:creationId xmlns:p14="http://schemas.microsoft.com/office/powerpoint/2010/main" val="588721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5646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extLst>
      <p:ext uri="{BB962C8B-B14F-4D97-AF65-F5344CB8AC3E}">
        <p14:creationId xmlns:p14="http://schemas.microsoft.com/office/powerpoint/2010/main" val="2196259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39209-2A8D-D940-8FA0-61988543E499}"/>
              </a:ext>
            </a:extLst>
          </p:cNvPr>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a:extLst>
              <a:ext uri="{FF2B5EF4-FFF2-40B4-BE49-F238E27FC236}">
                <a16:creationId xmlns:a16="http://schemas.microsoft.com/office/drawing/2014/main" id="{CA56E57C-1F68-E948-87DC-0FF15A8C7DE7}"/>
              </a:ext>
            </a:extLst>
          </p:cNvPr>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a:extLst>
              <a:ext uri="{FF2B5EF4-FFF2-40B4-BE49-F238E27FC236}">
                <a16:creationId xmlns:a16="http://schemas.microsoft.com/office/drawing/2014/main" id="{01590D97-7CA9-B247-806A-885950A786CD}"/>
              </a:ext>
            </a:extLst>
          </p:cNvPr>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198760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D1003EB-0D97-5849-AC50-BFB3EDAA3B2B}"/>
              </a:ext>
            </a:extLst>
          </p:cNvPr>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a:extLst>
              <a:ext uri="{FF2B5EF4-FFF2-40B4-BE49-F238E27FC236}">
                <a16:creationId xmlns:a16="http://schemas.microsoft.com/office/drawing/2014/main" id="{0C8E5D29-3E75-FC46-80C9-2080D9268EBF}"/>
              </a:ext>
            </a:extLst>
          </p:cNvPr>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331533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0" name="文本占位符 9">
            <a:extLst>
              <a:ext uri="{FF2B5EF4-FFF2-40B4-BE49-F238E27FC236}">
                <a16:creationId xmlns:a16="http://schemas.microsoft.com/office/drawing/2014/main" id="{1BE760B7-955D-46DB-9CF6-0F5E75ACEF47}"/>
              </a:ext>
            </a:extLst>
          </p:cNvPr>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88898513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39914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79" y="16461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64C54839-92D5-0E4E-B9C2-203FF53C3229}"/>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E5CC542A-FF04-5243-BA82-1AC7B0A112E0}"/>
              </a:ext>
            </a:extLst>
          </p:cNvPr>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2862767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92416-D30F-8049-AD27-C955EC07F253}"/>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5" name="文本占位符 9">
            <a:extLst>
              <a:ext uri="{FF2B5EF4-FFF2-40B4-BE49-F238E27FC236}">
                <a16:creationId xmlns:a16="http://schemas.microsoft.com/office/drawing/2014/main" id="{FB933948-E99B-AD48-8B41-DEA66BC8FB53}"/>
              </a:ext>
            </a:extLst>
          </p:cNvPr>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6" name="文本占位符 11">
            <a:extLst>
              <a:ext uri="{FF2B5EF4-FFF2-40B4-BE49-F238E27FC236}">
                <a16:creationId xmlns:a16="http://schemas.microsoft.com/office/drawing/2014/main" id="{D8BA1B0F-468D-0446-AB7E-B23A83414DF2}"/>
              </a:ext>
            </a:extLst>
          </p:cNvPr>
          <p:cNvSpPr>
            <a:spLocks noGrp="1"/>
          </p:cNvSpPr>
          <p:nvPr>
            <p:ph type="body" sz="quarter" idx="11" hasCustomPrompt="1"/>
          </p:nvPr>
        </p:nvSpPr>
        <p:spPr>
          <a:xfrm>
            <a:off x="710880" y="164613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03749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a:extLst>
              <a:ext uri="{FF2B5EF4-FFF2-40B4-BE49-F238E27FC236}">
                <a16:creationId xmlns:a16="http://schemas.microsoft.com/office/drawing/2014/main" id="{9947CB16-8D08-5242-A2E0-936DC1D438F6}"/>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2908806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678CE99-982F-E747-B6C5-B29DECDE389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88D105DB-24C1-B042-AF5E-89B957331250}"/>
              </a:ext>
            </a:extLst>
          </p:cNvPr>
          <p:cNvSpPr>
            <a:spLocks noGrp="1"/>
          </p:cNvSpPr>
          <p:nvPr>
            <p:ph type="body" sz="quarter" idx="11" hasCustomPrompt="1"/>
          </p:nvPr>
        </p:nvSpPr>
        <p:spPr>
          <a:xfrm>
            <a:off x="710879" y="9349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158871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9C0915B4-3DAF-C444-883E-818CAE39A5B1}"/>
              </a:ext>
            </a:extLst>
          </p:cNvPr>
          <p:cNvSpPr>
            <a:spLocks noGrp="1"/>
          </p:cNvSpPr>
          <p:nvPr>
            <p:ph type="body" sz="quarter" idx="11" hasCustomPrompt="1"/>
          </p:nvPr>
        </p:nvSpPr>
        <p:spPr>
          <a:xfrm>
            <a:off x="710880" y="94509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357163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18248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06330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455844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414583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0" name="标题 1">
            <a:extLst>
              <a:ext uri="{FF2B5EF4-FFF2-40B4-BE49-F238E27FC236}">
                <a16:creationId xmlns:a16="http://schemas.microsoft.com/office/drawing/2014/main" id="{493FA365-EB18-4C49-B470-79A013EED4C7}"/>
              </a:ext>
            </a:extLst>
          </p:cNvPr>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36113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41700943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5" name="泪珠形 14">
            <a:extLst>
              <a:ext uri="{FF2B5EF4-FFF2-40B4-BE49-F238E27FC236}">
                <a16:creationId xmlns:a16="http://schemas.microsoft.com/office/drawing/2014/main" id="{0EFAFC56-5B16-1644-BDCA-117D21E2806E}"/>
              </a:ext>
            </a:extLst>
          </p:cNvPr>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a:extLst>
              <a:ext uri="{FF2B5EF4-FFF2-40B4-BE49-F238E27FC236}">
                <a16:creationId xmlns:a16="http://schemas.microsoft.com/office/drawing/2014/main" id="{02C17FF1-E140-B64F-AF1C-FE17A937E731}"/>
              </a:ext>
            </a:extLst>
          </p:cNvPr>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a:extLst>
              <a:ext uri="{FF2B5EF4-FFF2-40B4-BE49-F238E27FC236}">
                <a16:creationId xmlns:a16="http://schemas.microsoft.com/office/drawing/2014/main" id="{F639FB5D-6047-3448-A319-F4FD2BA72BB3}"/>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a:extLst>
              <a:ext uri="{FF2B5EF4-FFF2-40B4-BE49-F238E27FC236}">
                <a16:creationId xmlns:a16="http://schemas.microsoft.com/office/drawing/2014/main" id="{0C1BFADD-1066-B04B-BD99-C7E20F0FA73E}"/>
              </a:ext>
            </a:extLst>
          </p:cNvPr>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a:extLst>
              <a:ext uri="{FF2B5EF4-FFF2-40B4-BE49-F238E27FC236}">
                <a16:creationId xmlns:a16="http://schemas.microsoft.com/office/drawing/2014/main" id="{20149FF9-71F5-FB43-A7A0-BB0C90CB4486}"/>
              </a:ext>
            </a:extLst>
          </p:cNvPr>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a:extLst>
              <a:ext uri="{FF2B5EF4-FFF2-40B4-BE49-F238E27FC236}">
                <a16:creationId xmlns:a16="http://schemas.microsoft.com/office/drawing/2014/main" id="{098F3E8C-7A22-A34B-817A-438DDA0CAC1C}"/>
              </a:ext>
            </a:extLst>
          </p:cNvPr>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820687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AB6E3BD-F819-724D-9482-568CE7A3A1F8}"/>
              </a:ext>
            </a:extLst>
          </p:cNvPr>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a:extLst>
              <a:ext uri="{FF2B5EF4-FFF2-40B4-BE49-F238E27FC236}">
                <a16:creationId xmlns:a16="http://schemas.microsoft.com/office/drawing/2014/main" id="{19BD6F73-BC4E-714F-81EB-5276C9B1460A}"/>
              </a:ext>
            </a:extLst>
          </p:cNvPr>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a:extLst>
              <a:ext uri="{FF2B5EF4-FFF2-40B4-BE49-F238E27FC236}">
                <a16:creationId xmlns:a16="http://schemas.microsoft.com/office/drawing/2014/main" id="{93788A09-8D86-D048-B1A9-A02E86D4E252}"/>
              </a:ext>
            </a:extLst>
          </p:cNvPr>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a:extLst>
              <a:ext uri="{FF2B5EF4-FFF2-40B4-BE49-F238E27FC236}">
                <a16:creationId xmlns:a16="http://schemas.microsoft.com/office/drawing/2014/main" id="{B9328185-789E-DD42-AA27-851035E2E6BA}"/>
              </a:ext>
            </a:extLst>
          </p:cNvPr>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a:extLst>
              <a:ext uri="{FF2B5EF4-FFF2-40B4-BE49-F238E27FC236}">
                <a16:creationId xmlns:a16="http://schemas.microsoft.com/office/drawing/2014/main" id="{5F2080FE-05C6-2340-B7D7-FCDE4D780420}"/>
              </a:ext>
            </a:extLst>
          </p:cNvPr>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a:extLst>
              <a:ext uri="{FF2B5EF4-FFF2-40B4-BE49-F238E27FC236}">
                <a16:creationId xmlns:a16="http://schemas.microsoft.com/office/drawing/2014/main" id="{990C36A6-06C1-0647-8725-306AE7D5DB42}"/>
              </a:ext>
            </a:extLst>
          </p:cNvPr>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3" name="标题占位符 1">
            <a:extLst>
              <a:ext uri="{FF2B5EF4-FFF2-40B4-BE49-F238E27FC236}">
                <a16:creationId xmlns:a16="http://schemas.microsoft.com/office/drawing/2014/main" id="{C9A22D05-8FDB-7546-BB47-01F708903CCD}"/>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a:extLst>
              <a:ext uri="{FF2B5EF4-FFF2-40B4-BE49-F238E27FC236}">
                <a16:creationId xmlns:a16="http://schemas.microsoft.com/office/drawing/2014/main" id="{9C7A4DAB-DC8A-9A43-A443-C9AE1D1E2698}"/>
              </a:ext>
            </a:extLst>
          </p:cNvPr>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40339224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51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image" Target="../media/image4.png"/><Relationship Id="rId2" Type="http://schemas.openxmlformats.org/officeDocument/2006/relationships/slideLayout" Target="../slideLayouts/slideLayout7.xml"/><Relationship Id="rId16" Type="http://schemas.openxmlformats.org/officeDocument/2006/relationships/theme" Target="../theme/theme6.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D359BD9D-8F8C-A44C-91CC-CA8F5146AA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a:extLst>
              <a:ext uri="{FF2B5EF4-FFF2-40B4-BE49-F238E27FC236}">
                <a16:creationId xmlns:a16="http://schemas.microsoft.com/office/drawing/2014/main" id="{6F51DA0D-EA98-B14B-A35B-7EDF8DBC5804}"/>
              </a:ext>
            </a:extLst>
          </p:cNvPr>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 fmla="*/ 0 w 1034350"/>
              <a:gd name="connsiteY0" fmla="*/ 1136649 h 1136649"/>
              <a:gd name="connsiteX1" fmla="*/ 0 w 1034350"/>
              <a:gd name="connsiteY1" fmla="*/ 0 h 1136649"/>
              <a:gd name="connsiteX2" fmla="*/ 750188 w 1034350"/>
              <a:gd name="connsiteY2" fmla="*/ 0 h 1136649"/>
              <a:gd name="connsiteX3" fmla="*/ 1034350 w 1034350"/>
              <a:gd name="connsiteY3" fmla="*/ 568325 h 1136649"/>
              <a:gd name="connsiteX4" fmla="*/ 750188 w 1034350"/>
              <a:gd name="connsiteY4" fmla="*/ 1136649 h 1136649"/>
              <a:gd name="connsiteX5" fmla="*/ 0 w 1034350"/>
              <a:gd name="connsiteY5" fmla="*/ 1136649 h 11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a:extLst>
              <a:ext uri="{FF2B5EF4-FFF2-40B4-BE49-F238E27FC236}">
                <a16:creationId xmlns:a16="http://schemas.microsoft.com/office/drawing/2014/main" id="{B0F52978-FC9E-FC46-A244-4605B31E7CC6}"/>
              </a:ext>
            </a:extLst>
          </p:cNvPr>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a:extLst>
              <a:ext uri="{FF2B5EF4-FFF2-40B4-BE49-F238E27FC236}">
                <a16:creationId xmlns:a16="http://schemas.microsoft.com/office/drawing/2014/main" id="{6677D3A6-DA28-9444-815A-4524D9FED995}"/>
              </a:ext>
            </a:extLst>
          </p:cNvPr>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a:extLst>
              <a:ext uri="{FF2B5EF4-FFF2-40B4-BE49-F238E27FC236}">
                <a16:creationId xmlns:a16="http://schemas.microsoft.com/office/drawing/2014/main" id="{B3967B50-7DD6-B247-97B6-4844195F68D5}"/>
              </a:ext>
            </a:extLst>
          </p:cNvPr>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a:extLst>
              <a:ext uri="{FF2B5EF4-FFF2-40B4-BE49-F238E27FC236}">
                <a16:creationId xmlns:a16="http://schemas.microsoft.com/office/drawing/2014/main" id="{4C290A33-8D65-DC47-BE12-79B4B22A299D}"/>
              </a:ext>
            </a:extLst>
          </p:cNvPr>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a:extLst>
              <a:ext uri="{FF2B5EF4-FFF2-40B4-BE49-F238E27FC236}">
                <a16:creationId xmlns:a16="http://schemas.microsoft.com/office/drawing/2014/main" id="{E0867641-ABCE-C84A-84A4-696E52E6543B}"/>
              </a:ext>
            </a:extLst>
          </p:cNvPr>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a:extLst>
              <a:ext uri="{FF2B5EF4-FFF2-40B4-BE49-F238E27FC236}">
                <a16:creationId xmlns:a16="http://schemas.microsoft.com/office/drawing/2014/main" id="{3DC81806-A479-FD47-B1B6-A77189F32D48}"/>
              </a:ext>
            </a:extLst>
          </p:cNvPr>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a:extLst>
              <a:ext uri="{FF2B5EF4-FFF2-40B4-BE49-F238E27FC236}">
                <a16:creationId xmlns:a16="http://schemas.microsoft.com/office/drawing/2014/main" id="{D15987B7-89CB-8549-AEE5-ADD4AED257B7}"/>
              </a:ext>
            </a:extLst>
          </p:cNvPr>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382A540C-45FC-EB45-96D5-1EA0511DAF21}"/>
              </a:ext>
            </a:extLst>
          </p:cNvPr>
          <p:cNvCxnSpPr>
            <a:cxnSpLocks/>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28569DD6-18D5-5D45-BC4E-E4C2727B945C}"/>
              </a:ext>
            </a:extLst>
          </p:cNvPr>
          <p:cNvCxnSpPr>
            <a:cxnSpLocks/>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860066"/>
      </p:ext>
    </p:extLst>
  </p:cSld>
  <p:clrMap bg1="lt1" tx1="dk1" bg2="lt2" tx2="dk2" accent1="accent1" accent2="accent2" accent3="accent3" accent4="accent4" accent5="accent5" accent6="accent6" hlink="hlink" folHlink="folHlink"/>
  <p:sldLayoutIdLst>
    <p:sldLayoutId id="2147483697"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grpSp>
        <p:nvGrpSpPr>
          <p:cNvPr id="5" name="组合 4">
            <a:extLst>
              <a:ext uri="{FF2B5EF4-FFF2-40B4-BE49-F238E27FC236}">
                <a16:creationId xmlns:a16="http://schemas.microsoft.com/office/drawing/2014/main" id="{3A7F5CA1-11F4-B94D-84AE-F6E3E12DEC4D}"/>
              </a:ext>
            </a:extLst>
          </p:cNvPr>
          <p:cNvGrpSpPr/>
          <p:nvPr userDrawn="1"/>
        </p:nvGrpSpPr>
        <p:grpSpPr>
          <a:xfrm>
            <a:off x="2126595" y="2260317"/>
            <a:ext cx="2280944" cy="1168683"/>
            <a:chOff x="1984355" y="1223746"/>
            <a:chExt cx="2280944" cy="1168683"/>
          </a:xfrm>
        </p:grpSpPr>
        <p:sp>
          <p:nvSpPr>
            <p:cNvPr id="20" name="文本框 19">
              <a:extLst>
                <a:ext uri="{FF2B5EF4-FFF2-40B4-BE49-F238E27FC236}">
                  <a16:creationId xmlns:a16="http://schemas.microsoft.com/office/drawing/2014/main" id="{DB73C1A2-926E-3849-92AB-BCE7B4C71DF2}"/>
                </a:ext>
              </a:extLst>
            </p:cNvPr>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a:extLst>
                <a:ext uri="{FF2B5EF4-FFF2-40B4-BE49-F238E27FC236}">
                  <a16:creationId xmlns:a16="http://schemas.microsoft.com/office/drawing/2014/main" id="{3EDCC472-8CF0-F84C-9270-06FAC7E8DD4D}"/>
                </a:ext>
              </a:extLst>
            </p:cNvPr>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a:extLst>
                <a:ext uri="{FF2B5EF4-FFF2-40B4-BE49-F238E27FC236}">
                  <a16:creationId xmlns:a16="http://schemas.microsoft.com/office/drawing/2014/main" id="{E8F71936-0CC4-CB4A-AF12-89754A9ADA5D}"/>
                </a:ext>
              </a:extLst>
            </p:cNvPr>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759586569"/>
      </p:ext>
    </p:extLst>
  </p:cSld>
  <p:clrMap bg1="lt1" tx1="dk1" bg2="lt2" tx2="dk2" accent1="accent1" accent2="accent2" accent3="accent3" accent4="accent4" accent5="accent5" accent6="accent6" hlink="hlink" folHlink="folHlink"/>
  <p:sldLayoutIdLst>
    <p:sldLayoutId id="2147483667"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8438130-7B30-A94E-B2AC-38EDD0B85909}"/>
              </a:ext>
            </a:extLst>
          </p:cNvPr>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sp>
        <p:nvSpPr>
          <p:cNvPr id="20" name="文本框 19">
            <a:extLst>
              <a:ext uri="{FF2B5EF4-FFF2-40B4-BE49-F238E27FC236}">
                <a16:creationId xmlns:a16="http://schemas.microsoft.com/office/drawing/2014/main" id="{DB73C1A2-926E-3849-92AB-BCE7B4C71DF2}"/>
              </a:ext>
            </a:extLst>
          </p:cNvPr>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a:extLst>
              <a:ext uri="{FF2B5EF4-FFF2-40B4-BE49-F238E27FC236}">
                <a16:creationId xmlns:a16="http://schemas.microsoft.com/office/drawing/2014/main" id="{A7484BB2-BD94-3C49-9EC4-B9A294E2AF2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extLst>
      <p:ext uri="{BB962C8B-B14F-4D97-AF65-F5344CB8AC3E}">
        <p14:creationId xmlns:p14="http://schemas.microsoft.com/office/powerpoint/2010/main" val="2014879460"/>
      </p:ext>
    </p:extLst>
  </p:cSld>
  <p:clrMap bg1="lt1" tx1="dk1" bg2="lt2" tx2="dk2" accent1="accent1" accent2="accent2" accent3="accent3" accent4="accent4" accent5="accent5" accent6="accent6" hlink="hlink" folHlink="folHlink"/>
  <p:sldLayoutIdLst>
    <p:sldLayoutId id="2147483708"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91B717BE-9DF9-1B41-9DBF-CB511A9C606B}"/>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998722ED-C4DC-C24C-A17B-B9CA36751549}"/>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57575230"/>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D82380DF-4088-5449-BBFC-0B57E0B8F475}"/>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a:extLst>
              <a:ext uri="{FF2B5EF4-FFF2-40B4-BE49-F238E27FC236}">
                <a16:creationId xmlns:a16="http://schemas.microsoft.com/office/drawing/2014/main" id="{2FB8D235-9189-C14B-8111-0D705B9AA121}"/>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55265264"/>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0"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cxnSp>
        <p:nvCxnSpPr>
          <p:cNvPr id="11" name="直接连接符 22">
            <a:extLst>
              <a:ext uri="{FF2B5EF4-FFF2-40B4-BE49-F238E27FC236}">
                <a16:creationId xmlns:a16="http://schemas.microsoft.com/office/drawing/2014/main" id="{E3D0AD59-338B-5041-BA54-3D9BB0E399D6}"/>
              </a:ext>
            </a:extLst>
          </p:cNvPr>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F2197ADE-85E8-B341-8233-C315893A0BCC}"/>
              </a:ext>
            </a:extLst>
          </p:cNvPr>
          <p:cNvGrpSpPr/>
          <p:nvPr userDrawn="1"/>
        </p:nvGrpSpPr>
        <p:grpSpPr>
          <a:xfrm>
            <a:off x="0" y="420997"/>
            <a:ext cx="224590" cy="220464"/>
            <a:chOff x="0" y="262878"/>
            <a:chExt cx="224590" cy="506266"/>
          </a:xfrm>
        </p:grpSpPr>
        <p:sp>
          <p:nvSpPr>
            <p:cNvPr id="13" name="矩形 12">
              <a:extLst>
                <a:ext uri="{FF2B5EF4-FFF2-40B4-BE49-F238E27FC236}">
                  <a16:creationId xmlns:a16="http://schemas.microsoft.com/office/drawing/2014/main" id="{C3756651-9738-8349-95DA-B0B282B3FAEA}"/>
                </a:ext>
              </a:extLst>
            </p:cNvPr>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EF63353-41E7-0E43-AFC0-B2282740E9FE}"/>
                </a:ext>
              </a:extLst>
            </p:cNvPr>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a:extLst>
              <a:ext uri="{FF2B5EF4-FFF2-40B4-BE49-F238E27FC236}">
                <a16:creationId xmlns:a16="http://schemas.microsoft.com/office/drawing/2014/main" id="{27893006-C6C0-BC4A-8CFB-289F585A2778}"/>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extLst>
      <p:ext uri="{BB962C8B-B14F-4D97-AF65-F5344CB8AC3E}">
        <p14:creationId xmlns:p14="http://schemas.microsoft.com/office/powerpoint/2010/main" val="128244268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83" r:id="rId3"/>
    <p:sldLayoutId id="2147483678" r:id="rId4"/>
    <p:sldLayoutId id="2147483679" r:id="rId5"/>
    <p:sldLayoutId id="2147483680" r:id="rId6"/>
    <p:sldLayoutId id="2147483677" r:id="rId7"/>
    <p:sldLayoutId id="2147483702" r:id="rId8"/>
    <p:sldLayoutId id="2147483703" r:id="rId9"/>
    <p:sldLayoutId id="2147483709" r:id="rId10"/>
    <p:sldLayoutId id="2147483704" r:id="rId11"/>
    <p:sldLayoutId id="2147483681" r:id="rId12"/>
    <p:sldLayoutId id="2147483693" r:id="rId13"/>
    <p:sldLayoutId id="2147483710" r:id="rId14"/>
    <p:sldLayoutId id="2147483706"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extLst>
      <p:ext uri="{BB962C8B-B14F-4D97-AF65-F5344CB8AC3E}">
        <p14:creationId xmlns:p14="http://schemas.microsoft.com/office/powerpoint/2010/main" val="770715422"/>
      </p:ext>
    </p:extLst>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6EC87-9B0D-CD4B-997D-0A66FE90B29E}"/>
              </a:ext>
            </a:extLst>
          </p:cNvPr>
          <p:cNvSpPr>
            <a:spLocks noGrp="1"/>
          </p:cNvSpPr>
          <p:nvPr>
            <p:ph type="title"/>
          </p:nvPr>
        </p:nvSpPr>
        <p:spPr>
          <a:xfrm>
            <a:off x="325781" y="2224847"/>
            <a:ext cx="11565835" cy="1158875"/>
          </a:xfrm>
        </p:spPr>
        <p:txBody>
          <a:bodyPr/>
          <a:lstStyle/>
          <a:p>
            <a:r>
              <a:rPr kumimoji="1" lang="en-US" altLang="zh-CN" dirty="0">
                <a:latin typeface="Alibaba PuHuiTi M"/>
              </a:rPr>
              <a:t>Python</a:t>
            </a:r>
            <a:r>
              <a:rPr kumimoji="1" lang="zh-CN" altLang="en-US" dirty="0">
                <a:latin typeface="Alibaba PuHuiTi M"/>
              </a:rPr>
              <a:t>网络编程</a:t>
            </a:r>
          </a:p>
        </p:txBody>
      </p:sp>
      <p:sp>
        <p:nvSpPr>
          <p:cNvPr id="3" name="文本占位符 2">
            <a:extLst>
              <a:ext uri="{FF2B5EF4-FFF2-40B4-BE49-F238E27FC236}">
                <a16:creationId xmlns:a16="http://schemas.microsoft.com/office/drawing/2014/main" id="{FB6AC0F8-4890-4046-8499-78F7C6973826}"/>
              </a:ext>
            </a:extLst>
          </p:cNvPr>
          <p:cNvSpPr>
            <a:spLocks noGrp="1"/>
          </p:cNvSpPr>
          <p:nvPr>
            <p:ph type="body" sz="quarter" idx="10"/>
          </p:nvPr>
        </p:nvSpPr>
        <p:spPr/>
        <p:txBody>
          <a:bodyPr/>
          <a:lstStyle/>
          <a:p>
            <a:r>
              <a:rPr kumimoji="1" lang="zh-CN" altLang="en-US" dirty="0"/>
              <a:t>人生苦短，我学</a:t>
            </a:r>
            <a:r>
              <a:rPr kumimoji="1" lang="en-US" altLang="zh-CN"/>
              <a:t>Python!</a:t>
            </a:r>
            <a:endParaRPr kumimoji="1" lang="zh-CN" altLang="en-US" dirty="0"/>
          </a:p>
        </p:txBody>
      </p:sp>
    </p:spTree>
    <p:extLst>
      <p:ext uri="{BB962C8B-B14F-4D97-AF65-F5344CB8AC3E}">
        <p14:creationId xmlns:p14="http://schemas.microsoft.com/office/powerpoint/2010/main" val="3833974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691FACA-E1ED-6A48-A1E4-D925AAC03039}"/>
              </a:ext>
            </a:extLst>
          </p:cNvPr>
          <p:cNvSpPr>
            <a:spLocks noGrp="1"/>
          </p:cNvSpPr>
          <p:nvPr>
            <p:ph type="body" sz="quarter" idx="10"/>
          </p:nvPr>
        </p:nvSpPr>
        <p:spPr>
          <a:xfrm>
            <a:off x="4714558" y="1300797"/>
            <a:ext cx="5973761" cy="4256405"/>
          </a:xfrm>
        </p:spPr>
        <p:txBody>
          <a:bodyPr/>
          <a:lstStyle/>
          <a:p>
            <a:r>
              <a:rPr kumimoji="1" lang="zh-CN" altLang="en-US" dirty="0"/>
              <a:t>计算机网络介绍</a:t>
            </a:r>
            <a:endParaRPr kumimoji="1" lang="en-US" altLang="zh-CN" dirty="0"/>
          </a:p>
          <a:p>
            <a:r>
              <a:rPr kumimoji="1" lang="en-US" altLang="zh-CN" dirty="0"/>
              <a:t>TCP</a:t>
            </a:r>
            <a:r>
              <a:rPr kumimoji="1" lang="zh-CN" altLang="en-US" dirty="0"/>
              <a:t>协议介绍</a:t>
            </a:r>
            <a:endParaRPr kumimoji="1" lang="en-US" altLang="zh-CN" dirty="0"/>
          </a:p>
          <a:p>
            <a:r>
              <a:rPr kumimoji="1" lang="en-US" altLang="zh-CN" dirty="0"/>
              <a:t>socket</a:t>
            </a:r>
            <a:r>
              <a:rPr kumimoji="1" lang="zh-CN" altLang="en-US" dirty="0"/>
              <a:t>概述</a:t>
            </a:r>
            <a:endParaRPr kumimoji="1" lang="en-US" altLang="zh-CN" dirty="0"/>
          </a:p>
          <a:p>
            <a:r>
              <a:rPr kumimoji="1" lang="en-US" altLang="zh-CN" dirty="0">
                <a:solidFill>
                  <a:srgbClr val="C00000"/>
                </a:solidFill>
              </a:rPr>
              <a:t>TCP </a:t>
            </a:r>
            <a:r>
              <a:rPr kumimoji="1" lang="zh-CN" altLang="en-US" dirty="0">
                <a:solidFill>
                  <a:srgbClr val="C00000"/>
                </a:solidFill>
              </a:rPr>
              <a:t>网络应用程序开发流程</a:t>
            </a:r>
            <a:endParaRPr kumimoji="1" lang="en-US" altLang="zh-CN" dirty="0">
              <a:solidFill>
                <a:srgbClr val="C00000"/>
              </a:solidFill>
            </a:endParaRPr>
          </a:p>
          <a:p>
            <a:r>
              <a:rPr kumimoji="1" lang="en-US" altLang="zh-CN" dirty="0">
                <a:solidFill>
                  <a:srgbClr val="C00000"/>
                </a:solidFill>
              </a:rPr>
              <a:t>TCP </a:t>
            </a:r>
            <a:r>
              <a:rPr kumimoji="1" lang="zh-CN" altLang="en-US" dirty="0">
                <a:solidFill>
                  <a:srgbClr val="C00000"/>
                </a:solidFill>
              </a:rPr>
              <a:t>客户端程序开发</a:t>
            </a:r>
            <a:endParaRPr kumimoji="1" lang="en-US" altLang="zh-CN" dirty="0">
              <a:solidFill>
                <a:srgbClr val="C00000"/>
              </a:solidFill>
            </a:endParaRPr>
          </a:p>
          <a:p>
            <a:r>
              <a:rPr kumimoji="1" lang="en-US" altLang="zh-CN" dirty="0">
                <a:solidFill>
                  <a:srgbClr val="C00000"/>
                </a:solidFill>
              </a:rPr>
              <a:t>TCP </a:t>
            </a:r>
            <a:r>
              <a:rPr kumimoji="1" lang="zh-CN" altLang="en-US" dirty="0">
                <a:solidFill>
                  <a:srgbClr val="C00000"/>
                </a:solidFill>
              </a:rPr>
              <a:t>服务端程序开发</a:t>
            </a:r>
            <a:endParaRPr kumimoji="1" lang="en-US" altLang="zh-CN" dirty="0">
              <a:solidFill>
                <a:srgbClr val="C00000"/>
              </a:solidFill>
            </a:endParaRPr>
          </a:p>
          <a:p>
            <a:r>
              <a:rPr kumimoji="1" lang="en-US" altLang="zh-CN" dirty="0">
                <a:solidFill>
                  <a:srgbClr val="C00000"/>
                </a:solidFill>
              </a:rPr>
              <a:t>TCP </a:t>
            </a:r>
            <a:r>
              <a:rPr kumimoji="1" lang="zh-CN" altLang="en-US" dirty="0">
                <a:solidFill>
                  <a:srgbClr val="C00000"/>
                </a:solidFill>
              </a:rPr>
              <a:t>网络应用程序的注意点</a:t>
            </a:r>
            <a:endParaRPr kumimoji="1" lang="en-US" altLang="zh-CN" dirty="0">
              <a:solidFill>
                <a:srgbClr val="C00000"/>
              </a:solidFill>
            </a:endParaRPr>
          </a:p>
        </p:txBody>
      </p:sp>
    </p:spTree>
    <p:extLst>
      <p:ext uri="{BB962C8B-B14F-4D97-AF65-F5344CB8AC3E}">
        <p14:creationId xmlns:p14="http://schemas.microsoft.com/office/powerpoint/2010/main" val="3710185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F5F2403-DAC9-454A-9779-7331986EC40B}"/>
              </a:ext>
            </a:extLst>
          </p:cNvPr>
          <p:cNvSpPr>
            <a:spLocks noGrp="1"/>
          </p:cNvSpPr>
          <p:nvPr>
            <p:ph type="body" sz="quarter" idx="10"/>
          </p:nvPr>
        </p:nvSpPr>
        <p:spPr>
          <a:xfrm>
            <a:off x="4737749" y="610677"/>
            <a:ext cx="6298881" cy="4855845"/>
          </a:xfrm>
        </p:spPr>
        <p:txBody>
          <a:bodyPr/>
          <a:lstStyle/>
          <a:p>
            <a:r>
              <a:rPr lang="zh-CN" altLang="en-US" dirty="0"/>
              <a:t>能够说出</a:t>
            </a:r>
            <a:r>
              <a:rPr lang="en-US" altLang="zh-CN" dirty="0"/>
              <a:t>IP</a:t>
            </a:r>
            <a:r>
              <a:rPr lang="zh-CN" altLang="en-US" dirty="0"/>
              <a:t>地址、端口以及端口号的作用</a:t>
            </a:r>
            <a:endParaRPr lang="en-US" altLang="zh-CN" dirty="0"/>
          </a:p>
          <a:p>
            <a:r>
              <a:rPr lang="zh-CN" altLang="en-US" dirty="0">
                <a:solidFill>
                  <a:srgbClr val="AD2B26"/>
                </a:solidFill>
              </a:rPr>
              <a:t>能够说出</a:t>
            </a:r>
            <a:r>
              <a:rPr lang="en-US" altLang="zh-CN" dirty="0">
                <a:solidFill>
                  <a:srgbClr val="AD2B26"/>
                </a:solidFill>
              </a:rPr>
              <a:t>TCP </a:t>
            </a:r>
            <a:r>
              <a:rPr lang="zh-CN" altLang="en-US" dirty="0">
                <a:solidFill>
                  <a:srgbClr val="AD2B26"/>
                </a:solidFill>
              </a:rPr>
              <a:t>的特点</a:t>
            </a:r>
            <a:endParaRPr lang="en-US" altLang="zh-CN" dirty="0">
              <a:solidFill>
                <a:srgbClr val="AD2B26"/>
              </a:solidFill>
            </a:endParaRPr>
          </a:p>
          <a:p>
            <a:r>
              <a:rPr lang="zh-CN" altLang="en-US" dirty="0">
                <a:solidFill>
                  <a:srgbClr val="AD2B26"/>
                </a:solidFill>
              </a:rPr>
              <a:t>能够说出 </a:t>
            </a:r>
            <a:r>
              <a:rPr lang="en-US" altLang="zh-CN" dirty="0">
                <a:solidFill>
                  <a:srgbClr val="AD2B26"/>
                </a:solidFill>
              </a:rPr>
              <a:t>socket </a:t>
            </a:r>
            <a:r>
              <a:rPr lang="zh-CN" altLang="en-US" dirty="0">
                <a:solidFill>
                  <a:srgbClr val="AD2B26"/>
                </a:solidFill>
              </a:rPr>
              <a:t>的作用</a:t>
            </a:r>
            <a:endParaRPr lang="en-US" altLang="zh-CN" dirty="0">
              <a:solidFill>
                <a:srgbClr val="AD2B26"/>
              </a:solidFill>
            </a:endParaRPr>
          </a:p>
          <a:p>
            <a:r>
              <a:rPr lang="zh-CN" altLang="en-US" dirty="0">
                <a:solidFill>
                  <a:srgbClr val="AD2B26"/>
                </a:solidFill>
              </a:rPr>
              <a:t>能够知道</a:t>
            </a:r>
            <a:r>
              <a:rPr lang="en-US" altLang="zh-CN" dirty="0">
                <a:solidFill>
                  <a:srgbClr val="AD2B26"/>
                </a:solidFill>
              </a:rPr>
              <a:t>TCP</a:t>
            </a:r>
            <a:r>
              <a:rPr lang="zh-CN" altLang="en-US" dirty="0">
                <a:solidFill>
                  <a:srgbClr val="AD2B26"/>
                </a:solidFill>
              </a:rPr>
              <a:t>客户端程序的开发流程</a:t>
            </a:r>
            <a:endParaRPr lang="en-US" altLang="zh-CN" dirty="0">
              <a:solidFill>
                <a:srgbClr val="AD2B26"/>
              </a:solidFill>
            </a:endParaRPr>
          </a:p>
          <a:p>
            <a:r>
              <a:rPr lang="zh-CN" altLang="en-US" dirty="0">
                <a:solidFill>
                  <a:srgbClr val="C00000"/>
                </a:solidFill>
              </a:rPr>
              <a:t>能够写出 </a:t>
            </a:r>
            <a:r>
              <a:rPr lang="en-US" altLang="zh-CN" dirty="0">
                <a:solidFill>
                  <a:srgbClr val="C00000"/>
                </a:solidFill>
              </a:rPr>
              <a:t>TCP </a:t>
            </a:r>
            <a:r>
              <a:rPr lang="zh-CN" altLang="en-US">
                <a:solidFill>
                  <a:srgbClr val="C00000"/>
                </a:solidFill>
              </a:rPr>
              <a:t>服务端</a:t>
            </a:r>
            <a:r>
              <a:rPr lang="zh-CN" altLang="en-US" dirty="0">
                <a:solidFill>
                  <a:srgbClr val="C00000"/>
                </a:solidFill>
              </a:rPr>
              <a:t>应用程序发送和接收消息</a:t>
            </a:r>
            <a:endParaRPr lang="en-US" altLang="zh-CN" dirty="0">
              <a:solidFill>
                <a:srgbClr val="C00000"/>
              </a:solidFill>
            </a:endParaRPr>
          </a:p>
          <a:p>
            <a:r>
              <a:rPr lang="zh-CN" altLang="en-US" b="0" i="0" dirty="0">
                <a:solidFill>
                  <a:srgbClr val="C00000"/>
                </a:solidFill>
                <a:effectLst/>
                <a:latin typeface="Helvetica Neue"/>
              </a:rPr>
              <a:t>能够说出开发</a:t>
            </a:r>
            <a:r>
              <a:rPr lang="en-US" altLang="zh-CN" b="0" i="0" dirty="0">
                <a:solidFill>
                  <a:srgbClr val="C00000"/>
                </a:solidFill>
                <a:effectLst/>
                <a:latin typeface="Helvetica Neue"/>
              </a:rPr>
              <a:t>TCP</a:t>
            </a:r>
            <a:r>
              <a:rPr lang="zh-CN" altLang="en-US" b="0" i="0" dirty="0">
                <a:solidFill>
                  <a:srgbClr val="C00000"/>
                </a:solidFill>
                <a:effectLst/>
                <a:latin typeface="Helvetica Neue"/>
              </a:rPr>
              <a:t>网络应用程序的注意点</a:t>
            </a:r>
            <a:endParaRPr lang="en-US" altLang="zh-CN" b="0" i="0" dirty="0">
              <a:solidFill>
                <a:srgbClr val="C00000"/>
              </a:solidFill>
              <a:effectLst/>
              <a:latin typeface="Helvetica Neue"/>
            </a:endParaRPr>
          </a:p>
        </p:txBody>
      </p:sp>
    </p:spTree>
    <p:extLst>
      <p:ext uri="{BB962C8B-B14F-4D97-AF65-F5344CB8AC3E}">
        <p14:creationId xmlns:p14="http://schemas.microsoft.com/office/powerpoint/2010/main" val="219620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a:xfrm>
            <a:off x="5232400" y="2766218"/>
            <a:ext cx="5342835" cy="513695"/>
          </a:xfrm>
        </p:spPr>
        <p:txBody>
          <a:bodyPr/>
          <a:lstStyle/>
          <a:p>
            <a:r>
              <a:rPr kumimoji="1" lang="zh-CN" altLang="en-US" dirty="0"/>
              <a:t>计算机网络介绍</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5133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marL="0" indent="0">
              <a:buNone/>
            </a:pPr>
            <a:r>
              <a:rPr lang="en-US" altLang="zh-CN" b="0" i="0" dirty="0">
                <a:solidFill>
                  <a:srgbClr val="333333"/>
                </a:solidFill>
                <a:effectLst/>
                <a:latin typeface="Helvetica Neue"/>
              </a:rPr>
              <a:t>IP </a:t>
            </a:r>
            <a:r>
              <a:rPr lang="zh-CN" altLang="en-US" b="0" i="0" dirty="0">
                <a:solidFill>
                  <a:srgbClr val="333333"/>
                </a:solidFill>
                <a:effectLst/>
                <a:latin typeface="Helvetica Neue"/>
              </a:rPr>
              <a:t>地址就是</a:t>
            </a:r>
            <a:r>
              <a:rPr lang="zh-CN" altLang="en-US" b="1" i="0" dirty="0">
                <a:solidFill>
                  <a:srgbClr val="C00000"/>
                </a:solidFill>
                <a:effectLst/>
                <a:latin typeface="Helvetica Neue"/>
              </a:rPr>
              <a:t>标识网络中设备的一个地址</a:t>
            </a:r>
            <a:r>
              <a:rPr lang="zh-CN" altLang="en-US" b="0" i="0" dirty="0">
                <a:solidFill>
                  <a:srgbClr val="333333"/>
                </a:solidFill>
                <a:effectLst/>
                <a:latin typeface="Helvetica Neue"/>
              </a:rPr>
              <a:t>，好比现实生活中的家庭地址。</a:t>
            </a:r>
            <a:endParaRPr lang="en-US" altLang="zh-CN" b="0" i="0" dirty="0">
              <a:solidFill>
                <a:srgbClr val="333333"/>
              </a:solidFill>
              <a:effectLst/>
              <a:latin typeface="Helvetica Neue"/>
            </a:endParaRPr>
          </a:p>
          <a:p>
            <a:pPr marL="0" indent="0">
              <a:buNone/>
            </a:pPr>
            <a:r>
              <a:rPr lang="zh-CN" altLang="en-US" i="0" dirty="0">
                <a:solidFill>
                  <a:schemeClr val="tx1"/>
                </a:solidFill>
                <a:effectLst/>
                <a:latin typeface="Helvetica Neue"/>
              </a:rPr>
              <a:t>网络中的设备效果图</a:t>
            </a:r>
            <a:r>
              <a:rPr lang="en-US" altLang="zh-CN" i="0" dirty="0">
                <a:solidFill>
                  <a:schemeClr val="tx1"/>
                </a:solidFill>
                <a:effectLst/>
                <a:latin typeface="Helvetica Neue"/>
              </a:rPr>
              <a:t>:</a:t>
            </a:r>
            <a:endParaRPr kumimoji="1" lang="zh-CN" altLang="en-US" dirty="0">
              <a:solidFill>
                <a:schemeClr val="tx1"/>
              </a:solidFill>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1</a:t>
            </a:r>
            <a:r>
              <a:rPr kumimoji="1" lang="zh-CN" altLang="en-US" dirty="0"/>
              <a:t>、</a:t>
            </a:r>
            <a:r>
              <a:rPr kumimoji="1" lang="en-US" altLang="zh-CN" dirty="0"/>
              <a:t>IP</a:t>
            </a:r>
            <a:r>
              <a:rPr kumimoji="1" lang="zh-CN" altLang="en-US" dirty="0"/>
              <a:t>地址的概念</a:t>
            </a:r>
          </a:p>
        </p:txBody>
      </p:sp>
      <p:pic>
        <p:nvPicPr>
          <p:cNvPr id="6" name="图片 5">
            <a:extLst>
              <a:ext uri="{FF2B5EF4-FFF2-40B4-BE49-F238E27FC236}">
                <a16:creationId xmlns:a16="http://schemas.microsoft.com/office/drawing/2014/main" id="{6CE27FA9-FB35-4EE3-9333-126588FD8B9D}"/>
              </a:ext>
            </a:extLst>
          </p:cNvPr>
          <p:cNvPicPr>
            <a:picLocks noChangeAspect="1"/>
          </p:cNvPicPr>
          <p:nvPr/>
        </p:nvPicPr>
        <p:blipFill>
          <a:blip r:embed="rId2"/>
          <a:stretch>
            <a:fillRect/>
          </a:stretch>
        </p:blipFill>
        <p:spPr>
          <a:xfrm>
            <a:off x="1792556" y="2741237"/>
            <a:ext cx="8291278" cy="3124471"/>
          </a:xfrm>
          <a:prstGeom prst="rect">
            <a:avLst/>
          </a:prstGeom>
        </p:spPr>
      </p:pic>
    </p:spTree>
    <p:extLst>
      <p:ext uri="{BB962C8B-B14F-4D97-AF65-F5344CB8AC3E}">
        <p14:creationId xmlns:p14="http://schemas.microsoft.com/office/powerpoint/2010/main" val="1874264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marL="0" indent="0" algn="l">
              <a:buNone/>
            </a:pPr>
            <a:r>
              <a:rPr lang="zh-CN" altLang="en-US" b="1" i="0" dirty="0">
                <a:solidFill>
                  <a:srgbClr val="333333"/>
                </a:solidFill>
                <a:effectLst/>
                <a:latin typeface="Helvetica Neue"/>
              </a:rPr>
              <a:t>说明</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algn="l">
              <a:buFont typeface="Arial" panose="020B0604020202020204" pitchFamily="34" charset="0"/>
              <a:buChar char="•"/>
            </a:pPr>
            <a:r>
              <a:rPr lang="en-US" altLang="zh-CN" b="0" i="0" dirty="0">
                <a:solidFill>
                  <a:srgbClr val="333333"/>
                </a:solidFill>
                <a:effectLst/>
                <a:latin typeface="Helvetica Neue"/>
              </a:rPr>
              <a:t>IP </a:t>
            </a:r>
            <a:r>
              <a:rPr lang="zh-CN" altLang="en-US" b="0" i="0" dirty="0">
                <a:solidFill>
                  <a:srgbClr val="333333"/>
                </a:solidFill>
                <a:effectLst/>
                <a:latin typeface="Helvetica Neue"/>
              </a:rPr>
              <a:t>地址分为两类： </a:t>
            </a:r>
            <a:r>
              <a:rPr lang="en-US" altLang="zh-CN" b="1" i="0" dirty="0">
                <a:solidFill>
                  <a:srgbClr val="B60206"/>
                </a:solidFill>
                <a:effectLst/>
                <a:latin typeface="Helvetica Neue"/>
              </a:rPr>
              <a:t>IPv4</a:t>
            </a:r>
            <a:r>
              <a:rPr lang="zh-CN" altLang="en-US" b="0" i="0" dirty="0">
                <a:solidFill>
                  <a:srgbClr val="333333"/>
                </a:solidFill>
                <a:effectLst/>
                <a:latin typeface="Helvetica Neue"/>
              </a:rPr>
              <a:t> 和 </a:t>
            </a:r>
            <a:r>
              <a:rPr lang="en-US" altLang="zh-CN" b="1" i="0" dirty="0">
                <a:solidFill>
                  <a:srgbClr val="B60206"/>
                </a:solidFill>
                <a:effectLst/>
                <a:latin typeface="Helvetica Neue"/>
              </a:rPr>
              <a:t>IPv6</a:t>
            </a:r>
            <a:endParaRPr lang="zh-CN" altLang="en-US" b="0" i="0" dirty="0">
              <a:solidFill>
                <a:srgbClr val="B60206"/>
              </a:solidFill>
              <a:effectLst/>
              <a:latin typeface="Helvetica Neue"/>
            </a:endParaRPr>
          </a:p>
          <a:p>
            <a:pPr algn="l">
              <a:buFont typeface="Arial" panose="020B0604020202020204" pitchFamily="34" charset="0"/>
              <a:buChar char="•"/>
            </a:pPr>
            <a:r>
              <a:rPr lang="en-US" altLang="zh-CN" b="0" i="0" dirty="0">
                <a:solidFill>
                  <a:srgbClr val="B60206"/>
                </a:solidFill>
                <a:effectLst/>
                <a:latin typeface="Helvetica Neue"/>
              </a:rPr>
              <a:t>IPv4 </a:t>
            </a:r>
            <a:r>
              <a:rPr lang="zh-CN" altLang="en-US" b="0" i="0" dirty="0">
                <a:solidFill>
                  <a:srgbClr val="B60206"/>
                </a:solidFill>
                <a:effectLst/>
                <a:latin typeface="Helvetica Neue"/>
              </a:rPr>
              <a:t>是目前使用的</a:t>
            </a:r>
            <a:r>
              <a:rPr lang="en-US" altLang="zh-CN" b="0" i="0" dirty="0">
                <a:solidFill>
                  <a:srgbClr val="B60206"/>
                </a:solidFill>
                <a:effectLst/>
                <a:latin typeface="Helvetica Neue"/>
              </a:rPr>
              <a:t>IP</a:t>
            </a:r>
            <a:r>
              <a:rPr lang="zh-CN" altLang="en-US" b="0" i="0" dirty="0">
                <a:solidFill>
                  <a:srgbClr val="B60206"/>
                </a:solidFill>
                <a:effectLst/>
                <a:latin typeface="Helvetica Neue"/>
              </a:rPr>
              <a:t>地址</a:t>
            </a:r>
          </a:p>
          <a:p>
            <a:pPr algn="l">
              <a:buFont typeface="Arial" panose="020B0604020202020204" pitchFamily="34" charset="0"/>
              <a:buChar char="•"/>
            </a:pPr>
            <a:r>
              <a:rPr lang="en-US" altLang="zh-CN" b="0" i="0" dirty="0">
                <a:solidFill>
                  <a:srgbClr val="333333"/>
                </a:solidFill>
                <a:effectLst/>
                <a:latin typeface="Helvetica Neue"/>
              </a:rPr>
              <a:t>IPv6 </a:t>
            </a:r>
            <a:r>
              <a:rPr lang="zh-CN" altLang="en-US" b="0" i="0" dirty="0">
                <a:solidFill>
                  <a:srgbClr val="333333"/>
                </a:solidFill>
                <a:effectLst/>
                <a:latin typeface="Helvetica Neue"/>
              </a:rPr>
              <a:t>是未来使用的</a:t>
            </a:r>
            <a:r>
              <a:rPr lang="en-US" altLang="zh-CN" b="0" i="0" dirty="0">
                <a:solidFill>
                  <a:srgbClr val="333333"/>
                </a:solidFill>
                <a:effectLst/>
                <a:latin typeface="Helvetica Neue"/>
              </a:rPr>
              <a:t>IP</a:t>
            </a:r>
            <a:r>
              <a:rPr lang="zh-CN" altLang="en-US" b="0" i="0" dirty="0">
                <a:solidFill>
                  <a:srgbClr val="333333"/>
                </a:solidFill>
                <a:effectLst/>
                <a:latin typeface="Helvetica Neue"/>
              </a:rPr>
              <a:t>地址</a:t>
            </a:r>
          </a:p>
          <a:p>
            <a:pPr algn="l">
              <a:buFont typeface="Arial" panose="020B0604020202020204" pitchFamily="34" charset="0"/>
              <a:buChar char="•"/>
            </a:pPr>
            <a:r>
              <a:rPr lang="en-US" altLang="zh-CN" b="0" i="0" dirty="0">
                <a:solidFill>
                  <a:srgbClr val="B60206"/>
                </a:solidFill>
                <a:effectLst/>
                <a:latin typeface="Helvetica Neue"/>
              </a:rPr>
              <a:t>IPv4 </a:t>
            </a:r>
            <a:r>
              <a:rPr lang="zh-CN" altLang="en-US" b="0" i="0" dirty="0">
                <a:solidFill>
                  <a:srgbClr val="B60206"/>
                </a:solidFill>
                <a:effectLst/>
                <a:latin typeface="Helvetica Neue"/>
              </a:rPr>
              <a:t>是由点分十进制组成</a:t>
            </a:r>
          </a:p>
          <a:p>
            <a:pPr algn="l">
              <a:buFont typeface="Arial" panose="020B0604020202020204" pitchFamily="34" charset="0"/>
              <a:buChar char="•"/>
            </a:pPr>
            <a:r>
              <a:rPr lang="en-US" altLang="zh-CN" b="0" i="0" dirty="0">
                <a:solidFill>
                  <a:srgbClr val="333333"/>
                </a:solidFill>
                <a:effectLst/>
                <a:latin typeface="Helvetica Neue"/>
              </a:rPr>
              <a:t>IPv6 </a:t>
            </a:r>
            <a:r>
              <a:rPr lang="zh-CN" altLang="en-US" b="0" i="0" dirty="0">
                <a:solidFill>
                  <a:srgbClr val="333333"/>
                </a:solidFill>
                <a:effectLst/>
                <a:latin typeface="Helvetica Neue"/>
              </a:rPr>
              <a:t>是由冒号十六进制组成</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2</a:t>
            </a:r>
            <a:r>
              <a:rPr kumimoji="1" lang="zh-CN" altLang="en-US" dirty="0"/>
              <a:t>、</a:t>
            </a:r>
            <a:r>
              <a:rPr kumimoji="1" lang="en-US" altLang="zh-CN" dirty="0"/>
              <a:t>IP</a:t>
            </a:r>
            <a:r>
              <a:rPr kumimoji="1" lang="zh-CN" altLang="en-US" dirty="0"/>
              <a:t>地址的表现形式</a:t>
            </a:r>
          </a:p>
        </p:txBody>
      </p:sp>
      <p:pic>
        <p:nvPicPr>
          <p:cNvPr id="9" name="图片 8">
            <a:extLst>
              <a:ext uri="{FF2B5EF4-FFF2-40B4-BE49-F238E27FC236}">
                <a16:creationId xmlns:a16="http://schemas.microsoft.com/office/drawing/2014/main" id="{9200A962-6B97-41DF-B4AC-5301D9B97669}"/>
              </a:ext>
            </a:extLst>
          </p:cNvPr>
          <p:cNvPicPr>
            <a:picLocks noChangeAspect="1"/>
          </p:cNvPicPr>
          <p:nvPr/>
        </p:nvPicPr>
        <p:blipFill>
          <a:blip r:embed="rId2"/>
          <a:stretch>
            <a:fillRect/>
          </a:stretch>
        </p:blipFill>
        <p:spPr>
          <a:xfrm>
            <a:off x="6007083" y="940081"/>
            <a:ext cx="5024709" cy="5369179"/>
          </a:xfrm>
          <a:prstGeom prst="rect">
            <a:avLst/>
          </a:prstGeom>
        </p:spPr>
      </p:pic>
      <p:sp>
        <p:nvSpPr>
          <p:cNvPr id="10" name="箭头: 右 9">
            <a:extLst>
              <a:ext uri="{FF2B5EF4-FFF2-40B4-BE49-F238E27FC236}">
                <a16:creationId xmlns:a16="http://schemas.microsoft.com/office/drawing/2014/main" id="{00A2EA96-95E4-43FB-86C1-9138EB3D1AB4}"/>
              </a:ext>
            </a:extLst>
          </p:cNvPr>
          <p:cNvSpPr/>
          <p:nvPr/>
        </p:nvSpPr>
        <p:spPr>
          <a:xfrm rot="20425603">
            <a:off x="3736094" y="2854441"/>
            <a:ext cx="2146907" cy="557981"/>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53494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marL="0" indent="0" algn="l">
              <a:buNone/>
            </a:pPr>
            <a:r>
              <a:rPr lang="en-US" altLang="zh-CN" b="0" i="0" dirty="0">
                <a:solidFill>
                  <a:srgbClr val="333333"/>
                </a:solidFill>
                <a:effectLst/>
                <a:latin typeface="Helvetica Neue"/>
              </a:rPr>
              <a:t>IP </a:t>
            </a:r>
            <a:r>
              <a:rPr lang="zh-CN" altLang="en-US" b="0" i="0" dirty="0">
                <a:solidFill>
                  <a:srgbClr val="333333"/>
                </a:solidFill>
                <a:effectLst/>
                <a:latin typeface="Helvetica Neue"/>
              </a:rPr>
              <a:t>地址的作用是</a:t>
            </a:r>
            <a:r>
              <a:rPr lang="zh-CN" altLang="en-US" b="1" i="0" dirty="0">
                <a:solidFill>
                  <a:srgbClr val="B60206"/>
                </a:solidFill>
                <a:effectLst/>
                <a:latin typeface="Helvetica Neue"/>
              </a:rPr>
              <a:t>标识网络中唯一的一台设备的</a:t>
            </a:r>
            <a:r>
              <a:rPr lang="zh-CN" altLang="en-US" b="0" i="0" dirty="0">
                <a:solidFill>
                  <a:srgbClr val="333333"/>
                </a:solidFill>
                <a:effectLst/>
                <a:latin typeface="Helvetica Neue"/>
              </a:rPr>
              <a:t>，也就是说通过</a:t>
            </a:r>
            <a:r>
              <a:rPr lang="en-US" altLang="zh-CN" b="0" i="0" dirty="0">
                <a:solidFill>
                  <a:srgbClr val="333333"/>
                </a:solidFill>
                <a:effectLst/>
                <a:latin typeface="Helvetica Neue"/>
              </a:rPr>
              <a:t>IP</a:t>
            </a:r>
            <a:r>
              <a:rPr lang="zh-CN" altLang="en-US" b="0" i="0" dirty="0">
                <a:solidFill>
                  <a:srgbClr val="333333"/>
                </a:solidFill>
                <a:effectLst/>
                <a:latin typeface="Helvetica Neue"/>
              </a:rPr>
              <a:t>地址能够找到网络中某台设备。</a:t>
            </a:r>
          </a:p>
          <a:p>
            <a:pPr marL="0" indent="0" algn="l">
              <a:buNone/>
            </a:pPr>
            <a:r>
              <a:rPr lang="en-US" altLang="zh-CN" b="1" i="0" dirty="0">
                <a:solidFill>
                  <a:srgbClr val="333333"/>
                </a:solidFill>
                <a:effectLst/>
                <a:latin typeface="Helvetica Neue"/>
              </a:rPr>
              <a:t>IP</a:t>
            </a:r>
            <a:r>
              <a:rPr lang="zh-CN" altLang="en-US" b="1" i="0" dirty="0">
                <a:solidFill>
                  <a:srgbClr val="333333"/>
                </a:solidFill>
                <a:effectLst/>
                <a:latin typeface="Helvetica Neue"/>
              </a:rPr>
              <a:t>地址作用效果图</a:t>
            </a:r>
            <a:r>
              <a:rPr lang="en-US" altLang="zh-CN" b="1" i="0" dirty="0">
                <a:solidFill>
                  <a:srgbClr val="333333"/>
                </a:solidFill>
                <a:effectLst/>
                <a:latin typeface="Helvetica Neue"/>
              </a:rPr>
              <a:t>:</a:t>
            </a:r>
            <a:endParaRPr lang="zh-CN" altLang="en-US" b="1" i="0" dirty="0">
              <a:solidFill>
                <a:srgbClr val="333333"/>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3</a:t>
            </a:r>
            <a:r>
              <a:rPr kumimoji="1" lang="zh-CN" altLang="en-US" dirty="0"/>
              <a:t>、</a:t>
            </a:r>
            <a:r>
              <a:rPr kumimoji="1" lang="en-US" altLang="zh-CN" dirty="0"/>
              <a:t>IP</a:t>
            </a:r>
            <a:r>
              <a:rPr kumimoji="1" lang="zh-CN" altLang="en-US" dirty="0"/>
              <a:t>地址的作用</a:t>
            </a:r>
          </a:p>
        </p:txBody>
      </p:sp>
      <p:pic>
        <p:nvPicPr>
          <p:cNvPr id="6" name="图片 5">
            <a:extLst>
              <a:ext uri="{FF2B5EF4-FFF2-40B4-BE49-F238E27FC236}">
                <a16:creationId xmlns:a16="http://schemas.microsoft.com/office/drawing/2014/main" id="{F8AA1439-2E95-4F00-A8E9-356D896A4357}"/>
              </a:ext>
            </a:extLst>
          </p:cNvPr>
          <p:cNvPicPr>
            <a:picLocks noChangeAspect="1"/>
          </p:cNvPicPr>
          <p:nvPr/>
        </p:nvPicPr>
        <p:blipFill>
          <a:blip r:embed="rId2"/>
          <a:stretch>
            <a:fillRect/>
          </a:stretch>
        </p:blipFill>
        <p:spPr>
          <a:xfrm>
            <a:off x="1905117" y="3005735"/>
            <a:ext cx="8657070" cy="2537680"/>
          </a:xfrm>
          <a:prstGeom prst="rect">
            <a:avLst/>
          </a:prstGeom>
        </p:spPr>
      </p:pic>
    </p:spTree>
    <p:extLst>
      <p:ext uri="{BB962C8B-B14F-4D97-AF65-F5344CB8AC3E}">
        <p14:creationId xmlns:p14="http://schemas.microsoft.com/office/powerpoint/2010/main" val="1799854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algn="l">
              <a:buFont typeface="Arial" panose="020B0604020202020204" pitchFamily="34" charset="0"/>
              <a:buChar char="•"/>
            </a:pPr>
            <a:r>
              <a:rPr lang="en-US" altLang="zh-CN" b="0" i="0" dirty="0">
                <a:solidFill>
                  <a:srgbClr val="333333"/>
                </a:solidFill>
                <a:effectLst/>
                <a:latin typeface="Helvetica Neue"/>
              </a:rPr>
              <a:t>Linux </a:t>
            </a:r>
            <a:r>
              <a:rPr lang="zh-CN" altLang="en-US" b="0" i="0" dirty="0">
                <a:solidFill>
                  <a:srgbClr val="333333"/>
                </a:solidFill>
                <a:effectLst/>
                <a:latin typeface="Helvetica Neue"/>
              </a:rPr>
              <a:t>和 </a:t>
            </a:r>
            <a:r>
              <a:rPr lang="en-US" altLang="zh-CN" b="0" i="0" dirty="0">
                <a:solidFill>
                  <a:srgbClr val="333333"/>
                </a:solidFill>
                <a:effectLst/>
                <a:latin typeface="Helvetica Neue"/>
              </a:rPr>
              <a:t>mac OS </a:t>
            </a:r>
            <a:r>
              <a:rPr lang="zh-CN" altLang="en-US" b="0" i="0" dirty="0">
                <a:solidFill>
                  <a:srgbClr val="333333"/>
                </a:solidFill>
                <a:effectLst/>
                <a:latin typeface="Helvetica Neue"/>
              </a:rPr>
              <a:t>使用 </a:t>
            </a:r>
            <a:r>
              <a:rPr lang="en-US" altLang="zh-CN" b="1" i="0" dirty="0">
                <a:solidFill>
                  <a:srgbClr val="B60206"/>
                </a:solidFill>
                <a:effectLst/>
                <a:latin typeface="Helvetica Neue"/>
              </a:rPr>
              <a:t>ifconfig</a:t>
            </a:r>
            <a:r>
              <a:rPr lang="en-US" altLang="zh-CN" b="0" i="0" dirty="0">
                <a:solidFill>
                  <a:srgbClr val="333333"/>
                </a:solidFill>
                <a:effectLst/>
                <a:latin typeface="Helvetica Neue"/>
              </a:rPr>
              <a:t> </a:t>
            </a:r>
            <a:r>
              <a:rPr lang="zh-CN" altLang="en-US" b="0" i="0" dirty="0">
                <a:solidFill>
                  <a:srgbClr val="333333"/>
                </a:solidFill>
                <a:effectLst/>
                <a:latin typeface="Helvetica Neue"/>
              </a:rPr>
              <a:t>这个命令</a:t>
            </a:r>
          </a:p>
          <a:p>
            <a:pPr algn="l">
              <a:buFont typeface="Arial" panose="020B0604020202020204" pitchFamily="34" charset="0"/>
              <a:buChar char="•"/>
            </a:pPr>
            <a:r>
              <a:rPr lang="en-US" altLang="zh-CN" b="0" i="0" dirty="0">
                <a:solidFill>
                  <a:srgbClr val="333333"/>
                </a:solidFill>
                <a:effectLst/>
                <a:latin typeface="Helvetica Neue"/>
              </a:rPr>
              <a:t>Windows </a:t>
            </a:r>
            <a:r>
              <a:rPr lang="zh-CN" altLang="en-US" b="0" i="0" dirty="0">
                <a:solidFill>
                  <a:srgbClr val="333333"/>
                </a:solidFill>
                <a:effectLst/>
                <a:latin typeface="Helvetica Neue"/>
              </a:rPr>
              <a:t>使用 </a:t>
            </a:r>
            <a:r>
              <a:rPr lang="en-US" altLang="zh-CN" b="1" i="0" dirty="0">
                <a:solidFill>
                  <a:srgbClr val="B60206"/>
                </a:solidFill>
                <a:effectLst/>
                <a:latin typeface="Helvetica Neue"/>
              </a:rPr>
              <a:t>ipconfig</a:t>
            </a:r>
            <a:r>
              <a:rPr lang="en-US" altLang="zh-CN" b="0" i="0" dirty="0">
                <a:solidFill>
                  <a:srgbClr val="333333"/>
                </a:solidFill>
                <a:effectLst/>
                <a:latin typeface="Helvetica Neue"/>
              </a:rPr>
              <a:t> </a:t>
            </a:r>
            <a:r>
              <a:rPr lang="zh-CN" altLang="en-US" b="0" i="0" dirty="0">
                <a:solidFill>
                  <a:srgbClr val="333333"/>
                </a:solidFill>
                <a:effectLst/>
                <a:latin typeface="Helvetica Neue"/>
              </a:rPr>
              <a:t>这个命令</a:t>
            </a:r>
            <a:endParaRPr lang="en-US" altLang="zh-CN" b="0" i="0" dirty="0">
              <a:solidFill>
                <a:srgbClr val="333333"/>
              </a:solidFill>
              <a:effectLst/>
              <a:latin typeface="Helvetica Neue"/>
            </a:endParaRPr>
          </a:p>
          <a:p>
            <a:pPr algn="l">
              <a:buFont typeface="Arial" panose="020B0604020202020204" pitchFamily="34" charset="0"/>
              <a:buChar char="•"/>
            </a:pPr>
            <a:endParaRPr lang="en-US" altLang="zh-CN" dirty="0">
              <a:solidFill>
                <a:srgbClr val="333333"/>
              </a:solidFill>
              <a:latin typeface="Helvetica Neue"/>
            </a:endParaRPr>
          </a:p>
          <a:p>
            <a:pPr marL="0" indent="0" algn="l">
              <a:buNone/>
            </a:pPr>
            <a:r>
              <a:rPr lang="zh-CN" altLang="en-US" b="0" i="0" dirty="0">
                <a:solidFill>
                  <a:srgbClr val="333333"/>
                </a:solidFill>
                <a:effectLst/>
                <a:latin typeface="Helvetica Neue"/>
              </a:rPr>
              <a:t>说明</a:t>
            </a:r>
            <a:r>
              <a:rPr lang="en-US" altLang="zh-CN" b="0" i="0" dirty="0">
                <a:solidFill>
                  <a:srgbClr val="333333"/>
                </a:solidFill>
                <a:effectLst/>
                <a:latin typeface="Helvetica Neue"/>
              </a:rPr>
              <a:t>:</a:t>
            </a:r>
          </a:p>
          <a:p>
            <a:pPr marL="0" indent="0" algn="l">
              <a:buNone/>
            </a:pPr>
            <a:r>
              <a:rPr lang="en-US" altLang="zh-CN" b="0" i="0" dirty="0">
                <a:solidFill>
                  <a:srgbClr val="333333"/>
                </a:solidFill>
                <a:effectLst/>
                <a:latin typeface="Helvetica Neue"/>
              </a:rPr>
              <a:t>ifconfig </a:t>
            </a:r>
            <a:r>
              <a:rPr lang="zh-CN" altLang="en-US" b="0" i="0" dirty="0">
                <a:solidFill>
                  <a:srgbClr val="333333"/>
                </a:solidFill>
                <a:effectLst/>
                <a:latin typeface="Helvetica Neue"/>
              </a:rPr>
              <a:t>和 </a:t>
            </a:r>
            <a:r>
              <a:rPr lang="en-US" altLang="zh-CN" b="0" i="0" dirty="0">
                <a:solidFill>
                  <a:srgbClr val="333333"/>
                </a:solidFill>
                <a:effectLst/>
                <a:latin typeface="Helvetica Neue"/>
              </a:rPr>
              <a:t>ipconfig </a:t>
            </a:r>
            <a:r>
              <a:rPr lang="zh-CN" altLang="en-US" b="0" i="0" dirty="0">
                <a:solidFill>
                  <a:srgbClr val="333333"/>
                </a:solidFill>
                <a:effectLst/>
                <a:latin typeface="Helvetica Neue"/>
              </a:rPr>
              <a:t>都是查看网卡信息的，网卡信息中包括这个设备对应的</a:t>
            </a:r>
            <a:r>
              <a:rPr lang="en-US" altLang="zh-CN" b="0" i="0" dirty="0">
                <a:solidFill>
                  <a:srgbClr val="333333"/>
                </a:solidFill>
                <a:effectLst/>
                <a:latin typeface="Helvetica Neue"/>
              </a:rPr>
              <a:t>IP</a:t>
            </a:r>
            <a:r>
              <a:rPr lang="zh-CN" altLang="en-US" b="0" i="0" dirty="0">
                <a:solidFill>
                  <a:srgbClr val="333333"/>
                </a:solidFill>
                <a:effectLst/>
                <a:latin typeface="Helvetica Neue"/>
              </a:rPr>
              <a:t>地址。</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4</a:t>
            </a:r>
            <a:r>
              <a:rPr kumimoji="1" lang="zh-CN" altLang="en-US" dirty="0"/>
              <a:t>、查看计算机的</a:t>
            </a:r>
            <a:r>
              <a:rPr kumimoji="1" lang="en-US" altLang="zh-CN" dirty="0"/>
              <a:t>IP</a:t>
            </a:r>
            <a:r>
              <a:rPr kumimoji="1" lang="zh-CN" altLang="en-US" dirty="0"/>
              <a:t>地址</a:t>
            </a:r>
          </a:p>
        </p:txBody>
      </p:sp>
      <p:pic>
        <p:nvPicPr>
          <p:cNvPr id="7" name="图片 6">
            <a:extLst>
              <a:ext uri="{FF2B5EF4-FFF2-40B4-BE49-F238E27FC236}">
                <a16:creationId xmlns:a16="http://schemas.microsoft.com/office/drawing/2014/main" id="{32D7280F-C526-4ADA-A8A5-C2A3845904AB}"/>
              </a:ext>
            </a:extLst>
          </p:cNvPr>
          <p:cNvPicPr>
            <a:picLocks noChangeAspect="1"/>
          </p:cNvPicPr>
          <p:nvPr/>
        </p:nvPicPr>
        <p:blipFill>
          <a:blip r:embed="rId3"/>
          <a:stretch>
            <a:fillRect/>
          </a:stretch>
        </p:blipFill>
        <p:spPr>
          <a:xfrm>
            <a:off x="3060926" y="3817029"/>
            <a:ext cx="8016935" cy="2796782"/>
          </a:xfrm>
          <a:prstGeom prst="rect">
            <a:avLst/>
          </a:prstGeom>
        </p:spPr>
      </p:pic>
    </p:spTree>
    <p:extLst>
      <p:ext uri="{BB962C8B-B14F-4D97-AF65-F5344CB8AC3E}">
        <p14:creationId xmlns:p14="http://schemas.microsoft.com/office/powerpoint/2010/main" val="780593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algn="l">
              <a:buFont typeface="Arial" panose="020B0604020202020204" pitchFamily="34" charset="0"/>
              <a:buChar char="•"/>
            </a:pPr>
            <a:r>
              <a:rPr lang="zh-CN" altLang="en-US" b="0" i="0" dirty="0">
                <a:solidFill>
                  <a:srgbClr val="333333"/>
                </a:solidFill>
                <a:effectLst/>
                <a:latin typeface="Helvetica Neue"/>
              </a:rPr>
              <a:t>检查网络是否正常使用 </a:t>
            </a:r>
            <a:r>
              <a:rPr lang="en-US" altLang="zh-CN" b="1" i="0" dirty="0">
                <a:solidFill>
                  <a:srgbClr val="B60206"/>
                </a:solidFill>
                <a:effectLst/>
                <a:latin typeface="Helvetica Neue"/>
              </a:rPr>
              <a:t>ping</a:t>
            </a:r>
            <a:r>
              <a:rPr lang="en-US" altLang="zh-CN" b="0" i="0" dirty="0">
                <a:solidFill>
                  <a:srgbClr val="333333"/>
                </a:solidFill>
                <a:effectLst/>
                <a:latin typeface="Helvetica Neue"/>
              </a:rPr>
              <a:t> </a:t>
            </a:r>
            <a:r>
              <a:rPr lang="zh-CN" altLang="en-US" b="0" i="0" dirty="0">
                <a:solidFill>
                  <a:srgbClr val="333333"/>
                </a:solidFill>
                <a:effectLst/>
                <a:latin typeface="Helvetica Neue"/>
              </a:rPr>
              <a:t>命令</a:t>
            </a:r>
            <a:endParaRPr lang="en-US" altLang="zh-CN" b="0" i="0" dirty="0">
              <a:solidFill>
                <a:srgbClr val="333333"/>
              </a:solidFill>
              <a:effectLst/>
              <a:latin typeface="Helvetica Neue"/>
            </a:endParaRPr>
          </a:p>
          <a:p>
            <a:pPr marL="0" indent="0" algn="l">
              <a:buNone/>
            </a:pPr>
            <a:r>
              <a:rPr lang="zh-CN" altLang="en-US" b="1" i="0" dirty="0">
                <a:solidFill>
                  <a:srgbClr val="333333"/>
                </a:solidFill>
                <a:effectLst/>
                <a:latin typeface="Helvetica Neue"/>
              </a:rPr>
              <a:t>检查网络是否正常效果图：</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5</a:t>
            </a:r>
            <a:r>
              <a:rPr kumimoji="1" lang="zh-CN" altLang="en-US" dirty="0"/>
              <a:t>、检查网络是否正常</a:t>
            </a:r>
          </a:p>
        </p:txBody>
      </p:sp>
      <p:pic>
        <p:nvPicPr>
          <p:cNvPr id="6" name="图片 5">
            <a:extLst>
              <a:ext uri="{FF2B5EF4-FFF2-40B4-BE49-F238E27FC236}">
                <a16:creationId xmlns:a16="http://schemas.microsoft.com/office/drawing/2014/main" id="{692C5A52-4E2F-42D4-B5F0-A6B1D8274B1B}"/>
              </a:ext>
            </a:extLst>
          </p:cNvPr>
          <p:cNvPicPr>
            <a:picLocks noChangeAspect="1"/>
          </p:cNvPicPr>
          <p:nvPr/>
        </p:nvPicPr>
        <p:blipFill>
          <a:blip r:embed="rId3"/>
          <a:stretch>
            <a:fillRect/>
          </a:stretch>
        </p:blipFill>
        <p:spPr>
          <a:xfrm>
            <a:off x="2461610" y="2630575"/>
            <a:ext cx="6692329" cy="3785560"/>
          </a:xfrm>
          <a:prstGeom prst="rect">
            <a:avLst/>
          </a:prstGeom>
        </p:spPr>
      </p:pic>
    </p:spTree>
    <p:extLst>
      <p:ext uri="{BB962C8B-B14F-4D97-AF65-F5344CB8AC3E}">
        <p14:creationId xmlns:p14="http://schemas.microsoft.com/office/powerpoint/2010/main" val="407628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algn="l"/>
            <a:r>
              <a:rPr lang="zh-CN" altLang="en-US" b="0" i="0" dirty="0">
                <a:solidFill>
                  <a:srgbClr val="333333"/>
                </a:solidFill>
                <a:effectLst/>
                <a:latin typeface="Helvetica Neue"/>
              </a:rPr>
              <a:t>问题：不同电脑上的飞秋之间进行数据通信，它是如何保证把数据给飞秋而不是给其它软件呢</a:t>
            </a:r>
            <a:r>
              <a:rPr lang="en-US" altLang="zh-CN" b="0" i="0" dirty="0">
                <a:solidFill>
                  <a:srgbClr val="333333"/>
                </a:solidFill>
                <a:effectLst/>
                <a:latin typeface="Helvetica Neue"/>
              </a:rPr>
              <a:t>?</a:t>
            </a:r>
          </a:p>
          <a:p>
            <a:pPr marL="0" indent="0" algn="l">
              <a:buNone/>
            </a:pPr>
            <a:r>
              <a:rPr lang="zh-CN" altLang="en-US" b="1" i="0" dirty="0">
                <a:solidFill>
                  <a:srgbClr val="B60206"/>
                </a:solidFill>
                <a:effectLst/>
                <a:latin typeface="Helvetica Neue"/>
              </a:rPr>
              <a:t>答：其实，每运行一个网络程序都会有一个端口，想要给对应的程序发送数据，找到对应的端口即可。</a:t>
            </a:r>
            <a:endParaRPr lang="zh-CN" altLang="en-US" b="0" i="0" dirty="0">
              <a:solidFill>
                <a:srgbClr val="B60206"/>
              </a:solidFill>
              <a:effectLst/>
              <a:latin typeface="Helvetica Neue"/>
            </a:endParaRPr>
          </a:p>
          <a:p>
            <a:pPr marL="0" indent="0" algn="l">
              <a:buNone/>
            </a:pPr>
            <a:r>
              <a:rPr lang="zh-CN" altLang="en-US" b="1" i="0" dirty="0">
                <a:solidFill>
                  <a:srgbClr val="333333"/>
                </a:solidFill>
                <a:effectLst/>
                <a:latin typeface="Helvetica Neue"/>
              </a:rPr>
              <a:t>端口效果图</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marL="0" indent="0" algn="l">
              <a:buNone/>
            </a:pPr>
            <a:endParaRPr lang="zh-CN" altLang="en-US" b="0" i="0" dirty="0">
              <a:solidFill>
                <a:srgbClr val="333333"/>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6</a:t>
            </a:r>
            <a:r>
              <a:rPr kumimoji="1" lang="zh-CN" altLang="en-US" dirty="0"/>
              <a:t>、</a:t>
            </a:r>
            <a:r>
              <a:rPr lang="zh-CN" altLang="en-US" b="1" i="0" dirty="0">
                <a:solidFill>
                  <a:srgbClr val="333333"/>
                </a:solidFill>
                <a:effectLst/>
                <a:latin typeface="Helvetica Neue"/>
              </a:rPr>
              <a:t>问题思考</a:t>
            </a:r>
          </a:p>
        </p:txBody>
      </p:sp>
      <p:pic>
        <p:nvPicPr>
          <p:cNvPr id="7" name="图片 6">
            <a:extLst>
              <a:ext uri="{FF2B5EF4-FFF2-40B4-BE49-F238E27FC236}">
                <a16:creationId xmlns:a16="http://schemas.microsoft.com/office/drawing/2014/main" id="{9BE3E8D0-3189-4E09-8DBF-785500413F95}"/>
              </a:ext>
            </a:extLst>
          </p:cNvPr>
          <p:cNvPicPr>
            <a:picLocks noChangeAspect="1"/>
          </p:cNvPicPr>
          <p:nvPr/>
        </p:nvPicPr>
        <p:blipFill>
          <a:blip r:embed="rId3"/>
          <a:stretch>
            <a:fillRect/>
          </a:stretch>
        </p:blipFill>
        <p:spPr>
          <a:xfrm>
            <a:off x="1935824" y="2880404"/>
            <a:ext cx="8162332" cy="3471531"/>
          </a:xfrm>
          <a:prstGeom prst="rect">
            <a:avLst/>
          </a:prstGeom>
        </p:spPr>
      </p:pic>
    </p:spTree>
    <p:extLst>
      <p:ext uri="{BB962C8B-B14F-4D97-AF65-F5344CB8AC3E}">
        <p14:creationId xmlns:p14="http://schemas.microsoft.com/office/powerpoint/2010/main" val="4019886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algn="l"/>
            <a:r>
              <a:rPr lang="zh-CN" altLang="en-US" b="1" i="0" dirty="0">
                <a:solidFill>
                  <a:srgbClr val="B60206"/>
                </a:solidFill>
                <a:effectLst/>
                <a:latin typeface="Helvetica Neue"/>
              </a:rPr>
              <a:t>端口是传输数据的通道</a:t>
            </a:r>
            <a:r>
              <a:rPr lang="zh-CN" altLang="en-US" b="0" i="0" dirty="0">
                <a:solidFill>
                  <a:srgbClr val="333333"/>
                </a:solidFill>
                <a:effectLst/>
                <a:latin typeface="Helvetica Neue"/>
              </a:rPr>
              <a:t>，好比教室的门，</a:t>
            </a:r>
            <a:r>
              <a:rPr lang="zh-CN" altLang="en-US" b="1" i="0" dirty="0">
                <a:solidFill>
                  <a:srgbClr val="B60206"/>
                </a:solidFill>
                <a:effectLst/>
                <a:latin typeface="Helvetica Neue"/>
              </a:rPr>
              <a:t>是数据传输必经之路</a:t>
            </a:r>
            <a:r>
              <a:rPr lang="zh-CN" altLang="en-US" b="0" i="0" dirty="0">
                <a:solidFill>
                  <a:srgbClr val="B60206"/>
                </a:solidFill>
                <a:effectLst/>
                <a:latin typeface="Helvetica Neue"/>
              </a:rPr>
              <a:t>。</a:t>
            </a:r>
          </a:p>
          <a:p>
            <a:pPr algn="l"/>
            <a:r>
              <a:rPr lang="zh-CN" altLang="en-US" b="0" i="0" dirty="0">
                <a:solidFill>
                  <a:srgbClr val="333333"/>
                </a:solidFill>
                <a:effectLst/>
                <a:latin typeface="Helvetica Neue"/>
              </a:rPr>
              <a:t>那么如何准确的找到对应的端口呢</a:t>
            </a:r>
            <a:r>
              <a:rPr lang="en-US" altLang="zh-CN" b="0" i="0" dirty="0">
                <a:solidFill>
                  <a:srgbClr val="333333"/>
                </a:solidFill>
                <a:effectLst/>
                <a:latin typeface="Helvetica Neue"/>
              </a:rPr>
              <a:t>?</a:t>
            </a:r>
          </a:p>
          <a:p>
            <a:pPr algn="l"/>
            <a:r>
              <a:rPr lang="zh-CN" altLang="en-US" b="1" i="0" dirty="0">
                <a:solidFill>
                  <a:srgbClr val="B60206"/>
                </a:solidFill>
                <a:effectLst/>
                <a:latin typeface="Helvetica Neue"/>
              </a:rPr>
              <a:t>其实，每一个端口都会有一个对应的端口号，好比每个教室的门都有一个门牌号，想要找到端口通过端口号即可。</a:t>
            </a:r>
            <a:endParaRPr lang="zh-CN" altLang="en-US" b="0" i="0" dirty="0">
              <a:solidFill>
                <a:srgbClr val="B60206"/>
              </a:solidFill>
              <a:effectLst/>
              <a:latin typeface="Helvetica Neue"/>
            </a:endParaRPr>
          </a:p>
          <a:p>
            <a:pPr marL="0" indent="0" algn="l">
              <a:buNone/>
            </a:pPr>
            <a:r>
              <a:rPr lang="zh-CN" altLang="en-US" b="1" i="0" dirty="0">
                <a:solidFill>
                  <a:srgbClr val="333333"/>
                </a:solidFill>
                <a:effectLst/>
                <a:latin typeface="Helvetica Neue"/>
              </a:rPr>
              <a:t>端口号效果图</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7</a:t>
            </a:r>
            <a:r>
              <a:rPr kumimoji="1" lang="zh-CN" altLang="en-US" dirty="0"/>
              <a:t>、什么是端口</a:t>
            </a:r>
            <a:endParaRPr lang="zh-CN" altLang="en-US" b="1" i="0" dirty="0">
              <a:solidFill>
                <a:srgbClr val="333333"/>
              </a:solidFill>
              <a:effectLst/>
              <a:latin typeface="Helvetica Neue"/>
            </a:endParaRPr>
          </a:p>
        </p:txBody>
      </p:sp>
      <p:pic>
        <p:nvPicPr>
          <p:cNvPr id="6" name="图片 5">
            <a:extLst>
              <a:ext uri="{FF2B5EF4-FFF2-40B4-BE49-F238E27FC236}">
                <a16:creationId xmlns:a16="http://schemas.microsoft.com/office/drawing/2014/main" id="{4C84932F-9F2A-4FEF-9A42-07B31A0CAC91}"/>
              </a:ext>
            </a:extLst>
          </p:cNvPr>
          <p:cNvPicPr>
            <a:picLocks noChangeAspect="1"/>
          </p:cNvPicPr>
          <p:nvPr/>
        </p:nvPicPr>
        <p:blipFill>
          <a:blip r:embed="rId3"/>
          <a:stretch>
            <a:fillRect/>
          </a:stretch>
        </p:blipFill>
        <p:spPr>
          <a:xfrm>
            <a:off x="2044772" y="3220259"/>
            <a:ext cx="8281984" cy="3393552"/>
          </a:xfrm>
          <a:prstGeom prst="rect">
            <a:avLst/>
          </a:prstGeom>
        </p:spPr>
      </p:pic>
    </p:spTree>
    <p:extLst>
      <p:ext uri="{BB962C8B-B14F-4D97-AF65-F5344CB8AC3E}">
        <p14:creationId xmlns:p14="http://schemas.microsoft.com/office/powerpoint/2010/main" val="20308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p:txBody>
          <a:bodyPr/>
          <a:lstStyle/>
          <a:p>
            <a:pPr algn="l"/>
            <a:r>
              <a:rPr lang="zh-CN" altLang="en-US" b="0" i="0" dirty="0">
                <a:solidFill>
                  <a:srgbClr val="333333"/>
                </a:solidFill>
                <a:effectLst/>
                <a:latin typeface="Helvetica Neue"/>
              </a:rPr>
              <a:t>操作系统为了统一管理这么多端口，</a:t>
            </a:r>
            <a:r>
              <a:rPr lang="zh-CN" altLang="en-US" b="1" i="0" dirty="0">
                <a:solidFill>
                  <a:srgbClr val="B60206"/>
                </a:solidFill>
                <a:effectLst/>
                <a:latin typeface="Helvetica Neue"/>
              </a:rPr>
              <a:t>就对端口进行了编号</a:t>
            </a:r>
            <a:r>
              <a:rPr lang="zh-CN" altLang="en-US" b="0" i="0" dirty="0">
                <a:solidFill>
                  <a:srgbClr val="333333"/>
                </a:solidFill>
                <a:effectLst/>
                <a:latin typeface="Helvetica Neue"/>
              </a:rPr>
              <a:t>，这就是端口号，</a:t>
            </a:r>
            <a:r>
              <a:rPr lang="zh-CN" altLang="en-US" b="1" i="0" dirty="0">
                <a:solidFill>
                  <a:srgbClr val="B60206"/>
                </a:solidFill>
                <a:effectLst/>
                <a:latin typeface="Helvetica Neue"/>
              </a:rPr>
              <a:t>端口号其实就是一个数字</a:t>
            </a:r>
            <a:r>
              <a:rPr lang="zh-CN" altLang="en-US" b="0" i="0" dirty="0">
                <a:solidFill>
                  <a:srgbClr val="333333"/>
                </a:solidFill>
                <a:effectLst/>
                <a:latin typeface="Helvetica Neue"/>
              </a:rPr>
              <a:t>，好比我们现实生活中的门牌号</a:t>
            </a:r>
            <a:r>
              <a:rPr lang="en-US" altLang="zh-CN" b="0" i="0" dirty="0">
                <a:solidFill>
                  <a:srgbClr val="333333"/>
                </a:solidFill>
                <a:effectLst/>
                <a:latin typeface="Helvetica Neue"/>
              </a:rPr>
              <a:t>,</a:t>
            </a:r>
          </a:p>
          <a:p>
            <a:pPr algn="l"/>
            <a:r>
              <a:rPr lang="zh-CN" altLang="en-US" b="0" i="0" dirty="0">
                <a:solidFill>
                  <a:srgbClr val="333333"/>
                </a:solidFill>
                <a:effectLst/>
                <a:latin typeface="Helvetica Neue"/>
              </a:rPr>
              <a:t>端口号有</a:t>
            </a:r>
            <a:r>
              <a:rPr lang="en-US" altLang="zh-CN" b="1" i="0" dirty="0">
                <a:solidFill>
                  <a:srgbClr val="B60206"/>
                </a:solidFill>
                <a:effectLst/>
                <a:latin typeface="Helvetica Neue"/>
              </a:rPr>
              <a:t>65536</a:t>
            </a:r>
            <a:r>
              <a:rPr lang="zh-CN" altLang="en-US" b="0" i="0" dirty="0">
                <a:solidFill>
                  <a:srgbClr val="333333"/>
                </a:solidFill>
                <a:effectLst/>
                <a:latin typeface="Helvetica Neue"/>
              </a:rPr>
              <a:t>个。</a:t>
            </a:r>
          </a:p>
          <a:p>
            <a:pPr algn="l"/>
            <a:r>
              <a:rPr lang="zh-CN" altLang="en-US" b="0" i="0" dirty="0">
                <a:solidFill>
                  <a:srgbClr val="333333"/>
                </a:solidFill>
                <a:effectLst/>
                <a:latin typeface="Helvetica Neue"/>
              </a:rPr>
              <a:t>那么最终飞秋之间进行数据通信的流程是这样的，</a:t>
            </a:r>
            <a:r>
              <a:rPr lang="zh-CN" altLang="en-US" b="1" i="0" dirty="0">
                <a:solidFill>
                  <a:srgbClr val="B60206"/>
                </a:solidFill>
                <a:effectLst/>
                <a:latin typeface="Helvetica Neue"/>
              </a:rPr>
              <a:t>通过</a:t>
            </a:r>
            <a:r>
              <a:rPr lang="en-US" altLang="zh-CN" b="1" i="0" dirty="0" err="1">
                <a:solidFill>
                  <a:srgbClr val="B60206"/>
                </a:solidFill>
                <a:effectLst/>
                <a:latin typeface="Helvetica Neue"/>
              </a:rPr>
              <a:t>ip</a:t>
            </a:r>
            <a:r>
              <a:rPr lang="zh-CN" altLang="en-US" b="1" i="0" dirty="0">
                <a:solidFill>
                  <a:srgbClr val="B60206"/>
                </a:solidFill>
                <a:effectLst/>
                <a:latin typeface="Helvetica Neue"/>
              </a:rPr>
              <a:t>地址找到对应的设备，通过端口号找到对应的端口，然后通过端口把数据传输给应用程序</a:t>
            </a:r>
            <a:r>
              <a:rPr lang="zh-CN" altLang="en-US" b="0" i="0" dirty="0">
                <a:solidFill>
                  <a:srgbClr val="B60206"/>
                </a:solidFill>
                <a:effectLst/>
                <a:latin typeface="Helvetica Neue"/>
              </a:rPr>
              <a:t>。</a:t>
            </a:r>
          </a:p>
          <a:p>
            <a:pPr marL="0" indent="0" algn="l">
              <a:buNone/>
            </a:pPr>
            <a:r>
              <a:rPr lang="zh-CN" altLang="en-US" b="1" i="0" dirty="0">
                <a:solidFill>
                  <a:srgbClr val="333333"/>
                </a:solidFill>
                <a:effectLst/>
                <a:latin typeface="Helvetica Neue"/>
              </a:rPr>
              <a:t>最终通信流程效果图</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8</a:t>
            </a:r>
            <a:r>
              <a:rPr kumimoji="1" lang="zh-CN" altLang="en-US" b="1" i="0" dirty="0">
                <a:solidFill>
                  <a:srgbClr val="333333"/>
                </a:solidFill>
                <a:effectLst/>
                <a:latin typeface="Helvetica Neue"/>
              </a:rPr>
              <a:t>、什么是端口号</a:t>
            </a:r>
            <a:endParaRPr lang="zh-CN" altLang="en-US" b="1" i="0" dirty="0">
              <a:solidFill>
                <a:srgbClr val="333333"/>
              </a:solidFill>
              <a:effectLst/>
              <a:latin typeface="Helvetica Neue"/>
            </a:endParaRPr>
          </a:p>
        </p:txBody>
      </p:sp>
      <p:pic>
        <p:nvPicPr>
          <p:cNvPr id="7" name="图片 6">
            <a:extLst>
              <a:ext uri="{FF2B5EF4-FFF2-40B4-BE49-F238E27FC236}">
                <a16:creationId xmlns:a16="http://schemas.microsoft.com/office/drawing/2014/main" id="{484F736A-697A-49ED-983C-16D62D9017E9}"/>
              </a:ext>
            </a:extLst>
          </p:cNvPr>
          <p:cNvPicPr>
            <a:picLocks noChangeAspect="1"/>
          </p:cNvPicPr>
          <p:nvPr/>
        </p:nvPicPr>
        <p:blipFill>
          <a:blip r:embed="rId3"/>
          <a:stretch>
            <a:fillRect/>
          </a:stretch>
        </p:blipFill>
        <p:spPr>
          <a:xfrm>
            <a:off x="2730954" y="3687735"/>
            <a:ext cx="7346317" cy="3048264"/>
          </a:xfrm>
          <a:prstGeom prst="rect">
            <a:avLst/>
          </a:prstGeom>
        </p:spPr>
      </p:pic>
    </p:spTree>
    <p:extLst>
      <p:ext uri="{BB962C8B-B14F-4D97-AF65-F5344CB8AC3E}">
        <p14:creationId xmlns:p14="http://schemas.microsoft.com/office/powerpoint/2010/main" val="2574902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665215"/>
          </a:xfrm>
        </p:spPr>
        <p:txBody>
          <a:bodyPr/>
          <a:lstStyle/>
          <a:p>
            <a:pPr algn="l">
              <a:buFont typeface="Arial" panose="020B0604020202020204" pitchFamily="34" charset="0"/>
              <a:buChar char="•"/>
            </a:pPr>
            <a:r>
              <a:rPr lang="zh-CN" altLang="en-US" b="0" i="0" dirty="0">
                <a:solidFill>
                  <a:srgbClr val="333333"/>
                </a:solidFill>
                <a:effectLst/>
                <a:latin typeface="Helvetica Neue"/>
              </a:rPr>
              <a:t>知名端口号</a:t>
            </a:r>
          </a:p>
          <a:p>
            <a:pPr algn="l">
              <a:buFont typeface="Arial" panose="020B0604020202020204" pitchFamily="34" charset="0"/>
              <a:buChar char="•"/>
            </a:pPr>
            <a:r>
              <a:rPr lang="zh-CN" altLang="en-US" b="0" i="0" dirty="0">
                <a:solidFill>
                  <a:srgbClr val="333333"/>
                </a:solidFill>
                <a:effectLst/>
                <a:latin typeface="Helvetica Neue"/>
              </a:rPr>
              <a:t>动态端口号</a:t>
            </a:r>
          </a:p>
          <a:p>
            <a:pPr marL="0" indent="0" algn="l">
              <a:buNone/>
            </a:pPr>
            <a:endParaRPr lang="en-US" altLang="zh-CN" b="1" i="0" dirty="0">
              <a:solidFill>
                <a:srgbClr val="333333"/>
              </a:solidFill>
              <a:effectLst/>
              <a:latin typeface="Helvetica Neue"/>
            </a:endParaRPr>
          </a:p>
          <a:p>
            <a:pPr marL="0" indent="0" algn="l">
              <a:buNone/>
            </a:pPr>
            <a:r>
              <a:rPr lang="zh-CN" altLang="en-US" b="1" i="0" dirty="0">
                <a:solidFill>
                  <a:srgbClr val="333333"/>
                </a:solidFill>
                <a:effectLst/>
                <a:latin typeface="Helvetica Neue"/>
              </a:rPr>
              <a:t>☆ 知名端口号</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知名端口号是指</a:t>
            </a:r>
            <a:r>
              <a:rPr lang="zh-CN" altLang="en-US" b="1" i="0" dirty="0">
                <a:solidFill>
                  <a:srgbClr val="B60206"/>
                </a:solidFill>
                <a:effectLst/>
                <a:latin typeface="Helvetica Neue"/>
              </a:rPr>
              <a:t>众所周知的端口号，范围从</a:t>
            </a:r>
            <a:r>
              <a:rPr lang="en-US" altLang="zh-CN" b="1" i="0" dirty="0">
                <a:solidFill>
                  <a:srgbClr val="B60206"/>
                </a:solidFill>
                <a:effectLst/>
                <a:latin typeface="Helvetica Neue"/>
              </a:rPr>
              <a:t>0</a:t>
            </a:r>
            <a:r>
              <a:rPr lang="zh-CN" altLang="en-US" b="1" i="0" dirty="0">
                <a:solidFill>
                  <a:srgbClr val="B60206"/>
                </a:solidFill>
                <a:effectLst/>
                <a:latin typeface="Helvetica Neue"/>
              </a:rPr>
              <a:t>到</a:t>
            </a:r>
            <a:r>
              <a:rPr lang="en-US" altLang="zh-CN" b="1" i="0" dirty="0">
                <a:solidFill>
                  <a:srgbClr val="B60206"/>
                </a:solidFill>
                <a:effectLst/>
                <a:latin typeface="Helvetica Neue"/>
              </a:rPr>
              <a:t>1023</a:t>
            </a:r>
            <a:r>
              <a:rPr lang="zh-CN" altLang="en-US" b="1" i="0" dirty="0">
                <a:solidFill>
                  <a:srgbClr val="B60206"/>
                </a:solidFill>
                <a:effectLst/>
                <a:latin typeface="Helvetica Neue"/>
              </a:rPr>
              <a:t>。</a:t>
            </a:r>
            <a:endParaRPr lang="zh-CN" altLang="en-US" b="0" i="0" dirty="0">
              <a:solidFill>
                <a:srgbClr val="B60206"/>
              </a:solidFill>
              <a:effectLst/>
              <a:latin typeface="Helvetica Neue"/>
            </a:endParaRPr>
          </a:p>
          <a:p>
            <a:pPr marL="0" indent="0" algn="l">
              <a:buNone/>
            </a:pPr>
            <a:r>
              <a:rPr lang="zh-CN" altLang="en-US" b="0" i="0" dirty="0">
                <a:solidFill>
                  <a:srgbClr val="333333"/>
                </a:solidFill>
                <a:effectLst/>
                <a:latin typeface="Helvetica Neue"/>
              </a:rPr>
              <a:t>这些端口号一般固定分配给一些服务，比如</a:t>
            </a:r>
            <a:r>
              <a:rPr lang="en-US" altLang="zh-CN" b="0" i="0" dirty="0">
                <a:solidFill>
                  <a:srgbClr val="333333"/>
                </a:solidFill>
                <a:effectLst/>
                <a:latin typeface="Helvetica Neue"/>
              </a:rPr>
              <a:t>21</a:t>
            </a:r>
            <a:r>
              <a:rPr lang="zh-CN" altLang="en-US" b="0" i="0" dirty="0">
                <a:solidFill>
                  <a:srgbClr val="333333"/>
                </a:solidFill>
                <a:effectLst/>
                <a:latin typeface="Helvetica Neue"/>
              </a:rPr>
              <a:t>端口分配给</a:t>
            </a:r>
            <a:r>
              <a:rPr lang="en-US" altLang="zh-CN" b="0" i="0" dirty="0">
                <a:solidFill>
                  <a:srgbClr val="333333"/>
                </a:solidFill>
                <a:effectLst/>
                <a:latin typeface="Helvetica Neue"/>
              </a:rPr>
              <a:t>FTP(</a:t>
            </a:r>
            <a:r>
              <a:rPr lang="zh-CN" altLang="en-US" b="0" i="0" dirty="0">
                <a:solidFill>
                  <a:srgbClr val="333333"/>
                </a:solidFill>
                <a:effectLst/>
                <a:latin typeface="Helvetica Neue"/>
              </a:rPr>
              <a:t>文件传输协议</a:t>
            </a:r>
            <a:r>
              <a:rPr lang="en-US" altLang="zh-CN" b="0" i="0" dirty="0">
                <a:solidFill>
                  <a:srgbClr val="333333"/>
                </a:solidFill>
                <a:effectLst/>
                <a:latin typeface="Helvetica Neue"/>
              </a:rPr>
              <a:t>)</a:t>
            </a:r>
            <a:r>
              <a:rPr lang="zh-CN" altLang="en-US" b="0" i="0" dirty="0">
                <a:solidFill>
                  <a:srgbClr val="333333"/>
                </a:solidFill>
                <a:effectLst/>
                <a:latin typeface="Helvetica Neue"/>
              </a:rPr>
              <a:t>服务，</a:t>
            </a:r>
            <a:r>
              <a:rPr lang="en-US" altLang="zh-CN" b="0" i="0" dirty="0">
                <a:solidFill>
                  <a:srgbClr val="333333"/>
                </a:solidFill>
                <a:effectLst/>
                <a:latin typeface="Helvetica Neue"/>
              </a:rPr>
              <a:t>25</a:t>
            </a:r>
            <a:r>
              <a:rPr lang="zh-CN" altLang="en-US" b="0" i="0" dirty="0">
                <a:solidFill>
                  <a:srgbClr val="333333"/>
                </a:solidFill>
                <a:effectLst/>
                <a:latin typeface="Helvetica Neue"/>
              </a:rPr>
              <a:t>端口分配给</a:t>
            </a:r>
            <a:r>
              <a:rPr lang="en-US" altLang="zh-CN" b="0" i="0" dirty="0">
                <a:solidFill>
                  <a:srgbClr val="333333"/>
                </a:solidFill>
                <a:effectLst/>
                <a:latin typeface="Helvetica Neue"/>
              </a:rPr>
              <a:t>SMTP</a:t>
            </a:r>
            <a:r>
              <a:rPr lang="zh-CN" altLang="en-US" b="0" i="0" dirty="0">
                <a:solidFill>
                  <a:srgbClr val="333333"/>
                </a:solidFill>
                <a:effectLst/>
                <a:latin typeface="Helvetica Neue"/>
              </a:rPr>
              <a:t>（简单邮件传输协议）服务，</a:t>
            </a:r>
            <a:r>
              <a:rPr lang="en-US" altLang="zh-CN" b="0" i="0" dirty="0">
                <a:solidFill>
                  <a:srgbClr val="333333"/>
                </a:solidFill>
                <a:effectLst/>
                <a:latin typeface="Helvetica Neue"/>
              </a:rPr>
              <a:t>80</a:t>
            </a:r>
            <a:r>
              <a:rPr lang="zh-CN" altLang="en-US" b="0" i="0" dirty="0">
                <a:solidFill>
                  <a:srgbClr val="333333"/>
                </a:solidFill>
                <a:effectLst/>
                <a:latin typeface="Helvetica Neue"/>
              </a:rPr>
              <a:t>端口分配给</a:t>
            </a:r>
            <a:r>
              <a:rPr lang="en-US" altLang="zh-CN" b="0" i="0" dirty="0">
                <a:solidFill>
                  <a:srgbClr val="333333"/>
                </a:solidFill>
                <a:effectLst/>
                <a:latin typeface="Helvetica Neue"/>
              </a:rPr>
              <a:t>HTTP</a:t>
            </a:r>
            <a:r>
              <a:rPr lang="zh-CN" altLang="en-US" b="0" i="0" dirty="0">
                <a:solidFill>
                  <a:srgbClr val="333333"/>
                </a:solidFill>
                <a:effectLst/>
                <a:latin typeface="Helvetica Neue"/>
              </a:rPr>
              <a:t>服务。</a:t>
            </a:r>
          </a:p>
          <a:p>
            <a:pPr marL="0" indent="0" algn="l">
              <a:buNone/>
            </a:pPr>
            <a:r>
              <a:rPr lang="zh-CN" altLang="en-US" b="1" i="0" dirty="0">
                <a:solidFill>
                  <a:srgbClr val="333333"/>
                </a:solidFill>
                <a:effectLst/>
                <a:latin typeface="Helvetica Neue"/>
              </a:rPr>
              <a:t>☆ 动态端口号</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一般程序员</a:t>
            </a:r>
            <a:r>
              <a:rPr lang="zh-CN" altLang="en-US" b="1" i="0" dirty="0">
                <a:solidFill>
                  <a:srgbClr val="B60206"/>
                </a:solidFill>
                <a:effectLst/>
                <a:latin typeface="Helvetica Neue"/>
              </a:rPr>
              <a:t>开发应用程序使用端口号称为动态端口号</a:t>
            </a:r>
            <a:r>
              <a:rPr lang="en-US" altLang="zh-CN" b="1" i="0" dirty="0">
                <a:solidFill>
                  <a:srgbClr val="B60206"/>
                </a:solidFill>
                <a:effectLst/>
                <a:latin typeface="Helvetica Neue"/>
              </a:rPr>
              <a:t>, </a:t>
            </a:r>
            <a:r>
              <a:rPr lang="zh-CN" altLang="en-US" b="1" i="0" dirty="0">
                <a:solidFill>
                  <a:srgbClr val="B60206"/>
                </a:solidFill>
                <a:effectLst/>
                <a:latin typeface="Helvetica Neue"/>
              </a:rPr>
              <a:t>范围是从</a:t>
            </a:r>
            <a:r>
              <a:rPr lang="en-US" altLang="zh-CN" b="1" i="0" dirty="0">
                <a:solidFill>
                  <a:srgbClr val="B60206"/>
                </a:solidFill>
                <a:effectLst/>
                <a:latin typeface="Helvetica Neue"/>
              </a:rPr>
              <a:t>1024</a:t>
            </a:r>
            <a:r>
              <a:rPr lang="zh-CN" altLang="en-US" b="1" i="0" dirty="0">
                <a:solidFill>
                  <a:srgbClr val="B60206"/>
                </a:solidFill>
                <a:effectLst/>
                <a:latin typeface="Helvetica Neue"/>
              </a:rPr>
              <a:t>到</a:t>
            </a:r>
            <a:r>
              <a:rPr lang="en-US" altLang="zh-CN" b="1" i="0" dirty="0">
                <a:solidFill>
                  <a:srgbClr val="B60206"/>
                </a:solidFill>
                <a:effectLst/>
                <a:latin typeface="Helvetica Neue"/>
              </a:rPr>
              <a:t>65535</a:t>
            </a:r>
            <a:r>
              <a:rPr lang="zh-CN" altLang="en-US" b="1" i="0" dirty="0">
                <a:solidFill>
                  <a:srgbClr val="B60206"/>
                </a:solidFill>
                <a:effectLst/>
                <a:latin typeface="Helvetica Neue"/>
              </a:rPr>
              <a:t>。</a:t>
            </a:r>
            <a:endParaRPr lang="zh-CN" altLang="en-US" b="0" i="0" dirty="0">
              <a:solidFill>
                <a:srgbClr val="B60206"/>
              </a:solidFill>
              <a:effectLst/>
              <a:latin typeface="Helvetica Neue"/>
            </a:endParaRPr>
          </a:p>
          <a:p>
            <a:pPr marL="0" indent="0" algn="l">
              <a:buNone/>
            </a:pPr>
            <a:r>
              <a:rPr lang="zh-CN" altLang="en-US" b="0" i="0" dirty="0">
                <a:solidFill>
                  <a:srgbClr val="333333"/>
                </a:solidFill>
                <a:effectLst/>
                <a:latin typeface="Helvetica Neue"/>
              </a:rPr>
              <a:t>如果程序员开发的程序没有设置端口号，操作系统会在动态端口号这个范围内随机生成一个给开发的应用程序使用。</a:t>
            </a:r>
          </a:p>
          <a:p>
            <a:pPr marL="0" indent="0" algn="l">
              <a:buNone/>
            </a:pPr>
            <a:r>
              <a:rPr lang="zh-CN" altLang="en-US" b="0" i="0" dirty="0">
                <a:solidFill>
                  <a:srgbClr val="B60206"/>
                </a:solidFill>
                <a:effectLst/>
                <a:latin typeface="Helvetica Neue"/>
              </a:rPr>
              <a:t>注：当运行一个程序默认会有一个端口号，当这个程序退出时，所占用的这个端口号就会被释放。</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9</a:t>
            </a:r>
            <a:r>
              <a:rPr kumimoji="1" lang="zh-CN" altLang="en-US" b="1" i="0" dirty="0">
                <a:solidFill>
                  <a:srgbClr val="333333"/>
                </a:solidFill>
                <a:effectLst/>
                <a:latin typeface="Helvetica Neue"/>
              </a:rPr>
              <a:t>、</a:t>
            </a:r>
            <a:r>
              <a:rPr lang="zh-CN" altLang="en-US" b="1" i="0" dirty="0">
                <a:solidFill>
                  <a:srgbClr val="333333"/>
                </a:solidFill>
                <a:effectLst/>
                <a:latin typeface="Helvetica Neue"/>
              </a:rPr>
              <a:t>端口号的分类</a:t>
            </a:r>
          </a:p>
        </p:txBody>
      </p:sp>
    </p:spTree>
    <p:extLst>
      <p:ext uri="{BB962C8B-B14F-4D97-AF65-F5344CB8AC3E}">
        <p14:creationId xmlns:p14="http://schemas.microsoft.com/office/powerpoint/2010/main" val="4000619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665215"/>
          </a:xfrm>
        </p:spPr>
        <p:txBody>
          <a:bodyPr/>
          <a:lstStyle/>
          <a:p>
            <a:pPr algn="l">
              <a:buFont typeface="Arial" panose="020B0604020202020204" pitchFamily="34" charset="0"/>
              <a:buChar char="•"/>
            </a:pPr>
            <a:r>
              <a:rPr lang="zh-CN" altLang="en-US" b="0" i="0" dirty="0">
                <a:solidFill>
                  <a:srgbClr val="333333"/>
                </a:solidFill>
                <a:effectLst/>
                <a:latin typeface="Helvetica Neue"/>
              </a:rPr>
              <a:t>端口的作用就是</a:t>
            </a:r>
            <a:r>
              <a:rPr lang="zh-CN" altLang="en-US" b="1" i="0" dirty="0">
                <a:solidFill>
                  <a:srgbClr val="B60206"/>
                </a:solidFill>
                <a:effectLst/>
                <a:latin typeface="Helvetica Neue"/>
              </a:rPr>
              <a:t>给运行的应用程序提供传输数据的通道</a:t>
            </a:r>
            <a:r>
              <a:rPr lang="zh-CN" altLang="en-US" b="0" i="0" dirty="0">
                <a:solidFill>
                  <a:srgbClr val="B60206"/>
                </a:solidFill>
                <a:effectLst/>
                <a:latin typeface="Helvetica Neue"/>
              </a:rPr>
              <a:t>。</a:t>
            </a:r>
          </a:p>
          <a:p>
            <a:pPr algn="l">
              <a:buFont typeface="Arial" panose="020B0604020202020204" pitchFamily="34" charset="0"/>
              <a:buChar char="•"/>
            </a:pPr>
            <a:r>
              <a:rPr lang="zh-CN" altLang="en-US" b="0" i="0" dirty="0">
                <a:solidFill>
                  <a:srgbClr val="333333"/>
                </a:solidFill>
                <a:effectLst/>
                <a:latin typeface="Helvetica Neue"/>
              </a:rPr>
              <a:t>端口号的作用是</a:t>
            </a:r>
            <a:r>
              <a:rPr lang="zh-CN" altLang="en-US" b="1" i="0" dirty="0">
                <a:solidFill>
                  <a:srgbClr val="B60206"/>
                </a:solidFill>
                <a:effectLst/>
                <a:latin typeface="Helvetica Neue"/>
              </a:rPr>
              <a:t>用来区分和管理不同端口的，通过端口号能找到唯一个的一个端口</a:t>
            </a:r>
            <a:r>
              <a:rPr lang="zh-CN" altLang="en-US" b="0" i="0" dirty="0">
                <a:solidFill>
                  <a:srgbClr val="B60206"/>
                </a:solidFill>
                <a:effectLst/>
                <a:latin typeface="Helvetica Neue"/>
              </a:rPr>
              <a:t>。</a:t>
            </a:r>
          </a:p>
          <a:p>
            <a:pPr algn="l">
              <a:buFont typeface="Arial" panose="020B0604020202020204" pitchFamily="34" charset="0"/>
              <a:buChar char="•"/>
            </a:pPr>
            <a:r>
              <a:rPr lang="zh-CN" altLang="en-US" b="0" i="0" dirty="0">
                <a:solidFill>
                  <a:srgbClr val="333333"/>
                </a:solidFill>
                <a:effectLst/>
                <a:latin typeface="Helvetica Neue"/>
              </a:rPr>
              <a:t>端口号可以分为两类： </a:t>
            </a:r>
            <a:r>
              <a:rPr lang="zh-CN" altLang="en-US" b="1" i="0" dirty="0">
                <a:solidFill>
                  <a:srgbClr val="B60206"/>
                </a:solidFill>
                <a:effectLst/>
                <a:latin typeface="Helvetica Neue"/>
              </a:rPr>
              <a:t>知名端口号</a:t>
            </a:r>
            <a:r>
              <a:rPr lang="zh-CN" altLang="en-US" b="0" i="0" dirty="0">
                <a:solidFill>
                  <a:srgbClr val="B60206"/>
                </a:solidFill>
                <a:effectLst/>
                <a:latin typeface="Helvetica Neue"/>
              </a:rPr>
              <a:t> </a:t>
            </a:r>
            <a:r>
              <a:rPr lang="zh-CN" altLang="en-US" b="0" i="0" dirty="0">
                <a:solidFill>
                  <a:srgbClr val="333333"/>
                </a:solidFill>
                <a:effectLst/>
                <a:latin typeface="Helvetica Neue"/>
              </a:rPr>
              <a:t>和 </a:t>
            </a:r>
            <a:r>
              <a:rPr lang="zh-CN" altLang="en-US" b="1" i="0" dirty="0">
                <a:solidFill>
                  <a:srgbClr val="B60206"/>
                </a:solidFill>
                <a:effectLst/>
                <a:latin typeface="Helvetica Neue"/>
              </a:rPr>
              <a:t>动态端口号</a:t>
            </a:r>
            <a:endParaRPr lang="zh-CN" altLang="en-US" b="0" i="0" dirty="0">
              <a:solidFill>
                <a:srgbClr val="B60206"/>
              </a:solidFill>
              <a:effectLst/>
              <a:latin typeface="Helvetica Neue"/>
            </a:endParaRPr>
          </a:p>
          <a:p>
            <a:pPr marL="742950" lvl="1" indent="-285750" algn="l">
              <a:buFont typeface="Arial" panose="020B0604020202020204" pitchFamily="34" charset="0"/>
              <a:buChar char="•"/>
            </a:pPr>
            <a:r>
              <a:rPr lang="zh-CN" altLang="en-US" b="0" i="0" dirty="0">
                <a:solidFill>
                  <a:srgbClr val="333333"/>
                </a:solidFill>
                <a:effectLst/>
                <a:latin typeface="Helvetica Neue"/>
              </a:rPr>
              <a:t>知名端口号的范围是</a:t>
            </a:r>
            <a:r>
              <a:rPr lang="en-US" altLang="zh-CN" b="1" i="0" dirty="0">
                <a:solidFill>
                  <a:srgbClr val="B60206"/>
                </a:solidFill>
                <a:effectLst/>
                <a:latin typeface="Helvetica Neue"/>
              </a:rPr>
              <a:t>0</a:t>
            </a:r>
            <a:r>
              <a:rPr lang="zh-CN" altLang="en-US" b="1" i="0" dirty="0">
                <a:solidFill>
                  <a:srgbClr val="B60206"/>
                </a:solidFill>
                <a:effectLst/>
                <a:latin typeface="Helvetica Neue"/>
              </a:rPr>
              <a:t>到</a:t>
            </a:r>
            <a:r>
              <a:rPr lang="en-US" altLang="zh-CN" b="1" i="0" dirty="0">
                <a:solidFill>
                  <a:srgbClr val="B60206"/>
                </a:solidFill>
                <a:effectLst/>
                <a:latin typeface="Helvetica Neue"/>
              </a:rPr>
              <a:t>1023</a:t>
            </a:r>
          </a:p>
          <a:p>
            <a:pPr marL="742950" lvl="1" indent="-285750" algn="l">
              <a:buFont typeface="Arial" panose="020B0604020202020204" pitchFamily="34" charset="0"/>
              <a:buChar char="•"/>
            </a:pPr>
            <a:r>
              <a:rPr lang="zh-CN" altLang="en-US" b="0" i="0" dirty="0">
                <a:solidFill>
                  <a:srgbClr val="333333"/>
                </a:solidFill>
                <a:effectLst/>
                <a:latin typeface="Helvetica Neue"/>
              </a:rPr>
              <a:t>动态端口号的范围是</a:t>
            </a:r>
            <a:r>
              <a:rPr lang="en-US" altLang="zh-CN" b="1" i="0" dirty="0">
                <a:solidFill>
                  <a:srgbClr val="B60206"/>
                </a:solidFill>
                <a:effectLst/>
                <a:latin typeface="Helvetica Neue"/>
              </a:rPr>
              <a:t>1024</a:t>
            </a:r>
            <a:r>
              <a:rPr lang="zh-CN" altLang="en-US" b="1" i="0" dirty="0">
                <a:solidFill>
                  <a:srgbClr val="B60206"/>
                </a:solidFill>
                <a:effectLst/>
                <a:latin typeface="Helvetica Neue"/>
              </a:rPr>
              <a:t>到</a:t>
            </a:r>
            <a:r>
              <a:rPr lang="en-US" altLang="zh-CN" b="1" i="0" dirty="0">
                <a:solidFill>
                  <a:srgbClr val="B60206"/>
                </a:solidFill>
                <a:effectLst/>
                <a:latin typeface="Helvetica Neue"/>
              </a:rPr>
              <a:t>65535</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10</a:t>
            </a:r>
            <a:r>
              <a:rPr kumimoji="1" lang="zh-CN" altLang="en-US" b="1" i="0" dirty="0">
                <a:solidFill>
                  <a:srgbClr val="333333"/>
                </a:solidFill>
                <a:effectLst/>
                <a:latin typeface="Helvetica Neue"/>
              </a:rPr>
              <a:t>、小结</a:t>
            </a:r>
            <a:endParaRPr lang="zh-CN" altLang="en-US" b="1" i="0" dirty="0">
              <a:solidFill>
                <a:srgbClr val="333333"/>
              </a:solidFill>
              <a:effectLst/>
              <a:latin typeface="Helvetica Neue"/>
            </a:endParaRPr>
          </a:p>
        </p:txBody>
      </p:sp>
    </p:spTree>
    <p:extLst>
      <p:ext uri="{BB962C8B-B14F-4D97-AF65-F5344CB8AC3E}">
        <p14:creationId xmlns:p14="http://schemas.microsoft.com/office/powerpoint/2010/main" val="3552459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TCP </a:t>
            </a:r>
            <a:r>
              <a:rPr lang="zh-CN" altLang="en-US" b="1" i="0" dirty="0">
                <a:solidFill>
                  <a:srgbClr val="333333"/>
                </a:solidFill>
                <a:effectLst/>
                <a:latin typeface="Helvetica Neue"/>
              </a:rPr>
              <a:t>的介绍</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02</a:t>
            </a:r>
            <a:endParaRPr kumimoji="1" lang="zh-CN" altLang="en-US" dirty="0"/>
          </a:p>
        </p:txBody>
      </p:sp>
    </p:spTree>
    <p:extLst>
      <p:ext uri="{BB962C8B-B14F-4D97-AF65-F5344CB8AC3E}">
        <p14:creationId xmlns:p14="http://schemas.microsoft.com/office/powerpoint/2010/main" val="732638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665215"/>
          </a:xfrm>
        </p:spPr>
        <p:txBody>
          <a:bodyPr/>
          <a:lstStyle/>
          <a:p>
            <a:pPr marL="0" indent="0" algn="l">
              <a:buNone/>
            </a:pPr>
            <a:r>
              <a:rPr lang="zh-CN" altLang="en-US" b="0" i="0" dirty="0">
                <a:solidFill>
                  <a:srgbClr val="333333"/>
                </a:solidFill>
                <a:effectLst/>
                <a:latin typeface="Helvetica Neue"/>
              </a:rPr>
              <a:t>之前我们学习了 </a:t>
            </a:r>
            <a:r>
              <a:rPr lang="en-US" altLang="zh-CN" b="0" i="0" dirty="0">
                <a:solidFill>
                  <a:srgbClr val="333333"/>
                </a:solidFill>
                <a:effectLst/>
                <a:latin typeface="Helvetica Neue"/>
              </a:rPr>
              <a:t>IP </a:t>
            </a:r>
            <a:r>
              <a:rPr lang="zh-CN" altLang="en-US" b="0" i="0" dirty="0">
                <a:solidFill>
                  <a:srgbClr val="333333"/>
                </a:solidFill>
                <a:effectLst/>
                <a:latin typeface="Helvetica Neue"/>
              </a:rPr>
              <a:t>地址和端口号，通过 </a:t>
            </a:r>
            <a:r>
              <a:rPr lang="en-US" altLang="zh-CN" b="0" i="0" dirty="0">
                <a:solidFill>
                  <a:srgbClr val="333333"/>
                </a:solidFill>
                <a:effectLst/>
                <a:latin typeface="Helvetica Neue"/>
              </a:rPr>
              <a:t>IP </a:t>
            </a:r>
            <a:r>
              <a:rPr lang="zh-CN" altLang="en-US" b="0" i="0" dirty="0">
                <a:solidFill>
                  <a:srgbClr val="333333"/>
                </a:solidFill>
                <a:effectLst/>
                <a:latin typeface="Helvetica Neue"/>
              </a:rPr>
              <a:t>地址能够找到对应的设备，然后再通过端口号找到对应的端口，再通过端口把数据传输给应用程序，</a:t>
            </a:r>
            <a:r>
              <a:rPr lang="zh-CN" altLang="en-US" b="1" i="0" dirty="0">
                <a:solidFill>
                  <a:srgbClr val="B60206"/>
                </a:solidFill>
                <a:effectLst/>
                <a:latin typeface="Helvetica Neue"/>
              </a:rPr>
              <a:t>这里要注意，数据不能随便发送，在发送之前还需要选择一个对应的传输协议，保证程序之间按照指定的传输规则进行数据的通信， </a:t>
            </a:r>
            <a:r>
              <a:rPr lang="zh-CN" altLang="en-US" b="0" i="0" dirty="0">
                <a:solidFill>
                  <a:srgbClr val="333333"/>
                </a:solidFill>
                <a:effectLst/>
                <a:latin typeface="Helvetica Neue"/>
              </a:rPr>
              <a:t>而这个传输协议就是我们今天学习的 </a:t>
            </a:r>
            <a:r>
              <a:rPr lang="en-US" altLang="zh-CN" b="0" i="0" dirty="0">
                <a:solidFill>
                  <a:srgbClr val="B60206"/>
                </a:solidFill>
                <a:effectLst/>
                <a:latin typeface="Helvetica Neue"/>
              </a:rPr>
              <a:t>TCP</a:t>
            </a:r>
            <a:r>
              <a:rPr lang="zh-CN" altLang="en-US" b="0" i="0" dirty="0">
                <a:solidFill>
                  <a:srgbClr val="333333"/>
                </a:solidFill>
                <a:effectLst/>
                <a:latin typeface="Helvetica Neue"/>
              </a:rPr>
              <a:t>。</a:t>
            </a:r>
            <a:endParaRPr lang="en-US" altLang="zh-CN" b="0" i="0" dirty="0">
              <a:solidFill>
                <a:srgbClr val="B60206"/>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1</a:t>
            </a:r>
            <a:r>
              <a:rPr kumimoji="1" lang="zh-CN" altLang="en-US" b="1" i="0" dirty="0">
                <a:solidFill>
                  <a:srgbClr val="333333"/>
                </a:solidFill>
                <a:effectLst/>
                <a:latin typeface="Helvetica Neue"/>
              </a:rPr>
              <a:t>、</a:t>
            </a:r>
            <a:r>
              <a:rPr lang="zh-CN" altLang="en-US" b="1" i="0" dirty="0">
                <a:solidFill>
                  <a:srgbClr val="333333"/>
                </a:solidFill>
                <a:effectLst/>
                <a:latin typeface="Helvetica Neue"/>
              </a:rPr>
              <a:t>网络应用程序之间的通信流程</a:t>
            </a:r>
          </a:p>
        </p:txBody>
      </p:sp>
    </p:spTree>
    <p:extLst>
      <p:ext uri="{BB962C8B-B14F-4D97-AF65-F5344CB8AC3E}">
        <p14:creationId xmlns:p14="http://schemas.microsoft.com/office/powerpoint/2010/main" val="2391020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967678"/>
          </a:xfrm>
        </p:spPr>
        <p:txBody>
          <a:bodyPr/>
          <a:lstStyle/>
          <a:p>
            <a:pPr marL="0" indent="0" algn="l">
              <a:buNone/>
            </a:pPr>
            <a:r>
              <a:rPr lang="en-US" altLang="zh-CN" b="0" i="0" dirty="0">
                <a:solidFill>
                  <a:srgbClr val="333333"/>
                </a:solidFill>
                <a:effectLst/>
                <a:latin typeface="Helvetica Neue"/>
              </a:rPr>
              <a:t>TCP </a:t>
            </a:r>
            <a:r>
              <a:rPr lang="zh-CN" altLang="en-US" b="0" i="0" dirty="0">
                <a:solidFill>
                  <a:srgbClr val="333333"/>
                </a:solidFill>
                <a:effectLst/>
                <a:latin typeface="Helvetica Neue"/>
              </a:rPr>
              <a:t>的英文全拼</a:t>
            </a:r>
            <a:r>
              <a:rPr lang="en-US" altLang="zh-CN" b="0" i="0" dirty="0">
                <a:solidFill>
                  <a:srgbClr val="333333"/>
                </a:solidFill>
                <a:effectLst/>
                <a:latin typeface="Helvetica Neue"/>
              </a:rPr>
              <a:t>(Transmission Control Protocol)</a:t>
            </a:r>
            <a:r>
              <a:rPr lang="zh-CN" altLang="en-US" b="0" i="0" dirty="0">
                <a:solidFill>
                  <a:srgbClr val="333333"/>
                </a:solidFill>
                <a:effectLst/>
                <a:latin typeface="Helvetica Neue"/>
              </a:rPr>
              <a:t>简称</a:t>
            </a:r>
            <a:r>
              <a:rPr lang="zh-CN" altLang="en-US" b="1" i="0" dirty="0">
                <a:solidFill>
                  <a:srgbClr val="C00000"/>
                </a:solidFill>
                <a:effectLst/>
                <a:latin typeface="Helvetica Neue"/>
              </a:rPr>
              <a:t>传输控制协议</a:t>
            </a:r>
            <a:r>
              <a:rPr lang="zh-CN" altLang="en-US" b="0" i="0" dirty="0">
                <a:solidFill>
                  <a:srgbClr val="333333"/>
                </a:solidFill>
                <a:effectLst/>
                <a:latin typeface="Helvetica Neue"/>
              </a:rPr>
              <a:t>，它是一种</a:t>
            </a:r>
            <a:r>
              <a:rPr lang="zh-CN" altLang="en-US" b="1" i="0" dirty="0">
                <a:solidFill>
                  <a:srgbClr val="C00000"/>
                </a:solidFill>
                <a:effectLst/>
                <a:latin typeface="Helvetica Neue"/>
              </a:rPr>
              <a:t>面向连接的、可靠的、基于字节流的传输层通信协议</a:t>
            </a:r>
            <a:r>
              <a:rPr lang="zh-CN" altLang="en-US" b="0" i="0" dirty="0">
                <a:solidFill>
                  <a:srgbClr val="C00000"/>
                </a:solidFill>
                <a:effectLst/>
                <a:latin typeface="Helvetica Neue"/>
              </a:rPr>
              <a:t>。</a:t>
            </a:r>
            <a:endParaRPr lang="en-US" altLang="zh-CN" b="0" i="0" dirty="0">
              <a:solidFill>
                <a:srgbClr val="C00000"/>
              </a:solidFill>
              <a:effectLst/>
              <a:latin typeface="Helvetica Neue"/>
            </a:endParaRPr>
          </a:p>
          <a:p>
            <a:pPr marL="0" indent="0" algn="l">
              <a:buNone/>
            </a:pPr>
            <a:r>
              <a:rPr lang="zh-CN" altLang="en-US" i="0" dirty="0">
                <a:solidFill>
                  <a:srgbClr val="333333"/>
                </a:solidFill>
                <a:effectLst/>
                <a:latin typeface="Helvetica Neue"/>
              </a:rPr>
              <a:t>面向连接的效果图</a:t>
            </a:r>
            <a:r>
              <a:rPr lang="en-US" altLang="zh-CN" i="0" dirty="0">
                <a:solidFill>
                  <a:srgbClr val="333333"/>
                </a:solidFill>
                <a:effectLst/>
                <a:latin typeface="Helvetica Neue"/>
              </a:rPr>
              <a:t>:</a:t>
            </a:r>
          </a:p>
          <a:p>
            <a:pPr marL="0" indent="0" algn="l">
              <a:buNone/>
            </a:pPr>
            <a:endParaRPr lang="en-US" altLang="zh-CN" dirty="0">
              <a:solidFill>
                <a:srgbClr val="333333"/>
              </a:solidFill>
              <a:latin typeface="Helvetica Neue"/>
            </a:endParaRPr>
          </a:p>
          <a:p>
            <a:pPr marL="0" indent="0" algn="l">
              <a:buNone/>
            </a:pPr>
            <a:endParaRPr lang="en-US" altLang="zh-CN"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dirty="0">
              <a:solidFill>
                <a:srgbClr val="C00000"/>
              </a:solidFill>
              <a:latin typeface="Helvetica Neue"/>
            </a:endParaRPr>
          </a:p>
          <a:p>
            <a:pPr marL="0" indent="0" algn="l">
              <a:buNone/>
            </a:pPr>
            <a:r>
              <a:rPr lang="en-US" altLang="zh-CN" b="1" dirty="0">
                <a:solidFill>
                  <a:srgbClr val="C00000"/>
                </a:solidFill>
                <a:latin typeface="Helvetica Neue"/>
              </a:rPr>
              <a:t>TCP</a:t>
            </a:r>
            <a:r>
              <a:rPr lang="zh-CN" altLang="en-US" b="1" dirty="0">
                <a:solidFill>
                  <a:srgbClr val="C00000"/>
                </a:solidFill>
                <a:latin typeface="Helvetica Neue"/>
              </a:rPr>
              <a:t>通信步骤：① 创建连接 ② 传输数据 ③ 关闭连接 </a:t>
            </a:r>
            <a:endParaRPr lang="en-US" altLang="zh-CN" b="1" i="0" dirty="0">
              <a:solidFill>
                <a:srgbClr val="333333"/>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2</a:t>
            </a:r>
            <a:r>
              <a:rPr kumimoji="1" lang="zh-CN" altLang="en-US" b="1" i="0" dirty="0">
                <a:solidFill>
                  <a:srgbClr val="333333"/>
                </a:solidFill>
                <a:effectLst/>
                <a:latin typeface="Helvetica Neue"/>
              </a:rPr>
              <a:t>、</a:t>
            </a:r>
            <a:r>
              <a:rPr lang="en-US" altLang="zh-CN" b="1" i="0" dirty="0">
                <a:solidFill>
                  <a:srgbClr val="333333"/>
                </a:solidFill>
                <a:effectLst/>
                <a:latin typeface="Helvetica Neue"/>
              </a:rPr>
              <a:t>TCP</a:t>
            </a:r>
            <a:r>
              <a:rPr lang="zh-CN" altLang="en-US" b="1" i="0">
                <a:solidFill>
                  <a:srgbClr val="333333"/>
                </a:solidFill>
                <a:effectLst/>
                <a:latin typeface="Helvetica Neue"/>
              </a:rPr>
              <a:t>概念</a:t>
            </a:r>
            <a:endParaRPr lang="zh-CN" altLang="en-US" b="1" i="0" dirty="0">
              <a:solidFill>
                <a:srgbClr val="333333"/>
              </a:solidFill>
              <a:effectLst/>
              <a:latin typeface="Helvetica Neue"/>
            </a:endParaRPr>
          </a:p>
        </p:txBody>
      </p:sp>
      <p:pic>
        <p:nvPicPr>
          <p:cNvPr id="6" name="图片 5">
            <a:extLst>
              <a:ext uri="{FF2B5EF4-FFF2-40B4-BE49-F238E27FC236}">
                <a16:creationId xmlns:a16="http://schemas.microsoft.com/office/drawing/2014/main" id="{32325549-AC08-45F8-8F95-8081134D07D0}"/>
              </a:ext>
            </a:extLst>
          </p:cNvPr>
          <p:cNvPicPr>
            <a:picLocks noChangeAspect="1"/>
          </p:cNvPicPr>
          <p:nvPr/>
        </p:nvPicPr>
        <p:blipFill>
          <a:blip r:embed="rId3"/>
          <a:stretch>
            <a:fillRect/>
          </a:stretch>
        </p:blipFill>
        <p:spPr>
          <a:xfrm>
            <a:off x="2774751" y="2968918"/>
            <a:ext cx="6125409" cy="3020121"/>
          </a:xfrm>
          <a:prstGeom prst="rect">
            <a:avLst/>
          </a:prstGeom>
        </p:spPr>
      </p:pic>
    </p:spTree>
    <p:extLst>
      <p:ext uri="{BB962C8B-B14F-4D97-AF65-F5344CB8AC3E}">
        <p14:creationId xmlns:p14="http://schemas.microsoft.com/office/powerpoint/2010/main" val="524019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967678"/>
          </a:xfrm>
        </p:spPr>
        <p:txBody>
          <a:bodyPr/>
          <a:lstStyle/>
          <a:p>
            <a:pPr marL="0" indent="0" algn="l">
              <a:buNone/>
            </a:pPr>
            <a:r>
              <a:rPr lang="zh-CN" altLang="en-US" b="0" i="0" dirty="0">
                <a:solidFill>
                  <a:srgbClr val="333333"/>
                </a:solidFill>
                <a:effectLst/>
                <a:latin typeface="Helvetica Neue"/>
              </a:rPr>
              <a:t>☆ 面向连接</a:t>
            </a:r>
            <a:endParaRPr lang="en-US" altLang="zh-CN" b="0" i="0" dirty="0">
              <a:solidFill>
                <a:srgbClr val="333333"/>
              </a:solidFill>
              <a:effectLst/>
              <a:latin typeface="Helvetica Neue"/>
            </a:endParaRPr>
          </a:p>
          <a:p>
            <a:pPr marL="0" indent="0" algn="l">
              <a:buNone/>
            </a:pPr>
            <a:r>
              <a:rPr lang="zh-CN" altLang="en-US" b="0" i="0" dirty="0">
                <a:solidFill>
                  <a:srgbClr val="C00000"/>
                </a:solidFill>
                <a:effectLst/>
                <a:latin typeface="Helvetica Neue"/>
              </a:rPr>
              <a:t>通信双方必须先建立好连接才能进行数据的传输，数据传输完成后，双方必须断开此连接，以释放系统资源。</a:t>
            </a:r>
          </a:p>
          <a:p>
            <a:pPr marL="0" indent="0" algn="l">
              <a:buNone/>
            </a:pPr>
            <a:r>
              <a:rPr lang="zh-CN" altLang="en-US" b="0" i="0" dirty="0">
                <a:solidFill>
                  <a:srgbClr val="333333"/>
                </a:solidFill>
                <a:effectLst/>
                <a:latin typeface="Helvetica Neue"/>
              </a:rPr>
              <a:t>☆ 可靠传输</a:t>
            </a:r>
            <a:endParaRPr lang="en-US" altLang="zh-CN" b="0" i="0" dirty="0">
              <a:solidFill>
                <a:srgbClr val="333333"/>
              </a:solidFill>
              <a:effectLst/>
              <a:latin typeface="Helvetica Neue"/>
            </a:endParaRPr>
          </a:p>
          <a:p>
            <a:pPr marL="0" indent="0" algn="l">
              <a:buNone/>
            </a:pPr>
            <a:r>
              <a:rPr lang="zh-CN" altLang="en-US" b="0" i="0" dirty="0">
                <a:solidFill>
                  <a:srgbClr val="C00000"/>
                </a:solidFill>
                <a:effectLst/>
                <a:latin typeface="Helvetica Neue"/>
              </a:rPr>
              <a:t>① </a:t>
            </a:r>
            <a:r>
              <a:rPr lang="en-US" altLang="zh-CN" b="0" i="0" dirty="0">
                <a:solidFill>
                  <a:srgbClr val="C00000"/>
                </a:solidFill>
                <a:effectLst/>
                <a:latin typeface="Helvetica Neue"/>
              </a:rPr>
              <a:t>TCP </a:t>
            </a:r>
            <a:r>
              <a:rPr lang="zh-CN" altLang="en-US" b="0" i="0" dirty="0">
                <a:solidFill>
                  <a:srgbClr val="C00000"/>
                </a:solidFill>
                <a:effectLst/>
                <a:latin typeface="Helvetica Neue"/>
              </a:rPr>
              <a:t>采用发送应答机制</a:t>
            </a:r>
            <a:endParaRPr lang="en-US" altLang="zh-CN" b="0" i="0" dirty="0">
              <a:solidFill>
                <a:srgbClr val="C00000"/>
              </a:solidFill>
              <a:effectLst/>
              <a:latin typeface="Helvetica Neue"/>
            </a:endParaRPr>
          </a:p>
          <a:p>
            <a:pPr marL="0" indent="0" algn="l">
              <a:buNone/>
            </a:pPr>
            <a:r>
              <a:rPr lang="zh-CN" altLang="en-US" dirty="0">
                <a:solidFill>
                  <a:srgbClr val="C00000"/>
                </a:solidFill>
                <a:latin typeface="Helvetica Neue"/>
              </a:rPr>
              <a:t>② </a:t>
            </a:r>
            <a:r>
              <a:rPr lang="zh-CN" altLang="en-US" b="0" i="0" dirty="0">
                <a:solidFill>
                  <a:srgbClr val="C00000"/>
                </a:solidFill>
                <a:effectLst/>
                <a:latin typeface="Helvetica Neue"/>
              </a:rPr>
              <a:t>超时重传</a:t>
            </a:r>
            <a:endParaRPr lang="en-US" altLang="zh-CN" b="0" i="0" dirty="0">
              <a:solidFill>
                <a:srgbClr val="C00000"/>
              </a:solidFill>
              <a:effectLst/>
              <a:latin typeface="Helvetica Neue"/>
            </a:endParaRPr>
          </a:p>
          <a:p>
            <a:pPr marL="0" indent="0" algn="l">
              <a:buNone/>
            </a:pPr>
            <a:r>
              <a:rPr lang="zh-CN" altLang="en-US" b="0" i="0" dirty="0">
                <a:solidFill>
                  <a:srgbClr val="C00000"/>
                </a:solidFill>
                <a:effectLst/>
                <a:latin typeface="Helvetica Neue"/>
              </a:rPr>
              <a:t>③ 错误校验</a:t>
            </a:r>
            <a:endParaRPr lang="en-US" altLang="zh-CN" b="0" i="0" dirty="0">
              <a:solidFill>
                <a:srgbClr val="C00000"/>
              </a:solidFill>
              <a:effectLst/>
              <a:latin typeface="Helvetica Neue"/>
            </a:endParaRPr>
          </a:p>
          <a:p>
            <a:pPr marL="0" indent="0" algn="l">
              <a:buNone/>
            </a:pPr>
            <a:r>
              <a:rPr lang="zh-CN" altLang="en-US" dirty="0">
                <a:solidFill>
                  <a:srgbClr val="C00000"/>
                </a:solidFill>
                <a:latin typeface="Helvetica Neue"/>
              </a:rPr>
              <a:t>④ </a:t>
            </a:r>
            <a:r>
              <a:rPr lang="zh-CN" altLang="en-US" b="0" i="0" dirty="0">
                <a:solidFill>
                  <a:srgbClr val="C00000"/>
                </a:solidFill>
                <a:effectLst/>
                <a:latin typeface="Helvetica Neue"/>
              </a:rPr>
              <a:t>流量控制和阻塞管理   </a:t>
            </a:r>
            <a:endParaRPr lang="en-US" altLang="zh-CN" b="0" i="0" dirty="0">
              <a:solidFill>
                <a:srgbClr val="C00000"/>
              </a:solidFill>
              <a:effectLst/>
              <a:latin typeface="Helvetica Neue"/>
            </a:endParaRPr>
          </a:p>
          <a:p>
            <a:pPr marL="0" indent="0" algn="l">
              <a:buNone/>
            </a:pPr>
            <a:endParaRPr lang="zh-CN" altLang="en-US" b="0" i="0" dirty="0">
              <a:solidFill>
                <a:srgbClr val="333333"/>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计算机网络介绍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3</a:t>
            </a:r>
            <a:r>
              <a:rPr kumimoji="1" lang="zh-CN" altLang="en-US" b="1" i="0" dirty="0">
                <a:solidFill>
                  <a:srgbClr val="333333"/>
                </a:solidFill>
                <a:effectLst/>
                <a:latin typeface="Helvetica Neue"/>
              </a:rPr>
              <a:t>、</a:t>
            </a:r>
            <a:r>
              <a:rPr lang="en-US" altLang="zh-CN" b="1" i="0" dirty="0">
                <a:solidFill>
                  <a:srgbClr val="333333"/>
                </a:solidFill>
                <a:effectLst/>
                <a:latin typeface="Helvetica Neue"/>
              </a:rPr>
              <a:t>TCP</a:t>
            </a:r>
            <a:r>
              <a:rPr lang="zh-CN" altLang="en-US" b="1" i="0" dirty="0">
                <a:solidFill>
                  <a:srgbClr val="333333"/>
                </a:solidFill>
                <a:effectLst/>
                <a:latin typeface="Helvetica Neue"/>
              </a:rPr>
              <a:t>特点</a:t>
            </a:r>
          </a:p>
        </p:txBody>
      </p:sp>
    </p:spTree>
    <p:extLst>
      <p:ext uri="{BB962C8B-B14F-4D97-AF65-F5344CB8AC3E}">
        <p14:creationId xmlns:p14="http://schemas.microsoft.com/office/powerpoint/2010/main" val="683496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socket </a:t>
            </a:r>
            <a:r>
              <a:rPr lang="zh-CN" altLang="en-US" b="1" i="0" dirty="0">
                <a:solidFill>
                  <a:srgbClr val="333333"/>
                </a:solidFill>
                <a:effectLst/>
                <a:latin typeface="Helvetica Neue"/>
              </a:rPr>
              <a:t>的介绍</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03</a:t>
            </a:r>
            <a:endParaRPr kumimoji="1" lang="zh-CN" altLang="en-US" dirty="0"/>
          </a:p>
        </p:txBody>
      </p:sp>
    </p:spTree>
    <p:extLst>
      <p:ext uri="{BB962C8B-B14F-4D97-AF65-F5344CB8AC3E}">
        <p14:creationId xmlns:p14="http://schemas.microsoft.com/office/powerpoint/2010/main" val="3367152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967678"/>
          </a:xfrm>
        </p:spPr>
        <p:txBody>
          <a:bodyPr/>
          <a:lstStyle/>
          <a:p>
            <a:pPr marL="0" indent="0" algn="l">
              <a:buNone/>
            </a:pPr>
            <a:r>
              <a:rPr lang="zh-CN" altLang="en-US" b="0" i="0" dirty="0">
                <a:solidFill>
                  <a:srgbClr val="333333"/>
                </a:solidFill>
                <a:effectLst/>
                <a:latin typeface="Helvetica Neue"/>
              </a:rPr>
              <a:t>到目前为止我们学习了 </a:t>
            </a:r>
            <a:r>
              <a:rPr lang="en-US" altLang="zh-CN" b="0" i="0" dirty="0">
                <a:solidFill>
                  <a:srgbClr val="333333"/>
                </a:solidFill>
                <a:effectLst/>
                <a:latin typeface="Helvetica Neue"/>
              </a:rPr>
              <a:t>IP </a:t>
            </a:r>
            <a:r>
              <a:rPr lang="zh-CN" altLang="en-US" b="0" i="0" dirty="0">
                <a:solidFill>
                  <a:srgbClr val="333333"/>
                </a:solidFill>
                <a:effectLst/>
                <a:latin typeface="Helvetica Neue"/>
              </a:rPr>
              <a:t>地址和端口号还有 </a:t>
            </a:r>
            <a:r>
              <a:rPr lang="en-US" altLang="zh-CN" b="0" i="0" dirty="0">
                <a:solidFill>
                  <a:srgbClr val="333333"/>
                </a:solidFill>
                <a:effectLst/>
                <a:latin typeface="Helvetica Neue"/>
              </a:rPr>
              <a:t>TCP </a:t>
            </a:r>
            <a:r>
              <a:rPr lang="zh-CN" altLang="en-US" b="0" i="0" dirty="0">
                <a:solidFill>
                  <a:srgbClr val="333333"/>
                </a:solidFill>
                <a:effectLst/>
                <a:latin typeface="Helvetica Neue"/>
              </a:rPr>
              <a:t>传输协议，为了保证数据的完整性和可靠性我们使用 </a:t>
            </a:r>
            <a:r>
              <a:rPr lang="en-US" altLang="zh-CN" b="0" i="0" dirty="0">
                <a:solidFill>
                  <a:srgbClr val="333333"/>
                </a:solidFill>
                <a:effectLst/>
                <a:latin typeface="Helvetica Neue"/>
              </a:rPr>
              <a:t>TCP </a:t>
            </a:r>
            <a:r>
              <a:rPr lang="zh-CN" altLang="en-US" b="0" i="0" dirty="0">
                <a:solidFill>
                  <a:srgbClr val="333333"/>
                </a:solidFill>
                <a:effectLst/>
                <a:latin typeface="Helvetica Neue"/>
              </a:rPr>
              <a:t>传输协议进行数据的传输，为了能够找到对应设备我们需要使用 </a:t>
            </a:r>
            <a:r>
              <a:rPr lang="en-US" altLang="zh-CN" b="0" i="0" dirty="0">
                <a:solidFill>
                  <a:srgbClr val="333333"/>
                </a:solidFill>
                <a:effectLst/>
                <a:latin typeface="Helvetica Neue"/>
              </a:rPr>
              <a:t>IP </a:t>
            </a:r>
            <a:r>
              <a:rPr lang="zh-CN" altLang="en-US" b="0" i="0" dirty="0">
                <a:solidFill>
                  <a:srgbClr val="333333"/>
                </a:solidFill>
                <a:effectLst/>
                <a:latin typeface="Helvetica Neue"/>
              </a:rPr>
              <a:t>地址，为了区别某个端口的应用程序接收数据我们需要使用端口号，那么通信数据是如何完成传输的呢？</a:t>
            </a:r>
            <a:endParaRPr lang="en-US" altLang="zh-CN" b="0" i="0" dirty="0">
              <a:solidFill>
                <a:srgbClr val="333333"/>
              </a:solidFill>
              <a:effectLst/>
              <a:latin typeface="Helvetica Neue"/>
            </a:endParaRPr>
          </a:p>
          <a:p>
            <a:pPr marL="0" indent="0" algn="l">
              <a:buNone/>
            </a:pP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r>
              <a:rPr lang="zh-CN" altLang="en-US" b="0" i="0" dirty="0">
                <a:solidFill>
                  <a:srgbClr val="C00000"/>
                </a:solidFill>
                <a:effectLst/>
                <a:latin typeface="Helvetica Neue"/>
              </a:rPr>
              <a:t>答：使用</a:t>
            </a:r>
            <a:r>
              <a:rPr lang="en-US" altLang="zh-CN" b="0" i="0" dirty="0">
                <a:solidFill>
                  <a:srgbClr val="C00000"/>
                </a:solidFill>
                <a:effectLst/>
                <a:latin typeface="Helvetica Neue"/>
              </a:rPr>
              <a:t>socket</a:t>
            </a:r>
            <a:r>
              <a:rPr lang="zh-CN" altLang="en-US" b="0" i="0" dirty="0">
                <a:solidFill>
                  <a:srgbClr val="C00000"/>
                </a:solidFill>
                <a:effectLst/>
                <a:latin typeface="Helvetica Neue"/>
              </a:rPr>
              <a:t>通信工具</a:t>
            </a:r>
            <a:endParaRPr lang="en-US" altLang="zh-CN" b="0" i="0" dirty="0">
              <a:solidFill>
                <a:srgbClr val="C00000"/>
              </a:solidFill>
              <a:effectLst/>
              <a:latin typeface="Helvetica Neue"/>
            </a:endParaRPr>
          </a:p>
          <a:p>
            <a:pPr marL="0" indent="0" algn="l">
              <a:buNone/>
            </a:pPr>
            <a:endParaRPr lang="zh-CN" altLang="en-US" b="0" i="0" dirty="0">
              <a:solidFill>
                <a:srgbClr val="333333"/>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dirty="0"/>
              <a:t>socket</a:t>
            </a:r>
            <a:r>
              <a:rPr kumimoji="1" lang="zh-CN" altLang="en-US" dirty="0"/>
              <a:t>的介绍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1</a:t>
            </a:r>
            <a:r>
              <a:rPr kumimoji="1" lang="zh-CN" altLang="en-US" b="1" i="0" dirty="0">
                <a:solidFill>
                  <a:srgbClr val="333333"/>
                </a:solidFill>
                <a:effectLst/>
                <a:latin typeface="Helvetica Neue"/>
              </a:rPr>
              <a:t>、问题思考</a:t>
            </a:r>
            <a:endParaRPr lang="zh-CN" altLang="en-US" b="1" i="0" dirty="0">
              <a:solidFill>
                <a:srgbClr val="333333"/>
              </a:solidFill>
              <a:effectLst/>
              <a:latin typeface="Helvetica Neue"/>
            </a:endParaRPr>
          </a:p>
        </p:txBody>
      </p:sp>
      <p:pic>
        <p:nvPicPr>
          <p:cNvPr id="6" name="图片 5">
            <a:extLst>
              <a:ext uri="{FF2B5EF4-FFF2-40B4-BE49-F238E27FC236}">
                <a16:creationId xmlns:a16="http://schemas.microsoft.com/office/drawing/2014/main" id="{C985AFA7-9348-4944-961B-E575AFD1B24D}"/>
              </a:ext>
            </a:extLst>
          </p:cNvPr>
          <p:cNvPicPr>
            <a:picLocks noChangeAspect="1"/>
          </p:cNvPicPr>
          <p:nvPr/>
        </p:nvPicPr>
        <p:blipFill>
          <a:blip r:embed="rId3"/>
          <a:stretch>
            <a:fillRect/>
          </a:stretch>
        </p:blipFill>
        <p:spPr>
          <a:xfrm>
            <a:off x="2095798" y="3429000"/>
            <a:ext cx="7697534" cy="2395330"/>
          </a:xfrm>
          <a:prstGeom prst="rect">
            <a:avLst/>
          </a:prstGeom>
        </p:spPr>
      </p:pic>
    </p:spTree>
    <p:extLst>
      <p:ext uri="{BB962C8B-B14F-4D97-AF65-F5344CB8AC3E}">
        <p14:creationId xmlns:p14="http://schemas.microsoft.com/office/powerpoint/2010/main" val="2684773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anim calcmode="lin" valueType="num">
                                      <p:cBhvr additive="base">
                                        <p:cTn id="7"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967678"/>
          </a:xfrm>
        </p:spPr>
        <p:txBody>
          <a:bodyPr/>
          <a:lstStyle/>
          <a:p>
            <a:pPr marL="0" indent="0" algn="l">
              <a:buNone/>
            </a:pPr>
            <a:r>
              <a:rPr lang="en-US" altLang="zh-CN" b="0" i="0" dirty="0">
                <a:solidFill>
                  <a:srgbClr val="333333"/>
                </a:solidFill>
                <a:effectLst/>
                <a:latin typeface="Helvetica Neue"/>
              </a:rPr>
              <a:t>socket (</a:t>
            </a:r>
            <a:r>
              <a:rPr lang="zh-CN" altLang="en-US" b="0" i="0" dirty="0">
                <a:solidFill>
                  <a:srgbClr val="333333"/>
                </a:solidFill>
                <a:effectLst/>
                <a:latin typeface="Helvetica Neue"/>
              </a:rPr>
              <a:t>简称 套接字</a:t>
            </a:r>
            <a:r>
              <a:rPr lang="en-US" altLang="zh-CN" b="0" i="0" dirty="0">
                <a:solidFill>
                  <a:srgbClr val="333333"/>
                </a:solidFill>
                <a:effectLst/>
                <a:latin typeface="Helvetica Neue"/>
              </a:rPr>
              <a:t>) </a:t>
            </a:r>
            <a:r>
              <a:rPr lang="zh-CN" altLang="en-US" b="0" i="0" dirty="0">
                <a:solidFill>
                  <a:srgbClr val="333333"/>
                </a:solidFill>
                <a:effectLst/>
                <a:latin typeface="Helvetica Neue"/>
              </a:rPr>
              <a:t>是</a:t>
            </a:r>
            <a:r>
              <a:rPr lang="zh-CN" altLang="en-US" b="1" i="0" dirty="0">
                <a:solidFill>
                  <a:srgbClr val="C00000"/>
                </a:solidFill>
                <a:effectLst/>
                <a:latin typeface="Helvetica Neue"/>
              </a:rPr>
              <a:t>进程之间通信一个工具</a:t>
            </a:r>
            <a:r>
              <a:rPr lang="zh-CN" altLang="en-US" b="0" i="0" dirty="0">
                <a:solidFill>
                  <a:srgbClr val="333333"/>
                </a:solidFill>
                <a:effectLst/>
                <a:latin typeface="Helvetica Neue"/>
              </a:rPr>
              <a:t>，好比现实生活中的</a:t>
            </a:r>
            <a:r>
              <a:rPr lang="zh-CN" altLang="en-US" b="1" i="0" dirty="0">
                <a:solidFill>
                  <a:srgbClr val="C00000"/>
                </a:solidFill>
                <a:effectLst/>
                <a:latin typeface="Helvetica Neue"/>
              </a:rPr>
              <a:t>插座</a:t>
            </a:r>
            <a:r>
              <a:rPr lang="zh-CN" altLang="en-US" b="0" i="0" dirty="0">
                <a:solidFill>
                  <a:srgbClr val="333333"/>
                </a:solidFill>
                <a:effectLst/>
                <a:latin typeface="Helvetica Neue"/>
              </a:rPr>
              <a:t>，所有的家用电器要想工作都是基于插座进行</a:t>
            </a:r>
            <a:r>
              <a:rPr lang="zh-CN" altLang="en-US" b="0" i="0" dirty="0">
                <a:solidFill>
                  <a:srgbClr val="C00000"/>
                </a:solidFill>
                <a:effectLst/>
                <a:latin typeface="Helvetica Neue"/>
              </a:rPr>
              <a:t>，</a:t>
            </a:r>
            <a:r>
              <a:rPr lang="zh-CN" altLang="en-US" b="1" i="0" dirty="0">
                <a:solidFill>
                  <a:srgbClr val="C00000"/>
                </a:solidFill>
                <a:effectLst/>
                <a:latin typeface="Helvetica Neue"/>
              </a:rPr>
              <a:t>进程之间想要进行网络通信需要基于这个 </a:t>
            </a:r>
            <a:r>
              <a:rPr lang="en-US" altLang="zh-CN" b="1" i="0" dirty="0">
                <a:solidFill>
                  <a:srgbClr val="C00000"/>
                </a:solidFill>
                <a:effectLst/>
                <a:latin typeface="Helvetica Neue"/>
              </a:rPr>
              <a:t>socket</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r>
              <a:rPr lang="en-US" altLang="zh-CN" b="0" i="0" dirty="0">
                <a:solidFill>
                  <a:srgbClr val="333333"/>
                </a:solidFill>
                <a:effectLst/>
                <a:latin typeface="Helvetica Neue"/>
              </a:rPr>
              <a:t>socket </a:t>
            </a:r>
            <a:r>
              <a:rPr lang="zh-CN" altLang="en-US" b="0" i="0" dirty="0">
                <a:solidFill>
                  <a:srgbClr val="333333"/>
                </a:solidFill>
                <a:effectLst/>
                <a:latin typeface="Helvetica Neue"/>
              </a:rPr>
              <a:t>效果图</a:t>
            </a:r>
            <a:r>
              <a:rPr lang="en-US" altLang="zh-CN" b="0" i="0" dirty="0">
                <a:solidFill>
                  <a:srgbClr val="333333"/>
                </a:solidFill>
                <a:effectLst/>
                <a:latin typeface="Helvetica Neue"/>
              </a:rPr>
              <a:t>:</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dirty="0"/>
              <a:t>socket</a:t>
            </a:r>
            <a:r>
              <a:rPr kumimoji="1" lang="zh-CN" altLang="en-US" dirty="0"/>
              <a:t>的介绍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2</a:t>
            </a:r>
            <a:r>
              <a:rPr kumimoji="1" lang="zh-CN" altLang="en-US" b="1" i="0" dirty="0">
                <a:solidFill>
                  <a:srgbClr val="333333"/>
                </a:solidFill>
                <a:effectLst/>
                <a:latin typeface="Helvetica Neue"/>
              </a:rPr>
              <a:t>、</a:t>
            </a:r>
            <a:r>
              <a:rPr kumimoji="1" lang="en-US" altLang="zh-CN" b="1" i="0" dirty="0">
                <a:solidFill>
                  <a:srgbClr val="333333"/>
                </a:solidFill>
                <a:effectLst/>
                <a:latin typeface="Helvetica Neue"/>
              </a:rPr>
              <a:t>socket</a:t>
            </a:r>
            <a:r>
              <a:rPr kumimoji="1" lang="zh-CN" altLang="en-US" b="1" i="0" dirty="0">
                <a:solidFill>
                  <a:srgbClr val="333333"/>
                </a:solidFill>
                <a:effectLst/>
                <a:latin typeface="Helvetica Neue"/>
              </a:rPr>
              <a:t>套接字</a:t>
            </a:r>
            <a:endParaRPr lang="zh-CN" altLang="en-US" b="1" i="0" dirty="0">
              <a:solidFill>
                <a:srgbClr val="333333"/>
              </a:solidFill>
              <a:effectLst/>
              <a:latin typeface="Helvetica Neue"/>
            </a:endParaRPr>
          </a:p>
        </p:txBody>
      </p:sp>
      <p:pic>
        <p:nvPicPr>
          <p:cNvPr id="6" name="图片 5">
            <a:extLst>
              <a:ext uri="{FF2B5EF4-FFF2-40B4-BE49-F238E27FC236}">
                <a16:creationId xmlns:a16="http://schemas.microsoft.com/office/drawing/2014/main" id="{69D3ECBF-56D0-44D7-A0DF-07CCD8D52A37}"/>
              </a:ext>
            </a:extLst>
          </p:cNvPr>
          <p:cNvPicPr>
            <a:picLocks noChangeAspect="1"/>
          </p:cNvPicPr>
          <p:nvPr/>
        </p:nvPicPr>
        <p:blipFill>
          <a:blip r:embed="rId3"/>
          <a:stretch>
            <a:fillRect/>
          </a:stretch>
        </p:blipFill>
        <p:spPr>
          <a:xfrm>
            <a:off x="3096791" y="3310508"/>
            <a:ext cx="5723116" cy="3147333"/>
          </a:xfrm>
          <a:prstGeom prst="rect">
            <a:avLst/>
          </a:prstGeom>
        </p:spPr>
      </p:pic>
    </p:spTree>
    <p:extLst>
      <p:ext uri="{BB962C8B-B14F-4D97-AF65-F5344CB8AC3E}">
        <p14:creationId xmlns:p14="http://schemas.microsoft.com/office/powerpoint/2010/main" val="3968638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967678"/>
          </a:xfrm>
        </p:spPr>
        <p:txBody>
          <a:bodyPr/>
          <a:lstStyle/>
          <a:p>
            <a:pPr marL="0" indent="0">
              <a:buNone/>
            </a:pPr>
            <a:r>
              <a:rPr lang="en-US" altLang="zh-CN" i="0" dirty="0">
                <a:solidFill>
                  <a:srgbClr val="333333"/>
                </a:solidFill>
                <a:effectLst/>
                <a:latin typeface="Helvetica Neue"/>
              </a:rPr>
              <a:t>socket </a:t>
            </a:r>
            <a:r>
              <a:rPr lang="zh-CN" altLang="en-US" i="0" dirty="0">
                <a:solidFill>
                  <a:srgbClr val="333333"/>
                </a:solidFill>
                <a:effectLst/>
                <a:latin typeface="Helvetica Neue"/>
              </a:rPr>
              <a:t>的作用：</a:t>
            </a:r>
            <a:r>
              <a:rPr lang="zh-CN" altLang="en-US" b="0" i="0" dirty="0">
                <a:solidFill>
                  <a:srgbClr val="333333"/>
                </a:solidFill>
                <a:effectLst/>
                <a:latin typeface="Helvetica Neue"/>
              </a:rPr>
              <a:t>负责</a:t>
            </a:r>
            <a:r>
              <a:rPr lang="zh-CN" altLang="en-US" b="1" i="0" dirty="0">
                <a:solidFill>
                  <a:srgbClr val="C00000"/>
                </a:solidFill>
                <a:effectLst/>
                <a:latin typeface="Helvetica Neue"/>
              </a:rPr>
              <a:t>进程之间的网络数据传输</a:t>
            </a:r>
            <a:r>
              <a:rPr lang="zh-CN" altLang="en-US" b="0" i="0" dirty="0">
                <a:solidFill>
                  <a:srgbClr val="333333"/>
                </a:solidFill>
                <a:effectLst/>
                <a:latin typeface="Helvetica Neue"/>
              </a:rPr>
              <a:t>，好比数据的搬运工。</a:t>
            </a:r>
            <a:endParaRPr lang="en-US" altLang="zh-CN" b="0" i="0" dirty="0">
              <a:solidFill>
                <a:srgbClr val="333333"/>
              </a:solidFill>
              <a:effectLst/>
              <a:latin typeface="Helvetica Neue"/>
            </a:endParaRPr>
          </a:p>
          <a:p>
            <a:pPr marL="0" indent="0">
              <a:buNone/>
            </a:pPr>
            <a:endParaRPr lang="en-US" altLang="zh-CN" dirty="0">
              <a:solidFill>
                <a:srgbClr val="333333"/>
              </a:solidFill>
              <a:latin typeface="Helvetica Neue"/>
            </a:endParaRPr>
          </a:p>
          <a:p>
            <a:pPr marL="0" indent="0">
              <a:buNone/>
            </a:pPr>
            <a:r>
              <a:rPr lang="en-US" altLang="zh-CN" b="1" i="0" dirty="0">
                <a:solidFill>
                  <a:srgbClr val="333333"/>
                </a:solidFill>
                <a:effectLst/>
                <a:latin typeface="Helvetica Neue"/>
              </a:rPr>
              <a:t>socket </a:t>
            </a:r>
            <a:r>
              <a:rPr lang="zh-CN" altLang="en-US" b="1" i="0" dirty="0">
                <a:solidFill>
                  <a:srgbClr val="333333"/>
                </a:solidFill>
                <a:effectLst/>
                <a:latin typeface="Helvetica Neue"/>
              </a:rPr>
              <a:t>使用场景：</a:t>
            </a:r>
            <a:endParaRPr lang="en-US" altLang="zh-CN" b="1" i="0" dirty="0">
              <a:solidFill>
                <a:srgbClr val="333333"/>
              </a:solidFill>
              <a:effectLst/>
              <a:latin typeface="Helvetica Neue"/>
            </a:endParaRPr>
          </a:p>
          <a:p>
            <a:pPr marL="0" indent="0">
              <a:buNone/>
            </a:pPr>
            <a:r>
              <a:rPr lang="zh-CN" altLang="en-US" b="0" i="0" dirty="0">
                <a:solidFill>
                  <a:srgbClr val="333333"/>
                </a:solidFill>
                <a:effectLst/>
                <a:latin typeface="Helvetica Neue"/>
              </a:rPr>
              <a:t>不夸张的说，只要跟</a:t>
            </a:r>
            <a:r>
              <a:rPr lang="zh-CN" altLang="en-US" b="1" i="0" dirty="0">
                <a:solidFill>
                  <a:srgbClr val="C00000"/>
                </a:solidFill>
                <a:effectLst/>
                <a:latin typeface="Helvetica Neue"/>
              </a:rPr>
              <a:t>网络相关的应用程序或者软件都使用到了 </a:t>
            </a:r>
            <a:r>
              <a:rPr lang="en-US" altLang="zh-CN" b="1" i="0" dirty="0">
                <a:solidFill>
                  <a:srgbClr val="C00000"/>
                </a:solidFill>
                <a:effectLst/>
                <a:latin typeface="Helvetica Neue"/>
              </a:rPr>
              <a:t>socket </a:t>
            </a:r>
            <a:r>
              <a:rPr lang="zh-CN" altLang="en-US" b="0" i="0" dirty="0">
                <a:solidFill>
                  <a:srgbClr val="C00000"/>
                </a:solidFill>
                <a:effectLst/>
                <a:latin typeface="Helvetica Neue"/>
              </a:rPr>
              <a:t>。</a:t>
            </a:r>
            <a:endParaRPr lang="zh-CN" altLang="en-US" b="1" i="0" dirty="0">
              <a:solidFill>
                <a:srgbClr val="C00000"/>
              </a:solidFill>
              <a:effectLst/>
              <a:latin typeface="Helvetica Neue"/>
            </a:endParaRP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en-US" altLang="zh-CN" dirty="0"/>
              <a:t>socket</a:t>
            </a:r>
            <a:r>
              <a:rPr kumimoji="1" lang="zh-CN" altLang="en-US" dirty="0"/>
              <a:t>的介绍</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3</a:t>
            </a:r>
            <a:r>
              <a:rPr kumimoji="1" lang="zh-CN" altLang="en-US" b="1" i="0" dirty="0">
                <a:solidFill>
                  <a:srgbClr val="333333"/>
                </a:solidFill>
                <a:effectLst/>
                <a:latin typeface="Helvetica Neue"/>
              </a:rPr>
              <a:t>、</a:t>
            </a:r>
            <a:r>
              <a:rPr lang="en-US" altLang="zh-CN" b="1" i="0" dirty="0">
                <a:solidFill>
                  <a:srgbClr val="333333"/>
                </a:solidFill>
                <a:effectLst/>
                <a:latin typeface="Helvetica Neue"/>
              </a:rPr>
              <a:t>socket </a:t>
            </a:r>
            <a:r>
              <a:rPr lang="zh-CN" altLang="en-US" b="1" i="0" dirty="0">
                <a:solidFill>
                  <a:srgbClr val="333333"/>
                </a:solidFill>
                <a:effectLst/>
                <a:latin typeface="Helvetica Neue"/>
              </a:rPr>
              <a:t>的作用与应用场景</a:t>
            </a:r>
          </a:p>
        </p:txBody>
      </p:sp>
      <p:pic>
        <p:nvPicPr>
          <p:cNvPr id="7" name="图片 6">
            <a:extLst>
              <a:ext uri="{FF2B5EF4-FFF2-40B4-BE49-F238E27FC236}">
                <a16:creationId xmlns:a16="http://schemas.microsoft.com/office/drawing/2014/main" id="{12AEE140-6ED1-4B67-8EC0-D951997EAB01}"/>
              </a:ext>
            </a:extLst>
          </p:cNvPr>
          <p:cNvPicPr>
            <a:picLocks noChangeAspect="1"/>
          </p:cNvPicPr>
          <p:nvPr/>
        </p:nvPicPr>
        <p:blipFill>
          <a:blip r:embed="rId3"/>
          <a:stretch>
            <a:fillRect/>
          </a:stretch>
        </p:blipFill>
        <p:spPr>
          <a:xfrm>
            <a:off x="2472376" y="3761272"/>
            <a:ext cx="7247248" cy="2156647"/>
          </a:xfrm>
          <a:prstGeom prst="rect">
            <a:avLst/>
          </a:prstGeom>
        </p:spPr>
      </p:pic>
    </p:spTree>
    <p:extLst>
      <p:ext uri="{BB962C8B-B14F-4D97-AF65-F5344CB8AC3E}">
        <p14:creationId xmlns:p14="http://schemas.microsoft.com/office/powerpoint/2010/main" val="2309249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TCP </a:t>
            </a:r>
            <a:r>
              <a:rPr lang="zh-CN" altLang="en-US" b="1" i="0" dirty="0">
                <a:solidFill>
                  <a:srgbClr val="333333"/>
                </a:solidFill>
                <a:effectLst/>
                <a:latin typeface="Helvetica Neue"/>
              </a:rPr>
              <a:t>网络应用程序开发流程</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04</a:t>
            </a:r>
            <a:endParaRPr kumimoji="1" lang="zh-CN" altLang="en-US" dirty="0"/>
          </a:p>
        </p:txBody>
      </p:sp>
    </p:spTree>
    <p:extLst>
      <p:ext uri="{BB962C8B-B14F-4D97-AF65-F5344CB8AC3E}">
        <p14:creationId xmlns:p14="http://schemas.microsoft.com/office/powerpoint/2010/main" val="91332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1" y="1646133"/>
            <a:ext cx="10749598" cy="4967678"/>
          </a:xfrm>
        </p:spPr>
        <p:txBody>
          <a:bodyPr/>
          <a:lstStyle/>
          <a:p>
            <a:pPr marL="0" indent="0" algn="l">
              <a:buNone/>
            </a:pPr>
            <a:r>
              <a:rPr lang="en-US" altLang="zh-CN" b="0" i="0" dirty="0">
                <a:solidFill>
                  <a:srgbClr val="333333"/>
                </a:solidFill>
                <a:effectLst/>
                <a:latin typeface="Helvetica Neue"/>
              </a:rPr>
              <a:t>TCP </a:t>
            </a:r>
            <a:r>
              <a:rPr lang="zh-CN" altLang="en-US" b="0" i="0" dirty="0">
                <a:solidFill>
                  <a:srgbClr val="333333"/>
                </a:solidFill>
                <a:effectLst/>
                <a:latin typeface="Helvetica Neue"/>
              </a:rPr>
              <a:t>网络应用程序开发分为</a:t>
            </a:r>
            <a:r>
              <a:rPr lang="en-US" altLang="zh-CN" b="0" i="0" dirty="0">
                <a:solidFill>
                  <a:srgbClr val="333333"/>
                </a:solidFill>
                <a:effectLst/>
                <a:latin typeface="Helvetica Neue"/>
              </a:rPr>
              <a:t>:</a:t>
            </a:r>
          </a:p>
          <a:p>
            <a:pPr marL="0" indent="0" algn="l">
              <a:buNone/>
            </a:pPr>
            <a:r>
              <a:rPr lang="zh-CN" altLang="en-US" dirty="0">
                <a:solidFill>
                  <a:srgbClr val="C00000"/>
                </a:solidFill>
                <a:latin typeface="Helvetica Neue"/>
              </a:rPr>
              <a:t>① </a:t>
            </a:r>
            <a:r>
              <a:rPr lang="en-US" altLang="zh-CN" b="0" i="0" dirty="0">
                <a:solidFill>
                  <a:srgbClr val="C00000"/>
                </a:solidFill>
                <a:effectLst/>
                <a:latin typeface="Helvetica Neue"/>
              </a:rPr>
              <a:t>TCP </a:t>
            </a:r>
            <a:r>
              <a:rPr lang="zh-CN" altLang="en-US" b="0" i="0" dirty="0">
                <a:solidFill>
                  <a:srgbClr val="C00000"/>
                </a:solidFill>
                <a:effectLst/>
                <a:latin typeface="Helvetica Neue"/>
              </a:rPr>
              <a:t>客户端程序开发</a:t>
            </a:r>
          </a:p>
          <a:p>
            <a:pPr marL="0" indent="0" algn="l">
              <a:buNone/>
            </a:pPr>
            <a:r>
              <a:rPr lang="zh-CN" altLang="en-US" dirty="0">
                <a:solidFill>
                  <a:srgbClr val="C00000"/>
                </a:solidFill>
                <a:latin typeface="Helvetica Neue"/>
              </a:rPr>
              <a:t>② </a:t>
            </a:r>
            <a:r>
              <a:rPr lang="en-US" altLang="zh-CN" b="0" i="0" dirty="0">
                <a:solidFill>
                  <a:srgbClr val="C00000"/>
                </a:solidFill>
                <a:effectLst/>
                <a:latin typeface="Helvetica Neue"/>
              </a:rPr>
              <a:t>TCP </a:t>
            </a:r>
            <a:r>
              <a:rPr lang="zh-CN" altLang="en-US" b="0" i="0" dirty="0">
                <a:solidFill>
                  <a:srgbClr val="C00000"/>
                </a:solidFill>
                <a:effectLst/>
                <a:latin typeface="Helvetica Neue"/>
              </a:rPr>
              <a:t>服务端程序开发</a:t>
            </a:r>
          </a:p>
          <a:p>
            <a:pPr marL="0" indent="0" algn="l">
              <a:buNone/>
            </a:pPr>
            <a:endParaRPr lang="en-US" altLang="zh-CN" b="1" i="0" dirty="0">
              <a:solidFill>
                <a:srgbClr val="333333"/>
              </a:solidFill>
              <a:effectLst/>
              <a:latin typeface="Helvetica Neue"/>
            </a:endParaRPr>
          </a:p>
          <a:p>
            <a:pPr marL="0" indent="0" algn="l">
              <a:buNone/>
            </a:pPr>
            <a:r>
              <a:rPr lang="zh-CN" altLang="en-US" b="1" i="0" dirty="0">
                <a:solidFill>
                  <a:srgbClr val="333333"/>
                </a:solidFill>
                <a:effectLst/>
                <a:latin typeface="Helvetica Neue"/>
              </a:rPr>
              <a:t>说明</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客户端程序是指运行在</a:t>
            </a:r>
            <a:r>
              <a:rPr lang="zh-CN" altLang="en-US" b="1" i="0" dirty="0">
                <a:solidFill>
                  <a:srgbClr val="C00000"/>
                </a:solidFill>
                <a:effectLst/>
                <a:latin typeface="Helvetica Neue"/>
              </a:rPr>
              <a:t>用户设备上的程序</a:t>
            </a:r>
            <a:r>
              <a:rPr lang="zh-CN" altLang="en-US" b="0" i="0" dirty="0">
                <a:solidFill>
                  <a:srgbClr val="C00000"/>
                </a:solidFill>
                <a:effectLst/>
                <a:latin typeface="Helvetica Neue"/>
              </a:rPr>
              <a:t> </a:t>
            </a:r>
            <a:endParaRPr lang="en-US" altLang="zh-CN" b="0" i="0" dirty="0">
              <a:solidFill>
                <a:srgbClr val="C00000"/>
              </a:solidFill>
              <a:effectLst/>
              <a:latin typeface="Helvetica Neue"/>
            </a:endParaRPr>
          </a:p>
          <a:p>
            <a:pPr marL="0" indent="0" algn="l">
              <a:buNone/>
            </a:pPr>
            <a:r>
              <a:rPr lang="zh-CN" altLang="en-US" b="0" i="0" dirty="0">
                <a:solidFill>
                  <a:srgbClr val="333333"/>
                </a:solidFill>
                <a:effectLst/>
                <a:latin typeface="Helvetica Neue"/>
              </a:rPr>
              <a:t>服务端程序是指运行在</a:t>
            </a:r>
            <a:r>
              <a:rPr lang="zh-CN" altLang="en-US" b="1" i="0" dirty="0">
                <a:solidFill>
                  <a:srgbClr val="C00000"/>
                </a:solidFill>
                <a:effectLst/>
                <a:latin typeface="Helvetica Neue"/>
              </a:rPr>
              <a:t>服务器设备上的程序</a:t>
            </a:r>
            <a:r>
              <a:rPr lang="zh-CN" altLang="en-US" b="0" i="0" dirty="0">
                <a:solidFill>
                  <a:srgbClr val="333333"/>
                </a:solidFill>
                <a:effectLst/>
                <a:latin typeface="Helvetica Neue"/>
              </a:rPr>
              <a:t>，专门为客户端提供数据服务。</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网络应用程序开发流程</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1</a:t>
            </a:r>
            <a:r>
              <a:rPr kumimoji="1" lang="zh-CN" altLang="en-US" b="1" i="0" dirty="0">
                <a:solidFill>
                  <a:srgbClr val="333333"/>
                </a:solidFill>
                <a:effectLst/>
                <a:latin typeface="Helvetica Neue"/>
              </a:rPr>
              <a:t>、</a:t>
            </a:r>
            <a:r>
              <a:rPr lang="en-US" altLang="zh-CN" b="1" i="0" dirty="0">
                <a:solidFill>
                  <a:srgbClr val="333333"/>
                </a:solidFill>
                <a:effectLst/>
                <a:latin typeface="Helvetica Neue"/>
              </a:rPr>
              <a:t>TCP </a:t>
            </a:r>
            <a:r>
              <a:rPr lang="zh-CN" altLang="en-US" b="1" i="0" dirty="0">
                <a:solidFill>
                  <a:srgbClr val="333333"/>
                </a:solidFill>
                <a:effectLst/>
                <a:latin typeface="Helvetica Neue"/>
              </a:rPr>
              <a:t>网络应用程序开发流程的介绍</a:t>
            </a:r>
          </a:p>
        </p:txBody>
      </p:sp>
    </p:spTree>
    <p:extLst>
      <p:ext uri="{BB962C8B-B14F-4D97-AF65-F5344CB8AC3E}">
        <p14:creationId xmlns:p14="http://schemas.microsoft.com/office/powerpoint/2010/main" val="1208417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网络应用程序开发流程</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2</a:t>
            </a:r>
            <a:r>
              <a:rPr kumimoji="1" lang="zh-CN" altLang="en-US" b="1" i="0" dirty="0">
                <a:solidFill>
                  <a:srgbClr val="333333"/>
                </a:solidFill>
                <a:effectLst/>
                <a:latin typeface="Helvetica Neue"/>
              </a:rPr>
              <a:t>、</a:t>
            </a:r>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客户端程序开发流程的介绍</a:t>
            </a:r>
          </a:p>
        </p:txBody>
      </p:sp>
      <p:pic>
        <p:nvPicPr>
          <p:cNvPr id="8" name="图片 7">
            <a:extLst>
              <a:ext uri="{FF2B5EF4-FFF2-40B4-BE49-F238E27FC236}">
                <a16:creationId xmlns:a16="http://schemas.microsoft.com/office/drawing/2014/main" id="{EA68C317-D286-4605-98CD-2389B16B147F}"/>
              </a:ext>
            </a:extLst>
          </p:cNvPr>
          <p:cNvPicPr>
            <a:picLocks noChangeAspect="1"/>
          </p:cNvPicPr>
          <p:nvPr/>
        </p:nvPicPr>
        <p:blipFill>
          <a:blip r:embed="rId4"/>
          <a:stretch>
            <a:fillRect/>
          </a:stretch>
        </p:blipFill>
        <p:spPr>
          <a:xfrm>
            <a:off x="7611029" y="1457271"/>
            <a:ext cx="3741744" cy="5006774"/>
          </a:xfrm>
          <a:prstGeom prst="rect">
            <a:avLst/>
          </a:prstGeom>
        </p:spPr>
      </p:pic>
      <p:sp>
        <p:nvSpPr>
          <p:cNvPr id="9" name="矩形: 圆角 8">
            <a:extLst>
              <a:ext uri="{FF2B5EF4-FFF2-40B4-BE49-F238E27FC236}">
                <a16:creationId xmlns:a16="http://schemas.microsoft.com/office/drawing/2014/main" id="{BE919E95-D0A8-4E22-B1ED-10CD4307EEBE}"/>
              </a:ext>
            </a:extLst>
          </p:cNvPr>
          <p:cNvSpPr/>
          <p:nvPr/>
        </p:nvSpPr>
        <p:spPr>
          <a:xfrm>
            <a:off x="710879" y="2212257"/>
            <a:ext cx="5614220" cy="3248897"/>
          </a:xfrm>
          <a:prstGeom prst="roundRect">
            <a:avLst>
              <a:gd name="adj" fmla="val 562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Font typeface="+mj-lt"/>
              <a:buAutoNum type="arabicPeriod"/>
            </a:pPr>
            <a:r>
              <a:rPr lang="zh-CN" altLang="en-US" b="0" i="0" dirty="0">
                <a:solidFill>
                  <a:srgbClr val="FFFFE4"/>
                </a:solidFill>
                <a:effectLst/>
                <a:latin typeface="Helvetica Neue"/>
              </a:rPr>
              <a:t>创建客户端套接字对象</a:t>
            </a:r>
          </a:p>
          <a:p>
            <a:pPr algn="l">
              <a:buFont typeface="+mj-lt"/>
              <a:buAutoNum type="arabicPeriod"/>
            </a:pPr>
            <a:r>
              <a:rPr lang="zh-CN" altLang="en-US" b="0" i="0" dirty="0">
                <a:solidFill>
                  <a:srgbClr val="FFFFE4"/>
                </a:solidFill>
                <a:effectLst/>
                <a:latin typeface="Helvetica Neue"/>
              </a:rPr>
              <a:t>和服务端套接字建立连接</a:t>
            </a:r>
          </a:p>
          <a:p>
            <a:pPr algn="l">
              <a:buFont typeface="+mj-lt"/>
              <a:buAutoNum type="arabicPeriod"/>
            </a:pPr>
            <a:r>
              <a:rPr lang="zh-CN" altLang="en-US" b="0" i="0" dirty="0">
                <a:solidFill>
                  <a:srgbClr val="FFFFE4"/>
                </a:solidFill>
                <a:effectLst/>
                <a:latin typeface="Helvetica Neue"/>
              </a:rPr>
              <a:t>发送数据</a:t>
            </a:r>
          </a:p>
          <a:p>
            <a:pPr algn="l">
              <a:buFont typeface="+mj-lt"/>
              <a:buAutoNum type="arabicPeriod"/>
            </a:pPr>
            <a:r>
              <a:rPr lang="zh-CN" altLang="en-US" b="0" i="0" dirty="0">
                <a:solidFill>
                  <a:srgbClr val="FFFFE4"/>
                </a:solidFill>
                <a:effectLst/>
                <a:latin typeface="Helvetica Neue"/>
              </a:rPr>
              <a:t>接收数据</a:t>
            </a:r>
          </a:p>
          <a:p>
            <a:pPr algn="l">
              <a:buFont typeface="+mj-lt"/>
              <a:buAutoNum type="arabicPeriod"/>
            </a:pPr>
            <a:r>
              <a:rPr lang="zh-CN" altLang="en-US" b="0" i="0" dirty="0">
                <a:solidFill>
                  <a:srgbClr val="FFFFE4"/>
                </a:solidFill>
                <a:effectLst/>
                <a:latin typeface="Helvetica Neue"/>
              </a:rPr>
              <a:t>关闭客户端套接字</a:t>
            </a:r>
          </a:p>
        </p:txBody>
      </p:sp>
      <p:sp>
        <p:nvSpPr>
          <p:cNvPr id="137" name="箭头: 右 136">
            <a:extLst>
              <a:ext uri="{FF2B5EF4-FFF2-40B4-BE49-F238E27FC236}">
                <a16:creationId xmlns:a16="http://schemas.microsoft.com/office/drawing/2014/main" id="{C2C43ED7-4EC5-4701-B5BC-568EB513BADA}"/>
              </a:ext>
            </a:extLst>
          </p:cNvPr>
          <p:cNvSpPr/>
          <p:nvPr/>
        </p:nvSpPr>
        <p:spPr>
          <a:xfrm>
            <a:off x="6466619" y="3659545"/>
            <a:ext cx="1002890" cy="602226"/>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80792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网络应用程序开发流程</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3</a:t>
            </a:r>
            <a:r>
              <a:rPr kumimoji="1" lang="zh-CN" altLang="en-US" b="1" i="0" dirty="0">
                <a:solidFill>
                  <a:srgbClr val="333333"/>
                </a:solidFill>
                <a:effectLst/>
                <a:latin typeface="Helvetica Neue"/>
              </a:rPr>
              <a:t>、</a:t>
            </a:r>
            <a:r>
              <a:rPr lang="en-US" altLang="zh-CN" b="1" i="0" dirty="0">
                <a:solidFill>
                  <a:srgbClr val="333333"/>
                </a:solidFill>
                <a:effectLst/>
                <a:latin typeface="Helvetica Neue"/>
              </a:rPr>
              <a:t>TCP </a:t>
            </a:r>
            <a:r>
              <a:rPr lang="zh-CN" altLang="en-US" b="1" i="0" dirty="0">
                <a:solidFill>
                  <a:srgbClr val="333333"/>
                </a:solidFill>
                <a:effectLst/>
                <a:latin typeface="Helvetica Neue"/>
              </a:rPr>
              <a:t>服务端程序开发流程的介绍</a:t>
            </a:r>
          </a:p>
        </p:txBody>
      </p:sp>
      <p:sp>
        <p:nvSpPr>
          <p:cNvPr id="9" name="矩形: 圆角 8">
            <a:extLst>
              <a:ext uri="{FF2B5EF4-FFF2-40B4-BE49-F238E27FC236}">
                <a16:creationId xmlns:a16="http://schemas.microsoft.com/office/drawing/2014/main" id="{BE919E95-D0A8-4E22-B1ED-10CD4307EEBE}"/>
              </a:ext>
            </a:extLst>
          </p:cNvPr>
          <p:cNvSpPr/>
          <p:nvPr/>
        </p:nvSpPr>
        <p:spPr>
          <a:xfrm>
            <a:off x="710879" y="2212257"/>
            <a:ext cx="5614220" cy="3248897"/>
          </a:xfrm>
          <a:prstGeom prst="roundRect">
            <a:avLst>
              <a:gd name="adj" fmla="val 562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Font typeface="+mj-lt"/>
              <a:buAutoNum type="arabicPeriod"/>
            </a:pPr>
            <a:r>
              <a:rPr lang="zh-CN" altLang="en-US" b="0" i="0" dirty="0">
                <a:solidFill>
                  <a:srgbClr val="FFFFE4"/>
                </a:solidFill>
                <a:effectLst/>
                <a:latin typeface="Helvetica Neue"/>
              </a:rPr>
              <a:t>创建服务端端套接字对象</a:t>
            </a:r>
          </a:p>
          <a:p>
            <a:pPr algn="l">
              <a:buFont typeface="+mj-lt"/>
              <a:buAutoNum type="arabicPeriod"/>
            </a:pPr>
            <a:r>
              <a:rPr lang="zh-CN" altLang="en-US" b="0" i="0" dirty="0">
                <a:solidFill>
                  <a:srgbClr val="FFFFE4"/>
                </a:solidFill>
                <a:effectLst/>
                <a:latin typeface="Helvetica Neue"/>
              </a:rPr>
              <a:t>绑定端口号</a:t>
            </a:r>
          </a:p>
          <a:p>
            <a:pPr algn="l">
              <a:buFont typeface="+mj-lt"/>
              <a:buAutoNum type="arabicPeriod"/>
            </a:pPr>
            <a:r>
              <a:rPr lang="zh-CN" altLang="en-US" b="0" i="0" dirty="0">
                <a:solidFill>
                  <a:srgbClr val="FFFFE4"/>
                </a:solidFill>
                <a:effectLst/>
                <a:latin typeface="Helvetica Neue"/>
              </a:rPr>
              <a:t>设置监听</a:t>
            </a:r>
          </a:p>
          <a:p>
            <a:pPr algn="l">
              <a:buFont typeface="+mj-lt"/>
              <a:buAutoNum type="arabicPeriod"/>
            </a:pPr>
            <a:r>
              <a:rPr lang="zh-CN" altLang="en-US" b="0" i="0" dirty="0">
                <a:solidFill>
                  <a:srgbClr val="FFFFE4"/>
                </a:solidFill>
                <a:effectLst/>
                <a:latin typeface="Helvetica Neue"/>
              </a:rPr>
              <a:t>等待接受客户端的连接请求</a:t>
            </a:r>
          </a:p>
          <a:p>
            <a:pPr algn="l">
              <a:buFont typeface="+mj-lt"/>
              <a:buAutoNum type="arabicPeriod"/>
            </a:pPr>
            <a:r>
              <a:rPr lang="zh-CN" altLang="en-US" b="0" i="0" dirty="0">
                <a:solidFill>
                  <a:srgbClr val="FFFFE4"/>
                </a:solidFill>
                <a:effectLst/>
                <a:latin typeface="Helvetica Neue"/>
              </a:rPr>
              <a:t>接收数据</a:t>
            </a:r>
          </a:p>
          <a:p>
            <a:pPr algn="l">
              <a:buFont typeface="+mj-lt"/>
              <a:buAutoNum type="arabicPeriod"/>
            </a:pPr>
            <a:r>
              <a:rPr lang="zh-CN" altLang="en-US" b="0" i="0" dirty="0">
                <a:solidFill>
                  <a:srgbClr val="FFFFE4"/>
                </a:solidFill>
                <a:effectLst/>
                <a:latin typeface="Helvetica Neue"/>
              </a:rPr>
              <a:t>发送数据</a:t>
            </a:r>
          </a:p>
          <a:p>
            <a:pPr algn="l">
              <a:buFont typeface="+mj-lt"/>
              <a:buAutoNum type="arabicPeriod"/>
            </a:pPr>
            <a:r>
              <a:rPr lang="zh-CN" altLang="en-US" b="0" i="0" dirty="0">
                <a:solidFill>
                  <a:srgbClr val="FFFFE4"/>
                </a:solidFill>
                <a:effectLst/>
                <a:latin typeface="Helvetica Neue"/>
              </a:rPr>
              <a:t>关闭套接字</a:t>
            </a:r>
          </a:p>
        </p:txBody>
      </p:sp>
      <p:sp>
        <p:nvSpPr>
          <p:cNvPr id="137" name="箭头: 右 136">
            <a:extLst>
              <a:ext uri="{FF2B5EF4-FFF2-40B4-BE49-F238E27FC236}">
                <a16:creationId xmlns:a16="http://schemas.microsoft.com/office/drawing/2014/main" id="{C2C43ED7-4EC5-4701-B5BC-568EB513BADA}"/>
              </a:ext>
            </a:extLst>
          </p:cNvPr>
          <p:cNvSpPr/>
          <p:nvPr/>
        </p:nvSpPr>
        <p:spPr>
          <a:xfrm>
            <a:off x="6466619" y="3659545"/>
            <a:ext cx="1002890" cy="602226"/>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00DC5B28-D338-41E9-BE0B-5D7B8D4AF9C7}"/>
              </a:ext>
            </a:extLst>
          </p:cNvPr>
          <p:cNvPicPr>
            <a:picLocks noChangeAspect="1"/>
          </p:cNvPicPr>
          <p:nvPr/>
        </p:nvPicPr>
        <p:blipFill>
          <a:blip r:embed="rId4"/>
          <a:stretch>
            <a:fillRect/>
          </a:stretch>
        </p:blipFill>
        <p:spPr>
          <a:xfrm>
            <a:off x="7611029" y="1156158"/>
            <a:ext cx="3741744" cy="5006774"/>
          </a:xfrm>
          <a:prstGeom prst="rect">
            <a:avLst/>
          </a:prstGeom>
        </p:spPr>
      </p:pic>
    </p:spTree>
    <p:extLst>
      <p:ext uri="{BB962C8B-B14F-4D97-AF65-F5344CB8AC3E}">
        <p14:creationId xmlns:p14="http://schemas.microsoft.com/office/powerpoint/2010/main" val="1868523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05</a:t>
            </a:r>
            <a:endParaRPr kumimoji="1" lang="zh-CN" altLang="en-US" dirty="0"/>
          </a:p>
        </p:txBody>
      </p:sp>
    </p:spTree>
    <p:extLst>
      <p:ext uri="{BB962C8B-B14F-4D97-AF65-F5344CB8AC3E}">
        <p14:creationId xmlns:p14="http://schemas.microsoft.com/office/powerpoint/2010/main" val="323040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0" y="1646133"/>
            <a:ext cx="10749599" cy="4886642"/>
          </a:xfrm>
        </p:spPr>
        <p:txBody>
          <a:bodyPr/>
          <a:lstStyle/>
          <a:p>
            <a:pPr marL="0" indent="0" algn="l">
              <a:buNone/>
            </a:pPr>
            <a:r>
              <a:rPr lang="zh-CN" altLang="en-US" b="0" i="0" dirty="0">
                <a:solidFill>
                  <a:srgbClr val="333333"/>
                </a:solidFill>
                <a:effectLst/>
                <a:latin typeface="Helvetica Neue"/>
              </a:rPr>
              <a:t>① 创建客户端套接字对象</a:t>
            </a:r>
          </a:p>
          <a:p>
            <a:pPr marL="0" indent="0" algn="l">
              <a:buNone/>
            </a:pPr>
            <a:r>
              <a:rPr lang="zh-CN" altLang="en-US" b="0" i="0" dirty="0">
                <a:solidFill>
                  <a:srgbClr val="333333"/>
                </a:solidFill>
                <a:effectLst/>
                <a:latin typeface="Helvetica Neue"/>
              </a:rPr>
              <a:t>② 和服务端套接字建立连接</a:t>
            </a:r>
          </a:p>
          <a:p>
            <a:pPr marL="0" indent="0" algn="l">
              <a:buNone/>
            </a:pPr>
            <a:r>
              <a:rPr lang="zh-CN" altLang="en-US" b="0" i="0" dirty="0">
                <a:solidFill>
                  <a:srgbClr val="333333"/>
                </a:solidFill>
                <a:effectLst/>
                <a:latin typeface="Helvetica Neue"/>
              </a:rPr>
              <a:t>③ 发送数据</a:t>
            </a:r>
          </a:p>
          <a:p>
            <a:pPr marL="0" indent="0" algn="l">
              <a:buNone/>
            </a:pPr>
            <a:r>
              <a:rPr lang="zh-CN" altLang="en-US" dirty="0">
                <a:solidFill>
                  <a:srgbClr val="333333"/>
                </a:solidFill>
                <a:latin typeface="Helvetica Neue"/>
              </a:rPr>
              <a:t>④ </a:t>
            </a:r>
            <a:r>
              <a:rPr lang="zh-CN" altLang="en-US" b="0" i="0" dirty="0">
                <a:solidFill>
                  <a:srgbClr val="333333"/>
                </a:solidFill>
                <a:effectLst/>
                <a:latin typeface="Helvetica Neue"/>
              </a:rPr>
              <a:t>接收数据</a:t>
            </a:r>
          </a:p>
          <a:p>
            <a:pPr marL="0" indent="0" algn="l">
              <a:buNone/>
            </a:pPr>
            <a:r>
              <a:rPr lang="zh-CN" altLang="en-US" b="0" i="0" dirty="0">
                <a:solidFill>
                  <a:srgbClr val="333333"/>
                </a:solidFill>
                <a:effectLst/>
                <a:latin typeface="Helvetica Neue"/>
              </a:rPr>
              <a:t>⑤ 关闭客户端套接字</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1</a:t>
            </a:r>
            <a:r>
              <a:rPr kumimoji="1" lang="zh-CN" altLang="en-US" dirty="0"/>
              <a:t>、</a:t>
            </a:r>
            <a:r>
              <a:rPr lang="zh-CN" altLang="en-US" b="1" i="0" dirty="0">
                <a:solidFill>
                  <a:srgbClr val="333333"/>
                </a:solidFill>
                <a:effectLst/>
                <a:latin typeface="Helvetica Neue"/>
              </a:rPr>
              <a:t>开发 </a:t>
            </a:r>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客户端程序开发步骤回顾</a:t>
            </a:r>
          </a:p>
        </p:txBody>
      </p:sp>
    </p:spTree>
    <p:extLst>
      <p:ext uri="{BB962C8B-B14F-4D97-AF65-F5344CB8AC3E}">
        <p14:creationId xmlns:p14="http://schemas.microsoft.com/office/powerpoint/2010/main" val="304566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0" y="1646133"/>
            <a:ext cx="10749599" cy="4886642"/>
          </a:xfrm>
        </p:spPr>
        <p:txBody>
          <a:bodyPr/>
          <a:lstStyle/>
          <a:p>
            <a:pPr algn="l"/>
            <a:r>
              <a:rPr lang="zh-CN" altLang="en-US" b="0" i="0" dirty="0">
                <a:solidFill>
                  <a:srgbClr val="333333"/>
                </a:solidFill>
                <a:effectLst/>
                <a:latin typeface="Helvetica Neue"/>
              </a:rPr>
              <a:t>导入 </a:t>
            </a:r>
            <a:r>
              <a:rPr lang="en-US" altLang="zh-CN" b="0" i="0" dirty="0">
                <a:solidFill>
                  <a:srgbClr val="333333"/>
                </a:solidFill>
                <a:effectLst/>
                <a:latin typeface="Helvetica Neue"/>
              </a:rPr>
              <a:t>socket </a:t>
            </a:r>
            <a:r>
              <a:rPr lang="zh-CN" altLang="en-US" b="0" i="0" dirty="0">
                <a:solidFill>
                  <a:srgbClr val="333333"/>
                </a:solidFill>
                <a:effectLst/>
                <a:latin typeface="Helvetica Neue"/>
              </a:rPr>
              <a:t>模块</a:t>
            </a:r>
            <a:br>
              <a:rPr lang="zh-CN" altLang="en-US" b="0" i="0" dirty="0">
                <a:solidFill>
                  <a:srgbClr val="333333"/>
                </a:solidFill>
                <a:effectLst/>
                <a:latin typeface="Helvetica Neue"/>
              </a:rPr>
            </a:br>
            <a:r>
              <a:rPr lang="en-US" altLang="zh-CN" b="1" i="0" dirty="0">
                <a:solidFill>
                  <a:srgbClr val="C00000"/>
                </a:solidFill>
                <a:effectLst/>
                <a:latin typeface="Helvetica Neue"/>
              </a:rPr>
              <a:t>import socket</a:t>
            </a:r>
            <a:endParaRPr lang="en-US" altLang="zh-CN" b="0" i="0" dirty="0">
              <a:solidFill>
                <a:srgbClr val="C00000"/>
              </a:solidFill>
              <a:effectLst/>
              <a:latin typeface="Helvetica Neue"/>
            </a:endParaRPr>
          </a:p>
          <a:p>
            <a:pPr algn="l"/>
            <a:r>
              <a:rPr lang="zh-CN" altLang="en-US" b="0" i="0" dirty="0">
                <a:solidFill>
                  <a:srgbClr val="333333"/>
                </a:solidFill>
                <a:effectLst/>
                <a:latin typeface="Helvetica Neue"/>
              </a:rPr>
              <a:t>创建客户端 </a:t>
            </a:r>
            <a:r>
              <a:rPr lang="en-US" altLang="zh-CN" b="0" i="0" dirty="0">
                <a:solidFill>
                  <a:srgbClr val="333333"/>
                </a:solidFill>
                <a:effectLst/>
                <a:latin typeface="Helvetica Neue"/>
              </a:rPr>
              <a:t>socket </a:t>
            </a:r>
            <a:r>
              <a:rPr lang="zh-CN" altLang="en-US" b="0" i="0" dirty="0">
                <a:solidFill>
                  <a:srgbClr val="333333"/>
                </a:solidFill>
                <a:effectLst/>
                <a:latin typeface="Helvetica Neue"/>
              </a:rPr>
              <a:t>对象</a:t>
            </a:r>
            <a:br>
              <a:rPr lang="zh-CN" altLang="en-US" b="0" i="0" dirty="0">
                <a:solidFill>
                  <a:srgbClr val="333333"/>
                </a:solidFill>
                <a:effectLst/>
                <a:latin typeface="Helvetica Neue"/>
              </a:rPr>
            </a:br>
            <a:r>
              <a:rPr lang="en-US" altLang="zh-CN" b="1" i="0" dirty="0" err="1">
                <a:solidFill>
                  <a:srgbClr val="C00000"/>
                </a:solidFill>
                <a:effectLst/>
                <a:latin typeface="Helvetica Neue"/>
              </a:rPr>
              <a:t>socket.socket</a:t>
            </a:r>
            <a:r>
              <a:rPr lang="en-US" altLang="zh-CN" b="1" i="0" dirty="0">
                <a:solidFill>
                  <a:srgbClr val="C00000"/>
                </a:solidFill>
                <a:effectLst/>
                <a:latin typeface="Helvetica Neue"/>
              </a:rPr>
              <a:t>(</a:t>
            </a:r>
            <a:r>
              <a:rPr lang="en-US" altLang="zh-CN" b="1" i="0" dirty="0" err="1">
                <a:solidFill>
                  <a:srgbClr val="C00000"/>
                </a:solidFill>
                <a:effectLst/>
                <a:latin typeface="Helvetica Neue"/>
              </a:rPr>
              <a:t>AddressFamily</a:t>
            </a:r>
            <a:r>
              <a:rPr lang="en-US" altLang="zh-CN" b="1" i="0" dirty="0">
                <a:solidFill>
                  <a:srgbClr val="C00000"/>
                </a:solidFill>
                <a:effectLst/>
                <a:latin typeface="Helvetica Neue"/>
              </a:rPr>
              <a:t>, Type)</a:t>
            </a:r>
            <a:endParaRPr lang="en-US" altLang="zh-CN" b="0" i="0" dirty="0">
              <a:solidFill>
                <a:srgbClr val="C00000"/>
              </a:solidFill>
              <a:effectLst/>
              <a:latin typeface="Helvetica Neue"/>
            </a:endParaRPr>
          </a:p>
          <a:p>
            <a:pPr algn="l"/>
            <a:r>
              <a:rPr lang="zh-CN" altLang="en-US" b="1" i="0" dirty="0">
                <a:solidFill>
                  <a:srgbClr val="333333"/>
                </a:solidFill>
                <a:effectLst/>
                <a:latin typeface="Helvetica Neue"/>
              </a:rPr>
              <a:t>参数说明</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algn="l">
              <a:buFont typeface="Wingdings" panose="05000000000000000000" pitchFamily="2" charset="2"/>
              <a:buChar char="Ø"/>
            </a:pPr>
            <a:r>
              <a:rPr lang="en-US" altLang="zh-CN" b="0" i="0" dirty="0" err="1">
                <a:solidFill>
                  <a:srgbClr val="333333"/>
                </a:solidFill>
                <a:effectLst/>
                <a:latin typeface="Helvetica Neue"/>
              </a:rPr>
              <a:t>AddressFamily</a:t>
            </a:r>
            <a:r>
              <a:rPr lang="en-US" altLang="zh-CN" b="0" i="0" dirty="0">
                <a:solidFill>
                  <a:srgbClr val="333333"/>
                </a:solidFill>
                <a:effectLst/>
                <a:latin typeface="Helvetica Neue"/>
              </a:rPr>
              <a:t> </a:t>
            </a:r>
            <a:r>
              <a:rPr lang="zh-CN" altLang="en-US" b="0" i="0" dirty="0">
                <a:solidFill>
                  <a:srgbClr val="333333"/>
                </a:solidFill>
                <a:effectLst/>
                <a:latin typeface="Helvetica Neue"/>
              </a:rPr>
              <a:t>表示</a:t>
            </a:r>
            <a:r>
              <a:rPr lang="en-US" altLang="zh-CN" b="0" i="0" dirty="0">
                <a:solidFill>
                  <a:srgbClr val="333333"/>
                </a:solidFill>
                <a:effectLst/>
                <a:latin typeface="Helvetica Neue"/>
              </a:rPr>
              <a:t>IP</a:t>
            </a:r>
            <a:r>
              <a:rPr lang="zh-CN" altLang="en-US" b="0" i="0" dirty="0">
                <a:solidFill>
                  <a:srgbClr val="333333"/>
                </a:solidFill>
                <a:effectLst/>
                <a:latin typeface="Helvetica Neue"/>
              </a:rPr>
              <a:t>地址类型</a:t>
            </a:r>
            <a:r>
              <a:rPr lang="en-US" altLang="zh-CN" b="0" i="0" dirty="0">
                <a:solidFill>
                  <a:srgbClr val="333333"/>
                </a:solidFill>
                <a:effectLst/>
                <a:latin typeface="Helvetica Neue"/>
              </a:rPr>
              <a:t>, </a:t>
            </a:r>
            <a:r>
              <a:rPr lang="zh-CN" altLang="en-US" b="0" i="0" dirty="0">
                <a:solidFill>
                  <a:srgbClr val="333333"/>
                </a:solidFill>
                <a:effectLst/>
                <a:latin typeface="Helvetica Neue"/>
              </a:rPr>
              <a:t>分为</a:t>
            </a:r>
            <a:r>
              <a:rPr lang="en-US" altLang="zh-CN" b="0" i="0" dirty="0">
                <a:solidFill>
                  <a:srgbClr val="333333"/>
                </a:solidFill>
                <a:effectLst/>
                <a:latin typeface="Helvetica Neue"/>
              </a:rPr>
              <a:t>IPv4</a:t>
            </a:r>
            <a:r>
              <a:rPr lang="zh-CN" altLang="en-US" b="0" i="0" dirty="0">
                <a:solidFill>
                  <a:srgbClr val="333333"/>
                </a:solidFill>
                <a:effectLst/>
                <a:latin typeface="Helvetica Neue"/>
              </a:rPr>
              <a:t>和</a:t>
            </a:r>
            <a:r>
              <a:rPr lang="en-US" altLang="zh-CN" b="0" i="0" dirty="0">
                <a:solidFill>
                  <a:srgbClr val="333333"/>
                </a:solidFill>
                <a:effectLst/>
                <a:latin typeface="Helvetica Neue"/>
              </a:rPr>
              <a:t>IPv6</a:t>
            </a:r>
          </a:p>
          <a:p>
            <a:pPr algn="l">
              <a:buFont typeface="Wingdings" panose="05000000000000000000" pitchFamily="2" charset="2"/>
              <a:buChar char="Ø"/>
            </a:pPr>
            <a:r>
              <a:rPr lang="en-US" altLang="zh-CN" b="0" i="0" dirty="0">
                <a:solidFill>
                  <a:srgbClr val="333333"/>
                </a:solidFill>
                <a:effectLst/>
                <a:latin typeface="Helvetica Neue"/>
              </a:rPr>
              <a:t>Type </a:t>
            </a:r>
            <a:r>
              <a:rPr lang="zh-CN" altLang="en-US" b="0" i="0" dirty="0">
                <a:solidFill>
                  <a:srgbClr val="333333"/>
                </a:solidFill>
                <a:effectLst/>
                <a:latin typeface="Helvetica Neue"/>
              </a:rPr>
              <a:t>表示传输协议类型</a:t>
            </a:r>
          </a:p>
          <a:p>
            <a:pPr algn="l"/>
            <a:r>
              <a:rPr lang="zh-CN" altLang="en-US" b="1" i="0" dirty="0">
                <a:solidFill>
                  <a:srgbClr val="333333"/>
                </a:solidFill>
                <a:effectLst/>
                <a:latin typeface="Helvetica Neue"/>
              </a:rPr>
              <a:t>方法说明</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algn="l">
              <a:buFont typeface="Wingdings" panose="05000000000000000000" pitchFamily="2" charset="2"/>
              <a:buChar char="Ø"/>
            </a:pPr>
            <a:r>
              <a:rPr lang="en-US" altLang="zh-CN" b="0" i="0" dirty="0">
                <a:solidFill>
                  <a:srgbClr val="C00000"/>
                </a:solidFill>
                <a:effectLst/>
                <a:latin typeface="Helvetica Neue"/>
              </a:rPr>
              <a:t>connect((host, port)) </a:t>
            </a:r>
            <a:r>
              <a:rPr lang="zh-CN" altLang="en-US" b="0" i="0" dirty="0">
                <a:solidFill>
                  <a:srgbClr val="333333"/>
                </a:solidFill>
                <a:effectLst/>
                <a:latin typeface="Helvetica Neue"/>
              </a:rPr>
              <a:t>表示和服务端套接字建立连接</a:t>
            </a:r>
            <a:r>
              <a:rPr lang="en-US" altLang="zh-CN" b="0" i="0" dirty="0">
                <a:solidFill>
                  <a:srgbClr val="333333"/>
                </a:solidFill>
                <a:effectLst/>
                <a:latin typeface="Helvetica Neue"/>
              </a:rPr>
              <a:t>, host</a:t>
            </a:r>
            <a:r>
              <a:rPr lang="zh-CN" altLang="en-US" b="0" i="0" dirty="0">
                <a:solidFill>
                  <a:srgbClr val="333333"/>
                </a:solidFill>
                <a:effectLst/>
                <a:latin typeface="Helvetica Neue"/>
              </a:rPr>
              <a:t>是服务器</a:t>
            </a:r>
            <a:r>
              <a:rPr lang="en-US" altLang="zh-CN" b="0" i="0" dirty="0" err="1">
                <a:solidFill>
                  <a:srgbClr val="333333"/>
                </a:solidFill>
                <a:effectLst/>
                <a:latin typeface="Helvetica Neue"/>
              </a:rPr>
              <a:t>ip</a:t>
            </a:r>
            <a:r>
              <a:rPr lang="zh-CN" altLang="en-US" b="0" i="0" dirty="0">
                <a:solidFill>
                  <a:srgbClr val="333333"/>
                </a:solidFill>
                <a:effectLst/>
                <a:latin typeface="Helvetica Neue"/>
              </a:rPr>
              <a:t>地址，</a:t>
            </a:r>
            <a:r>
              <a:rPr lang="en-US" altLang="zh-CN" b="0" i="0" dirty="0">
                <a:solidFill>
                  <a:srgbClr val="333333"/>
                </a:solidFill>
                <a:effectLst/>
                <a:latin typeface="Helvetica Neue"/>
              </a:rPr>
              <a:t>port</a:t>
            </a:r>
            <a:r>
              <a:rPr lang="zh-CN" altLang="en-US" b="0" i="0" dirty="0">
                <a:solidFill>
                  <a:srgbClr val="333333"/>
                </a:solidFill>
                <a:effectLst/>
                <a:latin typeface="Helvetica Neue"/>
              </a:rPr>
              <a:t>是应用程序的端口号</a:t>
            </a:r>
          </a:p>
          <a:p>
            <a:pPr algn="l">
              <a:buFont typeface="Wingdings" panose="05000000000000000000" pitchFamily="2" charset="2"/>
              <a:buChar char="Ø"/>
            </a:pPr>
            <a:r>
              <a:rPr lang="en-US" altLang="zh-CN" b="0" i="0" dirty="0">
                <a:solidFill>
                  <a:srgbClr val="C00000"/>
                </a:solidFill>
                <a:effectLst/>
                <a:latin typeface="Helvetica Neue"/>
              </a:rPr>
              <a:t>send(data) </a:t>
            </a:r>
            <a:r>
              <a:rPr lang="zh-CN" altLang="en-US" b="0" i="0" dirty="0">
                <a:solidFill>
                  <a:srgbClr val="333333"/>
                </a:solidFill>
                <a:effectLst/>
                <a:latin typeface="Helvetica Neue"/>
              </a:rPr>
              <a:t>表示发送数据，</a:t>
            </a:r>
            <a:r>
              <a:rPr lang="en-US" altLang="zh-CN" b="0" i="0" dirty="0">
                <a:solidFill>
                  <a:srgbClr val="333333"/>
                </a:solidFill>
                <a:effectLst/>
                <a:latin typeface="Helvetica Neue"/>
              </a:rPr>
              <a:t>data</a:t>
            </a:r>
            <a:r>
              <a:rPr lang="zh-CN" altLang="en-US" b="0" i="0" dirty="0">
                <a:solidFill>
                  <a:srgbClr val="333333"/>
                </a:solidFill>
                <a:effectLst/>
                <a:latin typeface="Helvetica Neue"/>
              </a:rPr>
              <a:t>是二进制数据</a:t>
            </a:r>
          </a:p>
          <a:p>
            <a:pPr algn="l">
              <a:buFont typeface="Wingdings" panose="05000000000000000000" pitchFamily="2" charset="2"/>
              <a:buChar char="Ø"/>
            </a:pPr>
            <a:r>
              <a:rPr lang="en-US" altLang="zh-CN" b="0" i="0" dirty="0" err="1">
                <a:solidFill>
                  <a:srgbClr val="C00000"/>
                </a:solidFill>
                <a:effectLst/>
                <a:latin typeface="Helvetica Neue"/>
              </a:rPr>
              <a:t>recv</a:t>
            </a:r>
            <a:r>
              <a:rPr lang="en-US" altLang="zh-CN" b="0" i="0" dirty="0">
                <a:solidFill>
                  <a:srgbClr val="C00000"/>
                </a:solidFill>
                <a:effectLst/>
                <a:latin typeface="Helvetica Neue"/>
              </a:rPr>
              <a:t>(</a:t>
            </a:r>
            <a:r>
              <a:rPr lang="en-US" altLang="zh-CN" b="0" i="0" dirty="0" err="1">
                <a:solidFill>
                  <a:srgbClr val="C00000"/>
                </a:solidFill>
                <a:effectLst/>
                <a:latin typeface="Helvetica Neue"/>
              </a:rPr>
              <a:t>buffersize</a:t>
            </a:r>
            <a:r>
              <a:rPr lang="en-US" altLang="zh-CN" b="0" i="0" dirty="0">
                <a:solidFill>
                  <a:srgbClr val="C00000"/>
                </a:solidFill>
                <a:effectLst/>
                <a:latin typeface="Helvetica Neue"/>
              </a:rPr>
              <a:t>) </a:t>
            </a:r>
            <a:r>
              <a:rPr lang="zh-CN" altLang="en-US" b="0" i="0" dirty="0">
                <a:solidFill>
                  <a:srgbClr val="333333"/>
                </a:solidFill>
                <a:effectLst/>
                <a:latin typeface="Helvetica Neue"/>
              </a:rPr>
              <a:t>表示接收数据</a:t>
            </a:r>
            <a:r>
              <a:rPr lang="en-US" altLang="zh-CN" b="0" i="0" dirty="0">
                <a:solidFill>
                  <a:srgbClr val="333333"/>
                </a:solidFill>
                <a:effectLst/>
                <a:latin typeface="Helvetica Neue"/>
              </a:rPr>
              <a:t>, </a:t>
            </a:r>
            <a:r>
              <a:rPr lang="en-US" altLang="zh-CN" b="0" i="0" dirty="0" err="1">
                <a:solidFill>
                  <a:srgbClr val="C00000"/>
                </a:solidFill>
                <a:effectLst/>
                <a:latin typeface="Helvetica Neue"/>
              </a:rPr>
              <a:t>buffersize</a:t>
            </a:r>
            <a:r>
              <a:rPr lang="zh-CN" altLang="en-US" b="0" i="0" dirty="0">
                <a:solidFill>
                  <a:srgbClr val="333333"/>
                </a:solidFill>
                <a:effectLst/>
                <a:latin typeface="Helvetica Neue"/>
              </a:rPr>
              <a:t>是每次接收数据的长度</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2</a:t>
            </a:r>
            <a:r>
              <a:rPr kumimoji="1" lang="zh-CN" altLang="en-US" dirty="0"/>
              <a:t>、</a:t>
            </a:r>
            <a:r>
              <a:rPr lang="en-US" altLang="zh-CN" b="1" i="0" dirty="0">
                <a:solidFill>
                  <a:srgbClr val="333333"/>
                </a:solidFill>
                <a:effectLst/>
                <a:latin typeface="Helvetica Neue"/>
              </a:rPr>
              <a:t>socket </a:t>
            </a:r>
            <a:r>
              <a:rPr lang="zh-CN" altLang="en-US" b="1" i="0" dirty="0">
                <a:solidFill>
                  <a:srgbClr val="333333"/>
                </a:solidFill>
                <a:effectLst/>
                <a:latin typeface="Helvetica Neue"/>
              </a:rPr>
              <a:t>类的介绍</a:t>
            </a:r>
          </a:p>
        </p:txBody>
      </p:sp>
    </p:spTree>
    <p:extLst>
      <p:ext uri="{BB962C8B-B14F-4D97-AF65-F5344CB8AC3E}">
        <p14:creationId xmlns:p14="http://schemas.microsoft.com/office/powerpoint/2010/main" val="297753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3</a:t>
            </a:r>
            <a:r>
              <a:rPr kumimoji="1" lang="zh-CN" altLang="en-US" dirty="0"/>
              <a:t>、</a:t>
            </a:r>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客户端程序开发示例代码</a:t>
            </a:r>
          </a:p>
        </p:txBody>
      </p:sp>
      <p:sp>
        <p:nvSpPr>
          <p:cNvPr id="6" name="TextBox 3">
            <a:extLst>
              <a:ext uri="{FF2B5EF4-FFF2-40B4-BE49-F238E27FC236}">
                <a16:creationId xmlns:a16="http://schemas.microsoft.com/office/drawing/2014/main" id="{0C998B78-AB18-3C47-A1C7-25AE9A3A40B0}"/>
              </a:ext>
            </a:extLst>
          </p:cNvPr>
          <p:cNvSpPr txBox="1"/>
          <p:nvPr/>
        </p:nvSpPr>
        <p:spPr>
          <a:xfrm>
            <a:off x="795131" y="1626903"/>
            <a:ext cx="4969566" cy="4255396"/>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import socket</a:t>
            </a:r>
          </a:p>
          <a:p>
            <a:pPr>
              <a:lnSpc>
                <a:spcPct val="150000"/>
              </a:lnSpc>
              <a:defRPr/>
            </a:pPr>
            <a:endParaRPr lang="en-US" altLang="zh-CN" sz="14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endParaRPr lang="en-US" altLang="zh-CN" sz="14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if __name__ == '__main__':</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创建</a:t>
            </a:r>
            <a:r>
              <a:rPr lang="en-US" altLang="zh-CN" sz="1400" dirty="0" err="1">
                <a:solidFill>
                  <a:srgbClr val="0033B3"/>
                </a:solidFill>
                <a:latin typeface="Alibaba PuHuiTi R" pitchFamily="18" charset="-122"/>
                <a:ea typeface="Alibaba PuHuiTi R" pitchFamily="18" charset="-122"/>
                <a:cs typeface="Alibaba PuHuiTi R" pitchFamily="18" charset="-122"/>
              </a:rPr>
              <a:t>tcp</a:t>
            </a:r>
            <a:r>
              <a:rPr lang="zh-CN" altLang="en-US" sz="1400" dirty="0">
                <a:solidFill>
                  <a:srgbClr val="0033B3"/>
                </a:solidFill>
                <a:latin typeface="Alibaba PuHuiTi R" pitchFamily="18" charset="-122"/>
                <a:ea typeface="Alibaba PuHuiTi R" pitchFamily="18" charset="-122"/>
                <a:cs typeface="Alibaba PuHuiTi R" pitchFamily="18" charset="-122"/>
              </a:rPr>
              <a:t>客户端套接字</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a:solidFill>
                  <a:srgbClr val="0033B3"/>
                </a:solidFill>
                <a:latin typeface="Alibaba PuHuiTi R" pitchFamily="18" charset="-122"/>
                <a:ea typeface="Alibaba PuHuiTi R" pitchFamily="18" charset="-122"/>
                <a:cs typeface="Alibaba PuHuiTi R" pitchFamily="18" charset="-122"/>
              </a:rPr>
              <a:t># 1. AF_INET</a:t>
            </a:r>
            <a:r>
              <a:rPr lang="zh-CN" altLang="en-US" sz="1400" dirty="0">
                <a:solidFill>
                  <a:srgbClr val="0033B3"/>
                </a:solidFill>
                <a:latin typeface="Alibaba PuHuiTi R" pitchFamily="18" charset="-122"/>
                <a:ea typeface="Alibaba PuHuiTi R" pitchFamily="18" charset="-122"/>
                <a:cs typeface="Alibaba PuHuiTi R" pitchFamily="18" charset="-122"/>
              </a:rPr>
              <a:t>：表示</a:t>
            </a:r>
            <a:r>
              <a:rPr lang="en-US" altLang="zh-CN" sz="1400" dirty="0">
                <a:solidFill>
                  <a:srgbClr val="0033B3"/>
                </a:solidFill>
                <a:latin typeface="Alibaba PuHuiTi R" pitchFamily="18" charset="-122"/>
                <a:ea typeface="Alibaba PuHuiTi R" pitchFamily="18" charset="-122"/>
                <a:cs typeface="Alibaba PuHuiTi R" pitchFamily="18" charset="-122"/>
              </a:rPr>
              <a:t>ipv4</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2. SOCK_STREAM: </a:t>
            </a:r>
            <a:r>
              <a:rPr lang="en-US" altLang="zh-CN" sz="1400" dirty="0" err="1">
                <a:solidFill>
                  <a:srgbClr val="0033B3"/>
                </a:solidFill>
                <a:latin typeface="Alibaba PuHuiTi R" pitchFamily="18" charset="-122"/>
                <a:ea typeface="Alibaba PuHuiTi R" pitchFamily="18" charset="-122"/>
                <a:cs typeface="Alibaba PuHuiTi R" pitchFamily="18" charset="-122"/>
              </a:rPr>
              <a:t>tcp</a:t>
            </a:r>
            <a:r>
              <a:rPr lang="zh-CN" altLang="en-US" sz="1400" dirty="0">
                <a:solidFill>
                  <a:srgbClr val="0033B3"/>
                </a:solidFill>
                <a:latin typeface="Alibaba PuHuiTi R" pitchFamily="18" charset="-122"/>
                <a:ea typeface="Alibaba PuHuiTi R" pitchFamily="18" charset="-122"/>
                <a:cs typeface="Alibaba PuHuiTi R" pitchFamily="18" charset="-122"/>
              </a:rPr>
              <a:t>传输协议</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tcp_client_socket</a:t>
            </a: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en-US" altLang="zh-CN" sz="1400" dirty="0" err="1">
                <a:solidFill>
                  <a:srgbClr val="0033B3"/>
                </a:solidFill>
                <a:latin typeface="Alibaba PuHuiTi R" pitchFamily="18" charset="-122"/>
                <a:ea typeface="Alibaba PuHuiTi R" pitchFamily="18" charset="-122"/>
                <a:cs typeface="Alibaba PuHuiTi R" pitchFamily="18" charset="-122"/>
              </a:rPr>
              <a:t>socket.socket</a:t>
            </a:r>
            <a:r>
              <a:rPr lang="en-US" altLang="zh-CN" sz="1400" dirty="0">
                <a:solidFill>
                  <a:srgbClr val="0033B3"/>
                </a:solidFill>
                <a:latin typeface="Alibaba PuHuiTi R" pitchFamily="18" charset="-122"/>
                <a:ea typeface="Alibaba PuHuiTi R" pitchFamily="18" charset="-122"/>
                <a:cs typeface="Alibaba PuHuiTi R" pitchFamily="18" charset="-122"/>
              </a:rPr>
              <a:t>(</a:t>
            </a:r>
            <a:r>
              <a:rPr lang="en-US" altLang="zh-CN" sz="1400" dirty="0" err="1">
                <a:solidFill>
                  <a:srgbClr val="0033B3"/>
                </a:solidFill>
                <a:latin typeface="Alibaba PuHuiTi R" pitchFamily="18" charset="-122"/>
                <a:ea typeface="Alibaba PuHuiTi R" pitchFamily="18" charset="-122"/>
                <a:cs typeface="Alibaba PuHuiTi R" pitchFamily="18" charset="-122"/>
              </a:rPr>
              <a:t>socket.AF_INET</a:t>
            </a:r>
            <a:r>
              <a:rPr lang="en-US" altLang="zh-CN"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socket.SOCK_STREAM</a:t>
            </a:r>
            <a:r>
              <a:rPr lang="en-US" altLang="zh-CN" sz="14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和服务端应用程序建立连接</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tcp_client_socket.connect</a:t>
            </a:r>
            <a:r>
              <a:rPr lang="en-US" altLang="zh-CN" sz="1400" dirty="0">
                <a:solidFill>
                  <a:srgbClr val="0033B3"/>
                </a:solidFill>
                <a:latin typeface="Alibaba PuHuiTi R" pitchFamily="18" charset="-122"/>
                <a:ea typeface="Alibaba PuHuiTi R" pitchFamily="18" charset="-122"/>
                <a:cs typeface="Alibaba PuHuiTi R" pitchFamily="18" charset="-122"/>
              </a:rPr>
              <a:t>(("192.168.131.62", 8080))</a:t>
            </a:r>
          </a:p>
          <a:p>
            <a:pPr>
              <a:lnSpc>
                <a:spcPct val="150000"/>
              </a:lnSpc>
              <a:defRPr/>
            </a:pPr>
            <a:endParaRPr lang="en-US" altLang="zh-CN" sz="14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代码执行到此，说明连接建立成功</a:t>
            </a:r>
          </a:p>
        </p:txBody>
      </p:sp>
      <p:sp>
        <p:nvSpPr>
          <p:cNvPr id="14" name="TextBox 3">
            <a:extLst>
              <a:ext uri="{FF2B5EF4-FFF2-40B4-BE49-F238E27FC236}">
                <a16:creationId xmlns:a16="http://schemas.microsoft.com/office/drawing/2014/main" id="{13C1D023-7567-4251-A191-179CD62861A8}"/>
              </a:ext>
            </a:extLst>
          </p:cNvPr>
          <p:cNvSpPr txBox="1"/>
          <p:nvPr/>
        </p:nvSpPr>
        <p:spPr>
          <a:xfrm>
            <a:off x="5891412" y="1626903"/>
            <a:ext cx="5569067" cy="4255396"/>
          </a:xfrm>
          <a:prstGeom prst="rect">
            <a:avLst/>
          </a:prstGeom>
          <a:solidFill>
            <a:srgbClr val="FFFFE4"/>
          </a:solidFill>
          <a:ln w="3175">
            <a:solidFill>
              <a:srgbClr val="919191"/>
            </a:solidFill>
          </a:ln>
        </p:spPr>
        <p:txBody>
          <a:bodyPr wrap="square">
            <a:spAutoFit/>
          </a:bodyPr>
          <a:lstStyle/>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a:solidFill>
                  <a:srgbClr val="0033B3"/>
                </a:solidFill>
                <a:latin typeface="Alibaba PuHuiTi R" pitchFamily="18" charset="-122"/>
                <a:ea typeface="Alibaba PuHuiTi R" pitchFamily="18" charset="-122"/>
                <a:cs typeface="Alibaba PuHuiTi R" pitchFamily="18" charset="-122"/>
              </a:rPr>
              <a:t># </a:t>
            </a:r>
            <a:r>
              <a:rPr lang="zh-CN" altLang="en-US" sz="1400" dirty="0">
                <a:solidFill>
                  <a:srgbClr val="0033B3"/>
                </a:solidFill>
                <a:latin typeface="Alibaba PuHuiTi R" pitchFamily="18" charset="-122"/>
                <a:ea typeface="Alibaba PuHuiTi R" pitchFamily="18" charset="-122"/>
                <a:cs typeface="Alibaba PuHuiTi R" pitchFamily="18" charset="-122"/>
              </a:rPr>
              <a:t>准备发送的数据</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send_data</a:t>
            </a: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你好服务端，我是客户端小黑</a:t>
            </a:r>
            <a:r>
              <a:rPr lang="en-US" altLang="zh-CN" sz="1400" dirty="0">
                <a:solidFill>
                  <a:srgbClr val="0033B3"/>
                </a:solidFill>
                <a:latin typeface="Alibaba PuHuiTi R" pitchFamily="18" charset="-122"/>
                <a:ea typeface="Alibaba PuHuiTi R" pitchFamily="18" charset="-122"/>
                <a:cs typeface="Alibaba PuHuiTi R" pitchFamily="18" charset="-122"/>
              </a:rPr>
              <a:t>!".encode(" utf-8 ")</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发送数据</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tcp_client_socket.send</a:t>
            </a:r>
            <a:r>
              <a:rPr lang="en-US" altLang="zh-CN" sz="1400" dirty="0">
                <a:solidFill>
                  <a:srgbClr val="0033B3"/>
                </a:solidFill>
                <a:latin typeface="Alibaba PuHuiTi R" pitchFamily="18" charset="-122"/>
                <a:ea typeface="Alibaba PuHuiTi R" pitchFamily="18" charset="-122"/>
                <a:cs typeface="Alibaba PuHuiTi R" pitchFamily="18" charset="-122"/>
              </a:rPr>
              <a:t>(</a:t>
            </a:r>
            <a:r>
              <a:rPr lang="en-US" altLang="zh-CN" sz="1400" dirty="0" err="1">
                <a:solidFill>
                  <a:srgbClr val="0033B3"/>
                </a:solidFill>
                <a:latin typeface="Alibaba PuHuiTi R" pitchFamily="18" charset="-122"/>
                <a:ea typeface="Alibaba PuHuiTi R" pitchFamily="18" charset="-122"/>
                <a:cs typeface="Alibaba PuHuiTi R" pitchFamily="18" charset="-122"/>
              </a:rPr>
              <a:t>send_data</a:t>
            </a:r>
            <a:r>
              <a:rPr lang="en-US" altLang="zh-CN" sz="14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接收数据</a:t>
            </a:r>
            <a:r>
              <a:rPr lang="en-US" altLang="zh-CN" sz="1400" dirty="0">
                <a:solidFill>
                  <a:srgbClr val="0033B3"/>
                </a:solidFill>
                <a:latin typeface="Alibaba PuHuiTi R" pitchFamily="18" charset="-122"/>
                <a:ea typeface="Alibaba PuHuiTi R" pitchFamily="18" charset="-122"/>
                <a:cs typeface="Alibaba PuHuiTi R" pitchFamily="18" charset="-122"/>
              </a:rPr>
              <a:t>, </a:t>
            </a:r>
            <a:r>
              <a:rPr lang="zh-CN" altLang="en-US" sz="1400" dirty="0">
                <a:solidFill>
                  <a:srgbClr val="0033B3"/>
                </a:solidFill>
                <a:latin typeface="Alibaba PuHuiTi R" pitchFamily="18" charset="-122"/>
                <a:ea typeface="Alibaba PuHuiTi R" pitchFamily="18" charset="-122"/>
                <a:cs typeface="Alibaba PuHuiTi R" pitchFamily="18" charset="-122"/>
              </a:rPr>
              <a:t>这次接收的数据最大字节数是</a:t>
            </a:r>
            <a:r>
              <a:rPr lang="en-US" altLang="zh-CN" sz="1400" dirty="0">
                <a:solidFill>
                  <a:srgbClr val="0033B3"/>
                </a:solidFill>
                <a:latin typeface="Alibaba PuHuiTi R" pitchFamily="18" charset="-122"/>
                <a:ea typeface="Alibaba PuHuiTi R" pitchFamily="18" charset="-122"/>
                <a:cs typeface="Alibaba PuHuiTi R" pitchFamily="18" charset="-122"/>
              </a:rPr>
              <a:t>1024</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recv_data</a:t>
            </a: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en-US" altLang="zh-CN" sz="1400" dirty="0" err="1">
                <a:solidFill>
                  <a:srgbClr val="0033B3"/>
                </a:solidFill>
                <a:latin typeface="Alibaba PuHuiTi R" pitchFamily="18" charset="-122"/>
                <a:ea typeface="Alibaba PuHuiTi R" pitchFamily="18" charset="-122"/>
                <a:cs typeface="Alibaba PuHuiTi R" pitchFamily="18" charset="-122"/>
              </a:rPr>
              <a:t>tcp_client_socket.recv</a:t>
            </a:r>
            <a:r>
              <a:rPr lang="en-US" altLang="zh-CN" sz="1400" dirty="0">
                <a:solidFill>
                  <a:srgbClr val="0033B3"/>
                </a:solidFill>
                <a:latin typeface="Alibaba PuHuiTi R" pitchFamily="18" charset="-122"/>
                <a:ea typeface="Alibaba PuHuiTi R" pitchFamily="18" charset="-122"/>
                <a:cs typeface="Alibaba PuHuiTi R" pitchFamily="18" charset="-122"/>
              </a:rPr>
              <a:t>(1024)</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返回的直接是服务端程序发送的二进制数据</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a:solidFill>
                  <a:srgbClr val="0033B3"/>
                </a:solidFill>
                <a:latin typeface="Alibaba PuHuiTi R" pitchFamily="18" charset="-122"/>
                <a:ea typeface="Alibaba PuHuiTi R" pitchFamily="18" charset="-122"/>
                <a:cs typeface="Alibaba PuHuiTi R" pitchFamily="18" charset="-122"/>
              </a:rPr>
              <a:t>print(</a:t>
            </a:r>
            <a:r>
              <a:rPr lang="en-US" altLang="zh-CN" sz="1400" dirty="0" err="1">
                <a:solidFill>
                  <a:srgbClr val="0033B3"/>
                </a:solidFill>
                <a:latin typeface="Alibaba PuHuiTi R" pitchFamily="18" charset="-122"/>
                <a:ea typeface="Alibaba PuHuiTi R" pitchFamily="18" charset="-122"/>
                <a:cs typeface="Alibaba PuHuiTi R" pitchFamily="18" charset="-122"/>
              </a:rPr>
              <a:t>recv_data</a:t>
            </a:r>
            <a:r>
              <a:rPr lang="en-US" altLang="zh-CN" sz="14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对数据进行解码</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recv_content</a:t>
            </a: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en-US" altLang="zh-CN" sz="1400" dirty="0" err="1">
                <a:solidFill>
                  <a:srgbClr val="0033B3"/>
                </a:solidFill>
                <a:latin typeface="Alibaba PuHuiTi R" pitchFamily="18" charset="-122"/>
                <a:ea typeface="Alibaba PuHuiTi R" pitchFamily="18" charset="-122"/>
                <a:cs typeface="Alibaba PuHuiTi R" pitchFamily="18" charset="-122"/>
              </a:rPr>
              <a:t>recv_data.decode</a:t>
            </a:r>
            <a:r>
              <a:rPr lang="en-US" altLang="zh-CN" sz="1400" dirty="0">
                <a:solidFill>
                  <a:srgbClr val="0033B3"/>
                </a:solidFill>
                <a:latin typeface="Alibaba PuHuiTi R" pitchFamily="18" charset="-122"/>
                <a:ea typeface="Alibaba PuHuiTi R" pitchFamily="18" charset="-122"/>
                <a:cs typeface="Alibaba PuHuiTi R" pitchFamily="18" charset="-122"/>
              </a:rPr>
              <a:t>("utf-8")</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print("</a:t>
            </a:r>
            <a:r>
              <a:rPr lang="zh-CN" altLang="en-US" sz="1400" dirty="0">
                <a:solidFill>
                  <a:srgbClr val="0033B3"/>
                </a:solidFill>
                <a:latin typeface="Alibaba PuHuiTi R" pitchFamily="18" charset="-122"/>
                <a:ea typeface="Alibaba PuHuiTi R" pitchFamily="18" charset="-122"/>
                <a:cs typeface="Alibaba PuHuiTi R" pitchFamily="18" charset="-122"/>
              </a:rPr>
              <a:t>接收服务端的数据为</a:t>
            </a:r>
            <a:r>
              <a:rPr lang="en-US" altLang="zh-CN"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recv_content</a:t>
            </a:r>
            <a:r>
              <a:rPr lang="en-US" altLang="zh-CN" sz="14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400" dirty="0">
                <a:solidFill>
                  <a:srgbClr val="0033B3"/>
                </a:solidFill>
                <a:latin typeface="Alibaba PuHuiTi R" pitchFamily="18" charset="-122"/>
                <a:ea typeface="Alibaba PuHuiTi R" pitchFamily="18" charset="-122"/>
                <a:cs typeface="Alibaba PuHuiTi R" pitchFamily="18" charset="-122"/>
              </a:rPr>
              <a:t>    # </a:t>
            </a:r>
            <a:r>
              <a:rPr lang="zh-CN" altLang="en-US" sz="1400" dirty="0">
                <a:solidFill>
                  <a:srgbClr val="0033B3"/>
                </a:solidFill>
                <a:latin typeface="Alibaba PuHuiTi R" pitchFamily="18" charset="-122"/>
                <a:ea typeface="Alibaba PuHuiTi R" pitchFamily="18" charset="-122"/>
                <a:cs typeface="Alibaba PuHuiTi R" pitchFamily="18" charset="-122"/>
              </a:rPr>
              <a:t>关闭套接字</a:t>
            </a:r>
          </a:p>
          <a:p>
            <a:pPr>
              <a:lnSpc>
                <a:spcPct val="150000"/>
              </a:lnSpc>
              <a:defRPr/>
            </a:pPr>
            <a:r>
              <a:rPr lang="zh-CN" altLang="en-US" sz="1400" dirty="0">
                <a:solidFill>
                  <a:srgbClr val="0033B3"/>
                </a:solidFill>
                <a:latin typeface="Alibaba PuHuiTi R" pitchFamily="18" charset="-122"/>
                <a:ea typeface="Alibaba PuHuiTi R" pitchFamily="18" charset="-122"/>
                <a:cs typeface="Alibaba PuHuiTi R" pitchFamily="18" charset="-122"/>
              </a:rPr>
              <a:t>    </a:t>
            </a:r>
            <a:r>
              <a:rPr lang="en-US" altLang="zh-CN" sz="1400" dirty="0" err="1">
                <a:solidFill>
                  <a:srgbClr val="0033B3"/>
                </a:solidFill>
                <a:latin typeface="Alibaba PuHuiTi R" pitchFamily="18" charset="-122"/>
                <a:ea typeface="Alibaba PuHuiTi R" pitchFamily="18" charset="-122"/>
                <a:cs typeface="Alibaba PuHuiTi R" pitchFamily="18" charset="-122"/>
              </a:rPr>
              <a:t>tcp_client_socket.close</a:t>
            </a:r>
            <a:r>
              <a:rPr lang="en-US" altLang="zh-CN" sz="1400" dirty="0">
                <a:solidFill>
                  <a:srgbClr val="0033B3"/>
                </a:solidFill>
                <a:latin typeface="Alibaba PuHuiTi R" pitchFamily="18" charset="-122"/>
                <a:ea typeface="Alibaba PuHuiTi R" pitchFamily="18" charset="-122"/>
                <a:cs typeface="Alibaba PuHuiTi R" pitchFamily="18" charset="-122"/>
              </a:rPr>
              <a:t>()</a:t>
            </a:r>
            <a:endParaRPr lang="zh-CN" altLang="en-US" sz="1400" dirty="0">
              <a:solidFill>
                <a:srgbClr val="0033B3"/>
              </a:solidFill>
              <a:latin typeface="Alibaba PuHuiTi R" pitchFamily="18" charset="-122"/>
              <a:ea typeface="Alibaba PuHuiTi R" pitchFamily="18" charset="-122"/>
              <a:cs typeface="Alibaba PuHuiTi R" pitchFamily="18" charset="-122"/>
            </a:endParaRPr>
          </a:p>
        </p:txBody>
      </p:sp>
    </p:spTree>
    <p:extLst>
      <p:ext uri="{BB962C8B-B14F-4D97-AF65-F5344CB8AC3E}">
        <p14:creationId xmlns:p14="http://schemas.microsoft.com/office/powerpoint/2010/main" val="576229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zh-CN" altLang="en-US" b="1" i="0" dirty="0">
                <a:solidFill>
                  <a:srgbClr val="333333"/>
                </a:solidFill>
                <a:effectLst/>
                <a:latin typeface="Helvetica Neue"/>
              </a:rPr>
              <a:t>运行结果：</a:t>
            </a:r>
          </a:p>
        </p:txBody>
      </p:sp>
      <p:pic>
        <p:nvPicPr>
          <p:cNvPr id="5" name="图片 4">
            <a:extLst>
              <a:ext uri="{FF2B5EF4-FFF2-40B4-BE49-F238E27FC236}">
                <a16:creationId xmlns:a16="http://schemas.microsoft.com/office/drawing/2014/main" id="{5A72C696-1D12-4207-807B-60E08A814231}"/>
              </a:ext>
            </a:extLst>
          </p:cNvPr>
          <p:cNvPicPr>
            <a:picLocks noChangeAspect="1"/>
          </p:cNvPicPr>
          <p:nvPr/>
        </p:nvPicPr>
        <p:blipFill>
          <a:blip r:embed="rId3"/>
          <a:stretch>
            <a:fillRect/>
          </a:stretch>
        </p:blipFill>
        <p:spPr>
          <a:xfrm>
            <a:off x="840089" y="1720137"/>
            <a:ext cx="3901778" cy="3696020"/>
          </a:xfrm>
          <a:prstGeom prst="rect">
            <a:avLst/>
          </a:prstGeom>
        </p:spPr>
      </p:pic>
      <p:sp>
        <p:nvSpPr>
          <p:cNvPr id="7" name="矩形: 圆角 6">
            <a:extLst>
              <a:ext uri="{FF2B5EF4-FFF2-40B4-BE49-F238E27FC236}">
                <a16:creationId xmlns:a16="http://schemas.microsoft.com/office/drawing/2014/main" id="{DB5DF32B-11C8-483F-8DBF-8C1B929982A3}"/>
              </a:ext>
            </a:extLst>
          </p:cNvPr>
          <p:cNvSpPr/>
          <p:nvPr/>
        </p:nvSpPr>
        <p:spPr>
          <a:xfrm>
            <a:off x="5754757" y="2420177"/>
            <a:ext cx="5980043" cy="2295940"/>
          </a:xfrm>
          <a:prstGeom prst="roundRect">
            <a:avLst>
              <a:gd name="adj" fmla="val 596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0" i="0" dirty="0">
                <a:solidFill>
                  <a:schemeClr val="bg1"/>
                </a:solidFill>
                <a:effectLst/>
                <a:latin typeface="Helvetica Neue"/>
              </a:rPr>
              <a:t>注：</a:t>
            </a:r>
            <a:endParaRPr lang="en-US" altLang="zh-CN" b="0" i="0" dirty="0">
              <a:solidFill>
                <a:schemeClr val="bg1"/>
              </a:solidFill>
              <a:effectLst/>
              <a:latin typeface="Helvetica Neue"/>
            </a:endParaRPr>
          </a:p>
          <a:p>
            <a:pPr algn="l"/>
            <a:r>
              <a:rPr lang="zh-CN" altLang="en-US" b="0" i="0" dirty="0">
                <a:solidFill>
                  <a:schemeClr val="bg1"/>
                </a:solidFill>
                <a:effectLst/>
                <a:latin typeface="Helvetica Neue"/>
              </a:rPr>
              <a:t>① </a:t>
            </a:r>
            <a:r>
              <a:rPr lang="en-US" altLang="zh-CN" b="0" i="0" dirty="0" err="1">
                <a:solidFill>
                  <a:schemeClr val="bg1"/>
                </a:solidFill>
                <a:effectLst/>
                <a:latin typeface="Helvetica Neue"/>
              </a:rPr>
              <a:t>str.encode</a:t>
            </a:r>
            <a:r>
              <a:rPr lang="en-US" altLang="zh-CN" b="0" i="0" dirty="0">
                <a:solidFill>
                  <a:schemeClr val="bg1"/>
                </a:solidFill>
                <a:effectLst/>
                <a:latin typeface="Helvetica Neue"/>
              </a:rPr>
              <a:t>(</a:t>
            </a:r>
            <a:r>
              <a:rPr lang="zh-CN" altLang="en-US" b="0" i="0" dirty="0">
                <a:solidFill>
                  <a:schemeClr val="bg1"/>
                </a:solidFill>
                <a:effectLst/>
                <a:latin typeface="Helvetica Neue"/>
              </a:rPr>
              <a:t>编码格式</a:t>
            </a:r>
            <a:r>
              <a:rPr lang="en-US" altLang="zh-CN" b="0" i="0" dirty="0">
                <a:solidFill>
                  <a:schemeClr val="bg1"/>
                </a:solidFill>
                <a:effectLst/>
                <a:latin typeface="Helvetica Neue"/>
              </a:rPr>
              <a:t>) </a:t>
            </a:r>
            <a:r>
              <a:rPr lang="zh-CN" altLang="en-US" b="0" i="0" dirty="0">
                <a:solidFill>
                  <a:schemeClr val="bg1"/>
                </a:solidFill>
                <a:effectLst/>
                <a:latin typeface="Helvetica Neue"/>
              </a:rPr>
              <a:t>表示把字符串编码成为二进制</a:t>
            </a:r>
          </a:p>
          <a:p>
            <a:pPr algn="l"/>
            <a:r>
              <a:rPr lang="zh-CN" altLang="en-US" b="0" i="0" dirty="0">
                <a:solidFill>
                  <a:schemeClr val="bg1"/>
                </a:solidFill>
                <a:effectLst/>
                <a:latin typeface="Helvetica Neue"/>
              </a:rPr>
              <a:t>② </a:t>
            </a:r>
            <a:r>
              <a:rPr lang="en-US" altLang="zh-CN" b="0" i="0" dirty="0" err="1">
                <a:solidFill>
                  <a:schemeClr val="bg1"/>
                </a:solidFill>
                <a:effectLst/>
                <a:latin typeface="Helvetica Neue"/>
              </a:rPr>
              <a:t>data.decode</a:t>
            </a:r>
            <a:r>
              <a:rPr lang="en-US" altLang="zh-CN" b="0" i="0" dirty="0">
                <a:solidFill>
                  <a:schemeClr val="bg1"/>
                </a:solidFill>
                <a:effectLst/>
                <a:latin typeface="Helvetica Neue"/>
              </a:rPr>
              <a:t>(</a:t>
            </a:r>
            <a:r>
              <a:rPr lang="zh-CN" altLang="en-US" b="0" i="0" dirty="0">
                <a:solidFill>
                  <a:schemeClr val="bg1"/>
                </a:solidFill>
                <a:effectLst/>
                <a:latin typeface="Helvetica Neue"/>
              </a:rPr>
              <a:t>编码格式</a:t>
            </a:r>
            <a:r>
              <a:rPr lang="en-US" altLang="zh-CN" b="0" i="0" dirty="0">
                <a:solidFill>
                  <a:schemeClr val="bg1"/>
                </a:solidFill>
                <a:effectLst/>
                <a:latin typeface="Helvetica Neue"/>
              </a:rPr>
              <a:t>) </a:t>
            </a:r>
            <a:r>
              <a:rPr lang="zh-CN" altLang="en-US" b="0" i="0" dirty="0">
                <a:solidFill>
                  <a:schemeClr val="bg1"/>
                </a:solidFill>
                <a:effectLst/>
                <a:latin typeface="Helvetica Neue"/>
              </a:rPr>
              <a:t>表示把二进制解码成为字符串</a:t>
            </a:r>
          </a:p>
        </p:txBody>
      </p:sp>
    </p:spTree>
    <p:extLst>
      <p:ext uri="{BB962C8B-B14F-4D97-AF65-F5344CB8AC3E}">
        <p14:creationId xmlns:p14="http://schemas.microsoft.com/office/powerpoint/2010/main" val="735813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客户端程序开发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i="0" dirty="0">
                <a:solidFill>
                  <a:srgbClr val="333333"/>
                </a:solidFill>
                <a:effectLst/>
                <a:latin typeface="Helvetica Neue"/>
              </a:rPr>
              <a:t>4</a:t>
            </a:r>
            <a:r>
              <a:rPr lang="zh-CN" altLang="en-US" b="1" i="0" dirty="0">
                <a:solidFill>
                  <a:srgbClr val="333333"/>
                </a:solidFill>
                <a:effectLst/>
                <a:latin typeface="Helvetica Neue"/>
              </a:rPr>
              <a:t>、小结</a:t>
            </a:r>
          </a:p>
        </p:txBody>
      </p:sp>
      <p:sp>
        <p:nvSpPr>
          <p:cNvPr id="9" name="文本占位符 1">
            <a:extLst>
              <a:ext uri="{FF2B5EF4-FFF2-40B4-BE49-F238E27FC236}">
                <a16:creationId xmlns:a16="http://schemas.microsoft.com/office/drawing/2014/main" id="{ABBC00EA-2309-4AF6-9B5A-1FF32093B8AD}"/>
              </a:ext>
            </a:extLst>
          </p:cNvPr>
          <p:cNvSpPr>
            <a:spLocks noGrp="1"/>
          </p:cNvSpPr>
          <p:nvPr>
            <p:ph type="body" sz="quarter" idx="11"/>
          </p:nvPr>
        </p:nvSpPr>
        <p:spPr>
          <a:xfrm>
            <a:off x="710880" y="1646133"/>
            <a:ext cx="10749599" cy="4886642"/>
          </a:xfrm>
        </p:spPr>
        <p:txBody>
          <a:bodyPr/>
          <a:lstStyle/>
          <a:p>
            <a:pPr marL="0" indent="0" algn="l">
              <a:buNone/>
            </a:pPr>
            <a:r>
              <a:rPr lang="zh-CN" altLang="en-US" b="0" i="0" dirty="0">
                <a:solidFill>
                  <a:srgbClr val="333333"/>
                </a:solidFill>
                <a:effectLst/>
                <a:latin typeface="Helvetica Neue"/>
              </a:rPr>
              <a:t>① 导入</a:t>
            </a:r>
            <a:r>
              <a:rPr lang="en-US" altLang="zh-CN" b="0" i="0" dirty="0">
                <a:solidFill>
                  <a:srgbClr val="333333"/>
                </a:solidFill>
                <a:effectLst/>
                <a:latin typeface="Helvetica Neue"/>
              </a:rPr>
              <a:t>socket</a:t>
            </a:r>
            <a:r>
              <a:rPr lang="zh-CN" altLang="en-US" b="0" i="0" dirty="0">
                <a:solidFill>
                  <a:srgbClr val="333333"/>
                </a:solidFill>
                <a:effectLst/>
                <a:latin typeface="Helvetica Neue"/>
              </a:rPr>
              <a:t>模块</a:t>
            </a:r>
          </a:p>
          <a:p>
            <a:pPr marL="0" indent="0" algn="l">
              <a:buNone/>
            </a:pPr>
            <a:r>
              <a:rPr lang="zh-CN" altLang="en-US" b="0" i="0" dirty="0">
                <a:solidFill>
                  <a:srgbClr val="333333"/>
                </a:solidFill>
                <a:effectLst/>
                <a:latin typeface="Helvetica Neue"/>
              </a:rPr>
              <a:t>② 创建</a:t>
            </a:r>
            <a:r>
              <a:rPr lang="en-US" altLang="zh-CN" b="0" i="0" dirty="0">
                <a:solidFill>
                  <a:srgbClr val="333333"/>
                </a:solidFill>
                <a:effectLst/>
                <a:latin typeface="Helvetica Neue"/>
              </a:rPr>
              <a:t>TCP</a:t>
            </a:r>
            <a:r>
              <a:rPr lang="zh-CN" altLang="en-US" b="0" i="0" dirty="0">
                <a:solidFill>
                  <a:srgbClr val="333333"/>
                </a:solidFill>
                <a:effectLst/>
                <a:latin typeface="Helvetica Neue"/>
              </a:rPr>
              <a:t>套接字‘</a:t>
            </a:r>
            <a:r>
              <a:rPr lang="en-US" altLang="zh-CN" b="0" i="0" dirty="0">
                <a:solidFill>
                  <a:srgbClr val="333333"/>
                </a:solidFill>
                <a:effectLst/>
                <a:latin typeface="Helvetica Neue"/>
              </a:rPr>
              <a:t>socket’</a:t>
            </a:r>
          </a:p>
          <a:p>
            <a:pPr marL="742950" lvl="1" indent="-285750" algn="l">
              <a:buFont typeface="Wingdings" panose="05000000000000000000" pitchFamily="2" charset="2"/>
              <a:buChar char="Ø"/>
            </a:pPr>
            <a:r>
              <a:rPr lang="zh-CN" altLang="en-US" b="0" i="0" dirty="0">
                <a:solidFill>
                  <a:srgbClr val="333333"/>
                </a:solidFill>
                <a:effectLst/>
                <a:latin typeface="Helvetica Neue"/>
              </a:rPr>
              <a:t>参数</a:t>
            </a:r>
            <a:r>
              <a:rPr lang="en-US" altLang="zh-CN" b="0" i="0" dirty="0">
                <a:solidFill>
                  <a:srgbClr val="333333"/>
                </a:solidFill>
                <a:effectLst/>
                <a:latin typeface="Helvetica Neue"/>
              </a:rPr>
              <a:t>1: ‘AF_INET’, </a:t>
            </a:r>
            <a:r>
              <a:rPr lang="zh-CN" altLang="en-US" b="0" i="0" dirty="0">
                <a:solidFill>
                  <a:srgbClr val="333333"/>
                </a:solidFill>
                <a:effectLst/>
                <a:latin typeface="Helvetica Neue"/>
              </a:rPr>
              <a:t>表示</a:t>
            </a:r>
            <a:r>
              <a:rPr lang="en-US" altLang="zh-CN" b="0" i="0" dirty="0">
                <a:solidFill>
                  <a:srgbClr val="333333"/>
                </a:solidFill>
                <a:effectLst/>
                <a:latin typeface="Helvetica Neue"/>
              </a:rPr>
              <a:t>IPv4</a:t>
            </a:r>
            <a:r>
              <a:rPr lang="zh-CN" altLang="en-US" b="0" i="0" dirty="0">
                <a:solidFill>
                  <a:srgbClr val="333333"/>
                </a:solidFill>
                <a:effectLst/>
                <a:latin typeface="Helvetica Neue"/>
              </a:rPr>
              <a:t>地址类型</a:t>
            </a:r>
          </a:p>
          <a:p>
            <a:pPr marL="742950" lvl="1" indent="-285750" algn="l">
              <a:buFont typeface="Wingdings" panose="05000000000000000000" pitchFamily="2" charset="2"/>
              <a:buChar char="Ø"/>
            </a:pPr>
            <a:r>
              <a:rPr lang="zh-CN" altLang="en-US" b="0" i="0" dirty="0">
                <a:solidFill>
                  <a:srgbClr val="333333"/>
                </a:solidFill>
                <a:effectLst/>
                <a:latin typeface="Helvetica Neue"/>
              </a:rPr>
              <a:t>参数</a:t>
            </a:r>
            <a:r>
              <a:rPr lang="en-US" altLang="zh-CN" b="0" i="0" dirty="0">
                <a:solidFill>
                  <a:srgbClr val="333333"/>
                </a:solidFill>
                <a:effectLst/>
                <a:latin typeface="Helvetica Neue"/>
              </a:rPr>
              <a:t>2: ‘SOCK_STREAM’, </a:t>
            </a:r>
            <a:r>
              <a:rPr lang="zh-CN" altLang="en-US" b="0" i="0" dirty="0">
                <a:solidFill>
                  <a:srgbClr val="333333"/>
                </a:solidFill>
                <a:effectLst/>
                <a:latin typeface="Helvetica Neue"/>
              </a:rPr>
              <a:t>表示</a:t>
            </a:r>
            <a:r>
              <a:rPr lang="en-US" altLang="zh-CN" b="0" i="0" dirty="0">
                <a:solidFill>
                  <a:srgbClr val="333333"/>
                </a:solidFill>
                <a:effectLst/>
                <a:latin typeface="Helvetica Neue"/>
              </a:rPr>
              <a:t>TCP</a:t>
            </a:r>
            <a:r>
              <a:rPr lang="zh-CN" altLang="en-US" b="0" i="0" dirty="0">
                <a:solidFill>
                  <a:srgbClr val="333333"/>
                </a:solidFill>
                <a:effectLst/>
                <a:latin typeface="Helvetica Neue"/>
              </a:rPr>
              <a:t>传输协议类型</a:t>
            </a:r>
          </a:p>
          <a:p>
            <a:pPr marL="0" indent="0" algn="l">
              <a:buNone/>
            </a:pPr>
            <a:r>
              <a:rPr lang="zh-CN" altLang="en-US" b="0" i="0" dirty="0">
                <a:solidFill>
                  <a:srgbClr val="333333"/>
                </a:solidFill>
                <a:effectLst/>
                <a:latin typeface="Helvetica Neue"/>
              </a:rPr>
              <a:t>③ 发送数据‘</a:t>
            </a:r>
            <a:r>
              <a:rPr lang="en-US" altLang="zh-CN" b="0" i="0" dirty="0">
                <a:solidFill>
                  <a:srgbClr val="333333"/>
                </a:solidFill>
                <a:effectLst/>
                <a:latin typeface="Helvetica Neue"/>
              </a:rPr>
              <a:t>send’</a:t>
            </a:r>
          </a:p>
          <a:p>
            <a:pPr marL="742950" lvl="1" indent="-285750" algn="l">
              <a:buFont typeface="Wingdings" panose="05000000000000000000" pitchFamily="2" charset="2"/>
              <a:buChar char="Ø"/>
            </a:pPr>
            <a:r>
              <a:rPr lang="zh-CN" altLang="en-US" b="0" i="0" dirty="0">
                <a:solidFill>
                  <a:srgbClr val="333333"/>
                </a:solidFill>
                <a:effectLst/>
                <a:latin typeface="Helvetica Neue"/>
              </a:rPr>
              <a:t>参数</a:t>
            </a:r>
            <a:r>
              <a:rPr lang="en-US" altLang="zh-CN" b="0" i="0" dirty="0">
                <a:solidFill>
                  <a:srgbClr val="333333"/>
                </a:solidFill>
                <a:effectLst/>
                <a:latin typeface="Helvetica Neue"/>
              </a:rPr>
              <a:t>1: </a:t>
            </a:r>
            <a:r>
              <a:rPr lang="zh-CN" altLang="en-US" b="0" i="0" dirty="0">
                <a:solidFill>
                  <a:srgbClr val="333333"/>
                </a:solidFill>
                <a:effectLst/>
                <a:latin typeface="Helvetica Neue"/>
              </a:rPr>
              <a:t>要发送的二进制数据， 注意</a:t>
            </a:r>
            <a:r>
              <a:rPr lang="en-US" altLang="zh-CN" b="0" i="0" dirty="0">
                <a:solidFill>
                  <a:srgbClr val="333333"/>
                </a:solidFill>
                <a:effectLst/>
                <a:latin typeface="Helvetica Neue"/>
              </a:rPr>
              <a:t>: </a:t>
            </a:r>
            <a:r>
              <a:rPr lang="zh-CN" altLang="en-US" b="0" i="0" dirty="0">
                <a:solidFill>
                  <a:srgbClr val="333333"/>
                </a:solidFill>
                <a:effectLst/>
                <a:latin typeface="Helvetica Neue"/>
              </a:rPr>
              <a:t>字符串需要使用</a:t>
            </a:r>
            <a:r>
              <a:rPr lang="en-US" altLang="zh-CN" b="0" i="0" dirty="0">
                <a:solidFill>
                  <a:srgbClr val="333333"/>
                </a:solidFill>
                <a:effectLst/>
                <a:latin typeface="Helvetica Neue"/>
              </a:rPr>
              <a:t>encode()</a:t>
            </a:r>
            <a:r>
              <a:rPr lang="zh-CN" altLang="en-US" b="0" i="0" dirty="0">
                <a:solidFill>
                  <a:srgbClr val="333333"/>
                </a:solidFill>
                <a:effectLst/>
                <a:latin typeface="Helvetica Neue"/>
              </a:rPr>
              <a:t>方法进行编码</a:t>
            </a:r>
          </a:p>
          <a:p>
            <a:pPr marL="0" indent="0" algn="l">
              <a:buNone/>
            </a:pPr>
            <a:r>
              <a:rPr lang="zh-CN" altLang="en-US" b="0" i="0" dirty="0">
                <a:solidFill>
                  <a:srgbClr val="333333"/>
                </a:solidFill>
                <a:effectLst/>
                <a:latin typeface="Helvetica Neue"/>
              </a:rPr>
              <a:t>④ 接收数据‘</a:t>
            </a:r>
            <a:r>
              <a:rPr lang="en-US" altLang="zh-CN" b="0" i="0" dirty="0" err="1">
                <a:solidFill>
                  <a:srgbClr val="333333"/>
                </a:solidFill>
                <a:effectLst/>
                <a:latin typeface="Helvetica Neue"/>
              </a:rPr>
              <a:t>recv</a:t>
            </a:r>
            <a:r>
              <a:rPr lang="en-US" altLang="zh-CN" b="0" i="0" dirty="0">
                <a:solidFill>
                  <a:srgbClr val="333333"/>
                </a:solidFill>
                <a:effectLst/>
                <a:latin typeface="Helvetica Neue"/>
              </a:rPr>
              <a:t>’</a:t>
            </a:r>
          </a:p>
          <a:p>
            <a:pPr marL="742950" lvl="1" indent="-285750" algn="l">
              <a:buFont typeface="Wingdings" panose="05000000000000000000" pitchFamily="2" charset="2"/>
              <a:buChar char="Ø"/>
            </a:pPr>
            <a:r>
              <a:rPr lang="zh-CN" altLang="en-US" b="0" i="0" dirty="0">
                <a:solidFill>
                  <a:srgbClr val="333333"/>
                </a:solidFill>
                <a:effectLst/>
                <a:latin typeface="Helvetica Neue"/>
              </a:rPr>
              <a:t>参数</a:t>
            </a:r>
            <a:r>
              <a:rPr lang="en-US" altLang="zh-CN" b="0" i="0" dirty="0">
                <a:solidFill>
                  <a:srgbClr val="333333"/>
                </a:solidFill>
                <a:effectLst/>
                <a:latin typeface="Helvetica Neue"/>
              </a:rPr>
              <a:t>1: </a:t>
            </a:r>
            <a:r>
              <a:rPr lang="zh-CN" altLang="en-US" b="0" i="0" dirty="0">
                <a:solidFill>
                  <a:srgbClr val="333333"/>
                </a:solidFill>
                <a:effectLst/>
                <a:latin typeface="Helvetica Neue"/>
              </a:rPr>
              <a:t>表示每次接收数据的大小，单位是字节</a:t>
            </a:r>
          </a:p>
          <a:p>
            <a:pPr marL="0" indent="0" algn="l">
              <a:buNone/>
            </a:pPr>
            <a:r>
              <a:rPr lang="zh-CN" altLang="en-US" b="0" i="0" dirty="0">
                <a:solidFill>
                  <a:srgbClr val="333333"/>
                </a:solidFill>
                <a:effectLst/>
                <a:latin typeface="Helvetica Neue"/>
              </a:rPr>
              <a:t>⑤ 关闭套接字‘</a:t>
            </a:r>
            <a:r>
              <a:rPr lang="en-US" altLang="zh-CN" b="0" i="0" dirty="0">
                <a:solidFill>
                  <a:srgbClr val="333333"/>
                </a:solidFill>
                <a:effectLst/>
                <a:latin typeface="Helvetica Neue"/>
              </a:rPr>
              <a:t>socket’</a:t>
            </a:r>
            <a:r>
              <a:rPr lang="zh-CN" altLang="en-US" b="0" i="0" dirty="0">
                <a:solidFill>
                  <a:srgbClr val="333333"/>
                </a:solidFill>
                <a:effectLst/>
                <a:latin typeface="Helvetica Neue"/>
              </a:rPr>
              <a:t>表示通信完成</a:t>
            </a:r>
          </a:p>
        </p:txBody>
      </p:sp>
    </p:spTree>
    <p:extLst>
      <p:ext uri="{BB962C8B-B14F-4D97-AF65-F5344CB8AC3E}">
        <p14:creationId xmlns:p14="http://schemas.microsoft.com/office/powerpoint/2010/main" val="486936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TCP</a:t>
            </a:r>
            <a:r>
              <a:rPr lang="zh-CN" altLang="en-US" b="1" i="0" dirty="0">
                <a:solidFill>
                  <a:srgbClr val="333333"/>
                </a:solidFill>
                <a:effectLst/>
                <a:latin typeface="Helvetica Neue"/>
              </a:rPr>
              <a:t>服务端程序开发</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06</a:t>
            </a:r>
            <a:endParaRPr kumimoji="1" lang="zh-CN" altLang="en-US" dirty="0"/>
          </a:p>
        </p:txBody>
      </p:sp>
    </p:spTree>
    <p:extLst>
      <p:ext uri="{BB962C8B-B14F-4D97-AF65-F5344CB8AC3E}">
        <p14:creationId xmlns:p14="http://schemas.microsoft.com/office/powerpoint/2010/main" val="694421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0" y="1646133"/>
            <a:ext cx="10749599" cy="4886642"/>
          </a:xfrm>
        </p:spPr>
        <p:txBody>
          <a:bodyPr/>
          <a:lstStyle/>
          <a:p>
            <a:pPr marL="0" indent="0" algn="l">
              <a:buNone/>
            </a:pPr>
            <a:r>
              <a:rPr lang="zh-CN" altLang="en-US" b="0" i="0" dirty="0">
                <a:solidFill>
                  <a:srgbClr val="333333"/>
                </a:solidFill>
                <a:effectLst/>
                <a:latin typeface="Helvetica Neue"/>
              </a:rPr>
              <a:t>① 创建服务端端套接字对象</a:t>
            </a:r>
          </a:p>
          <a:p>
            <a:pPr marL="0" indent="0" algn="l">
              <a:buNone/>
            </a:pPr>
            <a:r>
              <a:rPr lang="zh-CN" altLang="en-US" b="0" i="0" dirty="0">
                <a:solidFill>
                  <a:srgbClr val="333333"/>
                </a:solidFill>
                <a:effectLst/>
                <a:latin typeface="Helvetica Neue"/>
              </a:rPr>
              <a:t>② 绑定端口号</a:t>
            </a:r>
          </a:p>
          <a:p>
            <a:pPr marL="0" indent="0" algn="l">
              <a:buNone/>
            </a:pPr>
            <a:r>
              <a:rPr lang="zh-CN" altLang="en-US" b="0" i="0" dirty="0">
                <a:solidFill>
                  <a:srgbClr val="333333"/>
                </a:solidFill>
                <a:effectLst/>
                <a:latin typeface="Helvetica Neue"/>
              </a:rPr>
              <a:t>③ 设置监听</a:t>
            </a:r>
          </a:p>
          <a:p>
            <a:pPr marL="0" indent="0" algn="l">
              <a:buNone/>
            </a:pPr>
            <a:r>
              <a:rPr lang="zh-CN" altLang="en-US" b="0" i="0" dirty="0">
                <a:solidFill>
                  <a:srgbClr val="333333"/>
                </a:solidFill>
                <a:effectLst/>
                <a:latin typeface="Helvetica Neue"/>
              </a:rPr>
              <a:t>④ 等待接受客户端的连接请求</a:t>
            </a:r>
          </a:p>
          <a:p>
            <a:pPr marL="0" indent="0" algn="l">
              <a:buNone/>
            </a:pPr>
            <a:r>
              <a:rPr lang="zh-CN" altLang="en-US" b="0" i="0" dirty="0">
                <a:solidFill>
                  <a:srgbClr val="333333"/>
                </a:solidFill>
                <a:effectLst/>
                <a:latin typeface="Helvetica Neue"/>
              </a:rPr>
              <a:t>⑤ 接收数据</a:t>
            </a:r>
          </a:p>
          <a:p>
            <a:pPr marL="0" indent="0" algn="l">
              <a:buNone/>
            </a:pPr>
            <a:r>
              <a:rPr lang="zh-CN" altLang="en-US" b="0" i="0" dirty="0">
                <a:solidFill>
                  <a:srgbClr val="333333"/>
                </a:solidFill>
                <a:effectLst/>
                <a:latin typeface="Helvetica Neue"/>
              </a:rPr>
              <a:t>⑥ 发送数据</a:t>
            </a:r>
          </a:p>
          <a:p>
            <a:pPr marL="0" indent="0" algn="l">
              <a:buNone/>
            </a:pPr>
            <a:r>
              <a:rPr lang="zh-CN" altLang="en-US" b="0" i="0" dirty="0">
                <a:solidFill>
                  <a:srgbClr val="333333"/>
                </a:solidFill>
                <a:effectLst/>
                <a:latin typeface="Helvetica Neue"/>
              </a:rPr>
              <a:t>⑦ 关闭套接字</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服务器端程序开发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dirty="0"/>
              <a:t>1</a:t>
            </a:r>
            <a:r>
              <a:rPr kumimoji="1" lang="zh-CN" altLang="en-US" dirty="0"/>
              <a:t>、</a:t>
            </a:r>
            <a:r>
              <a:rPr lang="zh-CN" altLang="en-US" b="1" i="0" dirty="0">
                <a:solidFill>
                  <a:srgbClr val="333333"/>
                </a:solidFill>
                <a:effectLst/>
                <a:latin typeface="Helvetica Neue"/>
              </a:rPr>
              <a:t>开发 </a:t>
            </a:r>
            <a:r>
              <a:rPr lang="en-US" altLang="zh-CN" b="1" i="0" dirty="0">
                <a:solidFill>
                  <a:srgbClr val="333333"/>
                </a:solidFill>
                <a:effectLst/>
                <a:latin typeface="Helvetica Neue"/>
              </a:rPr>
              <a:t>TCP </a:t>
            </a:r>
            <a:r>
              <a:rPr lang="zh-CN" altLang="en-US" b="1" i="0" dirty="0">
                <a:solidFill>
                  <a:srgbClr val="333333"/>
                </a:solidFill>
                <a:effectLst/>
                <a:latin typeface="Helvetica Neue"/>
              </a:rPr>
              <a:t>服务端程序开发步骤回顾</a:t>
            </a:r>
          </a:p>
        </p:txBody>
      </p:sp>
    </p:spTree>
    <p:extLst>
      <p:ext uri="{BB962C8B-B14F-4D97-AF65-F5344CB8AC3E}">
        <p14:creationId xmlns:p14="http://schemas.microsoft.com/office/powerpoint/2010/main" val="220053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0" y="1635973"/>
            <a:ext cx="11460479" cy="5023752"/>
          </a:xfrm>
        </p:spPr>
        <p:txBody>
          <a:bodyPr/>
          <a:lstStyle/>
          <a:p>
            <a:pPr algn="l"/>
            <a:r>
              <a:rPr lang="zh-CN" altLang="en-US" sz="1400" b="0" i="0" dirty="0">
                <a:solidFill>
                  <a:srgbClr val="333333"/>
                </a:solidFill>
                <a:effectLst/>
                <a:latin typeface="Helvetica Neue"/>
              </a:rPr>
              <a:t>导入 </a:t>
            </a:r>
            <a:r>
              <a:rPr lang="en-US" altLang="zh-CN" sz="1400" b="0" i="0" dirty="0">
                <a:solidFill>
                  <a:srgbClr val="333333"/>
                </a:solidFill>
                <a:effectLst/>
                <a:latin typeface="Helvetica Neue"/>
              </a:rPr>
              <a:t>socket </a:t>
            </a:r>
            <a:r>
              <a:rPr lang="zh-CN" altLang="en-US" sz="1400" b="0" i="0" dirty="0">
                <a:solidFill>
                  <a:srgbClr val="333333"/>
                </a:solidFill>
                <a:effectLst/>
                <a:latin typeface="Helvetica Neue"/>
              </a:rPr>
              <a:t>模块</a:t>
            </a:r>
            <a:br>
              <a:rPr lang="zh-CN" altLang="en-US" sz="1400" b="0" i="0" dirty="0">
                <a:solidFill>
                  <a:srgbClr val="333333"/>
                </a:solidFill>
                <a:effectLst/>
                <a:latin typeface="Helvetica Neue"/>
              </a:rPr>
            </a:br>
            <a:r>
              <a:rPr lang="en-US" altLang="zh-CN" sz="1400" b="1" i="0" dirty="0">
                <a:solidFill>
                  <a:srgbClr val="C00000"/>
                </a:solidFill>
                <a:effectLst/>
                <a:latin typeface="Helvetica Neue"/>
              </a:rPr>
              <a:t>import socket</a:t>
            </a:r>
            <a:endParaRPr lang="en-US" altLang="zh-CN" sz="1400" b="0" i="0" dirty="0">
              <a:solidFill>
                <a:srgbClr val="C00000"/>
              </a:solidFill>
              <a:effectLst/>
              <a:latin typeface="Helvetica Neue"/>
            </a:endParaRPr>
          </a:p>
          <a:p>
            <a:pPr algn="l"/>
            <a:r>
              <a:rPr lang="zh-CN" altLang="en-US" sz="1400" b="0" i="0" dirty="0">
                <a:solidFill>
                  <a:srgbClr val="333333"/>
                </a:solidFill>
                <a:effectLst/>
                <a:latin typeface="Helvetica Neue"/>
              </a:rPr>
              <a:t>创建服务端 </a:t>
            </a:r>
            <a:r>
              <a:rPr lang="en-US" altLang="zh-CN" sz="1400" b="0" i="0" dirty="0">
                <a:solidFill>
                  <a:srgbClr val="333333"/>
                </a:solidFill>
                <a:effectLst/>
                <a:latin typeface="Helvetica Neue"/>
              </a:rPr>
              <a:t>socket </a:t>
            </a:r>
            <a:r>
              <a:rPr lang="zh-CN" altLang="en-US" sz="1400" b="0" i="0" dirty="0">
                <a:solidFill>
                  <a:srgbClr val="333333"/>
                </a:solidFill>
                <a:effectLst/>
                <a:latin typeface="Helvetica Neue"/>
              </a:rPr>
              <a:t>对象</a:t>
            </a:r>
            <a:br>
              <a:rPr lang="zh-CN" altLang="en-US" sz="1400" b="0" i="0" dirty="0">
                <a:solidFill>
                  <a:srgbClr val="333333"/>
                </a:solidFill>
                <a:effectLst/>
                <a:latin typeface="Helvetica Neue"/>
              </a:rPr>
            </a:br>
            <a:r>
              <a:rPr lang="en-US" altLang="zh-CN" sz="1400" b="1" i="0" dirty="0" err="1">
                <a:solidFill>
                  <a:srgbClr val="C00000"/>
                </a:solidFill>
                <a:effectLst/>
                <a:latin typeface="Helvetica Neue"/>
              </a:rPr>
              <a:t>socket.socket</a:t>
            </a:r>
            <a:r>
              <a:rPr lang="en-US" altLang="zh-CN" sz="1400" b="1" i="0" dirty="0">
                <a:solidFill>
                  <a:srgbClr val="C00000"/>
                </a:solidFill>
                <a:effectLst/>
                <a:latin typeface="Helvetica Neue"/>
              </a:rPr>
              <a:t>(</a:t>
            </a:r>
            <a:r>
              <a:rPr lang="en-US" altLang="zh-CN" sz="1400" b="1" i="0" dirty="0" err="1">
                <a:solidFill>
                  <a:srgbClr val="C00000"/>
                </a:solidFill>
                <a:effectLst/>
                <a:latin typeface="Helvetica Neue"/>
              </a:rPr>
              <a:t>AddressFamily</a:t>
            </a:r>
            <a:r>
              <a:rPr lang="en-US" altLang="zh-CN" sz="1400" b="1" i="0" dirty="0">
                <a:solidFill>
                  <a:srgbClr val="C00000"/>
                </a:solidFill>
                <a:effectLst/>
                <a:latin typeface="Helvetica Neue"/>
              </a:rPr>
              <a:t>, Type)</a:t>
            </a:r>
            <a:endParaRPr lang="en-US" altLang="zh-CN" sz="1400" b="0" i="0" dirty="0">
              <a:solidFill>
                <a:srgbClr val="C00000"/>
              </a:solidFill>
              <a:effectLst/>
              <a:latin typeface="Helvetica Neue"/>
            </a:endParaRPr>
          </a:p>
          <a:p>
            <a:pPr algn="l"/>
            <a:r>
              <a:rPr lang="zh-CN" altLang="en-US" sz="1400" b="1" i="0" dirty="0">
                <a:solidFill>
                  <a:srgbClr val="333333"/>
                </a:solidFill>
                <a:effectLst/>
                <a:latin typeface="Helvetica Neue"/>
              </a:rPr>
              <a:t>参数说明</a:t>
            </a:r>
            <a:r>
              <a:rPr lang="en-US" altLang="zh-CN" sz="1400" b="1" i="0" dirty="0">
                <a:solidFill>
                  <a:srgbClr val="333333"/>
                </a:solidFill>
                <a:effectLst/>
                <a:latin typeface="Helvetica Neue"/>
              </a:rPr>
              <a:t>:</a:t>
            </a:r>
            <a:endParaRPr lang="zh-CN" altLang="en-US" sz="1400" b="0" i="0" dirty="0">
              <a:solidFill>
                <a:srgbClr val="333333"/>
              </a:solidFill>
              <a:effectLst/>
              <a:latin typeface="Helvetica Neue"/>
            </a:endParaRPr>
          </a:p>
          <a:p>
            <a:pPr algn="l">
              <a:buFont typeface="Wingdings" panose="05000000000000000000" pitchFamily="2" charset="2"/>
              <a:buChar char="Ø"/>
            </a:pPr>
            <a:r>
              <a:rPr lang="en-US" altLang="zh-CN" sz="1400" i="0" dirty="0" err="1">
                <a:solidFill>
                  <a:srgbClr val="C00000"/>
                </a:solidFill>
                <a:effectLst/>
                <a:latin typeface="Helvetica Neue"/>
              </a:rPr>
              <a:t>AddressFamily</a:t>
            </a:r>
            <a:r>
              <a:rPr lang="en-US" altLang="zh-CN" sz="1400" i="0" dirty="0">
                <a:solidFill>
                  <a:srgbClr val="C00000"/>
                </a:solidFill>
                <a:effectLst/>
                <a:latin typeface="Helvetica Neue"/>
              </a:rPr>
              <a:t> </a:t>
            </a:r>
            <a:r>
              <a:rPr lang="zh-CN" altLang="en-US" sz="1400" i="0" dirty="0">
                <a:solidFill>
                  <a:srgbClr val="C00000"/>
                </a:solidFill>
                <a:effectLst/>
                <a:latin typeface="Helvetica Neue"/>
              </a:rPr>
              <a:t>表示</a:t>
            </a:r>
            <a:r>
              <a:rPr lang="en-US" altLang="zh-CN" sz="1400" i="0" dirty="0">
                <a:solidFill>
                  <a:srgbClr val="C00000"/>
                </a:solidFill>
                <a:effectLst/>
                <a:latin typeface="Helvetica Neue"/>
              </a:rPr>
              <a:t>IP</a:t>
            </a:r>
            <a:r>
              <a:rPr lang="zh-CN" altLang="en-US" sz="1400" i="0" dirty="0">
                <a:solidFill>
                  <a:srgbClr val="C00000"/>
                </a:solidFill>
                <a:effectLst/>
                <a:latin typeface="Helvetica Neue"/>
              </a:rPr>
              <a:t>地址类型</a:t>
            </a:r>
            <a:r>
              <a:rPr lang="en-US" altLang="zh-CN" sz="1400" i="0" dirty="0">
                <a:solidFill>
                  <a:srgbClr val="C00000"/>
                </a:solidFill>
                <a:effectLst/>
                <a:latin typeface="Helvetica Neue"/>
              </a:rPr>
              <a:t>, </a:t>
            </a:r>
            <a:r>
              <a:rPr lang="zh-CN" altLang="en-US" sz="1400" i="0" dirty="0">
                <a:solidFill>
                  <a:srgbClr val="C00000"/>
                </a:solidFill>
                <a:effectLst/>
                <a:latin typeface="Helvetica Neue"/>
              </a:rPr>
              <a:t>分为</a:t>
            </a:r>
            <a:r>
              <a:rPr lang="en-US" altLang="zh-CN" sz="1400" i="0" dirty="0">
                <a:solidFill>
                  <a:srgbClr val="C00000"/>
                </a:solidFill>
                <a:effectLst/>
                <a:latin typeface="Helvetica Neue"/>
              </a:rPr>
              <a:t>IPv4</a:t>
            </a:r>
            <a:r>
              <a:rPr lang="zh-CN" altLang="en-US" sz="1400" i="0" dirty="0">
                <a:solidFill>
                  <a:srgbClr val="C00000"/>
                </a:solidFill>
                <a:effectLst/>
                <a:latin typeface="Helvetica Neue"/>
              </a:rPr>
              <a:t>和</a:t>
            </a:r>
            <a:r>
              <a:rPr lang="en-US" altLang="zh-CN" sz="1400" i="0" dirty="0">
                <a:solidFill>
                  <a:srgbClr val="C00000"/>
                </a:solidFill>
                <a:effectLst/>
                <a:latin typeface="Helvetica Neue"/>
              </a:rPr>
              <a:t>IPv6</a:t>
            </a:r>
          </a:p>
          <a:p>
            <a:pPr algn="l">
              <a:buFont typeface="Wingdings" panose="05000000000000000000" pitchFamily="2" charset="2"/>
              <a:buChar char="Ø"/>
            </a:pPr>
            <a:r>
              <a:rPr lang="en-US" altLang="zh-CN" sz="1400" i="0" dirty="0">
                <a:solidFill>
                  <a:srgbClr val="C00000"/>
                </a:solidFill>
                <a:effectLst/>
                <a:latin typeface="Helvetica Neue"/>
              </a:rPr>
              <a:t>Type </a:t>
            </a:r>
            <a:r>
              <a:rPr lang="zh-CN" altLang="en-US" sz="1400" i="0" dirty="0">
                <a:solidFill>
                  <a:srgbClr val="C00000"/>
                </a:solidFill>
                <a:effectLst/>
                <a:latin typeface="Helvetica Neue"/>
              </a:rPr>
              <a:t>表示传输协议类型</a:t>
            </a:r>
          </a:p>
          <a:p>
            <a:pPr algn="l"/>
            <a:r>
              <a:rPr lang="zh-CN" altLang="en-US" sz="1400" b="1" i="0" dirty="0">
                <a:solidFill>
                  <a:srgbClr val="333333"/>
                </a:solidFill>
                <a:effectLst/>
                <a:latin typeface="Helvetica Neue"/>
              </a:rPr>
              <a:t>方法说明</a:t>
            </a:r>
            <a:r>
              <a:rPr lang="en-US" altLang="zh-CN" sz="1400" b="1" i="0" dirty="0">
                <a:solidFill>
                  <a:srgbClr val="333333"/>
                </a:solidFill>
                <a:effectLst/>
                <a:latin typeface="Helvetica Neue"/>
              </a:rPr>
              <a:t>:</a:t>
            </a:r>
            <a:endParaRPr lang="zh-CN" altLang="en-US" sz="1400" b="0" i="0" dirty="0">
              <a:solidFill>
                <a:srgbClr val="333333"/>
              </a:solidFill>
              <a:effectLst/>
              <a:latin typeface="Helvetica Neue"/>
            </a:endParaRPr>
          </a:p>
          <a:p>
            <a:pPr algn="l">
              <a:buFont typeface="Wingdings" panose="05000000000000000000" pitchFamily="2" charset="2"/>
              <a:buChar char="Ø"/>
            </a:pPr>
            <a:r>
              <a:rPr lang="en-US" altLang="zh-CN" sz="1400" i="0" dirty="0">
                <a:solidFill>
                  <a:srgbClr val="C00000"/>
                </a:solidFill>
                <a:effectLst/>
                <a:latin typeface="Helvetica Neue"/>
              </a:rPr>
              <a:t>bind((host, port)) </a:t>
            </a:r>
            <a:r>
              <a:rPr lang="zh-CN" altLang="en-US" sz="1400" i="0" dirty="0">
                <a:solidFill>
                  <a:srgbClr val="C00000"/>
                </a:solidFill>
                <a:effectLst/>
                <a:latin typeface="Helvetica Neue"/>
              </a:rPr>
              <a:t>表示绑定端口号</a:t>
            </a:r>
            <a:r>
              <a:rPr lang="en-US" altLang="zh-CN" sz="1400" i="0" dirty="0">
                <a:solidFill>
                  <a:srgbClr val="C00000"/>
                </a:solidFill>
                <a:effectLst/>
                <a:latin typeface="Helvetica Neue"/>
              </a:rPr>
              <a:t>, host </a:t>
            </a:r>
            <a:r>
              <a:rPr lang="zh-CN" altLang="en-US" sz="1400" i="0" dirty="0">
                <a:solidFill>
                  <a:srgbClr val="C00000"/>
                </a:solidFill>
                <a:effectLst/>
                <a:latin typeface="Helvetica Neue"/>
              </a:rPr>
              <a:t>是 </a:t>
            </a:r>
            <a:r>
              <a:rPr lang="en-US" altLang="zh-CN" sz="1400" i="0" dirty="0" err="1">
                <a:solidFill>
                  <a:srgbClr val="C00000"/>
                </a:solidFill>
                <a:effectLst/>
                <a:latin typeface="Helvetica Neue"/>
              </a:rPr>
              <a:t>ip</a:t>
            </a:r>
            <a:r>
              <a:rPr lang="en-US" altLang="zh-CN" sz="1400" i="0" dirty="0">
                <a:solidFill>
                  <a:srgbClr val="C00000"/>
                </a:solidFill>
                <a:effectLst/>
                <a:latin typeface="Helvetica Neue"/>
              </a:rPr>
              <a:t> </a:t>
            </a:r>
            <a:r>
              <a:rPr lang="zh-CN" altLang="en-US" sz="1400" i="0" dirty="0">
                <a:solidFill>
                  <a:srgbClr val="C00000"/>
                </a:solidFill>
                <a:effectLst/>
                <a:latin typeface="Helvetica Neue"/>
              </a:rPr>
              <a:t>地址，</a:t>
            </a:r>
            <a:r>
              <a:rPr lang="en-US" altLang="zh-CN" sz="1400" i="0" dirty="0">
                <a:solidFill>
                  <a:srgbClr val="C00000"/>
                </a:solidFill>
                <a:effectLst/>
                <a:latin typeface="Helvetica Neue"/>
              </a:rPr>
              <a:t>port </a:t>
            </a:r>
            <a:r>
              <a:rPr lang="zh-CN" altLang="en-US" sz="1400" i="0" dirty="0">
                <a:solidFill>
                  <a:srgbClr val="C00000"/>
                </a:solidFill>
                <a:effectLst/>
                <a:latin typeface="Helvetica Neue"/>
              </a:rPr>
              <a:t>是端口号，</a:t>
            </a:r>
            <a:r>
              <a:rPr lang="en-US" altLang="zh-CN" sz="1400" i="0" dirty="0" err="1">
                <a:solidFill>
                  <a:srgbClr val="C00000"/>
                </a:solidFill>
                <a:effectLst/>
                <a:latin typeface="Helvetica Neue"/>
              </a:rPr>
              <a:t>ip</a:t>
            </a:r>
            <a:r>
              <a:rPr lang="en-US" altLang="zh-CN" sz="1400" i="0" dirty="0">
                <a:solidFill>
                  <a:srgbClr val="C00000"/>
                </a:solidFill>
                <a:effectLst/>
                <a:latin typeface="Helvetica Neue"/>
              </a:rPr>
              <a:t> </a:t>
            </a:r>
            <a:r>
              <a:rPr lang="zh-CN" altLang="en-US" sz="1400" i="0" dirty="0">
                <a:solidFill>
                  <a:srgbClr val="C00000"/>
                </a:solidFill>
                <a:effectLst/>
                <a:latin typeface="Helvetica Neue"/>
              </a:rPr>
              <a:t>地址一般不指定，表示本机的任何一个</a:t>
            </a:r>
            <a:r>
              <a:rPr lang="en-US" altLang="zh-CN" sz="1400" i="0" dirty="0" err="1">
                <a:solidFill>
                  <a:srgbClr val="C00000"/>
                </a:solidFill>
                <a:effectLst/>
                <a:latin typeface="Helvetica Neue"/>
              </a:rPr>
              <a:t>ip</a:t>
            </a:r>
            <a:r>
              <a:rPr lang="zh-CN" altLang="en-US" sz="1400" i="0" dirty="0">
                <a:solidFill>
                  <a:srgbClr val="C00000"/>
                </a:solidFill>
                <a:effectLst/>
                <a:latin typeface="Helvetica Neue"/>
              </a:rPr>
              <a:t>地址都可以</a:t>
            </a:r>
          </a:p>
          <a:p>
            <a:pPr algn="l">
              <a:buFont typeface="Wingdings" panose="05000000000000000000" pitchFamily="2" charset="2"/>
              <a:buChar char="Ø"/>
            </a:pPr>
            <a:r>
              <a:rPr lang="en-US" altLang="zh-CN" sz="1400" i="0" dirty="0">
                <a:solidFill>
                  <a:srgbClr val="C00000"/>
                </a:solidFill>
                <a:effectLst/>
                <a:latin typeface="Helvetica Neue"/>
              </a:rPr>
              <a:t>listen (backlog) </a:t>
            </a:r>
            <a:r>
              <a:rPr lang="zh-CN" altLang="en-US" sz="1400" i="0" dirty="0">
                <a:solidFill>
                  <a:srgbClr val="C00000"/>
                </a:solidFill>
                <a:effectLst/>
                <a:latin typeface="Helvetica Neue"/>
              </a:rPr>
              <a:t>表示设置监听，</a:t>
            </a:r>
            <a:r>
              <a:rPr lang="en-US" altLang="zh-CN" sz="1400" i="0" dirty="0">
                <a:solidFill>
                  <a:srgbClr val="C00000"/>
                </a:solidFill>
                <a:effectLst/>
                <a:latin typeface="Helvetica Neue"/>
              </a:rPr>
              <a:t>backlog</a:t>
            </a:r>
            <a:r>
              <a:rPr lang="zh-CN" altLang="en-US" sz="1400" i="0" dirty="0">
                <a:solidFill>
                  <a:srgbClr val="C00000"/>
                </a:solidFill>
                <a:effectLst/>
                <a:latin typeface="Helvetica Neue"/>
              </a:rPr>
              <a:t>参数表示最大等待建立连接的个数</a:t>
            </a:r>
          </a:p>
          <a:p>
            <a:pPr algn="l">
              <a:buFont typeface="Wingdings" panose="05000000000000000000" pitchFamily="2" charset="2"/>
              <a:buChar char="Ø"/>
            </a:pPr>
            <a:r>
              <a:rPr lang="en-US" altLang="zh-CN" sz="1400" i="0" dirty="0">
                <a:solidFill>
                  <a:srgbClr val="C00000"/>
                </a:solidFill>
                <a:effectLst/>
                <a:latin typeface="Helvetica Neue"/>
              </a:rPr>
              <a:t>accept() </a:t>
            </a:r>
            <a:r>
              <a:rPr lang="zh-CN" altLang="en-US" sz="1400" i="0" dirty="0">
                <a:solidFill>
                  <a:srgbClr val="C00000"/>
                </a:solidFill>
                <a:effectLst/>
                <a:latin typeface="Helvetica Neue"/>
              </a:rPr>
              <a:t>表示等待接受客户端的连接请求</a:t>
            </a:r>
          </a:p>
          <a:p>
            <a:pPr algn="l">
              <a:buFont typeface="Wingdings" panose="05000000000000000000" pitchFamily="2" charset="2"/>
              <a:buChar char="Ø"/>
            </a:pPr>
            <a:r>
              <a:rPr lang="en-US" altLang="zh-CN" sz="1400" i="0" dirty="0">
                <a:solidFill>
                  <a:srgbClr val="C00000"/>
                </a:solidFill>
                <a:effectLst/>
                <a:latin typeface="Helvetica Neue"/>
              </a:rPr>
              <a:t>send(data) </a:t>
            </a:r>
            <a:r>
              <a:rPr lang="zh-CN" altLang="en-US" sz="1400" i="0" dirty="0">
                <a:solidFill>
                  <a:srgbClr val="C00000"/>
                </a:solidFill>
                <a:effectLst/>
                <a:latin typeface="Helvetica Neue"/>
              </a:rPr>
              <a:t>表示发送数据，</a:t>
            </a:r>
            <a:r>
              <a:rPr lang="en-US" altLang="zh-CN" sz="1400" i="0" dirty="0">
                <a:solidFill>
                  <a:srgbClr val="C00000"/>
                </a:solidFill>
                <a:effectLst/>
                <a:latin typeface="Helvetica Neue"/>
              </a:rPr>
              <a:t>data </a:t>
            </a:r>
            <a:r>
              <a:rPr lang="zh-CN" altLang="en-US" sz="1400" i="0" dirty="0">
                <a:solidFill>
                  <a:srgbClr val="C00000"/>
                </a:solidFill>
                <a:effectLst/>
                <a:latin typeface="Helvetica Neue"/>
              </a:rPr>
              <a:t>是二进制数据</a:t>
            </a:r>
          </a:p>
          <a:p>
            <a:pPr algn="l">
              <a:buFont typeface="Wingdings" panose="05000000000000000000" pitchFamily="2" charset="2"/>
              <a:buChar char="Ø"/>
            </a:pPr>
            <a:r>
              <a:rPr lang="en-US" altLang="zh-CN" sz="1400" i="0" dirty="0" err="1">
                <a:solidFill>
                  <a:srgbClr val="C00000"/>
                </a:solidFill>
                <a:effectLst/>
                <a:latin typeface="Helvetica Neue"/>
              </a:rPr>
              <a:t>recv</a:t>
            </a:r>
            <a:r>
              <a:rPr lang="en-US" altLang="zh-CN" sz="1400" i="0" dirty="0">
                <a:solidFill>
                  <a:srgbClr val="C00000"/>
                </a:solidFill>
                <a:effectLst/>
                <a:latin typeface="Helvetica Neue"/>
              </a:rPr>
              <a:t>(</a:t>
            </a:r>
            <a:r>
              <a:rPr lang="en-US" altLang="zh-CN" sz="1400" i="0" dirty="0" err="1">
                <a:solidFill>
                  <a:srgbClr val="C00000"/>
                </a:solidFill>
                <a:effectLst/>
                <a:latin typeface="Helvetica Neue"/>
              </a:rPr>
              <a:t>buffersize</a:t>
            </a:r>
            <a:r>
              <a:rPr lang="en-US" altLang="zh-CN" sz="1400" i="0" dirty="0">
                <a:solidFill>
                  <a:srgbClr val="C00000"/>
                </a:solidFill>
                <a:effectLst/>
                <a:latin typeface="Helvetica Neue"/>
              </a:rPr>
              <a:t>) </a:t>
            </a:r>
            <a:r>
              <a:rPr lang="zh-CN" altLang="en-US" sz="1400" i="0" dirty="0">
                <a:solidFill>
                  <a:srgbClr val="C00000"/>
                </a:solidFill>
                <a:effectLst/>
                <a:latin typeface="Helvetica Neue"/>
              </a:rPr>
              <a:t>表示接收数据</a:t>
            </a:r>
            <a:r>
              <a:rPr lang="en-US" altLang="zh-CN" sz="1400" i="0" dirty="0">
                <a:solidFill>
                  <a:srgbClr val="C00000"/>
                </a:solidFill>
                <a:effectLst/>
                <a:latin typeface="Helvetica Neue"/>
              </a:rPr>
              <a:t>, </a:t>
            </a:r>
            <a:r>
              <a:rPr lang="en-US" altLang="zh-CN" sz="1400" i="0" dirty="0" err="1">
                <a:solidFill>
                  <a:srgbClr val="C00000"/>
                </a:solidFill>
                <a:effectLst/>
                <a:latin typeface="Helvetica Neue"/>
              </a:rPr>
              <a:t>buffersize</a:t>
            </a:r>
            <a:r>
              <a:rPr lang="en-US" altLang="zh-CN" sz="1400" i="0" dirty="0">
                <a:solidFill>
                  <a:srgbClr val="C00000"/>
                </a:solidFill>
                <a:effectLst/>
                <a:latin typeface="Helvetica Neue"/>
              </a:rPr>
              <a:t> </a:t>
            </a:r>
            <a:r>
              <a:rPr lang="zh-CN" altLang="en-US" sz="1400" i="0" dirty="0">
                <a:solidFill>
                  <a:srgbClr val="C00000"/>
                </a:solidFill>
                <a:effectLst/>
                <a:latin typeface="Helvetica Neue"/>
              </a:rPr>
              <a:t>是每次接收数据的长度</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服务器端程序开发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2</a:t>
            </a:r>
            <a:r>
              <a:rPr kumimoji="1" lang="zh-CN" altLang="en-US" b="1" i="0" dirty="0">
                <a:solidFill>
                  <a:srgbClr val="333333"/>
                </a:solidFill>
                <a:effectLst/>
                <a:latin typeface="Helvetica Neue"/>
              </a:rPr>
              <a:t>、</a:t>
            </a:r>
            <a:r>
              <a:rPr lang="en-US" altLang="zh-CN" b="1" i="0" dirty="0">
                <a:solidFill>
                  <a:srgbClr val="333333"/>
                </a:solidFill>
                <a:effectLst/>
                <a:latin typeface="Helvetica Neue"/>
              </a:rPr>
              <a:t>socket </a:t>
            </a:r>
            <a:r>
              <a:rPr lang="zh-CN" altLang="en-US" b="1" i="0" dirty="0">
                <a:solidFill>
                  <a:srgbClr val="333333"/>
                </a:solidFill>
                <a:effectLst/>
                <a:latin typeface="Helvetica Neue"/>
              </a:rPr>
              <a:t>类的介绍</a:t>
            </a:r>
          </a:p>
        </p:txBody>
      </p:sp>
    </p:spTree>
    <p:extLst>
      <p:ext uri="{BB962C8B-B14F-4D97-AF65-F5344CB8AC3E}">
        <p14:creationId xmlns:p14="http://schemas.microsoft.com/office/powerpoint/2010/main" val="1900580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3">
            <a:extLst>
              <a:ext uri="{FF2B5EF4-FFF2-40B4-BE49-F238E27FC236}">
                <a16:creationId xmlns:a16="http://schemas.microsoft.com/office/drawing/2014/main" id="{2B270A39-833F-403A-BA88-3AE5B5907BE0}"/>
              </a:ext>
            </a:extLst>
          </p:cNvPr>
          <p:cNvSpPr txBox="1"/>
          <p:nvPr/>
        </p:nvSpPr>
        <p:spPr>
          <a:xfrm>
            <a:off x="261730" y="851650"/>
            <a:ext cx="5661992" cy="5876673"/>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import socket</a:t>
            </a:r>
          </a:p>
          <a:p>
            <a:pPr>
              <a:lnSpc>
                <a:spcPct val="150000"/>
              </a:lnSpc>
              <a:defRPr/>
            </a:pPr>
            <a:endParaRPr lang="en-US" altLang="zh-CN" sz="12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endParaRPr lang="en-US" altLang="zh-CN" sz="12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if __name__ == '__main__':</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创建</a:t>
            </a:r>
            <a:r>
              <a:rPr lang="en-US" altLang="zh-CN" sz="1200" dirty="0" err="1">
                <a:solidFill>
                  <a:srgbClr val="0033B3"/>
                </a:solidFill>
                <a:latin typeface="Alibaba PuHuiTi R" pitchFamily="18" charset="-122"/>
                <a:ea typeface="Alibaba PuHuiTi R" pitchFamily="18" charset="-122"/>
                <a:cs typeface="Alibaba PuHuiTi R" pitchFamily="18" charset="-122"/>
              </a:rPr>
              <a:t>tcp</a:t>
            </a:r>
            <a:r>
              <a:rPr lang="zh-CN" altLang="en-US" sz="1200" dirty="0">
                <a:solidFill>
                  <a:srgbClr val="0033B3"/>
                </a:solidFill>
                <a:latin typeface="Alibaba PuHuiTi R" pitchFamily="18" charset="-122"/>
                <a:ea typeface="Alibaba PuHuiTi R" pitchFamily="18" charset="-122"/>
                <a:cs typeface="Alibaba PuHuiTi R" pitchFamily="18" charset="-122"/>
              </a:rPr>
              <a:t>服务端套接字</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tcp_server_socket</a:t>
            </a: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en-US" altLang="zh-CN" sz="1200" dirty="0" err="1">
                <a:solidFill>
                  <a:srgbClr val="0033B3"/>
                </a:solidFill>
                <a:latin typeface="Alibaba PuHuiTi R" pitchFamily="18" charset="-122"/>
                <a:ea typeface="Alibaba PuHuiTi R" pitchFamily="18" charset="-122"/>
                <a:cs typeface="Alibaba PuHuiTi R" pitchFamily="18" charset="-122"/>
              </a:rPr>
              <a:t>socket.socket</a:t>
            </a:r>
            <a:r>
              <a:rPr lang="en-US" altLang="zh-CN" sz="1200" dirty="0">
                <a:solidFill>
                  <a:srgbClr val="0033B3"/>
                </a:solidFill>
                <a:latin typeface="Alibaba PuHuiTi R" pitchFamily="18" charset="-122"/>
                <a:ea typeface="Alibaba PuHuiTi R" pitchFamily="18" charset="-122"/>
                <a:cs typeface="Alibaba PuHuiTi R" pitchFamily="18" charset="-122"/>
              </a:rPr>
              <a:t>(</a:t>
            </a:r>
            <a:r>
              <a:rPr lang="en-US" altLang="zh-CN" sz="1200" dirty="0" err="1">
                <a:solidFill>
                  <a:srgbClr val="0033B3"/>
                </a:solidFill>
                <a:latin typeface="Alibaba PuHuiTi R" pitchFamily="18" charset="-122"/>
                <a:ea typeface="Alibaba PuHuiTi R" pitchFamily="18" charset="-122"/>
                <a:cs typeface="Alibaba PuHuiTi R" pitchFamily="18" charset="-122"/>
              </a:rPr>
              <a:t>socket.AF_INET</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socket.SOCK_STREAM</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设置端口号复用，让程序退出端口号立即释放</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tcp_server_socket.setsockopt</a:t>
            </a:r>
            <a:r>
              <a:rPr lang="en-US" altLang="zh-CN" sz="1200" dirty="0">
                <a:solidFill>
                  <a:srgbClr val="0033B3"/>
                </a:solidFill>
                <a:latin typeface="Alibaba PuHuiTi R" pitchFamily="18" charset="-122"/>
                <a:ea typeface="Alibaba PuHuiTi R" pitchFamily="18" charset="-122"/>
                <a:cs typeface="Alibaba PuHuiTi R" pitchFamily="18" charset="-122"/>
              </a:rPr>
              <a:t>(</a:t>
            </a:r>
            <a:r>
              <a:rPr lang="en-US" altLang="zh-CN" sz="1200" dirty="0" err="1">
                <a:solidFill>
                  <a:srgbClr val="0033B3"/>
                </a:solidFill>
                <a:latin typeface="Alibaba PuHuiTi R" pitchFamily="18" charset="-122"/>
                <a:ea typeface="Alibaba PuHuiTi R" pitchFamily="18" charset="-122"/>
                <a:cs typeface="Alibaba PuHuiTi R" pitchFamily="18" charset="-122"/>
              </a:rPr>
              <a:t>socket.SOL_SOCKET</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socket.SO_REUSEADDR</a:t>
            </a:r>
            <a:r>
              <a:rPr lang="en-US" altLang="zh-CN" sz="1200" dirty="0">
                <a:solidFill>
                  <a:srgbClr val="0033B3"/>
                </a:solidFill>
                <a:latin typeface="Alibaba PuHuiTi R" pitchFamily="18" charset="-122"/>
                <a:ea typeface="Alibaba PuHuiTi R" pitchFamily="18" charset="-122"/>
                <a:cs typeface="Alibaba PuHuiTi R" pitchFamily="18" charset="-122"/>
              </a:rPr>
              <a:t>, True) </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给程序绑定端口号</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tcp_server_socket.bind</a:t>
            </a:r>
            <a:r>
              <a:rPr lang="en-US" altLang="zh-CN" sz="1200" dirty="0">
                <a:solidFill>
                  <a:srgbClr val="0033B3"/>
                </a:solidFill>
                <a:latin typeface="Alibaba PuHuiTi R" pitchFamily="18" charset="-122"/>
                <a:ea typeface="Alibaba PuHuiTi R" pitchFamily="18" charset="-122"/>
                <a:cs typeface="Alibaba PuHuiTi R" pitchFamily="18" charset="-122"/>
              </a:rPr>
              <a:t>(("", 8989))</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设置监听</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a:solidFill>
                  <a:srgbClr val="0033B3"/>
                </a:solidFill>
                <a:latin typeface="Alibaba PuHuiTi R" pitchFamily="18" charset="-122"/>
                <a:ea typeface="Alibaba PuHuiTi R" pitchFamily="18" charset="-122"/>
                <a:cs typeface="Alibaba PuHuiTi R" pitchFamily="18" charset="-122"/>
              </a:rPr>
              <a:t># 128:</a:t>
            </a:r>
            <a:r>
              <a:rPr lang="zh-CN" altLang="en-US" sz="1200" dirty="0">
                <a:solidFill>
                  <a:srgbClr val="0033B3"/>
                </a:solidFill>
                <a:latin typeface="Alibaba PuHuiTi R" pitchFamily="18" charset="-122"/>
                <a:ea typeface="Alibaba PuHuiTi R" pitchFamily="18" charset="-122"/>
                <a:cs typeface="Alibaba PuHuiTi R" pitchFamily="18" charset="-122"/>
              </a:rPr>
              <a:t>最大等待建立连接的个数， 提示： 目前是单任务的服务端，同一时刻只能服务与一个客户端，后续使用多任务能够让服务端同时服务与多个客户端，</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zh-CN" altLang="en-US" sz="1200" dirty="0">
                <a:solidFill>
                  <a:srgbClr val="0033B3"/>
                </a:solidFill>
                <a:latin typeface="Alibaba PuHuiTi R" pitchFamily="18" charset="-122"/>
                <a:ea typeface="Alibaba PuHuiTi R" pitchFamily="18" charset="-122"/>
                <a:cs typeface="Alibaba PuHuiTi R" pitchFamily="18" charset="-122"/>
              </a:rPr>
              <a:t>不需要让客户端进行等待建立连接</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a:solidFill>
                  <a:srgbClr val="0033B3"/>
                </a:solidFill>
                <a:latin typeface="Alibaba PuHuiTi R" pitchFamily="18" charset="-122"/>
                <a:ea typeface="Alibaba PuHuiTi R" pitchFamily="18" charset="-122"/>
                <a:cs typeface="Alibaba PuHuiTi R" pitchFamily="18" charset="-122"/>
              </a:rPr>
              <a:t># listen</a:t>
            </a:r>
            <a:r>
              <a:rPr lang="zh-CN" altLang="en-US" sz="1200" dirty="0">
                <a:solidFill>
                  <a:srgbClr val="0033B3"/>
                </a:solidFill>
                <a:latin typeface="Alibaba PuHuiTi R" pitchFamily="18" charset="-122"/>
                <a:ea typeface="Alibaba PuHuiTi R" pitchFamily="18" charset="-122"/>
                <a:cs typeface="Alibaba PuHuiTi R" pitchFamily="18" charset="-122"/>
              </a:rPr>
              <a:t>后的这个套接字只负责接收客户端连接请求，不能收发消息，收发消息使用返回的这个新套接字来完成</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tcp_server_socket.listen</a:t>
            </a:r>
            <a:r>
              <a:rPr lang="en-US" altLang="zh-CN" sz="1200" dirty="0">
                <a:solidFill>
                  <a:srgbClr val="0033B3"/>
                </a:solidFill>
                <a:latin typeface="Alibaba PuHuiTi R" pitchFamily="18" charset="-122"/>
                <a:ea typeface="Alibaba PuHuiTi R" pitchFamily="18" charset="-122"/>
                <a:cs typeface="Alibaba PuHuiTi R" pitchFamily="18" charset="-122"/>
              </a:rPr>
              <a:t>(128)</a:t>
            </a:r>
          </a:p>
          <a:p>
            <a:pPr>
              <a:lnSpc>
                <a:spcPct val="150000"/>
              </a:lnSpc>
              <a:defRPr/>
            </a:pPr>
            <a:endParaRPr lang="en-US" altLang="zh-CN" sz="12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zh-CN" altLang="en-US" sz="1200" dirty="0">
                <a:solidFill>
                  <a:srgbClr val="0033B3"/>
                </a:solidFill>
                <a:latin typeface="Alibaba PuHuiTi R" pitchFamily="18" charset="-122"/>
                <a:ea typeface="Alibaba PuHuiTi R" pitchFamily="18" charset="-122"/>
                <a:cs typeface="Alibaba PuHuiTi R" pitchFamily="18" charset="-122"/>
              </a:rPr>
              <a:t>等待客户端建立连接的请求</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zh-CN" altLang="en-US" sz="1200" dirty="0">
                <a:solidFill>
                  <a:srgbClr val="0033B3"/>
                </a:solidFill>
                <a:latin typeface="Alibaba PuHuiTi R" pitchFamily="18" charset="-122"/>
                <a:ea typeface="Alibaba PuHuiTi R" pitchFamily="18" charset="-122"/>
                <a:cs typeface="Alibaba PuHuiTi R" pitchFamily="18" charset="-122"/>
              </a:rPr>
              <a:t>只有客户端和服务端建立连接成功代码才会解阻塞，代码才能继续往下执行</a:t>
            </a:r>
          </a:p>
        </p:txBody>
      </p:sp>
      <p:sp>
        <p:nvSpPr>
          <p:cNvPr id="8" name="TextBox 3">
            <a:extLst>
              <a:ext uri="{FF2B5EF4-FFF2-40B4-BE49-F238E27FC236}">
                <a16:creationId xmlns:a16="http://schemas.microsoft.com/office/drawing/2014/main" id="{C4CBB552-6940-4B36-8329-153CFF282916}"/>
              </a:ext>
            </a:extLst>
          </p:cNvPr>
          <p:cNvSpPr txBox="1"/>
          <p:nvPr/>
        </p:nvSpPr>
        <p:spPr>
          <a:xfrm>
            <a:off x="6029739" y="851650"/>
            <a:ext cx="5900531" cy="5876673"/>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1. </a:t>
            </a:r>
            <a:r>
              <a:rPr lang="zh-CN" altLang="en-US" sz="1200" dirty="0">
                <a:solidFill>
                  <a:srgbClr val="0033B3"/>
                </a:solidFill>
                <a:latin typeface="Alibaba PuHuiTi R" pitchFamily="18" charset="-122"/>
                <a:ea typeface="Alibaba PuHuiTi R" pitchFamily="18" charset="-122"/>
                <a:cs typeface="Alibaba PuHuiTi R" pitchFamily="18" charset="-122"/>
              </a:rPr>
              <a:t>专门和客户端通信的套接字： </a:t>
            </a:r>
            <a:r>
              <a:rPr lang="en-US" altLang="zh-CN" sz="1200" dirty="0" err="1">
                <a:solidFill>
                  <a:srgbClr val="0033B3"/>
                </a:solidFill>
                <a:latin typeface="Alibaba PuHuiTi R" pitchFamily="18" charset="-122"/>
                <a:ea typeface="Alibaba PuHuiTi R" pitchFamily="18" charset="-122"/>
                <a:cs typeface="Alibaba PuHuiTi R" pitchFamily="18" charset="-122"/>
              </a:rPr>
              <a:t>service_client_socket</a:t>
            </a:r>
            <a:endParaRPr lang="en-US" altLang="zh-CN" sz="12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2. </a:t>
            </a:r>
            <a:r>
              <a:rPr lang="zh-CN" altLang="en-US" sz="1200" dirty="0">
                <a:solidFill>
                  <a:srgbClr val="0033B3"/>
                </a:solidFill>
                <a:latin typeface="Alibaba PuHuiTi R" pitchFamily="18" charset="-122"/>
                <a:ea typeface="Alibaba PuHuiTi R" pitchFamily="18" charset="-122"/>
                <a:cs typeface="Alibaba PuHuiTi R" pitchFamily="18" charset="-122"/>
              </a:rPr>
              <a:t>客户端的</a:t>
            </a:r>
            <a:r>
              <a:rPr lang="en-US" altLang="zh-CN" sz="1200" dirty="0" err="1">
                <a:solidFill>
                  <a:srgbClr val="0033B3"/>
                </a:solidFill>
                <a:latin typeface="Alibaba PuHuiTi R" pitchFamily="18" charset="-122"/>
                <a:ea typeface="Alibaba PuHuiTi R" pitchFamily="18" charset="-122"/>
                <a:cs typeface="Alibaba PuHuiTi R" pitchFamily="18" charset="-122"/>
              </a:rPr>
              <a:t>ip</a:t>
            </a:r>
            <a:r>
              <a:rPr lang="zh-CN" altLang="en-US" sz="1200" dirty="0">
                <a:solidFill>
                  <a:srgbClr val="0033B3"/>
                </a:solidFill>
                <a:latin typeface="Alibaba PuHuiTi R" pitchFamily="18" charset="-122"/>
                <a:ea typeface="Alibaba PuHuiTi R" pitchFamily="18" charset="-122"/>
                <a:cs typeface="Alibaba PuHuiTi R" pitchFamily="18" charset="-122"/>
              </a:rPr>
              <a:t>地址和端口号： </a:t>
            </a:r>
            <a:r>
              <a:rPr lang="en-US" altLang="zh-CN" sz="1200" dirty="0" err="1">
                <a:solidFill>
                  <a:srgbClr val="0033B3"/>
                </a:solidFill>
                <a:latin typeface="Alibaba PuHuiTi R" pitchFamily="18" charset="-122"/>
                <a:ea typeface="Alibaba PuHuiTi R" pitchFamily="18" charset="-122"/>
                <a:cs typeface="Alibaba PuHuiTi R" pitchFamily="18" charset="-122"/>
              </a:rPr>
              <a:t>ip_port</a:t>
            </a:r>
            <a:endParaRPr lang="en-US" altLang="zh-CN" sz="1200" dirty="0">
              <a:solidFill>
                <a:srgbClr val="0033B3"/>
              </a:solidFill>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service_client_socket</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ip_port</a:t>
            </a: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en-US" altLang="zh-CN" sz="1200" dirty="0" err="1">
                <a:solidFill>
                  <a:srgbClr val="0033B3"/>
                </a:solidFill>
                <a:latin typeface="Alibaba PuHuiTi R" pitchFamily="18" charset="-122"/>
                <a:ea typeface="Alibaba PuHuiTi R" pitchFamily="18" charset="-122"/>
                <a:cs typeface="Alibaba PuHuiTi R" pitchFamily="18" charset="-122"/>
              </a:rPr>
              <a:t>tcp_server_socket.accept</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代码执行到此说明连接建立成功</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a:solidFill>
                  <a:srgbClr val="0033B3"/>
                </a:solidFill>
                <a:latin typeface="Alibaba PuHuiTi R" pitchFamily="18" charset="-122"/>
                <a:ea typeface="Alibaba PuHuiTi R" pitchFamily="18" charset="-122"/>
                <a:cs typeface="Alibaba PuHuiTi R" pitchFamily="18" charset="-122"/>
              </a:rPr>
              <a:t>print("</a:t>
            </a:r>
            <a:r>
              <a:rPr lang="zh-CN" altLang="en-US" sz="1200" dirty="0">
                <a:solidFill>
                  <a:srgbClr val="0033B3"/>
                </a:solidFill>
                <a:latin typeface="Alibaba PuHuiTi R" pitchFamily="18" charset="-122"/>
                <a:ea typeface="Alibaba PuHuiTi R" pitchFamily="18" charset="-122"/>
                <a:cs typeface="Alibaba PuHuiTi R" pitchFamily="18" charset="-122"/>
              </a:rPr>
              <a:t>客户端的</a:t>
            </a:r>
            <a:r>
              <a:rPr lang="en-US" altLang="zh-CN" sz="1200" dirty="0" err="1">
                <a:solidFill>
                  <a:srgbClr val="0033B3"/>
                </a:solidFill>
                <a:latin typeface="Alibaba PuHuiTi R" pitchFamily="18" charset="-122"/>
                <a:ea typeface="Alibaba PuHuiTi R" pitchFamily="18" charset="-122"/>
                <a:cs typeface="Alibaba PuHuiTi R" pitchFamily="18" charset="-122"/>
              </a:rPr>
              <a:t>ip</a:t>
            </a:r>
            <a:r>
              <a:rPr lang="zh-CN" altLang="en-US" sz="1200" dirty="0">
                <a:solidFill>
                  <a:srgbClr val="0033B3"/>
                </a:solidFill>
                <a:latin typeface="Alibaba PuHuiTi R" pitchFamily="18" charset="-122"/>
                <a:ea typeface="Alibaba PuHuiTi R" pitchFamily="18" charset="-122"/>
                <a:cs typeface="Alibaba PuHuiTi R" pitchFamily="18" charset="-122"/>
              </a:rPr>
              <a:t>地址和端口号</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ip_port</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接收客户端发送的数据</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zh-CN" altLang="en-US" sz="1200" dirty="0">
                <a:solidFill>
                  <a:srgbClr val="0033B3"/>
                </a:solidFill>
                <a:latin typeface="Alibaba PuHuiTi R" pitchFamily="18" charset="-122"/>
                <a:ea typeface="Alibaba PuHuiTi R" pitchFamily="18" charset="-122"/>
                <a:cs typeface="Alibaba PuHuiTi R" pitchFamily="18" charset="-122"/>
              </a:rPr>
              <a:t>这次接收数据的最大字节数是</a:t>
            </a:r>
            <a:r>
              <a:rPr lang="en-US" altLang="zh-CN" sz="1200" dirty="0">
                <a:solidFill>
                  <a:srgbClr val="0033B3"/>
                </a:solidFill>
                <a:latin typeface="Alibaba PuHuiTi R" pitchFamily="18" charset="-122"/>
                <a:ea typeface="Alibaba PuHuiTi R" pitchFamily="18" charset="-122"/>
                <a:cs typeface="Alibaba PuHuiTi R" pitchFamily="18" charset="-122"/>
              </a:rPr>
              <a:t>1024</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recv_data</a:t>
            </a: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en-US" altLang="zh-CN" sz="1200" dirty="0" err="1">
                <a:solidFill>
                  <a:srgbClr val="0033B3"/>
                </a:solidFill>
                <a:latin typeface="Alibaba PuHuiTi R" pitchFamily="18" charset="-122"/>
                <a:ea typeface="Alibaba PuHuiTi R" pitchFamily="18" charset="-122"/>
                <a:cs typeface="Alibaba PuHuiTi R" pitchFamily="18" charset="-122"/>
              </a:rPr>
              <a:t>service_client_socket.recv</a:t>
            </a:r>
            <a:r>
              <a:rPr lang="en-US" altLang="zh-CN" sz="1200" dirty="0">
                <a:solidFill>
                  <a:srgbClr val="0033B3"/>
                </a:solidFill>
                <a:latin typeface="Alibaba PuHuiTi R" pitchFamily="18" charset="-122"/>
                <a:ea typeface="Alibaba PuHuiTi R" pitchFamily="18" charset="-122"/>
                <a:cs typeface="Alibaba PuHuiTi R" pitchFamily="18" charset="-122"/>
              </a:rPr>
              <a:t>(1024)</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获取数据的长度</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recv_data_length</a:t>
            </a: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en-US" altLang="zh-CN" sz="1200" dirty="0" err="1">
                <a:solidFill>
                  <a:srgbClr val="0033B3"/>
                </a:solidFill>
                <a:latin typeface="Alibaba PuHuiTi R" pitchFamily="18" charset="-122"/>
                <a:ea typeface="Alibaba PuHuiTi R" pitchFamily="18" charset="-122"/>
                <a:cs typeface="Alibaba PuHuiTi R" pitchFamily="18" charset="-122"/>
              </a:rPr>
              <a:t>len</a:t>
            </a:r>
            <a:r>
              <a:rPr lang="en-US" altLang="zh-CN" sz="1200" dirty="0">
                <a:solidFill>
                  <a:srgbClr val="0033B3"/>
                </a:solidFill>
                <a:latin typeface="Alibaba PuHuiTi R" pitchFamily="18" charset="-122"/>
                <a:ea typeface="Alibaba PuHuiTi R" pitchFamily="18" charset="-122"/>
                <a:cs typeface="Alibaba PuHuiTi R" pitchFamily="18" charset="-122"/>
              </a:rPr>
              <a:t>(</a:t>
            </a:r>
            <a:r>
              <a:rPr lang="en-US" altLang="zh-CN" sz="1200" dirty="0" err="1">
                <a:solidFill>
                  <a:srgbClr val="0033B3"/>
                </a:solidFill>
                <a:latin typeface="Alibaba PuHuiTi R" pitchFamily="18" charset="-122"/>
                <a:ea typeface="Alibaba PuHuiTi R" pitchFamily="18" charset="-122"/>
                <a:cs typeface="Alibaba PuHuiTi R" pitchFamily="18" charset="-122"/>
              </a:rPr>
              <a:t>recv_data</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print("</a:t>
            </a:r>
            <a:r>
              <a:rPr lang="zh-CN" altLang="en-US" sz="1200" dirty="0">
                <a:solidFill>
                  <a:srgbClr val="0033B3"/>
                </a:solidFill>
                <a:latin typeface="Alibaba PuHuiTi R" pitchFamily="18" charset="-122"/>
                <a:ea typeface="Alibaba PuHuiTi R" pitchFamily="18" charset="-122"/>
                <a:cs typeface="Alibaba PuHuiTi R" pitchFamily="18" charset="-122"/>
              </a:rPr>
              <a:t>接收数据的长度为</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recv_data_length</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对二进制数据进行解码</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recv_content</a:t>
            </a: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en-US" altLang="zh-CN" sz="1200" dirty="0" err="1">
                <a:solidFill>
                  <a:srgbClr val="0033B3"/>
                </a:solidFill>
                <a:latin typeface="Alibaba PuHuiTi R" pitchFamily="18" charset="-122"/>
                <a:ea typeface="Alibaba PuHuiTi R" pitchFamily="18" charset="-122"/>
                <a:cs typeface="Alibaba PuHuiTi R" pitchFamily="18" charset="-122"/>
              </a:rPr>
              <a:t>recv_data.decode</a:t>
            </a:r>
            <a:r>
              <a:rPr lang="en-US" altLang="zh-CN" sz="1200" dirty="0">
                <a:solidFill>
                  <a:srgbClr val="0033B3"/>
                </a:solidFill>
                <a:latin typeface="Alibaba PuHuiTi R" pitchFamily="18" charset="-122"/>
                <a:ea typeface="Alibaba PuHuiTi R" pitchFamily="18" charset="-122"/>
                <a:cs typeface="Alibaba PuHuiTi R" pitchFamily="18" charset="-122"/>
              </a:rPr>
              <a:t>("</a:t>
            </a:r>
            <a:r>
              <a:rPr lang="en-US" altLang="zh-CN" sz="1200" dirty="0" err="1">
                <a:solidFill>
                  <a:srgbClr val="0033B3"/>
                </a:solidFill>
                <a:latin typeface="Alibaba PuHuiTi R" pitchFamily="18" charset="-122"/>
                <a:ea typeface="Alibaba PuHuiTi R" pitchFamily="18" charset="-122"/>
                <a:cs typeface="Alibaba PuHuiTi R" pitchFamily="18" charset="-122"/>
              </a:rPr>
              <a:t>gbk</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print("</a:t>
            </a:r>
            <a:r>
              <a:rPr lang="zh-CN" altLang="en-US" sz="1200" dirty="0">
                <a:solidFill>
                  <a:srgbClr val="0033B3"/>
                </a:solidFill>
                <a:latin typeface="Alibaba PuHuiTi R" pitchFamily="18" charset="-122"/>
                <a:ea typeface="Alibaba PuHuiTi R" pitchFamily="18" charset="-122"/>
                <a:cs typeface="Alibaba PuHuiTi R" pitchFamily="18" charset="-122"/>
              </a:rPr>
              <a:t>接收客户端的数据为</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recv_content</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准备发送的数据</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send_data</a:t>
            </a:r>
            <a:r>
              <a:rPr lang="en-US" altLang="zh-CN" sz="1200" dirty="0">
                <a:solidFill>
                  <a:srgbClr val="0033B3"/>
                </a:solidFill>
                <a:latin typeface="Alibaba PuHuiTi R" pitchFamily="18" charset="-122"/>
                <a:ea typeface="Alibaba PuHuiTi R" pitchFamily="18" charset="-122"/>
                <a:cs typeface="Alibaba PuHuiTi R" pitchFamily="18" charset="-122"/>
              </a:rPr>
              <a:t> = "ok, </a:t>
            </a:r>
            <a:r>
              <a:rPr lang="zh-CN" altLang="en-US" sz="1200" dirty="0">
                <a:solidFill>
                  <a:srgbClr val="0033B3"/>
                </a:solidFill>
                <a:latin typeface="Alibaba PuHuiTi R" pitchFamily="18" charset="-122"/>
                <a:ea typeface="Alibaba PuHuiTi R" pitchFamily="18" charset="-122"/>
                <a:cs typeface="Alibaba PuHuiTi R" pitchFamily="18" charset="-122"/>
              </a:rPr>
              <a:t>问题正在处理中</a:t>
            </a:r>
            <a:r>
              <a:rPr lang="en-US" altLang="zh-CN" sz="1200" dirty="0">
                <a:solidFill>
                  <a:srgbClr val="0033B3"/>
                </a:solidFill>
                <a:latin typeface="Alibaba PuHuiTi R" pitchFamily="18" charset="-122"/>
                <a:ea typeface="Alibaba PuHuiTi R" pitchFamily="18" charset="-122"/>
                <a:cs typeface="Alibaba PuHuiTi R" pitchFamily="18" charset="-122"/>
              </a:rPr>
              <a:t>...".encode("</a:t>
            </a:r>
            <a:r>
              <a:rPr lang="en-US" altLang="zh-CN" sz="1200" dirty="0" err="1">
                <a:solidFill>
                  <a:srgbClr val="0033B3"/>
                </a:solidFill>
                <a:latin typeface="Alibaba PuHuiTi R" pitchFamily="18" charset="-122"/>
                <a:ea typeface="Alibaba PuHuiTi R" pitchFamily="18" charset="-122"/>
                <a:cs typeface="Alibaba PuHuiTi R" pitchFamily="18" charset="-122"/>
              </a:rPr>
              <a:t>gbk</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发送数据给客户端</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service_client_socket.send</a:t>
            </a:r>
            <a:r>
              <a:rPr lang="en-US" altLang="zh-CN" sz="1200" dirty="0">
                <a:solidFill>
                  <a:srgbClr val="0033B3"/>
                </a:solidFill>
                <a:latin typeface="Alibaba PuHuiTi R" pitchFamily="18" charset="-122"/>
                <a:ea typeface="Alibaba PuHuiTi R" pitchFamily="18" charset="-122"/>
                <a:cs typeface="Alibaba PuHuiTi R" pitchFamily="18" charset="-122"/>
              </a:rPr>
              <a:t>(</a:t>
            </a:r>
            <a:r>
              <a:rPr lang="en-US" altLang="zh-CN" sz="1200" dirty="0" err="1">
                <a:solidFill>
                  <a:srgbClr val="0033B3"/>
                </a:solidFill>
                <a:latin typeface="Alibaba PuHuiTi R" pitchFamily="18" charset="-122"/>
                <a:ea typeface="Alibaba PuHuiTi R" pitchFamily="18" charset="-122"/>
                <a:cs typeface="Alibaba PuHuiTi R" pitchFamily="18" charset="-122"/>
              </a:rPr>
              <a:t>send_data</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关闭服务与客户端的套接字， 终止和客户端通信的服务</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service_client_socket.close</a:t>
            </a:r>
            <a:r>
              <a:rPr lang="en-US" altLang="zh-CN" sz="1200" dirty="0">
                <a:solidFill>
                  <a:srgbClr val="0033B3"/>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solidFill>
                  <a:srgbClr val="0033B3"/>
                </a:solidFill>
                <a:latin typeface="Alibaba PuHuiTi R" pitchFamily="18" charset="-122"/>
                <a:ea typeface="Alibaba PuHuiTi R" pitchFamily="18" charset="-122"/>
                <a:cs typeface="Alibaba PuHuiTi R" pitchFamily="18" charset="-122"/>
              </a:rPr>
              <a:t>    # </a:t>
            </a:r>
            <a:r>
              <a:rPr lang="zh-CN" altLang="en-US" sz="1200" dirty="0">
                <a:solidFill>
                  <a:srgbClr val="0033B3"/>
                </a:solidFill>
                <a:latin typeface="Alibaba PuHuiTi R" pitchFamily="18" charset="-122"/>
                <a:ea typeface="Alibaba PuHuiTi R" pitchFamily="18" charset="-122"/>
                <a:cs typeface="Alibaba PuHuiTi R" pitchFamily="18" charset="-122"/>
              </a:rPr>
              <a:t>关闭服务端的套接字</a:t>
            </a:r>
            <a:r>
              <a:rPr lang="en-US" altLang="zh-CN" sz="1200" dirty="0">
                <a:solidFill>
                  <a:srgbClr val="0033B3"/>
                </a:solidFill>
                <a:latin typeface="Alibaba PuHuiTi R" pitchFamily="18" charset="-122"/>
                <a:ea typeface="Alibaba PuHuiTi R" pitchFamily="18" charset="-122"/>
                <a:cs typeface="Alibaba PuHuiTi R" pitchFamily="18" charset="-122"/>
              </a:rPr>
              <a:t>, </a:t>
            </a:r>
            <a:r>
              <a:rPr lang="zh-CN" altLang="en-US" sz="1200" dirty="0">
                <a:solidFill>
                  <a:srgbClr val="0033B3"/>
                </a:solidFill>
                <a:latin typeface="Alibaba PuHuiTi R" pitchFamily="18" charset="-122"/>
                <a:ea typeface="Alibaba PuHuiTi R" pitchFamily="18" charset="-122"/>
                <a:cs typeface="Alibaba PuHuiTi R" pitchFamily="18" charset="-122"/>
              </a:rPr>
              <a:t>终止和客户端提供建立连接请求的服务</a:t>
            </a:r>
          </a:p>
          <a:p>
            <a:pPr>
              <a:lnSpc>
                <a:spcPct val="150000"/>
              </a:lnSpc>
              <a:defRPr/>
            </a:pPr>
            <a:r>
              <a:rPr lang="zh-CN" altLang="en-US" sz="1200" dirty="0">
                <a:solidFill>
                  <a:srgbClr val="0033B3"/>
                </a:solidFill>
                <a:latin typeface="Alibaba PuHuiTi R" pitchFamily="18" charset="-122"/>
                <a:ea typeface="Alibaba PuHuiTi R" pitchFamily="18" charset="-122"/>
                <a:cs typeface="Alibaba PuHuiTi R" pitchFamily="18" charset="-122"/>
              </a:rPr>
              <a:t>    </a:t>
            </a:r>
            <a:r>
              <a:rPr lang="en-US" altLang="zh-CN" sz="1200" dirty="0" err="1">
                <a:solidFill>
                  <a:srgbClr val="0033B3"/>
                </a:solidFill>
                <a:latin typeface="Alibaba PuHuiTi R" pitchFamily="18" charset="-122"/>
                <a:ea typeface="Alibaba PuHuiTi R" pitchFamily="18" charset="-122"/>
                <a:cs typeface="Alibaba PuHuiTi R" pitchFamily="18" charset="-122"/>
              </a:rPr>
              <a:t>tcp_server_socket.close</a:t>
            </a:r>
            <a:r>
              <a:rPr lang="en-US" altLang="zh-CN" sz="1200" dirty="0">
                <a:solidFill>
                  <a:srgbClr val="0033B3"/>
                </a:solidFill>
                <a:latin typeface="Alibaba PuHuiTi R" pitchFamily="18" charset="-122"/>
                <a:ea typeface="Alibaba PuHuiTi R" pitchFamily="18" charset="-122"/>
                <a:cs typeface="Alibaba PuHuiTi R" pitchFamily="18" charset="-122"/>
              </a:rPr>
              <a:t>()</a:t>
            </a:r>
            <a:endParaRPr lang="zh-CN" altLang="en-US" sz="1200" dirty="0">
              <a:solidFill>
                <a:srgbClr val="0033B3"/>
              </a:solidFill>
              <a:latin typeface="Alibaba PuHuiTi R" pitchFamily="18" charset="-122"/>
              <a:ea typeface="Alibaba PuHuiTi R" pitchFamily="18" charset="-122"/>
              <a:cs typeface="Alibaba PuHuiTi R" pitchFamily="18" charset="-122"/>
            </a:endParaRPr>
          </a:p>
        </p:txBody>
      </p:sp>
      <p:sp>
        <p:nvSpPr>
          <p:cNvPr id="14" name="标题 2">
            <a:extLst>
              <a:ext uri="{FF2B5EF4-FFF2-40B4-BE49-F238E27FC236}">
                <a16:creationId xmlns:a16="http://schemas.microsoft.com/office/drawing/2014/main" id="{C385C151-63C4-464E-B39D-1411B4FEDDB3}"/>
              </a:ext>
            </a:extLst>
          </p:cNvPr>
          <p:cNvSpPr>
            <a:spLocks noGrp="1"/>
          </p:cNvSpPr>
          <p:nvPr>
            <p:ph type="title"/>
          </p:nvPr>
        </p:nvSpPr>
        <p:spPr>
          <a:xfrm>
            <a:off x="710880" y="244189"/>
            <a:ext cx="8771021" cy="517190"/>
          </a:xfrm>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服务器端程序开发</a:t>
            </a:r>
            <a:endParaRPr kumimoji="1" lang="zh-CN" altLang="en-US" dirty="0"/>
          </a:p>
        </p:txBody>
      </p:sp>
    </p:spTree>
    <p:extLst>
      <p:ext uri="{BB962C8B-B14F-4D97-AF65-F5344CB8AC3E}">
        <p14:creationId xmlns:p14="http://schemas.microsoft.com/office/powerpoint/2010/main" val="4174721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0" y="1368326"/>
            <a:ext cx="11460479" cy="5291399"/>
          </a:xfrm>
        </p:spPr>
        <p:txBody>
          <a:bodyPr/>
          <a:lstStyle/>
          <a:p>
            <a:pPr marL="0" indent="0" algn="l">
              <a:buNone/>
            </a:pPr>
            <a:r>
              <a:rPr lang="zh-CN" altLang="en-US" b="0" i="0" dirty="0">
                <a:solidFill>
                  <a:srgbClr val="333333"/>
                </a:solidFill>
                <a:effectLst/>
                <a:latin typeface="Helvetica Neue"/>
              </a:rPr>
              <a:t>① 导入</a:t>
            </a:r>
            <a:r>
              <a:rPr lang="en-US" altLang="zh-CN" b="0" i="0" dirty="0">
                <a:solidFill>
                  <a:srgbClr val="333333"/>
                </a:solidFill>
                <a:effectLst/>
                <a:latin typeface="Helvetica Neue"/>
              </a:rPr>
              <a:t>socket</a:t>
            </a:r>
            <a:r>
              <a:rPr lang="zh-CN" altLang="en-US" b="0" i="0" dirty="0">
                <a:solidFill>
                  <a:srgbClr val="333333"/>
                </a:solidFill>
                <a:effectLst/>
                <a:latin typeface="Helvetica Neue"/>
              </a:rPr>
              <a:t>模块</a:t>
            </a:r>
          </a:p>
          <a:p>
            <a:pPr marL="0" indent="0" algn="l">
              <a:buNone/>
            </a:pPr>
            <a:r>
              <a:rPr lang="zh-CN" altLang="en-US" b="0" i="0" dirty="0">
                <a:solidFill>
                  <a:srgbClr val="333333"/>
                </a:solidFill>
                <a:effectLst/>
                <a:latin typeface="Helvetica Neue"/>
              </a:rPr>
              <a:t>② 创建</a:t>
            </a:r>
            <a:r>
              <a:rPr lang="en-US" altLang="zh-CN" b="0" i="0" dirty="0">
                <a:solidFill>
                  <a:srgbClr val="333333"/>
                </a:solidFill>
                <a:effectLst/>
                <a:latin typeface="Helvetica Neue"/>
              </a:rPr>
              <a:t>TCP</a:t>
            </a:r>
            <a:r>
              <a:rPr lang="zh-CN" altLang="en-US" b="0" i="0" dirty="0">
                <a:solidFill>
                  <a:srgbClr val="333333"/>
                </a:solidFill>
                <a:effectLst/>
                <a:latin typeface="Helvetica Neue"/>
              </a:rPr>
              <a:t>套接字‘</a:t>
            </a:r>
            <a:r>
              <a:rPr lang="en-US" altLang="zh-CN" b="0" i="0" dirty="0">
                <a:solidFill>
                  <a:srgbClr val="333333"/>
                </a:solidFill>
                <a:effectLst/>
                <a:latin typeface="Helvetica Neue"/>
              </a:rPr>
              <a:t>socket’</a:t>
            </a:r>
          </a:p>
          <a:p>
            <a:pPr marL="742950" lvl="1" indent="-285750" algn="l">
              <a:buFont typeface="Wingdings" panose="05000000000000000000" pitchFamily="2" charset="2"/>
              <a:buChar char="Ø"/>
            </a:pPr>
            <a:r>
              <a:rPr lang="zh-CN" altLang="en-US" sz="1200" b="0" i="0" dirty="0">
                <a:solidFill>
                  <a:srgbClr val="C00000"/>
                </a:solidFill>
                <a:effectLst/>
                <a:latin typeface="Helvetica Neue"/>
              </a:rPr>
              <a:t>参数</a:t>
            </a:r>
            <a:r>
              <a:rPr lang="en-US" altLang="zh-CN" sz="1200" b="0" i="0" dirty="0">
                <a:solidFill>
                  <a:srgbClr val="C00000"/>
                </a:solidFill>
                <a:effectLst/>
                <a:latin typeface="Helvetica Neue"/>
              </a:rPr>
              <a:t>1: ‘AF_INET’, </a:t>
            </a:r>
            <a:r>
              <a:rPr lang="zh-CN" altLang="en-US" sz="1200" b="0" i="0" dirty="0">
                <a:solidFill>
                  <a:srgbClr val="C00000"/>
                </a:solidFill>
                <a:effectLst/>
                <a:latin typeface="Helvetica Neue"/>
              </a:rPr>
              <a:t>表示</a:t>
            </a:r>
            <a:r>
              <a:rPr lang="en-US" altLang="zh-CN" sz="1200" b="0" i="0" dirty="0">
                <a:solidFill>
                  <a:srgbClr val="C00000"/>
                </a:solidFill>
                <a:effectLst/>
                <a:latin typeface="Helvetica Neue"/>
              </a:rPr>
              <a:t>IPv4</a:t>
            </a:r>
            <a:r>
              <a:rPr lang="zh-CN" altLang="en-US" sz="1200" b="0" i="0" dirty="0">
                <a:solidFill>
                  <a:srgbClr val="C00000"/>
                </a:solidFill>
                <a:effectLst/>
                <a:latin typeface="Helvetica Neue"/>
              </a:rPr>
              <a:t>地址类型</a:t>
            </a:r>
          </a:p>
          <a:p>
            <a:pPr marL="742950" lvl="1" indent="-285750" algn="l">
              <a:buFont typeface="Wingdings" panose="05000000000000000000" pitchFamily="2" charset="2"/>
              <a:buChar char="Ø"/>
            </a:pPr>
            <a:r>
              <a:rPr lang="zh-CN" altLang="en-US" sz="1200" b="0" i="0" dirty="0">
                <a:solidFill>
                  <a:srgbClr val="C00000"/>
                </a:solidFill>
                <a:effectLst/>
                <a:latin typeface="Helvetica Neue"/>
              </a:rPr>
              <a:t>参数</a:t>
            </a:r>
            <a:r>
              <a:rPr lang="en-US" altLang="zh-CN" sz="1200" b="0" i="0" dirty="0">
                <a:solidFill>
                  <a:srgbClr val="C00000"/>
                </a:solidFill>
                <a:effectLst/>
                <a:latin typeface="Helvetica Neue"/>
              </a:rPr>
              <a:t>2: ‘SOCK_STREAM’, </a:t>
            </a:r>
            <a:r>
              <a:rPr lang="zh-CN" altLang="en-US" sz="1200" b="0" i="0" dirty="0">
                <a:solidFill>
                  <a:srgbClr val="C00000"/>
                </a:solidFill>
                <a:effectLst/>
                <a:latin typeface="Helvetica Neue"/>
              </a:rPr>
              <a:t>表示</a:t>
            </a:r>
            <a:r>
              <a:rPr lang="en-US" altLang="zh-CN" sz="1200" b="0" i="0" dirty="0">
                <a:solidFill>
                  <a:srgbClr val="C00000"/>
                </a:solidFill>
                <a:effectLst/>
                <a:latin typeface="Helvetica Neue"/>
              </a:rPr>
              <a:t>TCP</a:t>
            </a:r>
            <a:r>
              <a:rPr lang="zh-CN" altLang="en-US" sz="1200" b="0" i="0" dirty="0">
                <a:solidFill>
                  <a:srgbClr val="C00000"/>
                </a:solidFill>
                <a:effectLst/>
                <a:latin typeface="Helvetica Neue"/>
              </a:rPr>
              <a:t>传输协议类型</a:t>
            </a:r>
          </a:p>
          <a:p>
            <a:pPr marL="0" indent="0" algn="l">
              <a:buNone/>
            </a:pPr>
            <a:r>
              <a:rPr lang="zh-CN" altLang="en-US" dirty="0">
                <a:solidFill>
                  <a:srgbClr val="333333"/>
                </a:solidFill>
                <a:latin typeface="Helvetica Neue"/>
              </a:rPr>
              <a:t>③ </a:t>
            </a:r>
            <a:r>
              <a:rPr lang="zh-CN" altLang="en-US" b="0" i="0" dirty="0">
                <a:solidFill>
                  <a:srgbClr val="333333"/>
                </a:solidFill>
                <a:effectLst/>
                <a:latin typeface="Helvetica Neue"/>
              </a:rPr>
              <a:t>绑定端口号‘</a:t>
            </a:r>
            <a:r>
              <a:rPr lang="en-US" altLang="zh-CN" b="0" i="0" dirty="0">
                <a:solidFill>
                  <a:srgbClr val="333333"/>
                </a:solidFill>
                <a:effectLst/>
                <a:latin typeface="Helvetica Neue"/>
              </a:rPr>
              <a:t>bind’</a:t>
            </a:r>
          </a:p>
          <a:p>
            <a:pPr marL="742950" lvl="1" indent="-285750" algn="l">
              <a:buFont typeface="Wingdings" panose="05000000000000000000" pitchFamily="2" charset="2"/>
              <a:buChar char="Ø"/>
            </a:pPr>
            <a:r>
              <a:rPr lang="zh-CN" altLang="en-US" sz="1200" b="0" i="0" dirty="0">
                <a:solidFill>
                  <a:srgbClr val="C00000"/>
                </a:solidFill>
                <a:effectLst/>
                <a:latin typeface="Helvetica Neue"/>
              </a:rPr>
              <a:t>参数</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元组</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比如</a:t>
            </a:r>
            <a:r>
              <a:rPr lang="en-US" altLang="zh-CN" sz="1200" b="0" i="0" dirty="0">
                <a:solidFill>
                  <a:srgbClr val="C00000"/>
                </a:solidFill>
                <a:effectLst/>
                <a:latin typeface="Helvetica Neue"/>
              </a:rPr>
              <a:t>:(</a:t>
            </a:r>
            <a:r>
              <a:rPr lang="en-US" altLang="zh-CN" sz="1200" b="0" i="0" dirty="0" err="1">
                <a:solidFill>
                  <a:srgbClr val="C00000"/>
                </a:solidFill>
                <a:effectLst/>
                <a:latin typeface="Helvetica Neue"/>
              </a:rPr>
              <a:t>ip</a:t>
            </a:r>
            <a:r>
              <a:rPr lang="zh-CN" altLang="en-US" sz="1200" b="0" i="0" dirty="0">
                <a:solidFill>
                  <a:srgbClr val="C00000"/>
                </a:solidFill>
                <a:effectLst/>
                <a:latin typeface="Helvetica Neue"/>
              </a:rPr>
              <a:t>地址</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端口号</a:t>
            </a:r>
            <a:r>
              <a:rPr lang="en-US" altLang="zh-CN" sz="1200" b="0" i="0" dirty="0">
                <a:solidFill>
                  <a:srgbClr val="C00000"/>
                </a:solidFill>
                <a:effectLst/>
                <a:latin typeface="Helvetica Neue"/>
              </a:rPr>
              <a:t>)</a:t>
            </a:r>
          </a:p>
          <a:p>
            <a:pPr marL="0" indent="0" algn="l">
              <a:buNone/>
            </a:pPr>
            <a:r>
              <a:rPr lang="zh-CN" altLang="en-US" b="0" i="0" dirty="0">
                <a:solidFill>
                  <a:srgbClr val="333333"/>
                </a:solidFill>
                <a:effectLst/>
                <a:latin typeface="Helvetica Neue"/>
              </a:rPr>
              <a:t>④ 设置监听‘</a:t>
            </a:r>
            <a:r>
              <a:rPr lang="en-US" altLang="zh-CN" b="0" i="0" dirty="0">
                <a:solidFill>
                  <a:srgbClr val="333333"/>
                </a:solidFill>
                <a:effectLst/>
                <a:latin typeface="Helvetica Neue"/>
              </a:rPr>
              <a:t>listen’</a:t>
            </a:r>
          </a:p>
          <a:p>
            <a:pPr marL="742950" lvl="1" indent="-285750" algn="l">
              <a:buFont typeface="Wingdings" panose="05000000000000000000" pitchFamily="2" charset="2"/>
              <a:buChar char="Ø"/>
            </a:pPr>
            <a:r>
              <a:rPr lang="zh-CN" altLang="en-US" sz="1200" b="0" i="0" dirty="0">
                <a:solidFill>
                  <a:srgbClr val="C00000"/>
                </a:solidFill>
                <a:effectLst/>
                <a:latin typeface="Helvetica Neue"/>
              </a:rPr>
              <a:t>参数</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最大等待建立连接的个数</a:t>
            </a:r>
          </a:p>
          <a:p>
            <a:pPr marL="0" indent="0" algn="l">
              <a:buNone/>
            </a:pPr>
            <a:r>
              <a:rPr lang="zh-CN" altLang="en-US" b="0" i="0" dirty="0">
                <a:solidFill>
                  <a:srgbClr val="333333"/>
                </a:solidFill>
                <a:effectLst/>
                <a:latin typeface="Helvetica Neue"/>
              </a:rPr>
              <a:t>⑤ 等待接受客户端的连接请求‘</a:t>
            </a:r>
            <a:r>
              <a:rPr lang="en-US" altLang="zh-CN" b="0" i="0" dirty="0">
                <a:solidFill>
                  <a:srgbClr val="333333"/>
                </a:solidFill>
                <a:effectLst/>
                <a:latin typeface="Helvetica Neue"/>
              </a:rPr>
              <a:t>accept’</a:t>
            </a:r>
          </a:p>
          <a:p>
            <a:pPr marL="0" indent="0" algn="l">
              <a:buNone/>
            </a:pPr>
            <a:r>
              <a:rPr lang="zh-CN" altLang="en-US" b="0" i="0" dirty="0">
                <a:solidFill>
                  <a:srgbClr val="333333"/>
                </a:solidFill>
                <a:effectLst/>
                <a:latin typeface="Helvetica Neue"/>
              </a:rPr>
              <a:t>⑥ 发送数据‘</a:t>
            </a:r>
            <a:r>
              <a:rPr lang="en-US" altLang="zh-CN" b="0" i="0" dirty="0">
                <a:solidFill>
                  <a:srgbClr val="333333"/>
                </a:solidFill>
                <a:effectLst/>
                <a:latin typeface="Helvetica Neue"/>
              </a:rPr>
              <a:t>send’</a:t>
            </a:r>
          </a:p>
          <a:p>
            <a:pPr marL="742950" lvl="1" indent="-285750" algn="l">
              <a:buFont typeface="Wingdings" panose="05000000000000000000" pitchFamily="2" charset="2"/>
              <a:buChar char="Ø"/>
            </a:pPr>
            <a:r>
              <a:rPr lang="zh-CN" altLang="en-US" sz="1200" b="0" i="0" dirty="0">
                <a:solidFill>
                  <a:srgbClr val="C00000"/>
                </a:solidFill>
                <a:effectLst/>
                <a:latin typeface="Helvetica Neue"/>
              </a:rPr>
              <a:t>参数</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要发送的二进制数据， 注意</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字符串需要使用</a:t>
            </a:r>
            <a:r>
              <a:rPr lang="en-US" altLang="zh-CN" sz="1200" b="0" i="0" dirty="0">
                <a:solidFill>
                  <a:srgbClr val="C00000"/>
                </a:solidFill>
                <a:effectLst/>
                <a:latin typeface="Helvetica Neue"/>
              </a:rPr>
              <a:t>encode()</a:t>
            </a:r>
            <a:r>
              <a:rPr lang="zh-CN" altLang="en-US" sz="1200" b="0" i="0" dirty="0">
                <a:solidFill>
                  <a:srgbClr val="C00000"/>
                </a:solidFill>
                <a:effectLst/>
                <a:latin typeface="Helvetica Neue"/>
              </a:rPr>
              <a:t>方法进行编码</a:t>
            </a:r>
          </a:p>
          <a:p>
            <a:pPr marL="0" indent="0" algn="l">
              <a:buNone/>
            </a:pPr>
            <a:r>
              <a:rPr lang="zh-CN" altLang="en-US" b="0" i="0" dirty="0">
                <a:solidFill>
                  <a:srgbClr val="333333"/>
                </a:solidFill>
                <a:effectLst/>
                <a:latin typeface="Helvetica Neue"/>
              </a:rPr>
              <a:t>⑦ 接收数据‘</a:t>
            </a:r>
            <a:r>
              <a:rPr lang="en-US" altLang="zh-CN" b="0" i="0" dirty="0" err="1">
                <a:solidFill>
                  <a:srgbClr val="333333"/>
                </a:solidFill>
                <a:effectLst/>
                <a:latin typeface="Helvetica Neue"/>
              </a:rPr>
              <a:t>recv</a:t>
            </a:r>
            <a:r>
              <a:rPr lang="en-US" altLang="zh-CN" b="0" i="0" dirty="0">
                <a:solidFill>
                  <a:srgbClr val="333333"/>
                </a:solidFill>
                <a:effectLst/>
                <a:latin typeface="Helvetica Neue"/>
              </a:rPr>
              <a:t>’</a:t>
            </a:r>
          </a:p>
          <a:p>
            <a:pPr marL="742950" lvl="1" indent="-285750" algn="l">
              <a:buFont typeface="Wingdings" panose="05000000000000000000" pitchFamily="2" charset="2"/>
              <a:buChar char="Ø"/>
            </a:pPr>
            <a:r>
              <a:rPr lang="zh-CN" altLang="en-US" sz="1200" b="0" i="0" dirty="0">
                <a:solidFill>
                  <a:srgbClr val="C00000"/>
                </a:solidFill>
                <a:effectLst/>
                <a:latin typeface="Helvetica Neue"/>
              </a:rPr>
              <a:t>参数</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表示每次接收数据的大小，单位是字节，注意</a:t>
            </a:r>
            <a:r>
              <a:rPr lang="en-US" altLang="zh-CN" sz="1200" b="0" i="0" dirty="0">
                <a:solidFill>
                  <a:srgbClr val="C00000"/>
                </a:solidFill>
                <a:effectLst/>
                <a:latin typeface="Helvetica Neue"/>
              </a:rPr>
              <a:t>: </a:t>
            </a:r>
            <a:r>
              <a:rPr lang="zh-CN" altLang="en-US" sz="1200" b="0" i="0" dirty="0">
                <a:solidFill>
                  <a:srgbClr val="C00000"/>
                </a:solidFill>
                <a:effectLst/>
                <a:latin typeface="Helvetica Neue"/>
              </a:rPr>
              <a:t>解码成字符串使用</a:t>
            </a:r>
            <a:r>
              <a:rPr lang="en-US" altLang="zh-CN" sz="1200" b="0" i="0" dirty="0">
                <a:solidFill>
                  <a:srgbClr val="C00000"/>
                </a:solidFill>
                <a:effectLst/>
                <a:latin typeface="Helvetica Neue"/>
              </a:rPr>
              <a:t>decode()</a:t>
            </a:r>
            <a:r>
              <a:rPr lang="zh-CN" altLang="en-US" sz="1200" b="0" i="0" dirty="0">
                <a:solidFill>
                  <a:srgbClr val="C00000"/>
                </a:solidFill>
                <a:effectLst/>
                <a:latin typeface="Helvetica Neue"/>
              </a:rPr>
              <a:t>方法</a:t>
            </a:r>
          </a:p>
          <a:p>
            <a:pPr marL="0" indent="0" algn="l">
              <a:buNone/>
            </a:pPr>
            <a:r>
              <a:rPr lang="zh-CN" altLang="en-US" b="0" i="0" dirty="0">
                <a:solidFill>
                  <a:srgbClr val="333333"/>
                </a:solidFill>
                <a:effectLst/>
                <a:latin typeface="Helvetica Neue"/>
              </a:rPr>
              <a:t>⑧ 关闭套接字‘</a:t>
            </a:r>
            <a:r>
              <a:rPr lang="en-US" altLang="zh-CN" b="0" i="0" dirty="0">
                <a:solidFill>
                  <a:srgbClr val="333333"/>
                </a:solidFill>
                <a:effectLst/>
                <a:latin typeface="Helvetica Neue"/>
              </a:rPr>
              <a:t>socket’</a:t>
            </a:r>
            <a:r>
              <a:rPr lang="zh-CN" altLang="en-US" b="0" i="0" dirty="0">
                <a:solidFill>
                  <a:srgbClr val="333333"/>
                </a:solidFill>
                <a:effectLst/>
                <a:latin typeface="Helvetica Neue"/>
              </a:rPr>
              <a:t>表示通信完成</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 </a:t>
            </a:r>
            <a:r>
              <a:rPr lang="zh-CN" altLang="en-US" b="1" i="0" dirty="0">
                <a:solidFill>
                  <a:srgbClr val="333333"/>
                </a:solidFill>
                <a:effectLst/>
                <a:latin typeface="Helvetica Neue"/>
              </a:rPr>
              <a:t>服务器端程序开发</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kumimoji="1" lang="en-US" altLang="zh-CN" b="1" i="0" dirty="0">
                <a:solidFill>
                  <a:srgbClr val="333333"/>
                </a:solidFill>
                <a:effectLst/>
                <a:latin typeface="Helvetica Neue"/>
              </a:rPr>
              <a:t>3</a:t>
            </a:r>
            <a:r>
              <a:rPr kumimoji="1" lang="zh-CN" altLang="en-US" b="1" i="0" dirty="0">
                <a:solidFill>
                  <a:srgbClr val="333333"/>
                </a:solidFill>
                <a:effectLst/>
                <a:latin typeface="Helvetica Neue"/>
              </a:rPr>
              <a:t>、小结</a:t>
            </a:r>
            <a:endParaRPr lang="zh-CN" altLang="en-US" b="1" i="0" dirty="0">
              <a:solidFill>
                <a:srgbClr val="333333"/>
              </a:solidFill>
              <a:effectLst/>
              <a:latin typeface="Helvetica Neue"/>
            </a:endParaRPr>
          </a:p>
        </p:txBody>
      </p:sp>
    </p:spTree>
    <p:extLst>
      <p:ext uri="{BB962C8B-B14F-4D97-AF65-F5344CB8AC3E}">
        <p14:creationId xmlns:p14="http://schemas.microsoft.com/office/powerpoint/2010/main" val="41580370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TCP</a:t>
            </a:r>
            <a:r>
              <a:rPr lang="zh-CN" altLang="en-US" b="1" i="0" dirty="0">
                <a:solidFill>
                  <a:srgbClr val="333333"/>
                </a:solidFill>
                <a:effectLst/>
                <a:latin typeface="Helvetica Neue"/>
              </a:rPr>
              <a:t>网络应用程序的注意点</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07</a:t>
            </a:r>
            <a:endParaRPr kumimoji="1" lang="zh-CN" altLang="en-US" dirty="0"/>
          </a:p>
        </p:txBody>
      </p:sp>
    </p:spTree>
    <p:extLst>
      <p:ext uri="{BB962C8B-B14F-4D97-AF65-F5344CB8AC3E}">
        <p14:creationId xmlns:p14="http://schemas.microsoft.com/office/powerpoint/2010/main" val="2442614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4A1AFF-5EB0-5C4B-93C7-DF3AA87FFA1B}"/>
              </a:ext>
            </a:extLst>
          </p:cNvPr>
          <p:cNvSpPr>
            <a:spLocks noGrp="1"/>
          </p:cNvSpPr>
          <p:nvPr>
            <p:ph type="body" sz="quarter" idx="11"/>
          </p:nvPr>
        </p:nvSpPr>
        <p:spPr>
          <a:xfrm>
            <a:off x="710880" y="1368326"/>
            <a:ext cx="11460479" cy="5291399"/>
          </a:xfrm>
        </p:spPr>
        <p:txBody>
          <a:bodyPr/>
          <a:lstStyle/>
          <a:p>
            <a:pPr algn="l">
              <a:buFont typeface="+mj-lt"/>
              <a:buAutoNum type="arabicPeriod"/>
            </a:pPr>
            <a:r>
              <a:rPr lang="zh-CN" altLang="en-US" b="0" i="0" dirty="0">
                <a:solidFill>
                  <a:srgbClr val="333333"/>
                </a:solidFill>
                <a:effectLst/>
                <a:latin typeface="Helvetica Neue"/>
              </a:rPr>
              <a:t>当 </a:t>
            </a:r>
            <a:r>
              <a:rPr lang="en-US" altLang="zh-CN" b="0" i="0" dirty="0">
                <a:solidFill>
                  <a:srgbClr val="333333"/>
                </a:solidFill>
                <a:effectLst/>
                <a:latin typeface="Helvetica Neue"/>
              </a:rPr>
              <a:t>TCP </a:t>
            </a:r>
            <a:r>
              <a:rPr lang="zh-CN" altLang="en-US" b="0" i="0" dirty="0">
                <a:solidFill>
                  <a:srgbClr val="333333"/>
                </a:solidFill>
                <a:effectLst/>
                <a:latin typeface="Helvetica Neue"/>
              </a:rPr>
              <a:t>客户端程序想要和 </a:t>
            </a:r>
            <a:r>
              <a:rPr lang="en-US" altLang="zh-CN" b="0" i="0" dirty="0">
                <a:solidFill>
                  <a:srgbClr val="333333"/>
                </a:solidFill>
                <a:effectLst/>
                <a:latin typeface="Helvetica Neue"/>
              </a:rPr>
              <a:t>TCP </a:t>
            </a:r>
            <a:r>
              <a:rPr lang="zh-CN" altLang="en-US" b="0" i="0" dirty="0">
                <a:solidFill>
                  <a:srgbClr val="333333"/>
                </a:solidFill>
                <a:effectLst/>
                <a:latin typeface="Helvetica Neue"/>
              </a:rPr>
              <a:t>服务端程序进行通信的时候必须要先</a:t>
            </a:r>
            <a:r>
              <a:rPr lang="zh-CN" altLang="en-US" b="1" i="0" dirty="0">
                <a:solidFill>
                  <a:srgbClr val="C00000"/>
                </a:solidFill>
                <a:effectLst/>
                <a:latin typeface="Helvetica Neue"/>
              </a:rPr>
              <a:t>建立连接</a:t>
            </a:r>
            <a:endParaRPr lang="zh-CN" altLang="en-US" b="0" i="0" dirty="0">
              <a:solidFill>
                <a:srgbClr val="C00000"/>
              </a:solidFill>
              <a:effectLst/>
              <a:latin typeface="Helvetica Neue"/>
            </a:endParaRPr>
          </a:p>
          <a:p>
            <a:pPr algn="l">
              <a:buFont typeface="+mj-lt"/>
              <a:buAutoNum type="arabicPeriod"/>
            </a:pPr>
            <a:r>
              <a:rPr lang="en-US" altLang="zh-CN" b="0" i="0" dirty="0">
                <a:solidFill>
                  <a:srgbClr val="333333"/>
                </a:solidFill>
                <a:effectLst/>
                <a:latin typeface="Helvetica Neue"/>
              </a:rPr>
              <a:t>TCP </a:t>
            </a:r>
            <a:r>
              <a:rPr lang="zh-CN" altLang="en-US" b="0" i="0" dirty="0">
                <a:solidFill>
                  <a:srgbClr val="333333"/>
                </a:solidFill>
                <a:effectLst/>
                <a:latin typeface="Helvetica Neue"/>
              </a:rPr>
              <a:t>客户端程序</a:t>
            </a:r>
            <a:r>
              <a:rPr lang="zh-CN" altLang="en-US" b="0" i="0" dirty="0">
                <a:solidFill>
                  <a:srgbClr val="C00000"/>
                </a:solidFill>
                <a:effectLst/>
                <a:latin typeface="Helvetica Neue"/>
              </a:rPr>
              <a:t>一般不需要绑定端口号</a:t>
            </a:r>
            <a:r>
              <a:rPr lang="zh-CN" altLang="en-US" b="0" i="0" dirty="0">
                <a:solidFill>
                  <a:srgbClr val="333333"/>
                </a:solidFill>
                <a:effectLst/>
                <a:latin typeface="Helvetica Neue"/>
              </a:rPr>
              <a:t>，因为客户端是主动发起建立连接的。</a:t>
            </a:r>
          </a:p>
          <a:p>
            <a:pPr algn="l">
              <a:buFont typeface="+mj-lt"/>
              <a:buAutoNum type="arabicPeriod"/>
            </a:pPr>
            <a:r>
              <a:rPr lang="en-US" altLang="zh-CN" b="1" i="0" dirty="0">
                <a:solidFill>
                  <a:srgbClr val="C00000"/>
                </a:solidFill>
                <a:effectLst/>
                <a:latin typeface="Helvetica Neue"/>
              </a:rPr>
              <a:t>TCP </a:t>
            </a:r>
            <a:r>
              <a:rPr lang="zh-CN" altLang="en-US" b="1" i="0" dirty="0">
                <a:solidFill>
                  <a:srgbClr val="C00000"/>
                </a:solidFill>
                <a:effectLst/>
                <a:latin typeface="Helvetica Neue"/>
              </a:rPr>
              <a:t>服务端程序必须绑定端口号</a:t>
            </a:r>
            <a:r>
              <a:rPr lang="zh-CN" altLang="en-US" b="0" i="0" dirty="0">
                <a:solidFill>
                  <a:srgbClr val="333333"/>
                </a:solidFill>
                <a:effectLst/>
                <a:latin typeface="Helvetica Neue"/>
              </a:rPr>
              <a:t>，否则客户端找不到这个 </a:t>
            </a:r>
            <a:r>
              <a:rPr lang="en-US" altLang="zh-CN" b="0" i="0" dirty="0">
                <a:solidFill>
                  <a:srgbClr val="333333"/>
                </a:solidFill>
                <a:effectLst/>
                <a:latin typeface="Helvetica Neue"/>
              </a:rPr>
              <a:t>TCP </a:t>
            </a:r>
            <a:r>
              <a:rPr lang="zh-CN" altLang="en-US" b="0" i="0" dirty="0">
                <a:solidFill>
                  <a:srgbClr val="333333"/>
                </a:solidFill>
                <a:effectLst/>
                <a:latin typeface="Helvetica Neue"/>
              </a:rPr>
              <a:t>服务端程序。</a:t>
            </a:r>
          </a:p>
          <a:p>
            <a:pPr algn="l">
              <a:buFont typeface="+mj-lt"/>
              <a:buAutoNum type="arabicPeriod"/>
            </a:pPr>
            <a:r>
              <a:rPr lang="en-US" altLang="zh-CN" b="0" i="0" dirty="0">
                <a:solidFill>
                  <a:srgbClr val="333333"/>
                </a:solidFill>
                <a:effectLst/>
                <a:latin typeface="Helvetica Neue"/>
              </a:rPr>
              <a:t>listen </a:t>
            </a:r>
            <a:r>
              <a:rPr lang="zh-CN" altLang="en-US" b="0" i="0" dirty="0">
                <a:solidFill>
                  <a:srgbClr val="333333"/>
                </a:solidFill>
                <a:effectLst/>
                <a:latin typeface="Helvetica Neue"/>
              </a:rPr>
              <a:t>后的套接字是被动套接字，</a:t>
            </a:r>
            <a:r>
              <a:rPr lang="zh-CN" altLang="en-US" b="1" i="0" dirty="0">
                <a:solidFill>
                  <a:srgbClr val="C00000"/>
                </a:solidFill>
                <a:effectLst/>
                <a:latin typeface="Helvetica Neue"/>
              </a:rPr>
              <a:t>只负责接收新的客户端的连接请求，不能收发消息</a:t>
            </a:r>
            <a:r>
              <a:rPr lang="zh-CN" altLang="en-US" b="1" i="0" dirty="0">
                <a:solidFill>
                  <a:srgbClr val="333333"/>
                </a:solidFill>
                <a:effectLst/>
                <a:latin typeface="Helvetica Neue"/>
              </a:rPr>
              <a:t>。</a:t>
            </a:r>
            <a:endParaRPr lang="zh-CN" altLang="en-US" b="0" i="0" dirty="0">
              <a:solidFill>
                <a:srgbClr val="333333"/>
              </a:solidFill>
              <a:effectLst/>
              <a:latin typeface="Helvetica Neue"/>
            </a:endParaRPr>
          </a:p>
          <a:p>
            <a:pPr algn="l">
              <a:buFont typeface="+mj-lt"/>
              <a:buAutoNum type="arabicPeriod"/>
            </a:pPr>
            <a:r>
              <a:rPr lang="zh-CN" altLang="en-US" b="0" i="0" dirty="0">
                <a:solidFill>
                  <a:srgbClr val="333333"/>
                </a:solidFill>
                <a:effectLst/>
                <a:latin typeface="Helvetica Neue"/>
              </a:rPr>
              <a:t>当 </a:t>
            </a:r>
            <a:r>
              <a:rPr lang="en-US" altLang="zh-CN" b="0" i="0" dirty="0">
                <a:solidFill>
                  <a:srgbClr val="333333"/>
                </a:solidFill>
                <a:effectLst/>
                <a:latin typeface="Helvetica Neue"/>
              </a:rPr>
              <a:t>TCP </a:t>
            </a:r>
            <a:r>
              <a:rPr lang="zh-CN" altLang="en-US" b="0" i="0" dirty="0">
                <a:solidFill>
                  <a:srgbClr val="333333"/>
                </a:solidFill>
                <a:effectLst/>
                <a:latin typeface="Helvetica Neue"/>
              </a:rPr>
              <a:t>客户端程序和 </a:t>
            </a:r>
            <a:r>
              <a:rPr lang="en-US" altLang="zh-CN" b="0" i="0" dirty="0">
                <a:solidFill>
                  <a:srgbClr val="333333"/>
                </a:solidFill>
                <a:effectLst/>
                <a:latin typeface="Helvetica Neue"/>
              </a:rPr>
              <a:t>TCP </a:t>
            </a:r>
            <a:r>
              <a:rPr lang="zh-CN" altLang="en-US" b="0" i="0" dirty="0">
                <a:solidFill>
                  <a:srgbClr val="333333"/>
                </a:solidFill>
                <a:effectLst/>
                <a:latin typeface="Helvetica Neue"/>
              </a:rPr>
              <a:t>服务端程序连接成功后， </a:t>
            </a:r>
            <a:r>
              <a:rPr lang="en-US" altLang="zh-CN" b="0" i="0" dirty="0">
                <a:solidFill>
                  <a:srgbClr val="333333"/>
                </a:solidFill>
                <a:effectLst/>
                <a:latin typeface="Helvetica Neue"/>
              </a:rPr>
              <a:t>TCP </a:t>
            </a:r>
            <a:r>
              <a:rPr lang="zh-CN" altLang="en-US" b="0" i="0" dirty="0">
                <a:solidFill>
                  <a:srgbClr val="333333"/>
                </a:solidFill>
                <a:effectLst/>
                <a:latin typeface="Helvetica Neue"/>
              </a:rPr>
              <a:t>服务器端程序会产生一个</a:t>
            </a:r>
            <a:r>
              <a:rPr lang="zh-CN" altLang="en-US" b="1" i="0" dirty="0">
                <a:solidFill>
                  <a:srgbClr val="C00000"/>
                </a:solidFill>
                <a:effectLst/>
                <a:latin typeface="Helvetica Neue"/>
              </a:rPr>
              <a:t>新的套接字</a:t>
            </a:r>
            <a:r>
              <a:rPr lang="zh-CN" altLang="en-US" b="0" i="0" dirty="0">
                <a:solidFill>
                  <a:srgbClr val="333333"/>
                </a:solidFill>
                <a:effectLst/>
                <a:latin typeface="Helvetica Neue"/>
              </a:rPr>
              <a:t>，收发客户端消息使用该套接字。</a:t>
            </a:r>
          </a:p>
          <a:p>
            <a:pPr algn="l">
              <a:buFont typeface="+mj-lt"/>
              <a:buAutoNum type="arabicPeriod"/>
            </a:pPr>
            <a:r>
              <a:rPr lang="zh-CN" altLang="en-US" b="1" i="0" dirty="0">
                <a:solidFill>
                  <a:srgbClr val="C00000"/>
                </a:solidFill>
                <a:effectLst/>
                <a:latin typeface="Helvetica Neue"/>
              </a:rPr>
              <a:t>关闭 </a:t>
            </a:r>
            <a:r>
              <a:rPr lang="en-US" altLang="zh-CN" b="1" i="0" dirty="0">
                <a:solidFill>
                  <a:srgbClr val="C00000"/>
                </a:solidFill>
                <a:effectLst/>
                <a:latin typeface="Helvetica Neue"/>
              </a:rPr>
              <a:t>accept </a:t>
            </a:r>
            <a:r>
              <a:rPr lang="zh-CN" altLang="en-US" b="1" i="0" dirty="0">
                <a:solidFill>
                  <a:srgbClr val="C00000"/>
                </a:solidFill>
                <a:effectLst/>
                <a:latin typeface="Helvetica Neue"/>
              </a:rPr>
              <a:t>返回的套接字意味着和这个客户端已经通信完毕</a:t>
            </a:r>
            <a:r>
              <a:rPr lang="zh-CN" altLang="en-US" b="0" i="0" dirty="0">
                <a:solidFill>
                  <a:srgbClr val="C00000"/>
                </a:solidFill>
                <a:effectLst/>
                <a:latin typeface="Helvetica Neue"/>
              </a:rPr>
              <a:t>。</a:t>
            </a:r>
          </a:p>
          <a:p>
            <a:pPr algn="l">
              <a:buFont typeface="+mj-lt"/>
              <a:buAutoNum type="arabicPeriod"/>
            </a:pPr>
            <a:r>
              <a:rPr lang="zh-CN" altLang="en-US" b="1" i="0" dirty="0">
                <a:solidFill>
                  <a:srgbClr val="C00000"/>
                </a:solidFill>
                <a:effectLst/>
                <a:latin typeface="Helvetica Neue"/>
              </a:rPr>
              <a:t>关闭 </a:t>
            </a:r>
            <a:r>
              <a:rPr lang="en-US" altLang="zh-CN" b="1" i="0" dirty="0">
                <a:solidFill>
                  <a:srgbClr val="C00000"/>
                </a:solidFill>
                <a:effectLst/>
                <a:latin typeface="Helvetica Neue"/>
              </a:rPr>
              <a:t>listen </a:t>
            </a:r>
            <a:r>
              <a:rPr lang="zh-CN" altLang="en-US" b="1" i="0" dirty="0">
                <a:solidFill>
                  <a:srgbClr val="C00000"/>
                </a:solidFill>
                <a:effectLst/>
                <a:latin typeface="Helvetica Neue"/>
              </a:rPr>
              <a:t>后的套接字意味着服务端的套接字关闭了，会导致新的客户端不能连接服务端，但是之前已经接成功的客户端还能正常通信。</a:t>
            </a:r>
            <a:endParaRPr lang="zh-CN" altLang="en-US" b="0" i="0" dirty="0">
              <a:solidFill>
                <a:srgbClr val="C00000"/>
              </a:solidFill>
              <a:effectLst/>
              <a:latin typeface="Helvetica Neue"/>
            </a:endParaRPr>
          </a:p>
          <a:p>
            <a:pPr algn="l">
              <a:buFont typeface="+mj-lt"/>
              <a:buAutoNum type="arabicPeriod"/>
            </a:pPr>
            <a:r>
              <a:rPr lang="zh-CN" altLang="en-US" b="1" i="0" dirty="0">
                <a:solidFill>
                  <a:srgbClr val="C00000"/>
                </a:solidFill>
                <a:effectLst/>
                <a:latin typeface="Helvetica Neue"/>
              </a:rPr>
              <a:t>当客户端的套接字调用 </a:t>
            </a:r>
            <a:r>
              <a:rPr lang="en-US" altLang="zh-CN" b="1" i="0" dirty="0">
                <a:solidFill>
                  <a:srgbClr val="C00000"/>
                </a:solidFill>
                <a:effectLst/>
                <a:latin typeface="Helvetica Neue"/>
              </a:rPr>
              <a:t>close </a:t>
            </a:r>
            <a:r>
              <a:rPr lang="zh-CN" altLang="en-US" b="1" i="0" dirty="0">
                <a:solidFill>
                  <a:srgbClr val="C00000"/>
                </a:solidFill>
                <a:effectLst/>
                <a:latin typeface="Helvetica Neue"/>
              </a:rPr>
              <a:t>后，服务器端的 </a:t>
            </a:r>
            <a:r>
              <a:rPr lang="en-US" altLang="zh-CN" b="1" i="0" dirty="0" err="1">
                <a:solidFill>
                  <a:srgbClr val="C00000"/>
                </a:solidFill>
                <a:effectLst/>
                <a:latin typeface="Helvetica Neue"/>
              </a:rPr>
              <a:t>recv</a:t>
            </a:r>
            <a:r>
              <a:rPr lang="en-US" altLang="zh-CN" b="1" i="0" dirty="0">
                <a:solidFill>
                  <a:srgbClr val="C00000"/>
                </a:solidFill>
                <a:effectLst/>
                <a:latin typeface="Helvetica Neue"/>
              </a:rPr>
              <a:t> </a:t>
            </a:r>
            <a:r>
              <a:rPr lang="zh-CN" altLang="en-US" b="1" i="0" dirty="0">
                <a:solidFill>
                  <a:srgbClr val="C00000"/>
                </a:solidFill>
                <a:effectLst/>
                <a:latin typeface="Helvetica Neue"/>
              </a:rPr>
              <a:t>会解阻塞，返回的数据长度为</a:t>
            </a:r>
            <a:r>
              <a:rPr lang="en-US" altLang="zh-CN" b="1" i="0" dirty="0">
                <a:solidFill>
                  <a:srgbClr val="C00000"/>
                </a:solidFill>
                <a:effectLst/>
                <a:latin typeface="Helvetica Neue"/>
              </a:rPr>
              <a:t>0</a:t>
            </a:r>
            <a:r>
              <a:rPr lang="zh-CN" altLang="en-US" b="0" i="0" dirty="0">
                <a:solidFill>
                  <a:srgbClr val="333333"/>
                </a:solidFill>
                <a:effectLst/>
                <a:latin typeface="Helvetica Neue"/>
              </a:rPr>
              <a:t>，服务端可以通过返回数据的长度来判断客户端是否已经下线，反之</a:t>
            </a:r>
            <a:r>
              <a:rPr lang="zh-CN" altLang="en-US" b="1" i="0" dirty="0">
                <a:solidFill>
                  <a:srgbClr val="C00000"/>
                </a:solidFill>
                <a:effectLst/>
                <a:latin typeface="Helvetica Neue"/>
              </a:rPr>
              <a:t>服务端关闭套接字，客户端的 </a:t>
            </a:r>
            <a:r>
              <a:rPr lang="en-US" altLang="zh-CN" b="1" i="0" dirty="0" err="1">
                <a:solidFill>
                  <a:srgbClr val="C00000"/>
                </a:solidFill>
                <a:effectLst/>
                <a:latin typeface="Helvetica Neue"/>
              </a:rPr>
              <a:t>recv</a:t>
            </a:r>
            <a:r>
              <a:rPr lang="en-US" altLang="zh-CN" b="1" i="0" dirty="0">
                <a:solidFill>
                  <a:srgbClr val="C00000"/>
                </a:solidFill>
                <a:effectLst/>
                <a:latin typeface="Helvetica Neue"/>
              </a:rPr>
              <a:t> </a:t>
            </a:r>
            <a:r>
              <a:rPr lang="zh-CN" altLang="en-US" b="1" i="0" dirty="0">
                <a:solidFill>
                  <a:srgbClr val="C00000"/>
                </a:solidFill>
                <a:effectLst/>
                <a:latin typeface="Helvetica Neue"/>
              </a:rPr>
              <a:t>也会解阻塞，返回的数据长度也为</a:t>
            </a:r>
            <a:r>
              <a:rPr lang="en-US" altLang="zh-CN" b="1" i="0" dirty="0">
                <a:solidFill>
                  <a:srgbClr val="C00000"/>
                </a:solidFill>
                <a:effectLst/>
                <a:latin typeface="Helvetica Neue"/>
              </a:rPr>
              <a:t>0</a:t>
            </a:r>
            <a:r>
              <a:rPr lang="zh-CN" altLang="en-US" b="0" i="0" dirty="0">
                <a:solidFill>
                  <a:srgbClr val="C00000"/>
                </a:solidFill>
                <a:effectLst/>
                <a:latin typeface="Helvetica Neue"/>
              </a:rPr>
              <a:t>。</a:t>
            </a:r>
          </a:p>
        </p:txBody>
      </p:sp>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TCP</a:t>
            </a:r>
            <a:r>
              <a:rPr lang="zh-CN" altLang="en-US" b="1" i="0" dirty="0">
                <a:solidFill>
                  <a:srgbClr val="333333"/>
                </a:solidFill>
                <a:effectLst/>
                <a:latin typeface="Helvetica Neue"/>
              </a:rPr>
              <a:t>网络应用程序的注意点</a:t>
            </a:r>
            <a:endParaRPr kumimoji="1" lang="zh-CN" altLang="en-US" dirty="0"/>
          </a:p>
        </p:txBody>
      </p:sp>
    </p:spTree>
    <p:extLst>
      <p:ext uri="{BB962C8B-B14F-4D97-AF65-F5344CB8AC3E}">
        <p14:creationId xmlns:p14="http://schemas.microsoft.com/office/powerpoint/2010/main" val="3296793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645788"/>
      </p:ext>
    </p:extLst>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8433</TotalTime>
  <Words>3202</Words>
  <Application>Microsoft Office PowerPoint</Application>
  <PresentationFormat>宽屏</PresentationFormat>
  <Paragraphs>349</Paragraphs>
  <Slides>40</Slides>
  <Notes>23</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40</vt:i4>
      </vt:variant>
    </vt:vector>
  </HeadingPairs>
  <TitlesOfParts>
    <vt:vector size="59" baseType="lpstr">
      <vt:lpstr>Alibaba PuHuiTi B</vt:lpstr>
      <vt:lpstr>Alibaba PuHuiTi M</vt:lpstr>
      <vt:lpstr>Alibaba PuHuiTi R</vt:lpstr>
      <vt:lpstr>Helvetica Neue</vt:lpstr>
      <vt:lpstr>阿里巴巴普惠体</vt:lpstr>
      <vt:lpstr>等线</vt:lpstr>
      <vt:lpstr>黑体</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Python网络编程</vt:lpstr>
      <vt:lpstr>PowerPoint 演示文稿</vt:lpstr>
      <vt:lpstr>PowerPoint 演示文稿</vt:lpstr>
      <vt:lpstr>计算机网络介绍</vt:lpstr>
      <vt:lpstr>计算机网络介绍</vt:lpstr>
      <vt:lpstr>计算机网络介绍</vt:lpstr>
      <vt:lpstr>计算机网络介绍</vt:lpstr>
      <vt:lpstr>计算机网络介绍</vt:lpstr>
      <vt:lpstr>计算机网络介绍</vt:lpstr>
      <vt:lpstr>计算机网络介绍</vt:lpstr>
      <vt:lpstr>计算机网络介绍</vt:lpstr>
      <vt:lpstr>计算机网络介绍</vt:lpstr>
      <vt:lpstr>计算机网络介绍</vt:lpstr>
      <vt:lpstr>计算机网络介绍</vt:lpstr>
      <vt:lpstr>TCP 的介绍</vt:lpstr>
      <vt:lpstr>计算机网络介绍</vt:lpstr>
      <vt:lpstr>计算机网络介绍</vt:lpstr>
      <vt:lpstr>计算机网络介绍</vt:lpstr>
      <vt:lpstr>socket 的介绍</vt:lpstr>
      <vt:lpstr>socket的介绍</vt:lpstr>
      <vt:lpstr>socket的介绍</vt:lpstr>
      <vt:lpstr>socket的介绍</vt:lpstr>
      <vt:lpstr>TCP 网络应用程序开发流程</vt:lpstr>
      <vt:lpstr>TCP 网络应用程序开发流程</vt:lpstr>
      <vt:lpstr>TCP 网络应用程序开发流程</vt:lpstr>
      <vt:lpstr>TCP 网络应用程序开发流程</vt:lpstr>
      <vt:lpstr>TCP 客户端程序开发</vt:lpstr>
      <vt:lpstr>TCP 客户端程序开发</vt:lpstr>
      <vt:lpstr>TCP 客户端程序开发</vt:lpstr>
      <vt:lpstr>TCP 客户端程序开发</vt:lpstr>
      <vt:lpstr>TCP 客户端程序开发</vt:lpstr>
      <vt:lpstr>TCP 客户端程序开发</vt:lpstr>
      <vt:lpstr>TCP服务端程序开发</vt:lpstr>
      <vt:lpstr>TCP 服务器端程序开发</vt:lpstr>
      <vt:lpstr>TCP 服务器端程序开发</vt:lpstr>
      <vt:lpstr>TCP 服务器端程序开发</vt:lpstr>
      <vt:lpstr>TCP 服务器端程序开发</vt:lpstr>
      <vt:lpstr>TCP网络应用程序的注意点</vt:lpstr>
      <vt:lpstr>TCP网络应用程序的注意点</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任 逍遥</cp:lastModifiedBy>
  <cp:revision>544</cp:revision>
  <dcterms:created xsi:type="dcterms:W3CDTF">2020-03-31T02:23:27Z</dcterms:created>
  <dcterms:modified xsi:type="dcterms:W3CDTF">2021-11-23T01:27:38Z</dcterms:modified>
</cp:coreProperties>
</file>