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6.xml" ContentType="application/vnd.openxmlformats-officedocument.theme+xml"/>
  <Override PartName="/ppt/slideLayouts/slideLayout1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665" r:id="rId2"/>
    <p:sldMasterId id="2147483707" r:id="rId3"/>
    <p:sldMasterId id="2147483700" r:id="rId4"/>
    <p:sldMasterId id="2147483698" r:id="rId5"/>
    <p:sldMasterId id="2147483668" r:id="rId6"/>
    <p:sldMasterId id="2147483672" r:id="rId7"/>
  </p:sldMasterIdLst>
  <p:notesMasterIdLst>
    <p:notesMasterId r:id="rId67"/>
  </p:notesMasterIdLst>
  <p:handoutMasterIdLst>
    <p:handoutMasterId r:id="rId68"/>
  </p:handoutMasterIdLst>
  <p:sldIdLst>
    <p:sldId id="462" r:id="rId8"/>
    <p:sldId id="463" r:id="rId9"/>
    <p:sldId id="464" r:id="rId10"/>
    <p:sldId id="466" r:id="rId11"/>
    <p:sldId id="465" r:id="rId12"/>
    <p:sldId id="483" r:id="rId13"/>
    <p:sldId id="484" r:id="rId14"/>
    <p:sldId id="471" r:id="rId15"/>
    <p:sldId id="485" r:id="rId16"/>
    <p:sldId id="486" r:id="rId17"/>
    <p:sldId id="472" r:id="rId18"/>
    <p:sldId id="487" r:id="rId19"/>
    <p:sldId id="488" r:id="rId20"/>
    <p:sldId id="489" r:id="rId21"/>
    <p:sldId id="491" r:id="rId22"/>
    <p:sldId id="473" r:id="rId23"/>
    <p:sldId id="492" r:id="rId24"/>
    <p:sldId id="493" r:id="rId25"/>
    <p:sldId id="494" r:id="rId26"/>
    <p:sldId id="495" r:id="rId27"/>
    <p:sldId id="474" r:id="rId28"/>
    <p:sldId id="496" r:id="rId29"/>
    <p:sldId id="497" r:id="rId30"/>
    <p:sldId id="475" r:id="rId31"/>
    <p:sldId id="498" r:id="rId32"/>
    <p:sldId id="499" r:id="rId33"/>
    <p:sldId id="476" r:id="rId34"/>
    <p:sldId id="500" r:id="rId35"/>
    <p:sldId id="501" r:id="rId36"/>
    <p:sldId id="477" r:id="rId37"/>
    <p:sldId id="503" r:id="rId38"/>
    <p:sldId id="504" r:id="rId39"/>
    <p:sldId id="502" r:id="rId40"/>
    <p:sldId id="505" r:id="rId41"/>
    <p:sldId id="506" r:id="rId42"/>
    <p:sldId id="478" r:id="rId43"/>
    <p:sldId id="479" r:id="rId44"/>
    <p:sldId id="507" r:id="rId45"/>
    <p:sldId id="508" r:id="rId46"/>
    <p:sldId id="509" r:id="rId47"/>
    <p:sldId id="480" r:id="rId48"/>
    <p:sldId id="510" r:id="rId49"/>
    <p:sldId id="511" r:id="rId50"/>
    <p:sldId id="512" r:id="rId51"/>
    <p:sldId id="513" r:id="rId52"/>
    <p:sldId id="481" r:id="rId53"/>
    <p:sldId id="514" r:id="rId54"/>
    <p:sldId id="516" r:id="rId55"/>
    <p:sldId id="515" r:id="rId56"/>
    <p:sldId id="518" r:id="rId57"/>
    <p:sldId id="517" r:id="rId58"/>
    <p:sldId id="519" r:id="rId59"/>
    <p:sldId id="520" r:id="rId60"/>
    <p:sldId id="482" r:id="rId61"/>
    <p:sldId id="521" r:id="rId62"/>
    <p:sldId id="522" r:id="rId63"/>
    <p:sldId id="523" r:id="rId64"/>
    <p:sldId id="525" r:id="rId65"/>
    <p:sldId id="264" r:id="rId6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B26"/>
    <a:srgbClr val="49504F"/>
    <a:srgbClr val="B70006"/>
    <a:srgbClr val="FFFFE4"/>
    <a:srgbClr val="919191"/>
    <a:srgbClr val="333333"/>
    <a:srgbClr val="FFFFFF"/>
    <a:srgbClr val="B60206"/>
    <a:srgbClr val="D9D9D9"/>
    <a:srgbClr val="51515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06" autoAdjust="0"/>
    <p:restoredTop sz="95317" autoAdjust="0"/>
  </p:normalViewPr>
  <p:slideViewPr>
    <p:cSldViewPr snapToGrid="0">
      <p:cViewPr varScale="1">
        <p:scale>
          <a:sx n="82" d="100"/>
          <a:sy n="82" d="100"/>
        </p:scale>
        <p:origin x="494" y="149"/>
      </p:cViewPr>
      <p:guideLst/>
    </p:cSldViewPr>
  </p:slideViewPr>
  <p:notesTextViewPr>
    <p:cViewPr>
      <p:scale>
        <a:sx n="1" d="1"/>
        <a:sy n="1" d="1"/>
      </p:scale>
      <p:origin x="0" y="0"/>
    </p:cViewPr>
  </p:notesTextViewPr>
  <p:notesViewPr>
    <p:cSldViewPr snapToGrid="0" showGuides="1">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handoutMaster" Target="handoutMasters/handoutMaster1.xml"/><Relationship Id="rId7" Type="http://schemas.openxmlformats.org/officeDocument/2006/relationships/slideMaster" Target="slideMasters/slideMaster7.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5" Type="http://schemas.openxmlformats.org/officeDocument/2006/relationships/slideMaster" Target="slideMasters/slideMaster5.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presProps" Target="presProp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notesMaster" Target="notesMasters/notesMaster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5BAB8F7-26C7-2345-A2F0-4C70E8EFA8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1EB0FE49-C86E-0B42-8C7E-921C60B5AA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t>2021/11/22</a:t>
            </a:fld>
            <a:endParaRPr kumimoji="1" lang="zh-CN" altLang="en-US"/>
          </a:p>
        </p:txBody>
      </p:sp>
      <p:sp>
        <p:nvSpPr>
          <p:cNvPr id="4" name="页脚占位符 3">
            <a:extLst>
              <a:ext uri="{FF2B5EF4-FFF2-40B4-BE49-F238E27FC236}">
                <a16:creationId xmlns:a16="http://schemas.microsoft.com/office/drawing/2014/main" id="{9E928822-8127-CD43-9156-5BB443851DB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4FC3EF7F-6078-7249-A167-F5C0687992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t>‹#›</a:t>
            </a:fld>
            <a:endParaRPr kumimoji="1" lang="zh-CN" altLang="en-US"/>
          </a:p>
        </p:txBody>
      </p:sp>
    </p:spTree>
    <p:extLst>
      <p:ext uri="{BB962C8B-B14F-4D97-AF65-F5344CB8AC3E}">
        <p14:creationId xmlns:p14="http://schemas.microsoft.com/office/powerpoint/2010/main" val="27626559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t>2021/11/22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t>‹#›</a:t>
            </a:fld>
            <a:endParaRPr lang="zh-CN" altLang="en-US"/>
          </a:p>
        </p:txBody>
      </p:sp>
    </p:spTree>
    <p:extLst>
      <p:ext uri="{BB962C8B-B14F-4D97-AF65-F5344CB8AC3E}">
        <p14:creationId xmlns:p14="http://schemas.microsoft.com/office/powerpoint/2010/main" val="3085594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469F54-72BF-044A-89E7-CDAF75E947E3}"/>
              </a:ext>
            </a:extLst>
          </p:cNvPr>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p>
        </p:txBody>
      </p:sp>
      <p:sp>
        <p:nvSpPr>
          <p:cNvPr id="3" name="文本占位符 3">
            <a:extLst>
              <a:ext uri="{FF2B5EF4-FFF2-40B4-BE49-F238E27FC236}">
                <a16:creationId xmlns:a16="http://schemas.microsoft.com/office/drawing/2014/main" id="{FE68CD30-ECD6-A642-8C7F-BA42D1249DFD}"/>
              </a:ext>
            </a:extLst>
          </p:cNvPr>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p>
        </p:txBody>
      </p:sp>
    </p:spTree>
    <p:extLst>
      <p:ext uri="{BB962C8B-B14F-4D97-AF65-F5344CB8AC3E}">
        <p14:creationId xmlns:p14="http://schemas.microsoft.com/office/powerpoint/2010/main" val="588721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5019358" y="1006475"/>
            <a:ext cx="5973761" cy="4256405"/>
          </a:xfrm>
          <a:prstGeom prst="rect">
            <a:avLst/>
          </a:prstGeom>
        </p:spPr>
        <p:txBody>
          <a:bodyPr anchor="ctr"/>
          <a:lstStyle>
            <a:lvl1pPr marL="457189" marR="0" indent="-457189" algn="l" defTabSz="914400" rtl="0" eaLnBrk="0" fontAlgn="base" latinLnBrk="0" hangingPunct="0">
              <a:lnSpc>
                <a:spcPct val="200000"/>
              </a:lnSpc>
              <a:spcBef>
                <a:spcPct val="20000"/>
              </a:spcBef>
              <a:spcAft>
                <a:spcPct val="0"/>
              </a:spcAft>
              <a:buClrTx/>
              <a:buSzTx/>
              <a:buFont typeface="Wingdings" pitchFamily="2" charset="2"/>
              <a:buChar char="u"/>
              <a:tabLst/>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189" marR="0" lvl="0" indent="-457189" algn="l" defTabSz="914400" rtl="0" eaLnBrk="0" fontAlgn="base" latinLnBrk="0" hangingPunct="0">
              <a:lnSpc>
                <a:spcPct val="200000"/>
              </a:lnSpc>
              <a:spcBef>
                <a:spcPct val="20000"/>
              </a:spcBef>
              <a:spcAft>
                <a:spcPct val="0"/>
              </a:spcAft>
              <a:buClrTx/>
              <a:buSzTx/>
              <a:buFont typeface="Wingdings" pitchFamily="2" charset="2"/>
              <a:buChar char="u"/>
              <a:tabLst/>
              <a:defRPr/>
            </a:pPr>
            <a:r>
              <a:rPr kumimoji="1" lang="zh-CN" altLang="en-US" dirty="0"/>
              <a:t>此内容上下居中对齐，可根据实际情况微调位置和字体大小</a:t>
            </a:r>
          </a:p>
          <a:p>
            <a:pPr lvl="0"/>
            <a:endParaRPr kumimoji="1" lang="zh-CN" altLang="en-US" dirty="0"/>
          </a:p>
        </p:txBody>
      </p:sp>
    </p:spTree>
    <p:extLst>
      <p:ext uri="{BB962C8B-B14F-4D97-AF65-F5344CB8AC3E}">
        <p14:creationId xmlns:p14="http://schemas.microsoft.com/office/powerpoint/2010/main" val="3564694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81B62E64-63F1-3949-8E18-11A80E8D9F0D}"/>
              </a:ext>
            </a:extLst>
          </p:cNvPr>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p>
        </p:txBody>
      </p:sp>
    </p:spTree>
    <p:extLst>
      <p:ext uri="{BB962C8B-B14F-4D97-AF65-F5344CB8AC3E}">
        <p14:creationId xmlns:p14="http://schemas.microsoft.com/office/powerpoint/2010/main" val="2196259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239209-2A8D-D940-8FA0-61988543E499}"/>
              </a:ext>
            </a:extLst>
          </p:cNvPr>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a:extLst>
              <a:ext uri="{FF2B5EF4-FFF2-40B4-BE49-F238E27FC236}">
                <a16:creationId xmlns:a16="http://schemas.microsoft.com/office/drawing/2014/main" id="{CA56E57C-1F68-E948-87DC-0FF15A8C7DE7}"/>
              </a:ext>
            </a:extLst>
          </p:cNvPr>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p>
        </p:txBody>
      </p:sp>
      <p:sp>
        <p:nvSpPr>
          <p:cNvPr id="17" name="文本占位符 13">
            <a:extLst>
              <a:ext uri="{FF2B5EF4-FFF2-40B4-BE49-F238E27FC236}">
                <a16:creationId xmlns:a16="http://schemas.microsoft.com/office/drawing/2014/main" id="{01590D97-7CA9-B247-806A-885950A786CD}"/>
              </a:ext>
            </a:extLst>
          </p:cNvPr>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extLst>
      <p:ext uri="{BB962C8B-B14F-4D97-AF65-F5344CB8AC3E}">
        <p14:creationId xmlns:p14="http://schemas.microsoft.com/office/powerpoint/2010/main" val="1987603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a:extLst>
              <a:ext uri="{FF2B5EF4-FFF2-40B4-BE49-F238E27FC236}">
                <a16:creationId xmlns:a16="http://schemas.microsoft.com/office/drawing/2014/main" id="{ED1003EB-0D97-5849-AC50-BFB3EDAA3B2B}"/>
              </a:ext>
            </a:extLst>
          </p:cNvPr>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p>
        </p:txBody>
      </p:sp>
      <p:sp>
        <p:nvSpPr>
          <p:cNvPr id="14" name="文本占位符 13">
            <a:extLst>
              <a:ext uri="{FF2B5EF4-FFF2-40B4-BE49-F238E27FC236}">
                <a16:creationId xmlns:a16="http://schemas.microsoft.com/office/drawing/2014/main" id="{0C8E5D29-3E75-FC46-80C9-2080D9268EBF}"/>
              </a:ext>
            </a:extLst>
          </p:cNvPr>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p>
        </p:txBody>
      </p:sp>
    </p:spTree>
    <p:extLst>
      <p:ext uri="{BB962C8B-B14F-4D97-AF65-F5344CB8AC3E}">
        <p14:creationId xmlns:p14="http://schemas.microsoft.com/office/powerpoint/2010/main" val="3315334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C2551-88ED-4239-96A2-7F3C49A205FD}"/>
              </a:ext>
            </a:extLst>
          </p:cNvPr>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10" name="文本占位符 9">
            <a:extLst>
              <a:ext uri="{FF2B5EF4-FFF2-40B4-BE49-F238E27FC236}">
                <a16:creationId xmlns:a16="http://schemas.microsoft.com/office/drawing/2014/main" id="{1BE760B7-955D-46DB-9CF6-0F5E75ACEF47}"/>
              </a:ext>
            </a:extLst>
          </p:cNvPr>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88898513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81" y="1646133"/>
            <a:ext cx="10749598"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lnSpc>
                <a:spcPct val="150000"/>
              </a:lnSpc>
              <a:buFont typeface="Wingdings" pitchFamily="2" charset="2"/>
              <a:buChar char="l"/>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49FCFB1A-E1EE-3245-9778-ABB7ACB14FA5}"/>
              </a:ext>
            </a:extLst>
          </p:cNvPr>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2DD40269-A2A6-814E-991D-1DBB12873808}"/>
              </a:ext>
            </a:extLst>
          </p:cNvPr>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1639914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a:extLst>
              <a:ext uri="{FF2B5EF4-FFF2-40B4-BE49-F238E27FC236}">
                <a16:creationId xmlns:a16="http://schemas.microsoft.com/office/drawing/2014/main" id="{052D8D2A-DC76-4246-B7A3-897EC5980424}"/>
              </a:ext>
            </a:extLst>
          </p:cNvPr>
          <p:cNvSpPr>
            <a:spLocks noGrp="1"/>
          </p:cNvSpPr>
          <p:nvPr>
            <p:ph type="body" sz="quarter" idx="11" hasCustomPrompt="1"/>
          </p:nvPr>
        </p:nvSpPr>
        <p:spPr>
          <a:xfrm>
            <a:off x="710879" y="1646133"/>
            <a:ext cx="10719120" cy="4219575"/>
          </a:xfrm>
          <a:prstGeom prst="rect">
            <a:avLst/>
          </a:prstGeom>
        </p:spPr>
        <p:txBody>
          <a:bodyPr/>
          <a:lstStyle>
            <a:lvl1pPr marL="360000" indent="-360000">
              <a:lnSpc>
                <a:spcPct val="150000"/>
              </a:lnSpc>
              <a:buClr>
                <a:srgbClr val="404040"/>
              </a:buClr>
              <a:buSzPct val="85000"/>
              <a:buFont typeface="+mj-lt"/>
              <a:buAutoNum type="arabicPeriod"/>
              <a:tabLst/>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00" indent="-360000">
              <a:lnSpc>
                <a:spcPct val="150000"/>
              </a:lnSpc>
              <a:buFont typeface="+mj-lt"/>
              <a:buAutoNum type="arabicPeriod"/>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
        <p:nvSpPr>
          <p:cNvPr id="5" name="标题 1">
            <a:extLst>
              <a:ext uri="{FF2B5EF4-FFF2-40B4-BE49-F238E27FC236}">
                <a16:creationId xmlns:a16="http://schemas.microsoft.com/office/drawing/2014/main" id="{64C54839-92D5-0E4E-B9C2-203FF53C3229}"/>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6" name="文本占位符 9">
            <a:extLst>
              <a:ext uri="{FF2B5EF4-FFF2-40B4-BE49-F238E27FC236}">
                <a16:creationId xmlns:a16="http://schemas.microsoft.com/office/drawing/2014/main" id="{E5CC542A-FF04-5243-BA82-1AC7B0A112E0}"/>
              </a:ext>
            </a:extLst>
          </p:cNvPr>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Tree>
    <p:extLst>
      <p:ext uri="{BB962C8B-B14F-4D97-AF65-F5344CB8AC3E}">
        <p14:creationId xmlns:p14="http://schemas.microsoft.com/office/powerpoint/2010/main" val="2862767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4D92416-D30F-8049-AD27-C955EC07F253}"/>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5" name="文本占位符 9">
            <a:extLst>
              <a:ext uri="{FF2B5EF4-FFF2-40B4-BE49-F238E27FC236}">
                <a16:creationId xmlns:a16="http://schemas.microsoft.com/office/drawing/2014/main" id="{FB933948-E99B-AD48-8B41-DEA66BC8FB53}"/>
              </a:ext>
            </a:extLst>
          </p:cNvPr>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p>
        </p:txBody>
      </p:sp>
      <p:sp>
        <p:nvSpPr>
          <p:cNvPr id="6" name="文本占位符 11">
            <a:extLst>
              <a:ext uri="{FF2B5EF4-FFF2-40B4-BE49-F238E27FC236}">
                <a16:creationId xmlns:a16="http://schemas.microsoft.com/office/drawing/2014/main" id="{D8BA1B0F-468D-0446-AB7E-B23A83414DF2}"/>
              </a:ext>
            </a:extLst>
          </p:cNvPr>
          <p:cNvSpPr>
            <a:spLocks noGrp="1"/>
          </p:cNvSpPr>
          <p:nvPr>
            <p:ph type="body" sz="quarter" idx="11" hasCustomPrompt="1"/>
          </p:nvPr>
        </p:nvSpPr>
        <p:spPr>
          <a:xfrm>
            <a:off x="710880" y="1646133"/>
            <a:ext cx="10748057"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buFont typeface="Wingdings" pitchFamily="2" charset="2"/>
              <a:buChar char="l"/>
              <a:tabLst/>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itchFamily="2" charset="2"/>
              <a:buChar char="l"/>
              <a:tabLst/>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1</a:t>
            </a:r>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2037497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a:extLst>
              <a:ext uri="{FF2B5EF4-FFF2-40B4-BE49-F238E27FC236}">
                <a16:creationId xmlns:a16="http://schemas.microsoft.com/office/drawing/2014/main" id="{0F12D90F-BB49-421D-A9D1-C25C2A378E5A}"/>
              </a:ext>
            </a:extLst>
          </p:cNvPr>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
        <p:nvSpPr>
          <p:cNvPr id="4" name="标题 1">
            <a:extLst>
              <a:ext uri="{FF2B5EF4-FFF2-40B4-BE49-F238E27FC236}">
                <a16:creationId xmlns:a16="http://schemas.microsoft.com/office/drawing/2014/main" id="{9947CB16-8D08-5242-A2E0-936DC1D438F6}"/>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2908806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B678CE99-982F-E747-B6C5-B29DECDE389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 name="文本占位符 11">
            <a:extLst>
              <a:ext uri="{FF2B5EF4-FFF2-40B4-BE49-F238E27FC236}">
                <a16:creationId xmlns:a16="http://schemas.microsoft.com/office/drawing/2014/main" id="{88D105DB-24C1-B042-AF5E-89B957331250}"/>
              </a:ext>
            </a:extLst>
          </p:cNvPr>
          <p:cNvSpPr>
            <a:spLocks noGrp="1"/>
          </p:cNvSpPr>
          <p:nvPr>
            <p:ph type="body" sz="quarter" idx="11" hasCustomPrompt="1"/>
          </p:nvPr>
        </p:nvSpPr>
        <p:spPr>
          <a:xfrm>
            <a:off x="710879" y="934933"/>
            <a:ext cx="10719120" cy="4219575"/>
          </a:xfrm>
          <a:prstGeom prst="rect">
            <a:avLst/>
          </a:prstGeom>
        </p:spPr>
        <p:txBody>
          <a:bodyPr/>
          <a:lstStyle>
            <a:lvl1pPr marL="360000" indent="-360000">
              <a:lnSpc>
                <a:spcPct val="150000"/>
              </a:lnSpc>
              <a:buClr>
                <a:srgbClr val="404040"/>
              </a:buClr>
              <a:buSzPct val="85000"/>
              <a:buFont typeface="+mj-lt"/>
              <a:buAutoNum type="arabicPeriod"/>
              <a:tabLst/>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00" indent="-360000">
              <a:lnSpc>
                <a:spcPct val="150000"/>
              </a:lnSpc>
              <a:buFont typeface="+mj-lt"/>
              <a:buAutoNum type="arabicPeriod"/>
              <a:tabLst/>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tabLst/>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p>
          <a:p>
            <a:pPr lvl="1"/>
            <a:r>
              <a:rPr lang="zh-CN" altLang="en-US" dirty="0"/>
              <a:t>技术特性</a:t>
            </a:r>
            <a:r>
              <a:rPr lang="en-US" altLang="zh-CN" dirty="0"/>
              <a:t>2</a:t>
            </a:r>
          </a:p>
          <a:p>
            <a:pPr lvl="2"/>
            <a:r>
              <a:rPr lang="zh-CN" altLang="en-US" dirty="0"/>
              <a:t>要点</a:t>
            </a:r>
            <a:r>
              <a:rPr lang="en-US" altLang="zh-CN" dirty="0"/>
              <a:t>1</a:t>
            </a:r>
          </a:p>
          <a:p>
            <a:pPr lvl="2"/>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11588711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 name="文本占位符 11">
            <a:extLst>
              <a:ext uri="{FF2B5EF4-FFF2-40B4-BE49-F238E27FC236}">
                <a16:creationId xmlns:a16="http://schemas.microsoft.com/office/drawing/2014/main" id="{9C0915B4-3DAF-C444-883E-818CAE39A5B1}"/>
              </a:ext>
            </a:extLst>
          </p:cNvPr>
          <p:cNvSpPr>
            <a:spLocks noGrp="1"/>
          </p:cNvSpPr>
          <p:nvPr>
            <p:ph type="body" sz="quarter" idx="11" hasCustomPrompt="1"/>
          </p:nvPr>
        </p:nvSpPr>
        <p:spPr>
          <a:xfrm>
            <a:off x="710880" y="945093"/>
            <a:ext cx="10748057" cy="4219575"/>
          </a:xfrm>
          <a:prstGeom prst="rect">
            <a:avLst/>
          </a:prstGeom>
        </p:spPr>
        <p:txBody>
          <a:bodyPr/>
          <a:lstStyle>
            <a:lvl1pPr marL="360000" indent="-360000">
              <a:lnSpc>
                <a:spcPct val="150000"/>
              </a:lnSpc>
              <a:buClr>
                <a:srgbClr val="404040"/>
              </a:buClr>
              <a:buSzPct val="85000"/>
              <a:buFont typeface="Wingdings" pitchFamily="2" charset="2"/>
              <a:buChar char="l"/>
              <a:tabLst/>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138" indent="-358775">
              <a:buFont typeface="Wingdings" pitchFamily="2" charset="2"/>
              <a:buChar char="l"/>
              <a:tabLst/>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itchFamily="2" charset="2"/>
              <a:buChar char="l"/>
              <a:tabLst/>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1</a:t>
            </a:r>
          </a:p>
          <a:p>
            <a:pPr marL="720000" lvl="1" indent="-360000" algn="l" rtl="0" eaLnBrk="0" fontAlgn="base" hangingPunct="0">
              <a:lnSpc>
                <a:spcPct val="150000"/>
              </a:lnSpc>
              <a:spcBef>
                <a:spcPct val="20000"/>
              </a:spcBef>
              <a:spcAft>
                <a:spcPct val="0"/>
              </a:spcAft>
              <a:buClr>
                <a:srgbClr val="404040"/>
              </a:buClr>
              <a:buSzPct val="85000"/>
              <a:buFont typeface="Wingdings" pitchFamily="2" charset="2"/>
              <a:buChar char="p"/>
              <a:tabLst/>
            </a:pPr>
            <a:r>
              <a:rPr lang="zh-CN" altLang="en-US" dirty="0"/>
              <a:t>技术特性</a:t>
            </a:r>
            <a:r>
              <a:rPr lang="en-US" altLang="zh-CN" dirty="0"/>
              <a:t>2</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1</a:t>
            </a:r>
          </a:p>
          <a:p>
            <a:pPr marL="1079500" lvl="2" indent="-358775" algn="l" rtl="0" eaLnBrk="0" fontAlgn="base" hangingPunct="0">
              <a:lnSpc>
                <a:spcPct val="150000"/>
              </a:lnSpc>
              <a:spcBef>
                <a:spcPct val="20000"/>
              </a:spcBef>
              <a:spcAft>
                <a:spcPct val="0"/>
              </a:spcAft>
              <a:buClr>
                <a:srgbClr val="404040"/>
              </a:buClr>
              <a:buSzPct val="85000"/>
              <a:tabLst/>
            </a:pPr>
            <a:r>
              <a:rPr lang="zh-CN" altLang="en-US" dirty="0"/>
              <a:t>要点</a:t>
            </a:r>
            <a:r>
              <a:rPr lang="en-US" altLang="zh-CN" dirty="0"/>
              <a:t>2</a:t>
            </a:r>
            <a:endParaRPr lang="zh-CN" altLang="en-US" dirty="0"/>
          </a:p>
        </p:txBody>
      </p:sp>
    </p:spTree>
    <p:extLst>
      <p:ext uri="{BB962C8B-B14F-4D97-AF65-F5344CB8AC3E}">
        <p14:creationId xmlns:p14="http://schemas.microsoft.com/office/powerpoint/2010/main" val="23571635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11824831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28063303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9020C514-817B-504E-A325-60842B59AB40}"/>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grpSp>
        <p:nvGrpSpPr>
          <p:cNvPr id="6" name="组合 5">
            <a:extLst>
              <a:ext uri="{FF2B5EF4-FFF2-40B4-BE49-F238E27FC236}">
                <a16:creationId xmlns:a16="http://schemas.microsoft.com/office/drawing/2014/main" id="{EDBCAEF0-27E1-194C-B5F4-08826E264FF7}"/>
              </a:ext>
            </a:extLst>
          </p:cNvPr>
          <p:cNvGrpSpPr/>
          <p:nvPr userDrawn="1"/>
        </p:nvGrpSpPr>
        <p:grpSpPr>
          <a:xfrm>
            <a:off x="806306" y="968974"/>
            <a:ext cx="1228476" cy="528956"/>
            <a:chOff x="852891" y="1026849"/>
            <a:chExt cx="1228476" cy="528956"/>
          </a:xfrm>
        </p:grpSpPr>
        <p:sp>
          <p:nvSpPr>
            <p:cNvPr id="7" name="矩形 6">
              <a:extLst>
                <a:ext uri="{FF2B5EF4-FFF2-40B4-BE49-F238E27FC236}">
                  <a16:creationId xmlns:a16="http://schemas.microsoft.com/office/drawing/2014/main" id="{7F233A09-E322-CB4D-81FE-B2170A097F20}"/>
                </a:ext>
              </a:extLst>
            </p:cNvPr>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58F0AF60-824F-A447-B933-34D6D8A0DBD6}"/>
                </a:ext>
              </a:extLst>
            </p:cNvPr>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a:extLst>
                <a:ext uri="{FF2B5EF4-FFF2-40B4-BE49-F238E27FC236}">
                  <a16:creationId xmlns:a16="http://schemas.microsoft.com/office/drawing/2014/main" id="{C4064CF0-C79B-2F4A-839D-A269386675F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a:extLst>
                <a:ext uri="{FF2B5EF4-FFF2-40B4-BE49-F238E27FC236}">
                  <a16:creationId xmlns:a16="http://schemas.microsoft.com/office/drawing/2014/main" id="{A22AFB91-263F-054D-81BE-7D38A372C096}"/>
                </a:ext>
              </a:extLst>
            </p:cNvPr>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p>
          </p:txBody>
        </p:sp>
      </p:grpSp>
      <p:sp>
        <p:nvSpPr>
          <p:cNvPr id="11" name="文本占位符 9">
            <a:extLst>
              <a:ext uri="{FF2B5EF4-FFF2-40B4-BE49-F238E27FC236}">
                <a16:creationId xmlns:a16="http://schemas.microsoft.com/office/drawing/2014/main" id="{D44EE2D5-15F6-2E42-8B3D-F0F3139D0AA7}"/>
              </a:ext>
            </a:extLst>
          </p:cNvPr>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p>
        </p:txBody>
      </p:sp>
      <p:sp>
        <p:nvSpPr>
          <p:cNvPr id="12" name="文本占位符 11">
            <a:extLst>
              <a:ext uri="{FF2B5EF4-FFF2-40B4-BE49-F238E27FC236}">
                <a16:creationId xmlns:a16="http://schemas.microsoft.com/office/drawing/2014/main" id="{F5EA2F1C-E1D5-B44C-AB78-F1D96E0D74BA}"/>
              </a:ext>
            </a:extLst>
          </p:cNvPr>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p>
        </p:txBody>
      </p:sp>
    </p:spTree>
    <p:extLst>
      <p:ext uri="{BB962C8B-B14F-4D97-AF65-F5344CB8AC3E}">
        <p14:creationId xmlns:p14="http://schemas.microsoft.com/office/powerpoint/2010/main" val="14145838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a:extLst>
              <a:ext uri="{FF2B5EF4-FFF2-40B4-BE49-F238E27FC236}">
                <a16:creationId xmlns:a16="http://schemas.microsoft.com/office/drawing/2014/main" id="{380B9059-6AA7-9E4F-BC56-F30289A262EA}"/>
              </a:ext>
            </a:extLst>
          </p:cNvPr>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a:extLst>
              <a:ext uri="{FF2B5EF4-FFF2-40B4-BE49-F238E27FC236}">
                <a16:creationId xmlns:a16="http://schemas.microsoft.com/office/drawing/2014/main" id="{D71D36F9-1B1C-094A-A062-19A46A7AB388}"/>
              </a:ext>
            </a:extLst>
          </p:cNvPr>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p>
        </p:txBody>
      </p:sp>
      <p:sp>
        <p:nvSpPr>
          <p:cNvPr id="20" name="标题 1">
            <a:extLst>
              <a:ext uri="{FF2B5EF4-FFF2-40B4-BE49-F238E27FC236}">
                <a16:creationId xmlns:a16="http://schemas.microsoft.com/office/drawing/2014/main" id="{493FA365-EB18-4C49-B470-79A013EED4C7}"/>
              </a:ext>
            </a:extLst>
          </p:cNvPr>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24" name="六边形 23">
            <a:extLst>
              <a:ext uri="{FF2B5EF4-FFF2-40B4-BE49-F238E27FC236}">
                <a16:creationId xmlns:a16="http://schemas.microsoft.com/office/drawing/2014/main" id="{745B08E3-3066-3844-87E9-46D7426765C6}"/>
              </a:ext>
            </a:extLst>
          </p:cNvPr>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a:extLst>
              <a:ext uri="{FF2B5EF4-FFF2-40B4-BE49-F238E27FC236}">
                <a16:creationId xmlns:a16="http://schemas.microsoft.com/office/drawing/2014/main" id="{B7A42CA5-7885-7642-B20D-B92B35099CBC}"/>
              </a:ext>
            </a:extLst>
          </p:cNvPr>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a:extLst>
              <a:ext uri="{FF2B5EF4-FFF2-40B4-BE49-F238E27FC236}">
                <a16:creationId xmlns:a16="http://schemas.microsoft.com/office/drawing/2014/main" id="{DE7B2235-1C6B-6B44-BC4F-1EC9BD8B9D8D}"/>
              </a:ext>
            </a:extLst>
          </p:cNvPr>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a:extLst>
              <a:ext uri="{FF2B5EF4-FFF2-40B4-BE49-F238E27FC236}">
                <a16:creationId xmlns:a16="http://schemas.microsoft.com/office/drawing/2014/main" id="{5BF818FD-51C6-E54A-9D53-783E1313F19E}"/>
              </a:ext>
            </a:extLst>
          </p:cNvPr>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2361137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a:extLst>
                <a:ext uri="{FF2B5EF4-FFF2-40B4-BE49-F238E27FC236}">
                  <a16:creationId xmlns:a16="http://schemas.microsoft.com/office/drawing/2014/main" id="{EBBF2F2F-D96E-4638-A53F-CD7237FF5C1E}"/>
                </a:ext>
              </a:extLst>
            </p:cNvPr>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p>
          </p:txBody>
        </p:sp>
      </p:grpSp>
      <p:sp>
        <p:nvSpPr>
          <p:cNvPr id="21" name="标题 1">
            <a:extLst>
              <a:ext uri="{FF2B5EF4-FFF2-40B4-BE49-F238E27FC236}">
                <a16:creationId xmlns:a16="http://schemas.microsoft.com/office/drawing/2014/main" id="{B0EF16AB-AE8A-5D46-82EA-397E62F9359F}"/>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Tree>
    <p:extLst>
      <p:ext uri="{BB962C8B-B14F-4D97-AF65-F5344CB8AC3E}">
        <p14:creationId xmlns:p14="http://schemas.microsoft.com/office/powerpoint/2010/main" val="41700943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4AB6E3BD-F819-724D-9482-568CE7A3A1F8}"/>
              </a:ext>
            </a:extLst>
          </p:cNvPr>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a:extLst>
              <a:ext uri="{FF2B5EF4-FFF2-40B4-BE49-F238E27FC236}">
                <a16:creationId xmlns:a16="http://schemas.microsoft.com/office/drawing/2014/main" id="{19BD6F73-BC4E-714F-81EB-5276C9B1460A}"/>
              </a:ext>
            </a:extLst>
          </p:cNvPr>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a:extLst>
              <a:ext uri="{FF2B5EF4-FFF2-40B4-BE49-F238E27FC236}">
                <a16:creationId xmlns:a16="http://schemas.microsoft.com/office/drawing/2014/main" id="{93788A09-8D86-D048-B1A9-A02E86D4E252}"/>
              </a:ext>
            </a:extLst>
          </p:cNvPr>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a:extLst>
              <a:ext uri="{FF2B5EF4-FFF2-40B4-BE49-F238E27FC236}">
                <a16:creationId xmlns:a16="http://schemas.microsoft.com/office/drawing/2014/main" id="{B9328185-789E-DD42-AA27-851035E2E6BA}"/>
              </a:ext>
            </a:extLst>
          </p:cNvPr>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a:extLst>
              <a:ext uri="{FF2B5EF4-FFF2-40B4-BE49-F238E27FC236}">
                <a16:creationId xmlns:a16="http://schemas.microsoft.com/office/drawing/2014/main" id="{5F2080FE-05C6-2340-B7D7-FCDE4D780420}"/>
              </a:ext>
            </a:extLst>
          </p:cNvPr>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a:extLst>
              <a:ext uri="{FF2B5EF4-FFF2-40B4-BE49-F238E27FC236}">
                <a16:creationId xmlns:a16="http://schemas.microsoft.com/office/drawing/2014/main" id="{990C36A6-06C1-0647-8725-306AE7D5DB42}"/>
              </a:ext>
            </a:extLst>
          </p:cNvPr>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a:extLst>
              <a:ext uri="{FF2B5EF4-FFF2-40B4-BE49-F238E27FC236}">
                <a16:creationId xmlns:a16="http://schemas.microsoft.com/office/drawing/2014/main" id="{34600FE5-8DCA-46AA-AB57-2E40352BF074}"/>
              </a:ext>
            </a:extLst>
          </p:cNvPr>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tabLst/>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585" indent="0">
              <a:buNone/>
              <a:defRPr/>
            </a:lvl2pPr>
            <a:lvl3pPr marL="1219170" indent="0">
              <a:buNone/>
              <a:defRPr/>
            </a:lvl3pPr>
            <a:lvl4pPr marL="1828755"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a:extLst>
              <a:ext uri="{FF2B5EF4-FFF2-40B4-BE49-F238E27FC236}">
                <a16:creationId xmlns:a16="http://schemas.microsoft.com/office/drawing/2014/main" id="{B0EF16AB-AE8A-5D46-82EA-397E62F9359F}"/>
              </a:ext>
            </a:extLst>
          </p:cNvPr>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p>
        </p:txBody>
      </p:sp>
      <p:sp>
        <p:nvSpPr>
          <p:cNvPr id="33" name="标题占位符 1">
            <a:extLst>
              <a:ext uri="{FF2B5EF4-FFF2-40B4-BE49-F238E27FC236}">
                <a16:creationId xmlns:a16="http://schemas.microsoft.com/office/drawing/2014/main" id="{C9A22D05-8FDB-7546-BB47-01F708903CCD}"/>
              </a:ext>
            </a:extLst>
          </p:cNvPr>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2pPr>
            <a:lvl3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3pPr>
            <a:lvl4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4pPr>
            <a:lvl5pPr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5pPr>
            <a:lvl6pPr marL="3429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6pPr>
            <a:lvl7pPr marL="6858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7pPr>
            <a:lvl8pPr marL="10287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8pPr>
            <a:lvl9pPr marL="1371600" algn="l" rtl="0" fontAlgn="base">
              <a:lnSpc>
                <a:spcPct val="90000"/>
              </a:lnSpc>
              <a:spcBef>
                <a:spcPct val="0"/>
              </a:spcBef>
              <a:spcAft>
                <a:spcPct val="0"/>
              </a:spcAft>
              <a:defRPr sz="3000">
                <a:solidFill>
                  <a:schemeClr val="tx1"/>
                </a:solidFill>
                <a:latin typeface="Segoe UI Light" pitchFamily="34" charset="0"/>
                <a:ea typeface="微软雅黑 Light"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p>
        </p:txBody>
      </p:sp>
      <p:sp>
        <p:nvSpPr>
          <p:cNvPr id="45" name="矩形 44">
            <a:extLst>
              <a:ext uri="{FF2B5EF4-FFF2-40B4-BE49-F238E27FC236}">
                <a16:creationId xmlns:a16="http://schemas.microsoft.com/office/drawing/2014/main" id="{9C7A4DAB-DC8A-9A43-A443-C9AE1D1E2698}"/>
              </a:ext>
            </a:extLst>
          </p:cNvPr>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extLst>
      <p:ext uri="{BB962C8B-B14F-4D97-AF65-F5344CB8AC3E}">
        <p14:creationId xmlns:p14="http://schemas.microsoft.com/office/powerpoint/2010/main" val="40339224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4151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3.svg"/></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image" Target="../media/image4.png"/><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7.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D359BD9D-8F8C-A44C-91CC-CA8F5146AA4D}"/>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a:extLst>
              <a:ext uri="{FF2B5EF4-FFF2-40B4-BE49-F238E27FC236}">
                <a16:creationId xmlns:a16="http://schemas.microsoft.com/office/drawing/2014/main" id="{6F51DA0D-EA98-B14B-A35B-7EDF8DBC5804}"/>
              </a:ext>
            </a:extLst>
          </p:cNvPr>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 fmla="*/ 0 w 1034350"/>
              <a:gd name="connsiteY0" fmla="*/ 1136649 h 1136649"/>
              <a:gd name="connsiteX1" fmla="*/ 0 w 1034350"/>
              <a:gd name="connsiteY1" fmla="*/ 0 h 1136649"/>
              <a:gd name="connsiteX2" fmla="*/ 750188 w 1034350"/>
              <a:gd name="connsiteY2" fmla="*/ 0 h 1136649"/>
              <a:gd name="connsiteX3" fmla="*/ 1034350 w 1034350"/>
              <a:gd name="connsiteY3" fmla="*/ 568325 h 1136649"/>
              <a:gd name="connsiteX4" fmla="*/ 750188 w 1034350"/>
              <a:gd name="connsiteY4" fmla="*/ 1136649 h 1136649"/>
              <a:gd name="connsiteX5" fmla="*/ 0 w 1034350"/>
              <a:gd name="connsiteY5" fmla="*/ 1136649 h 113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a:extLst>
              <a:ext uri="{FF2B5EF4-FFF2-40B4-BE49-F238E27FC236}">
                <a16:creationId xmlns:a16="http://schemas.microsoft.com/office/drawing/2014/main" id="{B0F52978-FC9E-FC46-A244-4605B31E7CC6}"/>
              </a:ext>
            </a:extLst>
          </p:cNvPr>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a:extLst>
              <a:ext uri="{FF2B5EF4-FFF2-40B4-BE49-F238E27FC236}">
                <a16:creationId xmlns:a16="http://schemas.microsoft.com/office/drawing/2014/main" id="{6677D3A6-DA28-9444-815A-4524D9FED995}"/>
              </a:ext>
            </a:extLst>
          </p:cNvPr>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a:extLst>
              <a:ext uri="{FF2B5EF4-FFF2-40B4-BE49-F238E27FC236}">
                <a16:creationId xmlns:a16="http://schemas.microsoft.com/office/drawing/2014/main" id="{B3967B50-7DD6-B247-97B6-4844195F68D5}"/>
              </a:ext>
            </a:extLst>
          </p:cNvPr>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a:extLst>
              <a:ext uri="{FF2B5EF4-FFF2-40B4-BE49-F238E27FC236}">
                <a16:creationId xmlns:a16="http://schemas.microsoft.com/office/drawing/2014/main" id="{4C290A33-8D65-DC47-BE12-79B4B22A299D}"/>
              </a:ext>
            </a:extLst>
          </p:cNvPr>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a:extLst>
              <a:ext uri="{FF2B5EF4-FFF2-40B4-BE49-F238E27FC236}">
                <a16:creationId xmlns:a16="http://schemas.microsoft.com/office/drawing/2014/main" id="{E0867641-ABCE-C84A-84A4-696E52E6543B}"/>
              </a:ext>
            </a:extLst>
          </p:cNvPr>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a:extLst>
              <a:ext uri="{FF2B5EF4-FFF2-40B4-BE49-F238E27FC236}">
                <a16:creationId xmlns:a16="http://schemas.microsoft.com/office/drawing/2014/main" id="{3DC81806-A479-FD47-B1B6-A77189F32D48}"/>
              </a:ext>
            </a:extLst>
          </p:cNvPr>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a:extLst>
              <a:ext uri="{FF2B5EF4-FFF2-40B4-BE49-F238E27FC236}">
                <a16:creationId xmlns:a16="http://schemas.microsoft.com/office/drawing/2014/main" id="{D15987B7-89CB-8549-AEE5-ADD4AED257B7}"/>
              </a:ext>
            </a:extLst>
          </p:cNvPr>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a:extLst>
              <a:ext uri="{FF2B5EF4-FFF2-40B4-BE49-F238E27FC236}">
                <a16:creationId xmlns:a16="http://schemas.microsoft.com/office/drawing/2014/main" id="{382A540C-45FC-EB45-96D5-1EA0511DAF21}"/>
              </a:ext>
            </a:extLst>
          </p:cNvPr>
          <p:cNvCxnSpPr>
            <a:cxnSpLocks/>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a:extLst>
              <a:ext uri="{FF2B5EF4-FFF2-40B4-BE49-F238E27FC236}">
                <a16:creationId xmlns:a16="http://schemas.microsoft.com/office/drawing/2014/main" id="{28569DD6-18D5-5D45-BC4E-E4C2727B945C}"/>
              </a:ext>
            </a:extLst>
          </p:cNvPr>
          <p:cNvCxnSpPr>
            <a:cxnSpLocks/>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7860066"/>
      </p:ext>
    </p:extLst>
  </p:cSld>
  <p:clrMap bg1="lt1" tx1="dk1" bg2="lt2" tx2="dk2" accent1="accent1" accent2="accent2" accent3="accent3" accent4="accent4" accent5="accent5" accent6="accent6" hlink="hlink" folHlink="folHlink"/>
  <p:sldLayoutIdLst>
    <p:sldLayoutId id="2147483697" r:id="rId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ea typeface="黑体" pitchFamily="49" charset="-122"/>
        </a:defRPr>
      </a:lvl2pPr>
      <a:lvl3pPr algn="ctr" rtl="0" eaLnBrk="0" fontAlgn="base" hangingPunct="0">
        <a:spcBef>
          <a:spcPct val="0"/>
        </a:spcBef>
        <a:spcAft>
          <a:spcPct val="0"/>
        </a:spcAft>
        <a:defRPr sz="5867">
          <a:solidFill>
            <a:schemeClr val="tx1"/>
          </a:solidFill>
          <a:latin typeface="Calibri" pitchFamily="34" charset="0"/>
          <a:ea typeface="黑体" pitchFamily="49" charset="-122"/>
        </a:defRPr>
      </a:lvl3pPr>
      <a:lvl4pPr algn="ctr" rtl="0" eaLnBrk="0" fontAlgn="base" hangingPunct="0">
        <a:spcBef>
          <a:spcPct val="0"/>
        </a:spcBef>
        <a:spcAft>
          <a:spcPct val="0"/>
        </a:spcAft>
        <a:defRPr sz="5867">
          <a:solidFill>
            <a:schemeClr val="tx1"/>
          </a:solidFill>
          <a:latin typeface="Calibri" pitchFamily="34" charset="0"/>
          <a:ea typeface="黑体" pitchFamily="49" charset="-122"/>
        </a:defRPr>
      </a:lvl4pPr>
      <a:lvl5pPr algn="ctr" rtl="0" eaLnBrk="0" fontAlgn="base" hangingPunct="0">
        <a:spcBef>
          <a:spcPct val="0"/>
        </a:spcBef>
        <a:spcAft>
          <a:spcPct val="0"/>
        </a:spcAft>
        <a:defRPr sz="5867">
          <a:solidFill>
            <a:schemeClr val="tx1"/>
          </a:solidFill>
          <a:latin typeface="Calibri" pitchFamily="34" charset="0"/>
          <a:ea typeface="黑体" pitchFamily="49" charset="-122"/>
        </a:defRPr>
      </a:lvl5pPr>
      <a:lvl6pPr marL="609585" algn="ctr" rtl="0" fontAlgn="base">
        <a:spcBef>
          <a:spcPct val="0"/>
        </a:spcBef>
        <a:spcAft>
          <a:spcPct val="0"/>
        </a:spcAft>
        <a:defRPr sz="5867">
          <a:solidFill>
            <a:schemeClr val="tx1"/>
          </a:solidFill>
          <a:latin typeface="Calibri" pitchFamily="34" charset="0"/>
          <a:ea typeface="宋体" charset="-122"/>
        </a:defRPr>
      </a:lvl6pPr>
      <a:lvl7pPr marL="1219170" algn="ctr" rtl="0" fontAlgn="base">
        <a:spcBef>
          <a:spcPct val="0"/>
        </a:spcBef>
        <a:spcAft>
          <a:spcPct val="0"/>
        </a:spcAft>
        <a:defRPr sz="5867">
          <a:solidFill>
            <a:schemeClr val="tx1"/>
          </a:solidFill>
          <a:latin typeface="Calibri" pitchFamily="34" charset="0"/>
          <a:ea typeface="宋体" charset="-122"/>
        </a:defRPr>
      </a:lvl7pPr>
      <a:lvl8pPr marL="1828754" algn="ctr" rtl="0" fontAlgn="base">
        <a:spcBef>
          <a:spcPct val="0"/>
        </a:spcBef>
        <a:spcAft>
          <a:spcPct val="0"/>
        </a:spcAft>
        <a:defRPr sz="5867">
          <a:solidFill>
            <a:schemeClr val="tx1"/>
          </a:solidFill>
          <a:latin typeface="Calibri" pitchFamily="34" charset="0"/>
          <a:ea typeface="宋体" charset="-122"/>
        </a:defRPr>
      </a:lvl8pPr>
      <a:lvl9pPr marL="2438339" algn="ctr" rtl="0" fontAlgn="base">
        <a:spcBef>
          <a:spcPct val="0"/>
        </a:spcBef>
        <a:spcAft>
          <a:spcPct val="0"/>
        </a:spcAft>
        <a:defRPr sz="5867">
          <a:solidFill>
            <a:schemeClr val="tx1"/>
          </a:solidFill>
          <a:latin typeface="Calibri" pitchFamily="34" charset="0"/>
          <a:ea typeface="宋体"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sz="3733" kern="1200">
          <a:solidFill>
            <a:schemeClr val="tx1"/>
          </a:solidFill>
          <a:latin typeface="+mn-lt"/>
          <a:ea typeface="+mn-ea"/>
          <a:cs typeface="+mn-cs"/>
        </a:defRPr>
      </a:lvl2pPr>
      <a:lvl3pPr marL="1523962" indent="-304792"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2"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grpSp>
        <p:nvGrpSpPr>
          <p:cNvPr id="5" name="组合 4">
            <a:extLst>
              <a:ext uri="{FF2B5EF4-FFF2-40B4-BE49-F238E27FC236}">
                <a16:creationId xmlns:a16="http://schemas.microsoft.com/office/drawing/2014/main" id="{3A7F5CA1-11F4-B94D-84AE-F6E3E12DEC4D}"/>
              </a:ext>
            </a:extLst>
          </p:cNvPr>
          <p:cNvGrpSpPr/>
          <p:nvPr userDrawn="1"/>
        </p:nvGrpSpPr>
        <p:grpSpPr>
          <a:xfrm>
            <a:off x="2126595" y="2260317"/>
            <a:ext cx="2280944" cy="1168683"/>
            <a:chOff x="1984355" y="1223746"/>
            <a:chExt cx="2280944" cy="1168683"/>
          </a:xfrm>
        </p:grpSpPr>
        <p:sp>
          <p:nvSpPr>
            <p:cNvPr id="20" name="文本框 19">
              <a:extLst>
                <a:ext uri="{FF2B5EF4-FFF2-40B4-BE49-F238E27FC236}">
                  <a16:creationId xmlns:a16="http://schemas.microsoft.com/office/drawing/2014/main" id="{DB73C1A2-926E-3849-92AB-BCE7B4C71DF2}"/>
                </a:ext>
              </a:extLst>
            </p:cNvPr>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p>
          </p:txBody>
        </p:sp>
        <p:sp>
          <p:nvSpPr>
            <p:cNvPr id="21" name="文本框 20">
              <a:extLst>
                <a:ext uri="{FF2B5EF4-FFF2-40B4-BE49-F238E27FC236}">
                  <a16:creationId xmlns:a16="http://schemas.microsoft.com/office/drawing/2014/main" id="{3EC96A2F-7D7A-F34F-9BE8-8ADCD2919ACB}"/>
                </a:ext>
              </a:extLst>
            </p:cNvPr>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a:extLst>
                <a:ext uri="{FF2B5EF4-FFF2-40B4-BE49-F238E27FC236}">
                  <a16:creationId xmlns:a16="http://schemas.microsoft.com/office/drawing/2014/main" id="{83E925B0-57FD-8B4B-8FF7-8BCD8AADEF23}"/>
                </a:ext>
              </a:extLst>
            </p:cNvPr>
            <p:cNvCxnSpPr>
              <a:cxnSpLocks/>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a:extLst>
                <a:ext uri="{FF2B5EF4-FFF2-40B4-BE49-F238E27FC236}">
                  <a16:creationId xmlns:a16="http://schemas.microsoft.com/office/drawing/2014/main" id="{3EDCC472-8CF0-F84C-9270-06FAC7E8DD4D}"/>
                </a:ext>
              </a:extLst>
            </p:cNvPr>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a:extLst>
                <a:ext uri="{FF2B5EF4-FFF2-40B4-BE49-F238E27FC236}">
                  <a16:creationId xmlns:a16="http://schemas.microsoft.com/office/drawing/2014/main" id="{E8F71936-0CC4-CB4A-AF12-89754A9ADA5D}"/>
                </a:ext>
              </a:extLst>
            </p:cNvPr>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759586569"/>
      </p:ext>
    </p:extLst>
  </p:cSld>
  <p:clrMap bg1="lt1" tx1="dk1" bg2="lt2" tx2="dk2" accent1="accent1" accent2="accent2" accent3="accent3" accent4="accent4" accent5="accent5" accent6="accent6" hlink="hlink" folHlink="folHlink"/>
  <p:sldLayoutIdLst>
    <p:sldLayoutId id="2147483667"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marR="0" indent="-457189" algn="l"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88438130-7B30-A94E-B2AC-38EDD0B85909}"/>
              </a:ext>
            </a:extLst>
          </p:cNvPr>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2"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sp>
        <p:nvSpPr>
          <p:cNvPr id="20" name="文本框 19">
            <a:extLst>
              <a:ext uri="{FF2B5EF4-FFF2-40B4-BE49-F238E27FC236}">
                <a16:creationId xmlns:a16="http://schemas.microsoft.com/office/drawing/2014/main" id="{DB73C1A2-926E-3849-92AB-BCE7B4C71DF2}"/>
              </a:ext>
            </a:extLst>
          </p:cNvPr>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p>
        </p:txBody>
      </p:sp>
      <p:sp>
        <p:nvSpPr>
          <p:cNvPr id="21" name="文本框 20">
            <a:extLst>
              <a:ext uri="{FF2B5EF4-FFF2-40B4-BE49-F238E27FC236}">
                <a16:creationId xmlns:a16="http://schemas.microsoft.com/office/drawing/2014/main" id="{3EC96A2F-7D7A-F34F-9BE8-8ADCD2919ACB}"/>
              </a:ext>
            </a:extLst>
          </p:cNvPr>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a:extLst>
              <a:ext uri="{FF2B5EF4-FFF2-40B4-BE49-F238E27FC236}">
                <a16:creationId xmlns:a16="http://schemas.microsoft.com/office/drawing/2014/main" id="{83E925B0-57FD-8B4B-8FF7-8BCD8AADEF23}"/>
              </a:ext>
            </a:extLst>
          </p:cNvPr>
          <p:cNvCxnSpPr>
            <a:cxnSpLocks/>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a:extLst>
              <a:ext uri="{FF2B5EF4-FFF2-40B4-BE49-F238E27FC236}">
                <a16:creationId xmlns:a16="http://schemas.microsoft.com/office/drawing/2014/main" id="{A7484BB2-BD94-3C49-9EC4-B9A294E2AF2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9070" y="2491361"/>
            <a:ext cx="406390" cy="406390"/>
          </a:xfrm>
          <a:prstGeom prst="rect">
            <a:avLst/>
          </a:prstGeom>
        </p:spPr>
      </p:pic>
    </p:spTree>
    <p:extLst>
      <p:ext uri="{BB962C8B-B14F-4D97-AF65-F5344CB8AC3E}">
        <p14:creationId xmlns:p14="http://schemas.microsoft.com/office/powerpoint/2010/main" val="2014879460"/>
      </p:ext>
    </p:extLst>
  </p:cSld>
  <p:clrMap bg1="lt1" tx1="dk1" bg2="lt2" tx2="dk2" accent1="accent1" accent2="accent2" accent3="accent3" accent4="accent4" accent5="accent5" accent6="accent6" hlink="hlink" folHlink="folHlink"/>
  <p:sldLayoutIdLst>
    <p:sldLayoutId id="2147483708"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marR="0" indent="-457189" algn="l" defTabSz="914400" rtl="0" eaLnBrk="0" fontAlgn="base" latinLnBrk="0" hangingPunct="0">
        <a:lnSpc>
          <a:spcPct val="150000"/>
        </a:lnSpc>
        <a:spcBef>
          <a:spcPct val="20000"/>
        </a:spcBef>
        <a:spcAft>
          <a:spcPct val="0"/>
        </a:spcAft>
        <a:buClrTx/>
        <a:buSzTx/>
        <a:buFont typeface="Arial" panose="020B0604020202020204" pitchFamily="34" charset="0"/>
        <a:buChar char="•"/>
        <a:tabLst/>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585"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a:extLst>
              <a:ext uri="{FF2B5EF4-FFF2-40B4-BE49-F238E27FC236}">
                <a16:creationId xmlns:a16="http://schemas.microsoft.com/office/drawing/2014/main" id="{91B717BE-9DF9-1B41-9DBF-CB511A9C606B}"/>
              </a:ext>
            </a:extLst>
          </p:cNvPr>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a:extLst>
              <a:ext uri="{FF2B5EF4-FFF2-40B4-BE49-F238E27FC236}">
                <a16:creationId xmlns:a16="http://schemas.microsoft.com/office/drawing/2014/main" id="{998722ED-C4DC-C24C-A17B-B9CA36751549}"/>
              </a:ext>
            </a:extLst>
          </p:cNvPr>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557575230"/>
      </p:ext>
    </p:extLst>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a:extLst>
              <a:ext uri="{FF2B5EF4-FFF2-40B4-BE49-F238E27FC236}">
                <a16:creationId xmlns:a16="http://schemas.microsoft.com/office/drawing/2014/main" id="{D82380DF-4088-5449-BBFC-0B57E0B8F475}"/>
              </a:ext>
            </a:extLst>
          </p:cNvPr>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a:extLst>
              <a:ext uri="{FF2B5EF4-FFF2-40B4-BE49-F238E27FC236}">
                <a16:creationId xmlns:a16="http://schemas.microsoft.com/office/drawing/2014/main" id="{2FB8D235-9189-C14B-8111-0D705B9AA121}"/>
              </a:ext>
            </a:extLst>
          </p:cNvPr>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255265264"/>
      </p:ext>
    </p:extLst>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4BCEE7AE-CF55-47A2-9D29-09373E3D62B5}"/>
              </a:ext>
            </a:extLst>
          </p:cNvPr>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itchFamily="34" charset="0"/>
              <a:buNone/>
              <a:defRPr/>
            </a:pPr>
            <a:endParaRPr lang="zh-CN" altLang="en-US" sz="2400">
              <a:latin typeface="Segoe UI" pitchFamily="34" charset="0"/>
              <a:ea typeface="微软雅黑" pitchFamily="34" charset="-122"/>
            </a:endParaRPr>
          </a:p>
        </p:txBody>
      </p:sp>
      <p:sp>
        <p:nvSpPr>
          <p:cNvPr id="20" name="矩形 22">
            <a:extLst>
              <a:ext uri="{FF2B5EF4-FFF2-40B4-BE49-F238E27FC236}">
                <a16:creationId xmlns:a16="http://schemas.microsoft.com/office/drawing/2014/main" id="{16A72991-4D35-45FC-8EF2-C9E3B4850B57}"/>
              </a:ext>
            </a:extLst>
          </p:cNvPr>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a:buFont typeface="Arial" charset="0"/>
              <a:buNone/>
              <a:defRPr/>
            </a:pPr>
            <a:endParaRPr lang="zh-CN" altLang="en-US" sz="2400" dirty="0">
              <a:latin typeface="Segoe UI" pitchFamily="34" charset="0"/>
              <a:ea typeface="微软雅黑" pitchFamily="34" charset="-122"/>
            </a:endParaRPr>
          </a:p>
        </p:txBody>
      </p:sp>
      <p:cxnSp>
        <p:nvCxnSpPr>
          <p:cNvPr id="11" name="直接连接符 22">
            <a:extLst>
              <a:ext uri="{FF2B5EF4-FFF2-40B4-BE49-F238E27FC236}">
                <a16:creationId xmlns:a16="http://schemas.microsoft.com/office/drawing/2014/main" id="{E3D0AD59-338B-5041-BA54-3D9BB0E399D6}"/>
              </a:ext>
            </a:extLst>
          </p:cNvPr>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F2197ADE-85E8-B341-8233-C315893A0BCC}"/>
              </a:ext>
            </a:extLst>
          </p:cNvPr>
          <p:cNvGrpSpPr/>
          <p:nvPr userDrawn="1"/>
        </p:nvGrpSpPr>
        <p:grpSpPr>
          <a:xfrm>
            <a:off x="0" y="420997"/>
            <a:ext cx="224590" cy="220464"/>
            <a:chOff x="0" y="262878"/>
            <a:chExt cx="224590" cy="506266"/>
          </a:xfrm>
        </p:grpSpPr>
        <p:sp>
          <p:nvSpPr>
            <p:cNvPr id="13" name="矩形 12">
              <a:extLst>
                <a:ext uri="{FF2B5EF4-FFF2-40B4-BE49-F238E27FC236}">
                  <a16:creationId xmlns:a16="http://schemas.microsoft.com/office/drawing/2014/main" id="{C3756651-9738-8349-95DA-B0B282B3FAEA}"/>
                </a:ext>
              </a:extLst>
            </p:cNvPr>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5EF63353-41E7-0E43-AFC0-B2282740E9FE}"/>
                </a:ext>
              </a:extLst>
            </p:cNvPr>
            <p:cNvSpPr/>
            <p:nvPr/>
          </p:nvSpPr>
          <p:spPr>
            <a:xfrm>
              <a:off x="142500" y="262878"/>
              <a:ext cx="82090" cy="506266"/>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6" name="图片 15">
            <a:extLst>
              <a:ext uri="{FF2B5EF4-FFF2-40B4-BE49-F238E27FC236}">
                <a16:creationId xmlns:a16="http://schemas.microsoft.com/office/drawing/2014/main" id="{27893006-C6C0-BC4A-8CFB-289F585A2778}"/>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634242" y="283220"/>
            <a:ext cx="1225447" cy="358241"/>
          </a:xfrm>
          <a:prstGeom prst="rect">
            <a:avLst/>
          </a:prstGeom>
        </p:spPr>
      </p:pic>
    </p:spTree>
    <p:extLst>
      <p:ext uri="{BB962C8B-B14F-4D97-AF65-F5344CB8AC3E}">
        <p14:creationId xmlns:p14="http://schemas.microsoft.com/office/powerpoint/2010/main" val="1282442689"/>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83" r:id="rId3"/>
    <p:sldLayoutId id="2147483678" r:id="rId4"/>
    <p:sldLayoutId id="2147483679" r:id="rId5"/>
    <p:sldLayoutId id="2147483680" r:id="rId6"/>
    <p:sldLayoutId id="2147483677" r:id="rId7"/>
    <p:sldLayoutId id="2147483702" r:id="rId8"/>
    <p:sldLayoutId id="2147483703" r:id="rId9"/>
    <p:sldLayoutId id="2147483704" r:id="rId10"/>
    <p:sldLayoutId id="2147483681" r:id="rId11"/>
    <p:sldLayoutId id="2147483693" r:id="rId12"/>
    <p:sldLayoutId id="2147483706" r:id="rId13"/>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itchFamily="49" charset="-122"/>
          <a:ea typeface="黑体" pitchFamily="49" charset="-122"/>
        </a:defRPr>
      </a:lvl2pPr>
      <a:lvl3pPr algn="l" rtl="0" eaLnBrk="0" fontAlgn="base" hangingPunct="0">
        <a:spcBef>
          <a:spcPct val="0"/>
        </a:spcBef>
        <a:spcAft>
          <a:spcPct val="0"/>
        </a:spcAft>
        <a:defRPr sz="3200" b="1">
          <a:solidFill>
            <a:schemeClr val="tx1"/>
          </a:solidFill>
          <a:latin typeface="黑体" pitchFamily="49" charset="-122"/>
          <a:ea typeface="黑体" pitchFamily="49" charset="-122"/>
        </a:defRPr>
      </a:lvl3pPr>
      <a:lvl4pPr algn="l" rtl="0" eaLnBrk="0" fontAlgn="base" hangingPunct="0">
        <a:spcBef>
          <a:spcPct val="0"/>
        </a:spcBef>
        <a:spcAft>
          <a:spcPct val="0"/>
        </a:spcAft>
        <a:defRPr sz="3200" b="1">
          <a:solidFill>
            <a:schemeClr val="tx1"/>
          </a:solidFill>
          <a:latin typeface="黑体" pitchFamily="49" charset="-122"/>
          <a:ea typeface="黑体" pitchFamily="49" charset="-122"/>
        </a:defRPr>
      </a:lvl4pPr>
      <a:lvl5pPr algn="l" rtl="0" eaLnBrk="0" fontAlgn="base" hangingPunct="0">
        <a:spcBef>
          <a:spcPct val="0"/>
        </a:spcBef>
        <a:spcAft>
          <a:spcPct val="0"/>
        </a:spcAft>
        <a:defRPr sz="3200" b="1">
          <a:solidFill>
            <a:schemeClr val="tx1"/>
          </a:solidFill>
          <a:latin typeface="黑体" pitchFamily="49" charset="-122"/>
          <a:ea typeface="黑体" pitchFamily="49" charset="-122"/>
        </a:defRPr>
      </a:lvl5pPr>
      <a:lvl6pPr marL="609585" algn="l" rtl="0" fontAlgn="base">
        <a:spcBef>
          <a:spcPct val="0"/>
        </a:spcBef>
        <a:spcAft>
          <a:spcPct val="0"/>
        </a:spcAft>
        <a:defRPr sz="3200" b="1">
          <a:solidFill>
            <a:schemeClr val="tx1"/>
          </a:solidFill>
          <a:latin typeface="黑体" pitchFamily="49" charset="-122"/>
          <a:ea typeface="黑体" pitchFamily="49" charset="-122"/>
        </a:defRPr>
      </a:lvl6pPr>
      <a:lvl7pPr marL="1219170" algn="l" rtl="0" fontAlgn="base">
        <a:spcBef>
          <a:spcPct val="0"/>
        </a:spcBef>
        <a:spcAft>
          <a:spcPct val="0"/>
        </a:spcAft>
        <a:defRPr sz="3200" b="1">
          <a:solidFill>
            <a:schemeClr val="tx1"/>
          </a:solidFill>
          <a:latin typeface="黑体" pitchFamily="49" charset="-122"/>
          <a:ea typeface="黑体" pitchFamily="49" charset="-122"/>
        </a:defRPr>
      </a:lvl7pPr>
      <a:lvl8pPr marL="1828754" algn="l" rtl="0" fontAlgn="base">
        <a:spcBef>
          <a:spcPct val="0"/>
        </a:spcBef>
        <a:spcAft>
          <a:spcPct val="0"/>
        </a:spcAft>
        <a:defRPr sz="3200" b="1">
          <a:solidFill>
            <a:schemeClr val="tx1"/>
          </a:solidFill>
          <a:latin typeface="黑体" pitchFamily="49" charset="-122"/>
          <a:ea typeface="黑体" pitchFamily="49" charset="-122"/>
        </a:defRPr>
      </a:lvl8pPr>
      <a:lvl9pPr marL="2438339" algn="l" rtl="0" fontAlgn="base">
        <a:spcBef>
          <a:spcPct val="0"/>
        </a:spcBef>
        <a:spcAft>
          <a:spcPct val="0"/>
        </a:spcAft>
        <a:defRPr sz="3200" b="1">
          <a:solidFill>
            <a:schemeClr val="tx1"/>
          </a:solidFill>
          <a:latin typeface="黑体" pitchFamily="49" charset="-122"/>
          <a:ea typeface="黑体" pitchFamily="49"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3962" indent="-304792" algn="l" rtl="0" eaLnBrk="0" fontAlgn="base" hangingPunct="0">
        <a:spcBef>
          <a:spcPct val="20000"/>
        </a:spcBef>
        <a:spcAft>
          <a:spcPct val="0"/>
        </a:spcAft>
        <a:buFont typeface="Arial" panose="020B0604020202020204" pitchFamily="34" charset="0"/>
        <a:buChar char="•"/>
        <a:defRPr sz="1867" b="1" kern="1200">
          <a:solidFill>
            <a:schemeClr val="tx1"/>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4938713" y="2604635"/>
            <a:ext cx="2314575" cy="955968"/>
          </a:xfrm>
          <a:prstGeom prst="rect">
            <a:avLst/>
          </a:prstGeom>
        </p:spPr>
      </p:pic>
    </p:spTree>
    <p:extLst>
      <p:ext uri="{BB962C8B-B14F-4D97-AF65-F5344CB8AC3E}">
        <p14:creationId xmlns:p14="http://schemas.microsoft.com/office/powerpoint/2010/main" val="770715422"/>
      </p:ext>
    </p:extLst>
  </p:cSld>
  <p:clrMap bg1="lt1" tx1="dk1" bg2="lt2" tx2="dk2" accent1="accent1" accent2="accent2" accent3="accent3" accent4="accent4" accent5="accent5" accent6="accent6" hlink="hlink" folHlink="folHlink"/>
  <p:sldLayoutIdLst>
    <p:sldLayoutId id="2147483673" r:id="rId1"/>
  </p:sldLayoutIdLst>
  <p:txStyles>
    <p:titleStyle>
      <a:lvl1pPr algn="ctr" rtl="0" eaLnBrk="0" fontAlgn="base" hangingPunct="0">
        <a:spcBef>
          <a:spcPct val="0"/>
        </a:spcBef>
        <a:spcAft>
          <a:spcPct val="0"/>
        </a:spcAft>
        <a:defRPr sz="5867" kern="1200">
          <a:solidFill>
            <a:schemeClr val="tx1"/>
          </a:solidFill>
          <a:latin typeface="+mj-lt"/>
          <a:ea typeface="+mj-ea"/>
          <a:cs typeface="+mj-cs"/>
        </a:defRPr>
      </a:lvl1pPr>
      <a:lvl2pPr algn="ctr" rtl="0" eaLnBrk="0" fontAlgn="base" hangingPunct="0">
        <a:spcBef>
          <a:spcPct val="0"/>
        </a:spcBef>
        <a:spcAft>
          <a:spcPct val="0"/>
        </a:spcAft>
        <a:defRPr sz="5867">
          <a:solidFill>
            <a:schemeClr val="tx1"/>
          </a:solidFill>
          <a:latin typeface="Calibri" pitchFamily="34" charset="0"/>
          <a:ea typeface="黑体" pitchFamily="49" charset="-122"/>
        </a:defRPr>
      </a:lvl2pPr>
      <a:lvl3pPr algn="ctr" rtl="0" eaLnBrk="0" fontAlgn="base" hangingPunct="0">
        <a:spcBef>
          <a:spcPct val="0"/>
        </a:spcBef>
        <a:spcAft>
          <a:spcPct val="0"/>
        </a:spcAft>
        <a:defRPr sz="5867">
          <a:solidFill>
            <a:schemeClr val="tx1"/>
          </a:solidFill>
          <a:latin typeface="Calibri" pitchFamily="34" charset="0"/>
          <a:ea typeface="黑体" pitchFamily="49" charset="-122"/>
        </a:defRPr>
      </a:lvl3pPr>
      <a:lvl4pPr algn="ctr" rtl="0" eaLnBrk="0" fontAlgn="base" hangingPunct="0">
        <a:spcBef>
          <a:spcPct val="0"/>
        </a:spcBef>
        <a:spcAft>
          <a:spcPct val="0"/>
        </a:spcAft>
        <a:defRPr sz="5867">
          <a:solidFill>
            <a:schemeClr val="tx1"/>
          </a:solidFill>
          <a:latin typeface="Calibri" pitchFamily="34" charset="0"/>
          <a:ea typeface="黑体" pitchFamily="49" charset="-122"/>
        </a:defRPr>
      </a:lvl4pPr>
      <a:lvl5pPr algn="ctr" rtl="0" eaLnBrk="0" fontAlgn="base" hangingPunct="0">
        <a:spcBef>
          <a:spcPct val="0"/>
        </a:spcBef>
        <a:spcAft>
          <a:spcPct val="0"/>
        </a:spcAft>
        <a:defRPr sz="5867">
          <a:solidFill>
            <a:schemeClr val="tx1"/>
          </a:solidFill>
          <a:latin typeface="Calibri" pitchFamily="34" charset="0"/>
          <a:ea typeface="黑体" pitchFamily="49" charset="-122"/>
        </a:defRPr>
      </a:lvl5pPr>
      <a:lvl6pPr marL="609585" algn="ctr" rtl="0" fontAlgn="base">
        <a:spcBef>
          <a:spcPct val="0"/>
        </a:spcBef>
        <a:spcAft>
          <a:spcPct val="0"/>
        </a:spcAft>
        <a:defRPr sz="5867">
          <a:solidFill>
            <a:schemeClr val="tx1"/>
          </a:solidFill>
          <a:latin typeface="Calibri" pitchFamily="34" charset="0"/>
          <a:ea typeface="宋体" charset="-122"/>
        </a:defRPr>
      </a:lvl6pPr>
      <a:lvl7pPr marL="1219170" algn="ctr" rtl="0" fontAlgn="base">
        <a:spcBef>
          <a:spcPct val="0"/>
        </a:spcBef>
        <a:spcAft>
          <a:spcPct val="0"/>
        </a:spcAft>
        <a:defRPr sz="5867">
          <a:solidFill>
            <a:schemeClr val="tx1"/>
          </a:solidFill>
          <a:latin typeface="Calibri" pitchFamily="34" charset="0"/>
          <a:ea typeface="宋体" charset="-122"/>
        </a:defRPr>
      </a:lvl7pPr>
      <a:lvl8pPr marL="1828754" algn="ctr" rtl="0" fontAlgn="base">
        <a:spcBef>
          <a:spcPct val="0"/>
        </a:spcBef>
        <a:spcAft>
          <a:spcPct val="0"/>
        </a:spcAft>
        <a:defRPr sz="5867">
          <a:solidFill>
            <a:schemeClr val="tx1"/>
          </a:solidFill>
          <a:latin typeface="Calibri" pitchFamily="34" charset="0"/>
          <a:ea typeface="宋体" charset="-122"/>
        </a:defRPr>
      </a:lvl8pPr>
      <a:lvl9pPr marL="2438339" algn="ctr" rtl="0" fontAlgn="base">
        <a:spcBef>
          <a:spcPct val="0"/>
        </a:spcBef>
        <a:spcAft>
          <a:spcPct val="0"/>
        </a:spcAft>
        <a:defRPr sz="5867">
          <a:solidFill>
            <a:schemeClr val="tx1"/>
          </a:solidFill>
          <a:latin typeface="Calibri" pitchFamily="34" charset="0"/>
          <a:ea typeface="宋体" charset="-122"/>
        </a:defRPr>
      </a:lvl9pPr>
    </p:titleStyle>
    <p:bodyStyle>
      <a:lvl1pPr marL="457189" indent="-457189" algn="l" rtl="0" eaLnBrk="0" fontAlgn="base" hangingPunct="0">
        <a:spcBef>
          <a:spcPct val="20000"/>
        </a:spcBef>
        <a:spcAft>
          <a:spcPct val="0"/>
        </a:spcAft>
        <a:buFont typeface="Arial" panose="020B0604020202020204" pitchFamily="34" charset="0"/>
        <a:buChar char="•"/>
        <a:defRPr sz="4267" kern="1200">
          <a:solidFill>
            <a:schemeClr val="tx1"/>
          </a:solidFill>
          <a:latin typeface="+mn-lt"/>
          <a:ea typeface="+mn-ea"/>
          <a:cs typeface="+mn-cs"/>
        </a:defRPr>
      </a:lvl1pPr>
      <a:lvl2pPr marL="990575" indent="-380990" algn="l" rtl="0" eaLnBrk="0" fontAlgn="base" hangingPunct="0">
        <a:spcBef>
          <a:spcPct val="20000"/>
        </a:spcBef>
        <a:spcAft>
          <a:spcPct val="0"/>
        </a:spcAft>
        <a:buFont typeface="Arial" panose="020B0604020202020204" pitchFamily="34" charset="0"/>
        <a:buChar char="–"/>
        <a:defRPr sz="3733" kern="1200">
          <a:solidFill>
            <a:schemeClr val="tx1"/>
          </a:solidFill>
          <a:latin typeface="+mn-lt"/>
          <a:ea typeface="+mn-ea"/>
          <a:cs typeface="+mn-cs"/>
        </a:defRPr>
      </a:lvl2pPr>
      <a:lvl3pPr marL="1523962" indent="-304792"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code.visualstudio.com/Download" TargetMode="Externa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16EC87-9B0D-CD4B-997D-0A66FE90B29E}"/>
              </a:ext>
            </a:extLst>
          </p:cNvPr>
          <p:cNvSpPr>
            <a:spLocks noGrp="1"/>
          </p:cNvSpPr>
          <p:nvPr>
            <p:ph type="title"/>
          </p:nvPr>
        </p:nvSpPr>
        <p:spPr/>
        <p:txBody>
          <a:bodyPr/>
          <a:lstStyle/>
          <a:p>
            <a:r>
              <a:rPr kumimoji="1" lang="en-US" altLang="zh-CN" dirty="0"/>
              <a:t>html+css</a:t>
            </a:r>
            <a:r>
              <a:rPr kumimoji="1" lang="zh-CN" altLang="en-US" dirty="0"/>
              <a:t>基础</a:t>
            </a:r>
          </a:p>
        </p:txBody>
      </p:sp>
      <p:sp>
        <p:nvSpPr>
          <p:cNvPr id="3" name="文本占位符 2">
            <a:extLst>
              <a:ext uri="{FF2B5EF4-FFF2-40B4-BE49-F238E27FC236}">
                <a16:creationId xmlns:a16="http://schemas.microsoft.com/office/drawing/2014/main" id="{FB6AC0F8-4890-4046-8499-78F7C6973826}"/>
              </a:ext>
            </a:extLst>
          </p:cNvPr>
          <p:cNvSpPr>
            <a:spLocks noGrp="1"/>
          </p:cNvSpPr>
          <p:nvPr>
            <p:ph type="body" sz="quarter" idx="10"/>
          </p:nvPr>
        </p:nvSpPr>
        <p:spPr/>
        <p:txBody>
          <a:bodyPr/>
          <a:lstStyle/>
          <a:p>
            <a:r>
              <a:rPr kumimoji="1" lang="zh-CN" altLang="en-US" dirty="0"/>
              <a:t>不懂前端的后端不是好程序员</a:t>
            </a:r>
          </a:p>
        </p:txBody>
      </p:sp>
    </p:spTree>
    <p:extLst>
      <p:ext uri="{BB962C8B-B14F-4D97-AF65-F5344CB8AC3E}">
        <p14:creationId xmlns:p14="http://schemas.microsoft.com/office/powerpoint/2010/main" val="3833974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691FACA-E1ED-6A48-A1E4-D925AAC03039}"/>
              </a:ext>
            </a:extLst>
          </p:cNvPr>
          <p:cNvSpPr>
            <a:spLocks noGrp="1"/>
          </p:cNvSpPr>
          <p:nvPr>
            <p:ph type="body" sz="quarter" idx="10"/>
          </p:nvPr>
        </p:nvSpPr>
        <p:spPr>
          <a:xfrm>
            <a:off x="4961485" y="1377388"/>
            <a:ext cx="5973761" cy="5320753"/>
          </a:xfrm>
        </p:spPr>
        <p:txBody>
          <a:bodyPr/>
          <a:lstStyle/>
          <a:p>
            <a:r>
              <a:rPr lang="en-US" altLang="zh-CN" dirty="0"/>
              <a:t>html</a:t>
            </a:r>
            <a:r>
              <a:rPr lang="zh-CN" altLang="en-US" dirty="0"/>
              <a:t>介绍</a:t>
            </a:r>
            <a:endParaRPr lang="en-US" altLang="zh-CN" dirty="0"/>
          </a:p>
          <a:p>
            <a:r>
              <a:rPr lang="en-US" altLang="zh-CN" dirty="0"/>
              <a:t>html</a:t>
            </a:r>
            <a:r>
              <a:rPr lang="zh-CN" altLang="en-US" dirty="0"/>
              <a:t>基本结构</a:t>
            </a:r>
            <a:endParaRPr lang="en-US" altLang="zh-CN" dirty="0"/>
          </a:p>
          <a:p>
            <a:r>
              <a:rPr lang="en-US" altLang="zh-CN" dirty="0"/>
              <a:t>vscode</a:t>
            </a:r>
            <a:r>
              <a:rPr lang="zh-CN" altLang="en-US" dirty="0"/>
              <a:t>基本使用</a:t>
            </a:r>
            <a:endParaRPr lang="en-US" altLang="zh-CN" dirty="0"/>
          </a:p>
          <a:p>
            <a:r>
              <a:rPr lang="en-US" altLang="zh-CN" dirty="0"/>
              <a:t>html</a:t>
            </a:r>
            <a:r>
              <a:rPr lang="zh-CN" altLang="en-US" dirty="0"/>
              <a:t>标签</a:t>
            </a:r>
            <a:endParaRPr lang="en-US" altLang="zh-CN" dirty="0"/>
          </a:p>
          <a:p>
            <a:r>
              <a:rPr lang="en-US" altLang="zh-CN" dirty="0"/>
              <a:t>css</a:t>
            </a:r>
            <a:r>
              <a:rPr lang="zh-CN" altLang="en-US" dirty="0"/>
              <a:t>介绍</a:t>
            </a:r>
            <a:endParaRPr lang="en-US" altLang="zh-CN" dirty="0"/>
          </a:p>
          <a:p>
            <a:r>
              <a:rPr lang="en-US" altLang="zh-CN" dirty="0"/>
              <a:t>css</a:t>
            </a:r>
            <a:r>
              <a:rPr lang="zh-CN" altLang="en-US" dirty="0"/>
              <a:t>引入方式</a:t>
            </a:r>
            <a:endParaRPr lang="en-US" altLang="zh-CN" dirty="0"/>
          </a:p>
          <a:p>
            <a:r>
              <a:rPr lang="en-US" altLang="zh-CN" dirty="0"/>
              <a:t>css</a:t>
            </a:r>
            <a:r>
              <a:rPr lang="zh-CN" altLang="en-US" dirty="0"/>
              <a:t>选择器</a:t>
            </a:r>
            <a:endParaRPr lang="en-US" altLang="zh-CN" dirty="0"/>
          </a:p>
          <a:p>
            <a:r>
              <a:rPr lang="en-US" altLang="zh-CN" dirty="0"/>
              <a:t>css</a:t>
            </a:r>
            <a:r>
              <a:rPr lang="zh-CN" altLang="en-US" dirty="0"/>
              <a:t>属性</a:t>
            </a:r>
          </a:p>
          <a:p>
            <a:endParaRPr kumimoji="1" lang="zh-CN" altLang="en-US" dirty="0"/>
          </a:p>
        </p:txBody>
      </p:sp>
    </p:spTree>
    <p:extLst>
      <p:ext uri="{BB962C8B-B14F-4D97-AF65-F5344CB8AC3E}">
        <p14:creationId xmlns:p14="http://schemas.microsoft.com/office/powerpoint/2010/main" val="3710185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8F5F2403-DAC9-454A-9779-7331986EC40B}"/>
              </a:ext>
            </a:extLst>
          </p:cNvPr>
          <p:cNvSpPr>
            <a:spLocks noGrp="1"/>
          </p:cNvSpPr>
          <p:nvPr>
            <p:ph type="body" sz="quarter" idx="10"/>
          </p:nvPr>
        </p:nvSpPr>
        <p:spPr/>
        <p:txBody>
          <a:bodyPr/>
          <a:lstStyle/>
          <a:p>
            <a:r>
              <a:rPr kumimoji="1" lang="zh-CN" altLang="en-US" dirty="0"/>
              <a:t>清楚</a:t>
            </a:r>
            <a:r>
              <a:rPr kumimoji="1" lang="en-US" altLang="zh-CN" dirty="0"/>
              <a:t>html</a:t>
            </a:r>
            <a:r>
              <a:rPr kumimoji="1" lang="zh-CN" altLang="en-US" dirty="0"/>
              <a:t>的作用</a:t>
            </a:r>
            <a:endParaRPr kumimoji="1" lang="en-US" altLang="zh-CN" dirty="0"/>
          </a:p>
          <a:p>
            <a:r>
              <a:rPr kumimoji="1" lang="zh-CN" altLang="en-US" dirty="0"/>
              <a:t>能够写出简单的</a:t>
            </a:r>
            <a:r>
              <a:rPr kumimoji="1" lang="en-US" altLang="zh-CN" dirty="0"/>
              <a:t>html</a:t>
            </a:r>
            <a:r>
              <a:rPr kumimoji="1" lang="zh-CN" altLang="en-US" dirty="0"/>
              <a:t>结构</a:t>
            </a:r>
            <a:endParaRPr kumimoji="1" lang="en-US" altLang="zh-CN" dirty="0"/>
          </a:p>
          <a:p>
            <a:r>
              <a:rPr kumimoji="1" lang="zh-CN" altLang="en-US" dirty="0"/>
              <a:t>能够认识调整简单</a:t>
            </a:r>
            <a:r>
              <a:rPr kumimoji="1" lang="en-US" altLang="zh-CN" dirty="0"/>
              <a:t>html</a:t>
            </a:r>
            <a:r>
              <a:rPr kumimoji="1" lang="zh-CN" altLang="en-US" dirty="0"/>
              <a:t>页面</a:t>
            </a:r>
            <a:endParaRPr kumimoji="1" lang="en-US" altLang="zh-CN" dirty="0"/>
          </a:p>
          <a:p>
            <a:r>
              <a:rPr kumimoji="1" lang="zh-CN" altLang="en-US" dirty="0"/>
              <a:t>清楚</a:t>
            </a:r>
            <a:r>
              <a:rPr kumimoji="1" lang="en-US" altLang="zh-CN" dirty="0"/>
              <a:t>css</a:t>
            </a:r>
            <a:r>
              <a:rPr kumimoji="1" lang="zh-CN" altLang="en-US" dirty="0"/>
              <a:t>的作用</a:t>
            </a:r>
            <a:endParaRPr kumimoji="1" lang="en-US" altLang="zh-CN" dirty="0"/>
          </a:p>
          <a:p>
            <a:r>
              <a:rPr kumimoji="1" lang="zh-CN" altLang="en-US" dirty="0"/>
              <a:t>知道</a:t>
            </a:r>
            <a:r>
              <a:rPr kumimoji="1" lang="en-US" altLang="zh-CN" dirty="0"/>
              <a:t>css</a:t>
            </a:r>
            <a:r>
              <a:rPr kumimoji="1" lang="zh-CN" altLang="en-US" dirty="0"/>
              <a:t>的引入方式</a:t>
            </a:r>
            <a:endParaRPr kumimoji="1" lang="en-US" altLang="zh-CN" dirty="0"/>
          </a:p>
          <a:p>
            <a:r>
              <a:rPr kumimoji="1" lang="zh-CN" altLang="en-US" dirty="0"/>
              <a:t>了解</a:t>
            </a:r>
            <a:r>
              <a:rPr kumimoji="1" lang="en-US" altLang="zh-CN" dirty="0"/>
              <a:t>css</a:t>
            </a:r>
            <a:r>
              <a:rPr kumimoji="1" lang="zh-CN" altLang="en-US" dirty="0"/>
              <a:t>常见选择器和属性的作用</a:t>
            </a:r>
            <a:endParaRPr lang="zh-CN" altLang="en-US" dirty="0"/>
          </a:p>
        </p:txBody>
      </p:sp>
    </p:spTree>
    <p:extLst>
      <p:ext uri="{BB962C8B-B14F-4D97-AF65-F5344CB8AC3E}">
        <p14:creationId xmlns:p14="http://schemas.microsoft.com/office/powerpoint/2010/main" val="2196209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r>
              <a:rPr kumimoji="1" lang="en-US" altLang="zh-CN" dirty="0"/>
              <a:t>html</a:t>
            </a:r>
            <a:endParaRPr kumimoji="1" lang="zh-CN" altLang="en-US" dirty="0"/>
          </a:p>
        </p:txBody>
      </p:sp>
    </p:spTree>
    <p:extLst>
      <p:ext uri="{BB962C8B-B14F-4D97-AF65-F5344CB8AC3E}">
        <p14:creationId xmlns:p14="http://schemas.microsoft.com/office/powerpoint/2010/main" val="251335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180780F-C9DB-2444-81D9-0C48F0501E10}"/>
              </a:ext>
            </a:extLst>
          </p:cNvPr>
          <p:cNvSpPr>
            <a:spLocks noGrp="1"/>
          </p:cNvSpPr>
          <p:nvPr>
            <p:ph type="ctrTitle"/>
          </p:nvPr>
        </p:nvSpPr>
        <p:spPr/>
        <p:txBody>
          <a:bodyPr>
            <a:normAutofit fontScale="90000"/>
          </a:bodyPr>
          <a:lstStyle/>
          <a:p>
            <a:r>
              <a:rPr lang="en-US" altLang="zh-CN" dirty="0"/>
              <a:t>html</a:t>
            </a:r>
            <a:r>
              <a:rPr lang="zh-CN" altLang="en-US" dirty="0"/>
              <a:t>介绍</a:t>
            </a:r>
          </a:p>
        </p:txBody>
      </p:sp>
      <p:sp>
        <p:nvSpPr>
          <p:cNvPr id="4" name="文本占位符 3">
            <a:extLst>
              <a:ext uri="{FF2B5EF4-FFF2-40B4-BE49-F238E27FC236}">
                <a16:creationId xmlns:a16="http://schemas.microsoft.com/office/drawing/2014/main" id="{2B00E6CA-B092-D14B-AFC4-E64326B88CFD}"/>
              </a:ext>
            </a:extLst>
          </p:cNvPr>
          <p:cNvSpPr>
            <a:spLocks noGrp="1"/>
          </p:cNvSpPr>
          <p:nvPr>
            <p:ph type="body" idx="10"/>
          </p:nvPr>
        </p:nvSpPr>
        <p:spPr/>
        <p:txBody>
          <a:bodyPr/>
          <a:lstStyle/>
          <a:p>
            <a:r>
              <a:rPr lang="en-US" altLang="zh-CN" dirty="0"/>
              <a:t>html</a:t>
            </a:r>
            <a:r>
              <a:rPr lang="zh-CN" altLang="en-US" dirty="0"/>
              <a:t>定义</a:t>
            </a:r>
            <a:endParaRPr lang="en-US" altLang="zh-CN" dirty="0"/>
          </a:p>
          <a:p>
            <a:r>
              <a:rPr lang="en-US" altLang="zh-CN" dirty="0"/>
              <a:t>html</a:t>
            </a:r>
            <a:r>
              <a:rPr lang="zh-CN" altLang="en-US" dirty="0"/>
              <a:t>作用</a:t>
            </a:r>
            <a:endParaRPr lang="en-US" altLang="zh-CN" dirty="0"/>
          </a:p>
          <a:p>
            <a:endParaRPr lang="zh-CN" altLang="en-US" dirty="0"/>
          </a:p>
          <a:p>
            <a:endParaRPr lang="zh-CN" altLang="en-US" dirty="0"/>
          </a:p>
        </p:txBody>
      </p:sp>
      <p:sp>
        <p:nvSpPr>
          <p:cNvPr id="7" name="文本占位符 4">
            <a:extLst>
              <a:ext uri="{FF2B5EF4-FFF2-40B4-BE49-F238E27FC236}">
                <a16:creationId xmlns:a16="http://schemas.microsoft.com/office/drawing/2014/main" id="{E775D813-3AC7-7C41-BDCA-8DBCAB15D3EC}"/>
              </a:ext>
            </a:extLst>
          </p:cNvPr>
          <p:cNvSpPr>
            <a:spLocks noGrp="1"/>
          </p:cNvSpPr>
          <p:nvPr>
            <p:ph type="body" sz="quarter" idx="11"/>
          </p:nvPr>
        </p:nvSpPr>
        <p:spPr>
          <a:xfrm>
            <a:off x="3881755" y="2468880"/>
            <a:ext cx="1127125" cy="1148080"/>
          </a:xfrm>
        </p:spPr>
        <p:txBody>
          <a:bodyPr/>
          <a:lstStyle/>
          <a:p>
            <a:r>
              <a:rPr lang="en-US" altLang="zh-CN" dirty="0"/>
              <a:t>01</a:t>
            </a:r>
            <a:endParaRPr lang="zh-CN" altLang="en-US" dirty="0"/>
          </a:p>
        </p:txBody>
      </p:sp>
    </p:spTree>
    <p:extLst>
      <p:ext uri="{BB962C8B-B14F-4D97-AF65-F5344CB8AC3E}">
        <p14:creationId xmlns:p14="http://schemas.microsoft.com/office/powerpoint/2010/main" val="3870416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html</a:t>
            </a:r>
            <a:r>
              <a:rPr lang="zh-CN" altLang="en-US"/>
              <a:t>介绍</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p:txBody>
          <a:bodyPr/>
          <a:lstStyle/>
          <a:p>
            <a:r>
              <a:rPr lang="en-US" altLang="zh-CN" dirty="0"/>
              <a:t>html</a:t>
            </a:r>
            <a:r>
              <a:rPr lang="zh-CN" altLang="en-US" dirty="0"/>
              <a:t>定义</a:t>
            </a:r>
          </a:p>
        </p:txBody>
      </p:sp>
      <p:sp>
        <p:nvSpPr>
          <p:cNvPr id="7" name="文本占位符 6">
            <a:extLst>
              <a:ext uri="{FF2B5EF4-FFF2-40B4-BE49-F238E27FC236}">
                <a16:creationId xmlns:a16="http://schemas.microsoft.com/office/drawing/2014/main" id="{D6E14576-3E19-2A45-AE67-BE8AAF15CCE7}"/>
              </a:ext>
            </a:extLst>
          </p:cNvPr>
          <p:cNvSpPr>
            <a:spLocks noGrp="1"/>
          </p:cNvSpPr>
          <p:nvPr>
            <p:ph type="body" sz="quarter" idx="11"/>
          </p:nvPr>
        </p:nvSpPr>
        <p:spPr/>
        <p:txBody>
          <a:bodyPr/>
          <a:lstStyle/>
          <a:p>
            <a:r>
              <a:rPr lang="en" altLang="zh-CN"/>
              <a:t>HTML </a:t>
            </a:r>
            <a:r>
              <a:rPr lang="zh-CN" altLang="en-US"/>
              <a:t>的全称为：</a:t>
            </a:r>
            <a:r>
              <a:rPr lang="en" altLang="zh-CN"/>
              <a:t>HyperText Mark-up Language, </a:t>
            </a:r>
            <a:r>
              <a:rPr lang="zh-CN" altLang="en-US"/>
              <a:t>指的是超文本标记语言。 标记：就是标签</a:t>
            </a:r>
            <a:r>
              <a:rPr lang="en-US" altLang="zh-CN"/>
              <a:t>, &lt;</a:t>
            </a:r>
            <a:r>
              <a:rPr lang="zh-CN" altLang="en-US"/>
              <a:t>标签名称</a:t>
            </a:r>
            <a:r>
              <a:rPr lang="en-US" altLang="zh-CN"/>
              <a:t>&gt; &lt;/</a:t>
            </a:r>
            <a:r>
              <a:rPr lang="zh-CN" altLang="en-US"/>
              <a:t>标签名称</a:t>
            </a:r>
            <a:r>
              <a:rPr lang="en-US" altLang="zh-CN"/>
              <a:t>&gt;, </a:t>
            </a:r>
            <a:r>
              <a:rPr lang="zh-CN" altLang="en-US"/>
              <a:t>比如</a:t>
            </a:r>
            <a:r>
              <a:rPr lang="en-US" altLang="zh-CN"/>
              <a:t>: &lt;</a:t>
            </a:r>
            <a:r>
              <a:rPr lang="en" altLang="zh-CN"/>
              <a:t>html&gt;&lt;/html&gt;</a:t>
            </a:r>
            <a:r>
              <a:rPr lang="zh-CN" altLang="en"/>
              <a:t>、</a:t>
            </a:r>
            <a:r>
              <a:rPr lang="en" altLang="zh-CN"/>
              <a:t>&lt;h1&gt;&lt;/h1&gt; </a:t>
            </a:r>
            <a:r>
              <a:rPr lang="zh-CN" altLang="en-US"/>
              <a:t>等，标签大多数都是成对出现的。</a:t>
            </a:r>
            <a:endParaRPr lang="en-US" altLang="zh-CN"/>
          </a:p>
          <a:p>
            <a:endParaRPr lang="zh-CN" altLang="en-US"/>
          </a:p>
          <a:p>
            <a:r>
              <a:rPr lang="zh-CN" altLang="en-US"/>
              <a:t>所谓超文本，有两层含义</a:t>
            </a:r>
            <a:r>
              <a:rPr lang="en-US" altLang="zh-CN"/>
              <a:t>:</a:t>
            </a:r>
          </a:p>
          <a:p>
            <a:pPr marL="342900" indent="-342900">
              <a:buFont typeface="+mj-lt"/>
              <a:buAutoNum type="arabicPeriod"/>
            </a:pPr>
            <a:r>
              <a:rPr lang="zh-CN" altLang="en-US"/>
              <a:t>因为网页中还可以图片、视频、音频等内容</a:t>
            </a:r>
            <a:r>
              <a:rPr lang="en-US" altLang="zh-CN"/>
              <a:t>(</a:t>
            </a:r>
            <a:r>
              <a:rPr lang="zh-CN" altLang="en-US"/>
              <a:t>超越文本限制</a:t>
            </a:r>
            <a:r>
              <a:rPr lang="en-US" altLang="zh-CN"/>
              <a:t>)</a:t>
            </a:r>
          </a:p>
          <a:p>
            <a:pPr marL="342900" indent="-342900">
              <a:buFont typeface="+mj-lt"/>
              <a:buAutoNum type="arabicPeriod"/>
            </a:pPr>
            <a:r>
              <a:rPr lang="zh-CN" altLang="en-US"/>
              <a:t>它还可以在网页中跳转到另一个网页，与世界各地主机的网页链接</a:t>
            </a:r>
            <a:r>
              <a:rPr lang="en-US" altLang="zh-CN"/>
              <a:t>(</a:t>
            </a:r>
            <a:r>
              <a:rPr lang="zh-CN" altLang="en-US"/>
              <a:t>超链接文本</a:t>
            </a:r>
            <a:r>
              <a:rPr lang="en-US" altLang="zh-CN"/>
              <a:t>)</a:t>
            </a:r>
          </a:p>
        </p:txBody>
      </p:sp>
    </p:spTree>
    <p:extLst>
      <p:ext uri="{BB962C8B-B14F-4D97-AF65-F5344CB8AC3E}">
        <p14:creationId xmlns:p14="http://schemas.microsoft.com/office/powerpoint/2010/main" val="285502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html</a:t>
            </a:r>
            <a:r>
              <a:rPr lang="zh-CN" altLang="en-US"/>
              <a:t>介绍</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p:txBody>
          <a:bodyPr/>
          <a:lstStyle/>
          <a:p>
            <a:r>
              <a:rPr lang="en-US" altLang="zh-CN" dirty="0"/>
              <a:t>html</a:t>
            </a:r>
            <a:r>
              <a:rPr lang="zh-CN" altLang="en-US" dirty="0"/>
              <a:t>作用</a:t>
            </a:r>
          </a:p>
        </p:txBody>
      </p:sp>
      <p:sp>
        <p:nvSpPr>
          <p:cNvPr id="7" name="文本占位符 6">
            <a:extLst>
              <a:ext uri="{FF2B5EF4-FFF2-40B4-BE49-F238E27FC236}">
                <a16:creationId xmlns:a16="http://schemas.microsoft.com/office/drawing/2014/main" id="{D6E14576-3E19-2A45-AE67-BE8AAF15CCE7}"/>
              </a:ext>
            </a:extLst>
          </p:cNvPr>
          <p:cNvSpPr>
            <a:spLocks noGrp="1"/>
          </p:cNvSpPr>
          <p:nvPr>
            <p:ph type="body" sz="quarter" idx="11"/>
          </p:nvPr>
        </p:nvSpPr>
        <p:spPr/>
        <p:txBody>
          <a:bodyPr/>
          <a:lstStyle/>
          <a:p>
            <a:r>
              <a:rPr lang="en" altLang="zh-CN" dirty="0"/>
              <a:t>html</a:t>
            </a:r>
            <a:r>
              <a:rPr lang="zh-CN" altLang="en-US" dirty="0"/>
              <a:t>是用来开发网页的，它是开发网页的语言。</a:t>
            </a:r>
          </a:p>
        </p:txBody>
      </p:sp>
    </p:spTree>
    <p:extLst>
      <p:ext uri="{BB962C8B-B14F-4D97-AF65-F5344CB8AC3E}">
        <p14:creationId xmlns:p14="http://schemas.microsoft.com/office/powerpoint/2010/main" val="2077297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180780F-C9DB-2444-81D9-0C48F0501E10}"/>
              </a:ext>
            </a:extLst>
          </p:cNvPr>
          <p:cNvSpPr>
            <a:spLocks noGrp="1"/>
          </p:cNvSpPr>
          <p:nvPr>
            <p:ph type="ctrTitle"/>
          </p:nvPr>
        </p:nvSpPr>
        <p:spPr/>
        <p:txBody>
          <a:bodyPr>
            <a:normAutofit fontScale="90000"/>
          </a:bodyPr>
          <a:lstStyle/>
          <a:p>
            <a:r>
              <a:rPr lang="en-US" altLang="zh-CN" dirty="0"/>
              <a:t>html</a:t>
            </a:r>
            <a:r>
              <a:rPr lang="zh-CN" altLang="en-US" dirty="0"/>
              <a:t>基本结构</a:t>
            </a:r>
          </a:p>
        </p:txBody>
      </p:sp>
      <p:sp>
        <p:nvSpPr>
          <p:cNvPr id="4" name="文本占位符 3">
            <a:extLst>
              <a:ext uri="{FF2B5EF4-FFF2-40B4-BE49-F238E27FC236}">
                <a16:creationId xmlns:a16="http://schemas.microsoft.com/office/drawing/2014/main" id="{2B00E6CA-B092-D14B-AFC4-E64326B88CFD}"/>
              </a:ext>
            </a:extLst>
          </p:cNvPr>
          <p:cNvSpPr>
            <a:spLocks noGrp="1"/>
          </p:cNvSpPr>
          <p:nvPr>
            <p:ph type="body" idx="10"/>
          </p:nvPr>
        </p:nvSpPr>
        <p:spPr/>
        <p:txBody>
          <a:bodyPr/>
          <a:lstStyle/>
          <a:p>
            <a:r>
              <a:rPr lang="zh-CN" altLang="en-US" dirty="0"/>
              <a:t>结构代码</a:t>
            </a:r>
            <a:endParaRPr lang="en-US" altLang="zh-CN" dirty="0"/>
          </a:p>
          <a:p>
            <a:r>
              <a:rPr lang="zh-CN" altLang="en-US" dirty="0"/>
              <a:t>浏览网页文件</a:t>
            </a:r>
            <a:endParaRPr lang="en-US" altLang="zh-CN" dirty="0"/>
          </a:p>
          <a:p>
            <a:endParaRPr lang="zh-CN" altLang="en-US" dirty="0"/>
          </a:p>
          <a:p>
            <a:endParaRPr lang="zh-CN" altLang="en-US" dirty="0"/>
          </a:p>
        </p:txBody>
      </p:sp>
      <p:sp>
        <p:nvSpPr>
          <p:cNvPr id="5" name="文本占位符 4">
            <a:extLst>
              <a:ext uri="{FF2B5EF4-FFF2-40B4-BE49-F238E27FC236}">
                <a16:creationId xmlns:a16="http://schemas.microsoft.com/office/drawing/2014/main" id="{E7AC8956-CADA-F84A-BC5C-542D3650A295}"/>
              </a:ext>
            </a:extLst>
          </p:cNvPr>
          <p:cNvSpPr>
            <a:spLocks noGrp="1"/>
          </p:cNvSpPr>
          <p:nvPr>
            <p:ph type="body" sz="quarter" idx="11"/>
          </p:nvPr>
        </p:nvSpPr>
        <p:spPr/>
        <p:txBody>
          <a:bodyPr/>
          <a:lstStyle/>
          <a:p>
            <a:r>
              <a:rPr lang="en-US" altLang="zh-CN" dirty="0"/>
              <a:t>02</a:t>
            </a:r>
            <a:endParaRPr lang="zh-CN" altLang="en-US" dirty="0"/>
          </a:p>
        </p:txBody>
      </p:sp>
    </p:spTree>
    <p:extLst>
      <p:ext uri="{BB962C8B-B14F-4D97-AF65-F5344CB8AC3E}">
        <p14:creationId xmlns:p14="http://schemas.microsoft.com/office/powerpoint/2010/main" val="1363349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html</a:t>
            </a:r>
            <a:r>
              <a:rPr lang="zh-CN" altLang="en-US"/>
              <a:t>基本结构</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p:txBody>
          <a:bodyPr/>
          <a:lstStyle/>
          <a:p>
            <a:r>
              <a:rPr lang="zh-CN" altLang="en-US"/>
              <a:t>结构代码</a:t>
            </a:r>
          </a:p>
        </p:txBody>
      </p:sp>
      <p:sp>
        <p:nvSpPr>
          <p:cNvPr id="8" name="矩形 7">
            <a:extLst>
              <a:ext uri="{FF2B5EF4-FFF2-40B4-BE49-F238E27FC236}">
                <a16:creationId xmlns:a16="http://schemas.microsoft.com/office/drawing/2014/main" id="{9B5AEA01-DCD1-9D43-AEB6-B4A16B97F6A1}"/>
              </a:ext>
            </a:extLst>
          </p:cNvPr>
          <p:cNvSpPr/>
          <p:nvPr/>
        </p:nvSpPr>
        <p:spPr>
          <a:xfrm>
            <a:off x="4286162" y="1956257"/>
            <a:ext cx="7543164" cy="2945486"/>
          </a:xfrm>
          <a:prstGeom prst="rect">
            <a:avLst/>
          </a:prstGeom>
        </p:spPr>
        <p:txBody>
          <a:bodyPr wrap="square">
            <a:spAutoFit/>
          </a:bodyPr>
          <a:lstStyle/>
          <a:p>
            <a:pPr>
              <a:lnSpc>
                <a:spcPct val="150000"/>
              </a:lnSpc>
              <a:buFont typeface="+mj-lt"/>
              <a:buAutoNum type="arabicPeriod"/>
            </a:pPr>
            <a:r>
              <a:rPr lang="zh-CN" altLang="en-US" b="0" i="0">
                <a:solidFill>
                  <a:srgbClr val="333333"/>
                </a:solidFill>
                <a:effectLst/>
                <a:latin typeface="Helvetica Neue" panose="02000503000000020004" pitchFamily="2" charset="0"/>
              </a:rPr>
              <a:t>第一行</a:t>
            </a:r>
            <a:r>
              <a:rPr lang="en-US" altLang="zh-CN" b="0" i="0">
                <a:solidFill>
                  <a:srgbClr val="333333"/>
                </a:solidFill>
                <a:effectLst/>
                <a:latin typeface="Helvetica Neue" panose="02000503000000020004" pitchFamily="2" charset="0"/>
              </a:rPr>
              <a:t>&lt;!</a:t>
            </a:r>
            <a:r>
              <a:rPr lang="en" altLang="zh-CN" b="0" i="0">
                <a:solidFill>
                  <a:srgbClr val="333333"/>
                </a:solidFill>
                <a:effectLst/>
                <a:latin typeface="Helvetica Neue" panose="02000503000000020004" pitchFamily="2" charset="0"/>
              </a:rPr>
              <a:t>DOCTYPE html&gt;</a:t>
            </a:r>
            <a:r>
              <a:rPr lang="zh-CN" altLang="en-US" b="0" i="0">
                <a:solidFill>
                  <a:srgbClr val="333333"/>
                </a:solidFill>
                <a:effectLst/>
                <a:latin typeface="Helvetica Neue" panose="02000503000000020004" pitchFamily="2" charset="0"/>
              </a:rPr>
              <a:t>是文档声明</a:t>
            </a:r>
            <a:r>
              <a:rPr lang="en-US" altLang="zh-CN" b="0" i="0">
                <a:solidFill>
                  <a:srgbClr val="333333"/>
                </a:solidFill>
                <a:effectLst/>
                <a:latin typeface="Helvetica Neue" panose="02000503000000020004" pitchFamily="2" charset="0"/>
              </a:rPr>
              <a:t>, </a:t>
            </a:r>
            <a:r>
              <a:rPr lang="zh-CN" altLang="en-US" b="0" i="0">
                <a:solidFill>
                  <a:srgbClr val="333333"/>
                </a:solidFill>
                <a:effectLst/>
                <a:latin typeface="Helvetica Neue" panose="02000503000000020004" pitchFamily="2" charset="0"/>
              </a:rPr>
              <a:t>用来指定页面所使用的</a:t>
            </a:r>
            <a:r>
              <a:rPr lang="en" altLang="zh-CN" b="0" i="0">
                <a:solidFill>
                  <a:srgbClr val="333333"/>
                </a:solidFill>
                <a:effectLst/>
                <a:latin typeface="Helvetica Neue" panose="02000503000000020004" pitchFamily="2" charset="0"/>
              </a:rPr>
              <a:t>html</a:t>
            </a:r>
            <a:r>
              <a:rPr lang="zh-CN" altLang="en-US" b="0" i="0">
                <a:solidFill>
                  <a:srgbClr val="333333"/>
                </a:solidFill>
                <a:effectLst/>
                <a:latin typeface="Helvetica Neue" panose="02000503000000020004" pitchFamily="2" charset="0"/>
              </a:rPr>
              <a:t>的版本</a:t>
            </a:r>
            <a:r>
              <a:rPr lang="en-US" altLang="zh-CN" b="0" i="0">
                <a:solidFill>
                  <a:srgbClr val="333333"/>
                </a:solidFill>
                <a:effectLst/>
                <a:latin typeface="Helvetica Neue" panose="02000503000000020004" pitchFamily="2" charset="0"/>
              </a:rPr>
              <a:t>, </a:t>
            </a:r>
            <a:r>
              <a:rPr lang="zh-CN" altLang="en-US" b="0" i="0">
                <a:solidFill>
                  <a:srgbClr val="333333"/>
                </a:solidFill>
                <a:effectLst/>
                <a:latin typeface="Helvetica Neue" panose="02000503000000020004" pitchFamily="2" charset="0"/>
              </a:rPr>
              <a:t>这里声明的是一个</a:t>
            </a:r>
            <a:r>
              <a:rPr lang="en" altLang="zh-CN" b="0" i="0">
                <a:solidFill>
                  <a:srgbClr val="333333"/>
                </a:solidFill>
                <a:effectLst/>
                <a:latin typeface="Helvetica Neue" panose="02000503000000020004" pitchFamily="2" charset="0"/>
              </a:rPr>
              <a:t>html5</a:t>
            </a:r>
            <a:r>
              <a:rPr lang="zh-CN" altLang="en-US" b="0" i="0">
                <a:solidFill>
                  <a:srgbClr val="333333"/>
                </a:solidFill>
                <a:effectLst/>
                <a:latin typeface="Helvetica Neue" panose="02000503000000020004" pitchFamily="2" charset="0"/>
              </a:rPr>
              <a:t>的文档。</a:t>
            </a:r>
          </a:p>
          <a:p>
            <a:pPr>
              <a:lnSpc>
                <a:spcPct val="150000"/>
              </a:lnSpc>
              <a:buFont typeface="+mj-lt"/>
              <a:buAutoNum type="arabicPeriod"/>
            </a:pPr>
            <a:r>
              <a:rPr lang="en-US" altLang="zh-CN" b="0" i="0">
                <a:solidFill>
                  <a:srgbClr val="333333"/>
                </a:solidFill>
                <a:effectLst/>
                <a:latin typeface="Helvetica Neue" panose="02000503000000020004" pitchFamily="2" charset="0"/>
              </a:rPr>
              <a:t>&lt;</a:t>
            </a:r>
            <a:r>
              <a:rPr lang="en" altLang="zh-CN" b="0" i="0">
                <a:solidFill>
                  <a:srgbClr val="333333"/>
                </a:solidFill>
                <a:effectLst/>
                <a:latin typeface="Helvetica Neue" panose="02000503000000020004" pitchFamily="2" charset="0"/>
              </a:rPr>
              <a:t>html&gt;...&lt;/html&gt;</a:t>
            </a:r>
            <a:r>
              <a:rPr lang="zh-CN" altLang="en-US" b="0" i="0">
                <a:solidFill>
                  <a:srgbClr val="333333"/>
                </a:solidFill>
                <a:effectLst/>
                <a:latin typeface="Helvetica Neue" panose="02000503000000020004" pitchFamily="2" charset="0"/>
              </a:rPr>
              <a:t>标签是开发人员在告诉浏览器，整个网页是从</a:t>
            </a:r>
            <a:r>
              <a:rPr lang="en-US" altLang="zh-CN" b="0" i="0">
                <a:solidFill>
                  <a:srgbClr val="333333"/>
                </a:solidFill>
                <a:effectLst/>
                <a:latin typeface="Helvetica Neue" panose="02000503000000020004" pitchFamily="2" charset="0"/>
              </a:rPr>
              <a:t>&lt;</a:t>
            </a:r>
            <a:r>
              <a:rPr lang="en" altLang="zh-CN" b="0" i="0">
                <a:solidFill>
                  <a:srgbClr val="333333"/>
                </a:solidFill>
                <a:effectLst/>
                <a:latin typeface="Helvetica Neue" panose="02000503000000020004" pitchFamily="2" charset="0"/>
              </a:rPr>
              <a:t>html&gt;</a:t>
            </a:r>
            <a:r>
              <a:rPr lang="zh-CN" altLang="en-US" b="0" i="0">
                <a:solidFill>
                  <a:srgbClr val="333333"/>
                </a:solidFill>
                <a:effectLst/>
                <a:latin typeface="Helvetica Neue" panose="02000503000000020004" pitchFamily="2" charset="0"/>
              </a:rPr>
              <a:t>这里开始的，到</a:t>
            </a:r>
            <a:r>
              <a:rPr lang="en-US" altLang="zh-CN" b="0" i="0">
                <a:solidFill>
                  <a:srgbClr val="333333"/>
                </a:solidFill>
                <a:effectLst/>
                <a:latin typeface="Helvetica Neue" panose="02000503000000020004" pitchFamily="2" charset="0"/>
              </a:rPr>
              <a:t>&lt;/</a:t>
            </a:r>
            <a:r>
              <a:rPr lang="en" altLang="zh-CN" b="0" i="0">
                <a:solidFill>
                  <a:srgbClr val="333333"/>
                </a:solidFill>
                <a:effectLst/>
                <a:latin typeface="Helvetica Neue" panose="02000503000000020004" pitchFamily="2" charset="0"/>
              </a:rPr>
              <a:t>html&gt;</a:t>
            </a:r>
            <a:r>
              <a:rPr lang="zh-CN" altLang="en-US" b="0" i="0">
                <a:solidFill>
                  <a:srgbClr val="333333"/>
                </a:solidFill>
                <a:effectLst/>
                <a:latin typeface="Helvetica Neue" panose="02000503000000020004" pitchFamily="2" charset="0"/>
              </a:rPr>
              <a:t>结束</a:t>
            </a:r>
            <a:r>
              <a:rPr lang="en-US" altLang="zh-CN" b="0" i="0">
                <a:solidFill>
                  <a:srgbClr val="333333"/>
                </a:solidFill>
                <a:effectLst/>
                <a:latin typeface="Helvetica Neue" panose="02000503000000020004" pitchFamily="2" charset="0"/>
              </a:rPr>
              <a:t>,</a:t>
            </a:r>
            <a:r>
              <a:rPr lang="zh-CN" altLang="en-US" b="0" i="0">
                <a:solidFill>
                  <a:srgbClr val="333333"/>
                </a:solidFill>
                <a:effectLst/>
                <a:latin typeface="Helvetica Neue" panose="02000503000000020004" pitchFamily="2" charset="0"/>
              </a:rPr>
              <a:t>也就是</a:t>
            </a:r>
            <a:r>
              <a:rPr lang="en" altLang="zh-CN" b="0" i="0">
                <a:solidFill>
                  <a:srgbClr val="333333"/>
                </a:solidFill>
                <a:effectLst/>
                <a:latin typeface="Helvetica Neue" panose="02000503000000020004" pitchFamily="2" charset="0"/>
              </a:rPr>
              <a:t>html</a:t>
            </a:r>
            <a:r>
              <a:rPr lang="zh-CN" altLang="en-US" b="0" i="0">
                <a:solidFill>
                  <a:srgbClr val="333333"/>
                </a:solidFill>
                <a:effectLst/>
                <a:latin typeface="Helvetica Neue" panose="02000503000000020004" pitchFamily="2" charset="0"/>
              </a:rPr>
              <a:t>文档的开始和结束标签。</a:t>
            </a:r>
          </a:p>
          <a:p>
            <a:pPr>
              <a:lnSpc>
                <a:spcPct val="150000"/>
              </a:lnSpc>
              <a:buFont typeface="+mj-lt"/>
              <a:buAutoNum type="arabicPeriod"/>
            </a:pPr>
            <a:r>
              <a:rPr lang="en-US" altLang="zh-CN" b="0" i="0">
                <a:solidFill>
                  <a:srgbClr val="333333"/>
                </a:solidFill>
                <a:effectLst/>
                <a:latin typeface="Helvetica Neue" panose="02000503000000020004" pitchFamily="2" charset="0"/>
              </a:rPr>
              <a:t>&lt;</a:t>
            </a:r>
            <a:r>
              <a:rPr lang="en" altLang="zh-CN" b="0" i="0">
                <a:solidFill>
                  <a:srgbClr val="333333"/>
                </a:solidFill>
                <a:effectLst/>
                <a:latin typeface="Helvetica Neue" panose="02000503000000020004" pitchFamily="2" charset="0"/>
              </a:rPr>
              <a:t>head&gt;...&lt;/head&gt;</a:t>
            </a:r>
            <a:r>
              <a:rPr lang="zh-CN" altLang="en-US" b="0" i="0">
                <a:solidFill>
                  <a:srgbClr val="333333"/>
                </a:solidFill>
                <a:effectLst/>
                <a:latin typeface="Helvetica Neue" panose="02000503000000020004" pitchFamily="2" charset="0"/>
              </a:rPr>
              <a:t>标签用于定义文档的头部</a:t>
            </a:r>
            <a:r>
              <a:rPr lang="en-US" altLang="zh-CN" b="0" i="0">
                <a:solidFill>
                  <a:srgbClr val="333333"/>
                </a:solidFill>
                <a:effectLst/>
                <a:latin typeface="Helvetica Neue" panose="02000503000000020004" pitchFamily="2" charset="0"/>
              </a:rPr>
              <a:t>,</a:t>
            </a:r>
            <a:r>
              <a:rPr lang="zh-CN" altLang="en-US" b="0" i="0">
                <a:solidFill>
                  <a:srgbClr val="333333"/>
                </a:solidFill>
                <a:effectLst/>
                <a:latin typeface="Helvetica Neue" panose="02000503000000020004" pitchFamily="2" charset="0"/>
              </a:rPr>
              <a:t>是负责对网页进行设置标题、编码格式以及引入</a:t>
            </a:r>
            <a:r>
              <a:rPr lang="en" altLang="zh-CN" b="0" i="0">
                <a:solidFill>
                  <a:srgbClr val="333333"/>
                </a:solidFill>
                <a:effectLst/>
                <a:latin typeface="Helvetica Neue" panose="02000503000000020004" pitchFamily="2" charset="0"/>
              </a:rPr>
              <a:t>css</a:t>
            </a:r>
            <a:r>
              <a:rPr lang="zh-CN" altLang="en-US" b="0" i="0">
                <a:solidFill>
                  <a:srgbClr val="333333"/>
                </a:solidFill>
                <a:effectLst/>
                <a:latin typeface="Helvetica Neue" panose="02000503000000020004" pitchFamily="2" charset="0"/>
              </a:rPr>
              <a:t>和</a:t>
            </a:r>
            <a:r>
              <a:rPr lang="en" altLang="zh-CN" b="0" i="0">
                <a:solidFill>
                  <a:srgbClr val="333333"/>
                </a:solidFill>
                <a:effectLst/>
                <a:latin typeface="Helvetica Neue" panose="02000503000000020004" pitchFamily="2" charset="0"/>
              </a:rPr>
              <a:t>js</a:t>
            </a:r>
            <a:r>
              <a:rPr lang="zh-CN" altLang="en-US" b="0" i="0">
                <a:solidFill>
                  <a:srgbClr val="333333"/>
                </a:solidFill>
                <a:effectLst/>
                <a:latin typeface="Helvetica Neue" panose="02000503000000020004" pitchFamily="2" charset="0"/>
              </a:rPr>
              <a:t>文件的。</a:t>
            </a:r>
          </a:p>
          <a:p>
            <a:pPr>
              <a:lnSpc>
                <a:spcPct val="150000"/>
              </a:lnSpc>
              <a:buFont typeface="+mj-lt"/>
              <a:buAutoNum type="arabicPeriod"/>
            </a:pPr>
            <a:r>
              <a:rPr lang="en-US" altLang="zh-CN" b="0" i="0">
                <a:solidFill>
                  <a:srgbClr val="333333"/>
                </a:solidFill>
                <a:effectLst/>
                <a:latin typeface="Helvetica Neue" panose="02000503000000020004" pitchFamily="2" charset="0"/>
              </a:rPr>
              <a:t>&lt;</a:t>
            </a:r>
            <a:r>
              <a:rPr lang="en" altLang="zh-CN" b="0" i="0">
                <a:solidFill>
                  <a:srgbClr val="333333"/>
                </a:solidFill>
                <a:effectLst/>
                <a:latin typeface="Helvetica Neue" panose="02000503000000020004" pitchFamily="2" charset="0"/>
              </a:rPr>
              <a:t>body&gt;...&lt;/body&gt;</a:t>
            </a:r>
            <a:r>
              <a:rPr lang="zh-CN" altLang="en-US" b="0" i="0">
                <a:solidFill>
                  <a:srgbClr val="333333"/>
                </a:solidFill>
                <a:effectLst/>
                <a:latin typeface="Helvetica Neue" panose="02000503000000020004" pitchFamily="2" charset="0"/>
              </a:rPr>
              <a:t>标签是编写网页上显示的内容。</a:t>
            </a:r>
          </a:p>
        </p:txBody>
      </p:sp>
      <p:pic>
        <p:nvPicPr>
          <p:cNvPr id="9" name="图片 8">
            <a:extLst>
              <a:ext uri="{FF2B5EF4-FFF2-40B4-BE49-F238E27FC236}">
                <a16:creationId xmlns:a16="http://schemas.microsoft.com/office/drawing/2014/main" id="{F1EC84F2-A73D-BD40-A743-CF9CC3912C44}"/>
              </a:ext>
            </a:extLst>
          </p:cNvPr>
          <p:cNvPicPr>
            <a:picLocks noChangeAspect="1"/>
          </p:cNvPicPr>
          <p:nvPr/>
        </p:nvPicPr>
        <p:blipFill>
          <a:blip r:embed="rId2"/>
          <a:stretch>
            <a:fillRect/>
          </a:stretch>
        </p:blipFill>
        <p:spPr>
          <a:xfrm>
            <a:off x="509206" y="1826318"/>
            <a:ext cx="3441700" cy="3416300"/>
          </a:xfrm>
          <a:prstGeom prst="rect">
            <a:avLst/>
          </a:prstGeom>
        </p:spPr>
      </p:pic>
    </p:spTree>
    <p:extLst>
      <p:ext uri="{BB962C8B-B14F-4D97-AF65-F5344CB8AC3E}">
        <p14:creationId xmlns:p14="http://schemas.microsoft.com/office/powerpoint/2010/main" val="762666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html</a:t>
            </a:r>
            <a:r>
              <a:rPr lang="zh-CN" altLang="en-US"/>
              <a:t>基本结构</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浏览网页文件</a:t>
            </a:r>
          </a:p>
        </p:txBody>
      </p:sp>
      <p:sp>
        <p:nvSpPr>
          <p:cNvPr id="7" name="文本占位符 6">
            <a:extLst>
              <a:ext uri="{FF2B5EF4-FFF2-40B4-BE49-F238E27FC236}">
                <a16:creationId xmlns:a16="http://schemas.microsoft.com/office/drawing/2014/main" id="{D6E14576-3E19-2A45-AE67-BE8AAF15CCE7}"/>
              </a:ext>
            </a:extLst>
          </p:cNvPr>
          <p:cNvSpPr>
            <a:spLocks noGrp="1"/>
          </p:cNvSpPr>
          <p:nvPr>
            <p:ph type="body" sz="quarter" idx="11"/>
          </p:nvPr>
        </p:nvSpPr>
        <p:spPr>
          <a:xfrm>
            <a:off x="746600" y="1427608"/>
            <a:ext cx="10698800" cy="4219575"/>
          </a:xfrm>
        </p:spPr>
        <p:txBody>
          <a:bodyPr/>
          <a:lstStyle/>
          <a:p>
            <a:r>
              <a:rPr lang="zh-CN" altLang="en-US"/>
              <a:t>网页文件的后缀是</a:t>
            </a:r>
            <a:r>
              <a:rPr lang="en-US" altLang="zh-CN" b="1"/>
              <a:t>.</a:t>
            </a:r>
            <a:r>
              <a:rPr lang="en" altLang="zh-CN" b="1"/>
              <a:t>html</a:t>
            </a:r>
            <a:r>
              <a:rPr lang="zh-CN" altLang="en-US"/>
              <a:t>或者</a:t>
            </a:r>
            <a:r>
              <a:rPr lang="en-US" altLang="zh-CN" b="1"/>
              <a:t>.</a:t>
            </a:r>
            <a:r>
              <a:rPr lang="en" altLang="zh-CN" b="1"/>
              <a:t>htm</a:t>
            </a:r>
            <a:r>
              <a:rPr lang="en" altLang="zh-CN"/>
              <a:t>, </a:t>
            </a:r>
            <a:r>
              <a:rPr lang="zh-CN" altLang="en-US" b="1"/>
              <a:t>一个</a:t>
            </a:r>
            <a:r>
              <a:rPr lang="en" altLang="zh-CN" b="1"/>
              <a:t>html</a:t>
            </a:r>
            <a:r>
              <a:rPr lang="zh-CN" altLang="en-US" b="1"/>
              <a:t>文件就是一个网页</a:t>
            </a:r>
            <a:r>
              <a:rPr lang="zh-CN" altLang="en-US"/>
              <a:t>，</a:t>
            </a:r>
            <a:r>
              <a:rPr lang="en" altLang="zh-CN"/>
              <a:t>html</a:t>
            </a:r>
            <a:r>
              <a:rPr lang="zh-CN" altLang="en-US"/>
              <a:t>文件用编辑器打开显示的是文本，可以用文本的方式编辑它，如果用浏览器打开，浏览器会按照标签描述内容将文件渲染成网页。</a:t>
            </a:r>
          </a:p>
        </p:txBody>
      </p:sp>
    </p:spTree>
    <p:extLst>
      <p:ext uri="{BB962C8B-B14F-4D97-AF65-F5344CB8AC3E}">
        <p14:creationId xmlns:p14="http://schemas.microsoft.com/office/powerpoint/2010/main" val="2853380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180780F-C9DB-2444-81D9-0C48F0501E10}"/>
              </a:ext>
            </a:extLst>
          </p:cNvPr>
          <p:cNvSpPr>
            <a:spLocks noGrp="1"/>
          </p:cNvSpPr>
          <p:nvPr>
            <p:ph type="ctrTitle"/>
          </p:nvPr>
        </p:nvSpPr>
        <p:spPr/>
        <p:txBody>
          <a:bodyPr>
            <a:normAutofit fontScale="90000"/>
          </a:bodyPr>
          <a:lstStyle/>
          <a:p>
            <a:r>
              <a:rPr lang="en-US" altLang="zh-CN" dirty="0"/>
              <a:t>vscode</a:t>
            </a:r>
            <a:r>
              <a:rPr lang="zh-CN" altLang="en-US" dirty="0"/>
              <a:t>基本使用</a:t>
            </a:r>
          </a:p>
        </p:txBody>
      </p:sp>
      <p:sp>
        <p:nvSpPr>
          <p:cNvPr id="4" name="文本占位符 3">
            <a:extLst>
              <a:ext uri="{FF2B5EF4-FFF2-40B4-BE49-F238E27FC236}">
                <a16:creationId xmlns:a16="http://schemas.microsoft.com/office/drawing/2014/main" id="{2B00E6CA-B092-D14B-AFC4-E64326B88CFD}"/>
              </a:ext>
            </a:extLst>
          </p:cNvPr>
          <p:cNvSpPr>
            <a:spLocks noGrp="1"/>
          </p:cNvSpPr>
          <p:nvPr>
            <p:ph type="body" idx="10"/>
          </p:nvPr>
        </p:nvSpPr>
        <p:spPr>
          <a:xfrm>
            <a:off x="5273040" y="3069271"/>
            <a:ext cx="5466080" cy="3551447"/>
          </a:xfrm>
        </p:spPr>
        <p:txBody>
          <a:bodyPr/>
          <a:lstStyle/>
          <a:p>
            <a:r>
              <a:rPr lang="en-US" altLang="zh-CN" dirty="0"/>
              <a:t>vscode</a:t>
            </a:r>
            <a:r>
              <a:rPr lang="zh-CN" altLang="en-US" dirty="0"/>
              <a:t>基本介绍</a:t>
            </a:r>
            <a:endParaRPr lang="en-US" altLang="zh-CN" dirty="0"/>
          </a:p>
          <a:p>
            <a:r>
              <a:rPr lang="en-US" altLang="zh-CN" dirty="0"/>
              <a:t>vscode</a:t>
            </a:r>
            <a:r>
              <a:rPr lang="zh-CN" altLang="en-US" dirty="0"/>
              <a:t>安装</a:t>
            </a:r>
            <a:endParaRPr lang="en-US" altLang="zh-CN" dirty="0"/>
          </a:p>
          <a:p>
            <a:r>
              <a:rPr lang="en-US" altLang="zh-CN" dirty="0"/>
              <a:t>vscode</a:t>
            </a:r>
            <a:r>
              <a:rPr lang="zh-CN" altLang="en-US" dirty="0"/>
              <a:t>插件安装</a:t>
            </a:r>
            <a:endParaRPr lang="en-US" altLang="zh-CN" dirty="0"/>
          </a:p>
          <a:p>
            <a:r>
              <a:rPr lang="en-US" altLang="zh-CN" dirty="0"/>
              <a:t>vscode</a:t>
            </a:r>
            <a:r>
              <a:rPr lang="zh-CN" altLang="en-US" dirty="0"/>
              <a:t>使用</a:t>
            </a:r>
            <a:endParaRPr lang="en-US" altLang="zh-CN" dirty="0"/>
          </a:p>
        </p:txBody>
      </p:sp>
      <p:sp>
        <p:nvSpPr>
          <p:cNvPr id="5" name="文本占位符 4">
            <a:extLst>
              <a:ext uri="{FF2B5EF4-FFF2-40B4-BE49-F238E27FC236}">
                <a16:creationId xmlns:a16="http://schemas.microsoft.com/office/drawing/2014/main" id="{E7AC8956-CADA-F84A-BC5C-542D3650A295}"/>
              </a:ext>
            </a:extLst>
          </p:cNvPr>
          <p:cNvSpPr>
            <a:spLocks noGrp="1"/>
          </p:cNvSpPr>
          <p:nvPr>
            <p:ph type="body" sz="quarter" idx="11"/>
          </p:nvPr>
        </p:nvSpPr>
        <p:spPr/>
        <p:txBody>
          <a:bodyPr/>
          <a:lstStyle/>
          <a:p>
            <a:r>
              <a:rPr lang="en-US" altLang="zh-CN" dirty="0"/>
              <a:t>03</a:t>
            </a:r>
            <a:endParaRPr lang="zh-CN" altLang="en-US" dirty="0"/>
          </a:p>
        </p:txBody>
      </p:sp>
    </p:spTree>
    <p:extLst>
      <p:ext uri="{BB962C8B-B14F-4D97-AF65-F5344CB8AC3E}">
        <p14:creationId xmlns:p14="http://schemas.microsoft.com/office/powerpoint/2010/main" val="1782336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vscode</a:t>
            </a:r>
            <a:r>
              <a:rPr lang="zh-CN" altLang="en-US"/>
              <a:t>基本使用</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en-US" altLang="zh-CN"/>
              <a:t>vscode</a:t>
            </a:r>
            <a:r>
              <a:rPr lang="zh-CN" altLang="en-US"/>
              <a:t>基本介绍</a:t>
            </a:r>
          </a:p>
        </p:txBody>
      </p:sp>
      <p:sp>
        <p:nvSpPr>
          <p:cNvPr id="7" name="文本占位符 6">
            <a:extLst>
              <a:ext uri="{FF2B5EF4-FFF2-40B4-BE49-F238E27FC236}">
                <a16:creationId xmlns:a16="http://schemas.microsoft.com/office/drawing/2014/main" id="{D6E14576-3E19-2A45-AE67-BE8AAF15CCE7}"/>
              </a:ext>
            </a:extLst>
          </p:cNvPr>
          <p:cNvSpPr>
            <a:spLocks noGrp="1"/>
          </p:cNvSpPr>
          <p:nvPr>
            <p:ph type="body" sz="quarter" idx="11"/>
          </p:nvPr>
        </p:nvSpPr>
        <p:spPr>
          <a:xfrm>
            <a:off x="746600" y="1427608"/>
            <a:ext cx="10698800" cy="4219575"/>
          </a:xfrm>
        </p:spPr>
        <p:txBody>
          <a:bodyPr/>
          <a:lstStyle/>
          <a:p>
            <a:r>
              <a:rPr lang="zh-CN" altLang="en-US"/>
              <a:t>全拼是 </a:t>
            </a:r>
            <a:r>
              <a:rPr lang="en" altLang="zh-CN"/>
              <a:t>Visual Studio Code (</a:t>
            </a:r>
            <a:r>
              <a:rPr lang="zh-CN" altLang="en-US"/>
              <a:t>简称 </a:t>
            </a:r>
            <a:r>
              <a:rPr lang="en" altLang="zh-CN"/>
              <a:t>VS Code) </a:t>
            </a:r>
            <a:r>
              <a:rPr lang="zh-CN" altLang="en-US"/>
              <a:t>是由微软研发的一款免费、开源的跨平台</a:t>
            </a:r>
            <a:r>
              <a:rPr lang="zh-CN" altLang="en-US" b="1"/>
              <a:t>代码编辑器</a:t>
            </a:r>
            <a:r>
              <a:rPr lang="zh-CN" altLang="en-US"/>
              <a:t>，目前是前端</a:t>
            </a:r>
            <a:r>
              <a:rPr lang="en-US" altLang="zh-CN"/>
              <a:t>(</a:t>
            </a:r>
            <a:r>
              <a:rPr lang="zh-CN" altLang="en-US"/>
              <a:t>网页</a:t>
            </a:r>
            <a:r>
              <a:rPr lang="en-US" altLang="zh-CN"/>
              <a:t>)</a:t>
            </a:r>
            <a:r>
              <a:rPr lang="zh-CN" altLang="en-US"/>
              <a:t>开发使用最多的一款软件开发工具。</a:t>
            </a:r>
          </a:p>
        </p:txBody>
      </p:sp>
    </p:spTree>
    <p:extLst>
      <p:ext uri="{BB962C8B-B14F-4D97-AF65-F5344CB8AC3E}">
        <p14:creationId xmlns:p14="http://schemas.microsoft.com/office/powerpoint/2010/main" val="2541173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vscode</a:t>
            </a:r>
            <a:r>
              <a:rPr lang="zh-CN" altLang="en-US"/>
              <a:t>基本使用</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en-US" altLang="zh-CN"/>
              <a:t>vscode</a:t>
            </a:r>
            <a:r>
              <a:rPr lang="zh-CN" altLang="en-US"/>
              <a:t>安装</a:t>
            </a:r>
          </a:p>
        </p:txBody>
      </p:sp>
      <p:sp>
        <p:nvSpPr>
          <p:cNvPr id="7" name="文本占位符 6">
            <a:extLst>
              <a:ext uri="{FF2B5EF4-FFF2-40B4-BE49-F238E27FC236}">
                <a16:creationId xmlns:a16="http://schemas.microsoft.com/office/drawing/2014/main" id="{D6E14576-3E19-2A45-AE67-BE8AAF15CCE7}"/>
              </a:ext>
            </a:extLst>
          </p:cNvPr>
          <p:cNvSpPr>
            <a:spLocks noGrp="1"/>
          </p:cNvSpPr>
          <p:nvPr>
            <p:ph type="body" sz="quarter" idx="11"/>
          </p:nvPr>
        </p:nvSpPr>
        <p:spPr>
          <a:xfrm>
            <a:off x="746600" y="1427608"/>
            <a:ext cx="10698800" cy="4219575"/>
          </a:xfrm>
        </p:spPr>
        <p:txBody>
          <a:bodyPr/>
          <a:lstStyle/>
          <a:p>
            <a:r>
              <a:rPr lang="zh-CN" altLang="en-US"/>
              <a:t>下载网址</a:t>
            </a:r>
            <a:r>
              <a:rPr lang="en-US" altLang="zh-CN"/>
              <a:t>: </a:t>
            </a:r>
            <a:r>
              <a:rPr lang="en" altLang="zh-CN">
                <a:hlinkClick r:id="rId2"/>
              </a:rPr>
              <a:t>https://code.visualstudio.com/Download</a:t>
            </a:r>
            <a:endParaRPr lang="en" altLang="zh-CN"/>
          </a:p>
          <a:p>
            <a:r>
              <a:rPr lang="zh-CN" altLang="en-US"/>
              <a:t>选择对应的安装包进行下载</a:t>
            </a:r>
            <a:r>
              <a:rPr lang="en-US" altLang="zh-CN"/>
              <a:t>:</a:t>
            </a:r>
          </a:p>
        </p:txBody>
      </p:sp>
      <p:sp>
        <p:nvSpPr>
          <p:cNvPr id="2" name="AutoShape 2" descr="平台选择">
            <a:extLst>
              <a:ext uri="{FF2B5EF4-FFF2-40B4-BE49-F238E27FC236}">
                <a16:creationId xmlns:a16="http://schemas.microsoft.com/office/drawing/2014/main" id="{599F542B-3AB1-CF47-B77B-6330AD6BE26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图片 3">
            <a:extLst>
              <a:ext uri="{FF2B5EF4-FFF2-40B4-BE49-F238E27FC236}">
                <a16:creationId xmlns:a16="http://schemas.microsoft.com/office/drawing/2014/main" id="{58ECC971-418E-8B4A-A14B-AC51A6A3CB71}"/>
              </a:ext>
            </a:extLst>
          </p:cNvPr>
          <p:cNvPicPr>
            <a:picLocks noChangeAspect="1"/>
          </p:cNvPicPr>
          <p:nvPr/>
        </p:nvPicPr>
        <p:blipFill>
          <a:blip r:embed="rId3"/>
          <a:stretch>
            <a:fillRect/>
          </a:stretch>
        </p:blipFill>
        <p:spPr>
          <a:xfrm>
            <a:off x="1938587" y="2845298"/>
            <a:ext cx="8619626" cy="2927783"/>
          </a:xfrm>
          <a:prstGeom prst="rect">
            <a:avLst/>
          </a:prstGeom>
        </p:spPr>
      </p:pic>
    </p:spTree>
    <p:extLst>
      <p:ext uri="{BB962C8B-B14F-4D97-AF65-F5344CB8AC3E}">
        <p14:creationId xmlns:p14="http://schemas.microsoft.com/office/powerpoint/2010/main" val="1678569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vscode</a:t>
            </a:r>
            <a:r>
              <a:rPr lang="zh-CN" altLang="en-US"/>
              <a:t>基本使用</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插件安装</a:t>
            </a:r>
          </a:p>
        </p:txBody>
      </p:sp>
      <p:graphicFrame>
        <p:nvGraphicFramePr>
          <p:cNvPr id="8" name="表格 7">
            <a:extLst>
              <a:ext uri="{FF2B5EF4-FFF2-40B4-BE49-F238E27FC236}">
                <a16:creationId xmlns:a16="http://schemas.microsoft.com/office/drawing/2014/main" id="{CD32DC45-132B-F043-85EF-30E91C60F9DA}"/>
              </a:ext>
            </a:extLst>
          </p:cNvPr>
          <p:cNvGraphicFramePr>
            <a:graphicFrameLocks noGrp="1"/>
          </p:cNvGraphicFramePr>
          <p:nvPr>
            <p:extLst>
              <p:ext uri="{D42A27DB-BD31-4B8C-83A1-F6EECF244321}">
                <p14:modId xmlns:p14="http://schemas.microsoft.com/office/powerpoint/2010/main" val="2206266919"/>
              </p:ext>
            </p:extLst>
          </p:nvPr>
        </p:nvGraphicFramePr>
        <p:xfrm>
          <a:off x="889476" y="1720509"/>
          <a:ext cx="8643150" cy="2119086"/>
        </p:xfrm>
        <a:graphic>
          <a:graphicData uri="http://schemas.openxmlformats.org/drawingml/2006/table">
            <a:tbl>
              <a:tblPr/>
              <a:tblGrid>
                <a:gridCol w="5360853">
                  <a:extLst>
                    <a:ext uri="{9D8B030D-6E8A-4147-A177-3AD203B41FA5}">
                      <a16:colId xmlns:a16="http://schemas.microsoft.com/office/drawing/2014/main" val="4070352941"/>
                    </a:ext>
                  </a:extLst>
                </a:gridCol>
                <a:gridCol w="3282297">
                  <a:extLst>
                    <a:ext uri="{9D8B030D-6E8A-4147-A177-3AD203B41FA5}">
                      <a16:colId xmlns:a16="http://schemas.microsoft.com/office/drawing/2014/main" val="432614512"/>
                    </a:ext>
                  </a:extLst>
                </a:gridCol>
              </a:tblGrid>
              <a:tr h="590457">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插件名</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ts val="2400"/>
                        </a:lnSpc>
                        <a:spcBef>
                          <a:spcPct val="0"/>
                        </a:spcBef>
                        <a:spcAft>
                          <a:spcPct val="0"/>
                        </a:spcAft>
                        <a:buClrTx/>
                        <a:buSzTx/>
                        <a:buFontTx/>
                        <a:buNone/>
                        <a:tabLst/>
                      </a:pPr>
                      <a:r>
                        <a:rPr kumimoji="0" lang="zh-CN" altLang="en-US" sz="1800" b="0" i="0" u="none" strike="noStrike" cap="none" normalizeH="0" baseline="0" dirty="0">
                          <a:ln>
                            <a:noFill/>
                          </a:ln>
                          <a:solidFill>
                            <a:srgbClr val="FFFFFF"/>
                          </a:solidFill>
                          <a:effectLst/>
                          <a:latin typeface="Alibaba PuHuiTi R" pitchFamily="18" charset="-122"/>
                          <a:ea typeface="Alibaba PuHuiTi R" pitchFamily="18" charset="-122"/>
                          <a:cs typeface="Alibaba PuHuiTi R" pitchFamily="18" charset="-122"/>
                        </a:rPr>
                        <a:t>说明</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AD2B26"/>
                    </a:solidFill>
                  </a:tcPr>
                </a:tc>
                <a:extLst>
                  <a:ext uri="{0D108BD9-81ED-4DB2-BD59-A6C34878D82A}">
                    <a16:rowId xmlns:a16="http://schemas.microsoft.com/office/drawing/2014/main" val="4202419644"/>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Chinese (Simplified) Language Pack for VS Code</a:t>
                      </a: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中文</a:t>
                      </a:r>
                      <a:r>
                        <a:rPr kumimoji="0" lang="en-US"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简体</a:t>
                      </a:r>
                      <a:r>
                        <a:rPr kumimoji="0" lang="en-US"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a:t>
                      </a: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汉化包</a:t>
                      </a: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1217203927"/>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open in browser</a:t>
                      </a: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右击在浏览器打开</a:t>
                      </a:r>
                      <a:r>
                        <a:rPr kumimoji="0" lang="en"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html</a:t>
                      </a:r>
                      <a:endPar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2571539613"/>
                  </a:ext>
                </a:extLst>
              </a:tr>
              <a:tr h="50954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vscode-icons</a:t>
                      </a:r>
                      <a:endParaRPr kumimoji="0" lang="en-US" altLang="zh-CN"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黑体" panose="02010609060101010101" pitchFamily="49" charset="-122"/>
                        </a:defRPr>
                      </a:lvl1pPr>
                      <a:lvl2pPr marL="742950" indent="-285750">
                        <a:spcBef>
                          <a:spcPct val="20000"/>
                        </a:spcBef>
                        <a:buFont typeface="Arial" panose="020B0604020202020204" pitchFamily="34" charset="0"/>
                        <a:defRPr sz="1600" b="1">
                          <a:solidFill>
                            <a:schemeClr val="tx1"/>
                          </a:solidFill>
                          <a:latin typeface="黑体" panose="02010609060101010101" pitchFamily="49" charset="-122"/>
                          <a:ea typeface="黑体" panose="02010609060101010101" pitchFamily="49" charset="-122"/>
                        </a:defRPr>
                      </a:lvl2pPr>
                      <a:lvl3pPr marL="1143000" indent="-228600">
                        <a:spcBef>
                          <a:spcPct val="20000"/>
                        </a:spcBef>
                        <a:buFont typeface="Arial" panose="020B0604020202020204" pitchFamily="34" charset="0"/>
                        <a:defRPr sz="1200" b="1">
                          <a:solidFill>
                            <a:schemeClr val="tx1"/>
                          </a:solidFill>
                          <a:latin typeface="黑体" panose="02010609060101010101" pitchFamily="49" charset="-122"/>
                          <a:ea typeface="黑体" panose="02010609060101010101" pitchFamily="49" charset="-122"/>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黑体" panose="02010609060101010101" pitchFamily="49" charset="-122"/>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dirty="0">
                          <a:ln>
                            <a:noFill/>
                          </a:ln>
                          <a:solidFill>
                            <a:srgbClr val="262626"/>
                          </a:solidFill>
                          <a:effectLst/>
                          <a:latin typeface="Alibaba PuHuiTi R" pitchFamily="18" charset="-122"/>
                          <a:ea typeface="Alibaba PuHuiTi R" pitchFamily="18" charset="-122"/>
                          <a:cs typeface="Alibaba PuHuiTi R" pitchFamily="18" charset="-122"/>
                        </a:rPr>
                        <a:t>美化文件图标</a:t>
                      </a:r>
                      <a:endParaRPr kumimoji="0" lang="en-US" altLang="zh-CN" sz="1600" b="0" i="0" u="none" strike="noStrike" cap="none" normalizeH="0" baseline="0" dirty="0">
                        <a:ln>
                          <a:noFill/>
                        </a:ln>
                        <a:solidFill>
                          <a:srgbClr val="FF0000"/>
                        </a:solidFill>
                        <a:effectLst/>
                        <a:latin typeface="Alibaba PuHuiTi R" pitchFamily="18" charset="-122"/>
                        <a:ea typeface="Alibaba PuHuiTi R" pitchFamily="18" charset="-122"/>
                        <a:cs typeface="Alibaba PuHuiTi R" pitchFamily="18" charset="-122"/>
                      </a:endParaRPr>
                    </a:p>
                  </a:txBody>
                  <a:tcPr marL="91408" marR="91408" marT="45741" marB="4574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494165722"/>
                  </a:ext>
                </a:extLst>
              </a:tr>
            </a:tbl>
          </a:graphicData>
        </a:graphic>
      </p:graphicFrame>
      <p:sp>
        <p:nvSpPr>
          <p:cNvPr id="2" name="矩形 1">
            <a:extLst>
              <a:ext uri="{FF2B5EF4-FFF2-40B4-BE49-F238E27FC236}">
                <a16:creationId xmlns:a16="http://schemas.microsoft.com/office/drawing/2014/main" id="{6D7AF0B1-E16A-5C4C-8575-156B604DF6AE}"/>
              </a:ext>
            </a:extLst>
          </p:cNvPr>
          <p:cNvSpPr/>
          <p:nvPr/>
        </p:nvSpPr>
        <p:spPr>
          <a:xfrm>
            <a:off x="889476" y="4691170"/>
            <a:ext cx="6086923" cy="369332"/>
          </a:xfrm>
          <a:prstGeom prst="rect">
            <a:avLst/>
          </a:prstGeom>
        </p:spPr>
        <p:txBody>
          <a:bodyPr wrap="none">
            <a:spAutoFit/>
          </a:bodyPr>
          <a:lstStyle/>
          <a:p>
            <a:r>
              <a:rPr lang="zh-CN" altLang="en-US">
                <a:solidFill>
                  <a:srgbClr val="FF0000"/>
                </a:solidFill>
                <a:latin typeface="Helvetica Neue" panose="02000503000000020004" pitchFamily="2" charset="0"/>
              </a:rPr>
              <a:t>卸载</a:t>
            </a:r>
            <a:r>
              <a:rPr lang="zh-CN" altLang="en-US" b="0" i="0">
                <a:solidFill>
                  <a:srgbClr val="333333"/>
                </a:solidFill>
                <a:effectLst/>
                <a:latin typeface="Helvetica Neue" panose="02000503000000020004" pitchFamily="2" charset="0"/>
              </a:rPr>
              <a:t>：点击对应安装的插件，然后再点击卸载按钮即可。</a:t>
            </a:r>
            <a:endParaRPr lang="zh-CN" altLang="en-US"/>
          </a:p>
        </p:txBody>
      </p:sp>
    </p:spTree>
    <p:extLst>
      <p:ext uri="{BB962C8B-B14F-4D97-AF65-F5344CB8AC3E}">
        <p14:creationId xmlns:p14="http://schemas.microsoft.com/office/powerpoint/2010/main" val="1699740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vscode</a:t>
            </a:r>
            <a:r>
              <a:rPr lang="zh-CN" altLang="en-US"/>
              <a:t>基本使用</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en-US" altLang="zh-CN"/>
              <a:t>vscode</a:t>
            </a:r>
            <a:r>
              <a:rPr lang="zh-CN" altLang="en-US"/>
              <a:t>的使用</a:t>
            </a:r>
          </a:p>
        </p:txBody>
      </p:sp>
      <p:sp>
        <p:nvSpPr>
          <p:cNvPr id="7" name="文本占位符 6">
            <a:extLst>
              <a:ext uri="{FF2B5EF4-FFF2-40B4-BE49-F238E27FC236}">
                <a16:creationId xmlns:a16="http://schemas.microsoft.com/office/drawing/2014/main" id="{D6E14576-3E19-2A45-AE67-BE8AAF15CCE7}"/>
              </a:ext>
            </a:extLst>
          </p:cNvPr>
          <p:cNvSpPr>
            <a:spLocks noGrp="1"/>
          </p:cNvSpPr>
          <p:nvPr>
            <p:ph type="body" sz="quarter" idx="11"/>
          </p:nvPr>
        </p:nvSpPr>
        <p:spPr>
          <a:xfrm>
            <a:off x="746600" y="1427608"/>
            <a:ext cx="10698800" cy="4219575"/>
          </a:xfrm>
        </p:spPr>
        <p:txBody>
          <a:bodyPr/>
          <a:lstStyle/>
          <a:p>
            <a:pPr marL="342900" indent="-342900">
              <a:buAutoNum type="arabicPeriod"/>
            </a:pPr>
            <a:r>
              <a:rPr lang="zh-CN" altLang="en-US" dirty="0"/>
              <a:t>打开文件夹创建文件</a:t>
            </a:r>
            <a:endParaRPr lang="en-US" altLang="zh-CN" dirty="0"/>
          </a:p>
          <a:p>
            <a:pPr marL="342900" indent="-342900">
              <a:buAutoNum type="arabicPeriod"/>
            </a:pPr>
            <a:r>
              <a:rPr lang="zh-CN" altLang="en-US" dirty="0"/>
              <a:t>快速创建</a:t>
            </a:r>
            <a:r>
              <a:rPr lang="en-US" altLang="zh-CN" dirty="0"/>
              <a:t>html</a:t>
            </a:r>
            <a:r>
              <a:rPr lang="zh-CN" altLang="en-US" dirty="0"/>
              <a:t>文件基本结构 </a:t>
            </a:r>
            <a:r>
              <a:rPr lang="en-US" altLang="zh-CN" dirty="0"/>
              <a:t>!+tab</a:t>
            </a:r>
          </a:p>
          <a:p>
            <a:pPr marL="342900" indent="-342900">
              <a:buAutoNum type="arabicPeriod"/>
            </a:pPr>
            <a:r>
              <a:rPr lang="zh-CN" altLang="en-US" dirty="0"/>
              <a:t>右键在浏览器打开</a:t>
            </a:r>
            <a:r>
              <a:rPr lang="en-US" altLang="zh-CN" dirty="0"/>
              <a:t>htm/html</a:t>
            </a:r>
            <a:r>
              <a:rPr lang="zh-CN" altLang="en-US" dirty="0"/>
              <a:t>文档</a:t>
            </a:r>
            <a:endParaRPr lang="en-US" altLang="zh-CN" dirty="0"/>
          </a:p>
          <a:p>
            <a:pPr marL="342900" indent="-342900">
              <a:buAutoNum type="arabicPeriod"/>
            </a:pPr>
            <a:r>
              <a:rPr lang="zh-CN" altLang="en-US" dirty="0"/>
              <a:t>设置字体大小</a:t>
            </a:r>
            <a:endParaRPr lang="en-US" altLang="zh-CN" dirty="0"/>
          </a:p>
          <a:p>
            <a:pPr marL="342900" indent="-342900">
              <a:buAutoNum type="arabicPeriod"/>
            </a:pPr>
            <a:r>
              <a:rPr lang="zh-CN" altLang="en-US" dirty="0"/>
              <a:t>设置颜色主题</a:t>
            </a:r>
            <a:endParaRPr lang="en-US" altLang="zh-CN" dirty="0"/>
          </a:p>
          <a:p>
            <a:pPr marL="342900" indent="-342900">
              <a:buAutoNum type="arabicPeriod"/>
            </a:pPr>
            <a:r>
              <a:rPr lang="zh-CN" altLang="en-US" dirty="0"/>
              <a:t>设置默认浏览器</a:t>
            </a:r>
          </a:p>
        </p:txBody>
      </p:sp>
    </p:spTree>
    <p:extLst>
      <p:ext uri="{BB962C8B-B14F-4D97-AF65-F5344CB8AC3E}">
        <p14:creationId xmlns:p14="http://schemas.microsoft.com/office/powerpoint/2010/main" val="632246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180780F-C9DB-2444-81D9-0C48F0501E10}"/>
              </a:ext>
            </a:extLst>
          </p:cNvPr>
          <p:cNvSpPr>
            <a:spLocks noGrp="1"/>
          </p:cNvSpPr>
          <p:nvPr>
            <p:ph type="ctrTitle"/>
          </p:nvPr>
        </p:nvSpPr>
        <p:spPr/>
        <p:txBody>
          <a:bodyPr>
            <a:normAutofit fontScale="90000"/>
          </a:bodyPr>
          <a:lstStyle/>
          <a:p>
            <a:r>
              <a:rPr lang="zh-CN" altLang="en-US" dirty="0"/>
              <a:t>常用</a:t>
            </a:r>
            <a:r>
              <a:rPr lang="en-US" altLang="zh-CN" dirty="0"/>
              <a:t>html</a:t>
            </a:r>
            <a:r>
              <a:rPr lang="zh-CN" altLang="en-US" dirty="0"/>
              <a:t>标签</a:t>
            </a:r>
          </a:p>
        </p:txBody>
      </p:sp>
      <p:sp>
        <p:nvSpPr>
          <p:cNvPr id="4" name="文本占位符 3">
            <a:extLst>
              <a:ext uri="{FF2B5EF4-FFF2-40B4-BE49-F238E27FC236}">
                <a16:creationId xmlns:a16="http://schemas.microsoft.com/office/drawing/2014/main" id="{2B00E6CA-B092-D14B-AFC4-E64326B88CFD}"/>
              </a:ext>
            </a:extLst>
          </p:cNvPr>
          <p:cNvSpPr>
            <a:spLocks noGrp="1"/>
          </p:cNvSpPr>
          <p:nvPr>
            <p:ph type="body" idx="10"/>
          </p:nvPr>
        </p:nvSpPr>
        <p:spPr>
          <a:xfrm>
            <a:off x="5273040" y="3069271"/>
            <a:ext cx="5466080" cy="3551447"/>
          </a:xfrm>
        </p:spPr>
        <p:txBody>
          <a:bodyPr/>
          <a:lstStyle/>
          <a:p>
            <a:r>
              <a:rPr lang="zh-CN" altLang="en-US" dirty="0"/>
              <a:t>双标签</a:t>
            </a:r>
            <a:endParaRPr lang="en-US" altLang="zh-CN" dirty="0"/>
          </a:p>
          <a:p>
            <a:r>
              <a:rPr lang="zh-CN" altLang="en-US" dirty="0"/>
              <a:t>单标签</a:t>
            </a:r>
            <a:endParaRPr lang="en-US" altLang="zh-CN" dirty="0"/>
          </a:p>
          <a:p>
            <a:r>
              <a:rPr lang="zh-CN" altLang="en-US" dirty="0"/>
              <a:t>带属性的标签</a:t>
            </a:r>
            <a:endParaRPr lang="en-US" altLang="zh-CN" dirty="0"/>
          </a:p>
          <a:p>
            <a:r>
              <a:rPr lang="zh-CN" altLang="en-US" dirty="0"/>
              <a:t>标签的嵌套</a:t>
            </a:r>
            <a:endParaRPr lang="en-US" altLang="zh-CN" dirty="0"/>
          </a:p>
          <a:p>
            <a:r>
              <a:rPr lang="zh-CN" altLang="en-US" dirty="0"/>
              <a:t>标签说明</a:t>
            </a:r>
            <a:endParaRPr lang="en-US" altLang="zh-CN" dirty="0"/>
          </a:p>
        </p:txBody>
      </p:sp>
      <p:sp>
        <p:nvSpPr>
          <p:cNvPr id="5" name="文本占位符 4">
            <a:extLst>
              <a:ext uri="{FF2B5EF4-FFF2-40B4-BE49-F238E27FC236}">
                <a16:creationId xmlns:a16="http://schemas.microsoft.com/office/drawing/2014/main" id="{E7AC8956-CADA-F84A-BC5C-542D3650A295}"/>
              </a:ext>
            </a:extLst>
          </p:cNvPr>
          <p:cNvSpPr>
            <a:spLocks noGrp="1"/>
          </p:cNvSpPr>
          <p:nvPr>
            <p:ph type="body" sz="quarter" idx="11"/>
          </p:nvPr>
        </p:nvSpPr>
        <p:spPr/>
        <p:txBody>
          <a:bodyPr/>
          <a:lstStyle/>
          <a:p>
            <a:r>
              <a:rPr lang="en-US" altLang="zh-CN" dirty="0"/>
              <a:t>04</a:t>
            </a:r>
            <a:endParaRPr lang="zh-CN" altLang="en-US" dirty="0"/>
          </a:p>
        </p:txBody>
      </p:sp>
    </p:spTree>
    <p:extLst>
      <p:ext uri="{BB962C8B-B14F-4D97-AF65-F5344CB8AC3E}">
        <p14:creationId xmlns:p14="http://schemas.microsoft.com/office/powerpoint/2010/main" val="1010294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zh-CN" altLang="en-US"/>
              <a:t>常用</a:t>
            </a:r>
            <a:r>
              <a:rPr lang="en-US" altLang="zh-CN"/>
              <a:t>html</a:t>
            </a:r>
            <a:r>
              <a:rPr lang="zh-CN" altLang="en-US"/>
              <a:t>标签</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双标签</a:t>
            </a:r>
          </a:p>
        </p:txBody>
      </p:sp>
      <p:pic>
        <p:nvPicPr>
          <p:cNvPr id="4" name="图片 3">
            <a:extLst>
              <a:ext uri="{FF2B5EF4-FFF2-40B4-BE49-F238E27FC236}">
                <a16:creationId xmlns:a16="http://schemas.microsoft.com/office/drawing/2014/main" id="{AE49F68E-6501-A947-B94A-0F33AF8CD54C}"/>
              </a:ext>
            </a:extLst>
          </p:cNvPr>
          <p:cNvPicPr>
            <a:picLocks noChangeAspect="1"/>
          </p:cNvPicPr>
          <p:nvPr/>
        </p:nvPicPr>
        <p:blipFill>
          <a:blip r:embed="rId2"/>
          <a:stretch>
            <a:fillRect/>
          </a:stretch>
        </p:blipFill>
        <p:spPr>
          <a:xfrm>
            <a:off x="3321050" y="2298700"/>
            <a:ext cx="5549900" cy="2260600"/>
          </a:xfrm>
          <a:prstGeom prst="rect">
            <a:avLst/>
          </a:prstGeom>
        </p:spPr>
      </p:pic>
    </p:spTree>
    <p:extLst>
      <p:ext uri="{BB962C8B-B14F-4D97-AF65-F5344CB8AC3E}">
        <p14:creationId xmlns:p14="http://schemas.microsoft.com/office/powerpoint/2010/main" val="1769717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zh-CN" altLang="en-US"/>
              <a:t>常用</a:t>
            </a:r>
            <a:r>
              <a:rPr lang="en-US" altLang="zh-CN"/>
              <a:t>html</a:t>
            </a:r>
            <a:r>
              <a:rPr lang="zh-CN" altLang="en-US"/>
              <a:t>标签</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单标签</a:t>
            </a:r>
          </a:p>
        </p:txBody>
      </p:sp>
      <p:pic>
        <p:nvPicPr>
          <p:cNvPr id="2" name="图片 1">
            <a:extLst>
              <a:ext uri="{FF2B5EF4-FFF2-40B4-BE49-F238E27FC236}">
                <a16:creationId xmlns:a16="http://schemas.microsoft.com/office/drawing/2014/main" id="{4524CE47-9382-BD4F-8652-90D1D10EFEA5}"/>
              </a:ext>
            </a:extLst>
          </p:cNvPr>
          <p:cNvPicPr>
            <a:picLocks noChangeAspect="1"/>
          </p:cNvPicPr>
          <p:nvPr/>
        </p:nvPicPr>
        <p:blipFill>
          <a:blip r:embed="rId2"/>
          <a:stretch>
            <a:fillRect/>
          </a:stretch>
        </p:blipFill>
        <p:spPr>
          <a:xfrm>
            <a:off x="3829050" y="2622550"/>
            <a:ext cx="4533900" cy="1612900"/>
          </a:xfrm>
          <a:prstGeom prst="rect">
            <a:avLst/>
          </a:prstGeom>
        </p:spPr>
      </p:pic>
    </p:spTree>
    <p:extLst>
      <p:ext uri="{BB962C8B-B14F-4D97-AF65-F5344CB8AC3E}">
        <p14:creationId xmlns:p14="http://schemas.microsoft.com/office/powerpoint/2010/main" val="3294911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zh-CN" altLang="en-US"/>
              <a:t>常用</a:t>
            </a:r>
            <a:r>
              <a:rPr lang="en-US" altLang="zh-CN"/>
              <a:t>html</a:t>
            </a:r>
            <a:r>
              <a:rPr lang="zh-CN" altLang="en-US"/>
              <a:t>标签</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dirty="0"/>
              <a:t>带属性的标签</a:t>
            </a:r>
          </a:p>
        </p:txBody>
      </p:sp>
      <p:pic>
        <p:nvPicPr>
          <p:cNvPr id="3" name="图片 2">
            <a:extLst>
              <a:ext uri="{FF2B5EF4-FFF2-40B4-BE49-F238E27FC236}">
                <a16:creationId xmlns:a16="http://schemas.microsoft.com/office/drawing/2014/main" id="{56571D7B-7329-3742-A324-C927625AB486}"/>
              </a:ext>
            </a:extLst>
          </p:cNvPr>
          <p:cNvPicPr>
            <a:picLocks noChangeAspect="1"/>
          </p:cNvPicPr>
          <p:nvPr/>
        </p:nvPicPr>
        <p:blipFill>
          <a:blip r:embed="rId2"/>
          <a:stretch>
            <a:fillRect/>
          </a:stretch>
        </p:blipFill>
        <p:spPr>
          <a:xfrm>
            <a:off x="3168650" y="2762250"/>
            <a:ext cx="5854700" cy="1333500"/>
          </a:xfrm>
          <a:prstGeom prst="rect">
            <a:avLst/>
          </a:prstGeom>
        </p:spPr>
      </p:pic>
    </p:spTree>
    <p:extLst>
      <p:ext uri="{BB962C8B-B14F-4D97-AF65-F5344CB8AC3E}">
        <p14:creationId xmlns:p14="http://schemas.microsoft.com/office/powerpoint/2010/main" val="1766724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zh-CN" altLang="en-US"/>
              <a:t>常用</a:t>
            </a:r>
            <a:r>
              <a:rPr lang="en-US" altLang="zh-CN"/>
              <a:t>html</a:t>
            </a:r>
            <a:r>
              <a:rPr lang="zh-CN" altLang="en-US"/>
              <a:t>标签</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标签说明</a:t>
            </a:r>
          </a:p>
        </p:txBody>
      </p:sp>
      <p:sp>
        <p:nvSpPr>
          <p:cNvPr id="7" name="矩形 6">
            <a:extLst>
              <a:ext uri="{FF2B5EF4-FFF2-40B4-BE49-F238E27FC236}">
                <a16:creationId xmlns:a16="http://schemas.microsoft.com/office/drawing/2014/main" id="{7C32A3CB-B999-1E46-BB9C-C4241EBEE89B}"/>
              </a:ext>
            </a:extLst>
          </p:cNvPr>
          <p:cNvSpPr/>
          <p:nvPr/>
        </p:nvSpPr>
        <p:spPr>
          <a:xfrm>
            <a:off x="710880" y="1662903"/>
            <a:ext cx="11326791" cy="1975990"/>
          </a:xfrm>
          <a:prstGeom prst="rect">
            <a:avLst/>
          </a:prstGeom>
        </p:spPr>
        <p:txBody>
          <a:bodyPr wrap="square">
            <a:spAutoFit/>
          </a:bodyPr>
          <a:lstStyle/>
          <a:p>
            <a:r>
              <a:rPr lang="zh-CN" altLang="en-US">
                <a:solidFill>
                  <a:srgbClr val="333333"/>
                </a:solidFill>
                <a:latin typeface="Helvetica Neue" panose="02000503000000020004" pitchFamily="2" charset="0"/>
              </a:rPr>
              <a:t>说明：</a:t>
            </a:r>
            <a:endParaRPr lang="en-US" altLang="zh-CN">
              <a:solidFill>
                <a:srgbClr val="333333"/>
              </a:solidFill>
              <a:latin typeface="Helvetica Neue" panose="02000503000000020004" pitchFamily="2" charset="0"/>
            </a:endParaRPr>
          </a:p>
          <a:p>
            <a:pPr>
              <a:lnSpc>
                <a:spcPct val="150000"/>
              </a:lnSpc>
              <a:buFont typeface="+mj-lt"/>
              <a:buAutoNum type="arabicPeriod"/>
            </a:pPr>
            <a:r>
              <a:rPr lang="zh-CN" altLang="en-US" b="0" i="0">
                <a:solidFill>
                  <a:srgbClr val="333333"/>
                </a:solidFill>
                <a:effectLst/>
                <a:latin typeface="Helvetica Neue" panose="02000503000000020004" pitchFamily="2" charset="0"/>
              </a:rPr>
              <a:t>标签不区分大小写，但是推荐使用小写。</a:t>
            </a:r>
          </a:p>
          <a:p>
            <a:pPr>
              <a:lnSpc>
                <a:spcPct val="150000"/>
              </a:lnSpc>
              <a:buFont typeface="+mj-lt"/>
              <a:buAutoNum type="arabicPeriod"/>
            </a:pPr>
            <a:r>
              <a:rPr lang="zh-CN" altLang="en-US" b="0" i="0">
                <a:solidFill>
                  <a:srgbClr val="333333"/>
                </a:solidFill>
                <a:effectLst/>
                <a:latin typeface="Helvetica Neue" panose="02000503000000020004" pitchFamily="2" charset="0"/>
              </a:rPr>
              <a:t>根据标签的书写形式，标签分为双标签</a:t>
            </a:r>
            <a:r>
              <a:rPr lang="en-US" altLang="zh-CN" b="0" i="0">
                <a:solidFill>
                  <a:srgbClr val="333333"/>
                </a:solidFill>
                <a:effectLst/>
                <a:latin typeface="Helvetica Neue" panose="02000503000000020004" pitchFamily="2" charset="0"/>
              </a:rPr>
              <a:t>(</a:t>
            </a:r>
            <a:r>
              <a:rPr lang="zh-CN" altLang="en-US" b="0" i="0">
                <a:solidFill>
                  <a:srgbClr val="333333"/>
                </a:solidFill>
                <a:effectLst/>
                <a:latin typeface="Helvetica Neue" panose="02000503000000020004" pitchFamily="2" charset="0"/>
              </a:rPr>
              <a:t>闭合标签</a:t>
            </a:r>
            <a:r>
              <a:rPr lang="en-US" altLang="zh-CN" b="0" i="0">
                <a:solidFill>
                  <a:srgbClr val="333333"/>
                </a:solidFill>
                <a:effectLst/>
                <a:latin typeface="Helvetica Neue" panose="02000503000000020004" pitchFamily="2" charset="0"/>
              </a:rPr>
              <a:t>)</a:t>
            </a:r>
            <a:r>
              <a:rPr lang="zh-CN" altLang="en-US" b="0" i="0">
                <a:solidFill>
                  <a:srgbClr val="333333"/>
                </a:solidFill>
                <a:effectLst/>
                <a:latin typeface="Helvetica Neue" panose="02000503000000020004" pitchFamily="2" charset="0"/>
              </a:rPr>
              <a:t>和单标签</a:t>
            </a:r>
            <a:r>
              <a:rPr lang="en-US" altLang="zh-CN" b="0" i="0">
                <a:solidFill>
                  <a:srgbClr val="333333"/>
                </a:solidFill>
                <a:effectLst/>
                <a:latin typeface="Helvetica Neue" panose="02000503000000020004" pitchFamily="2" charset="0"/>
              </a:rPr>
              <a:t>(</a:t>
            </a:r>
            <a:r>
              <a:rPr lang="zh-CN" altLang="en-US" b="0" i="0">
                <a:solidFill>
                  <a:srgbClr val="333333"/>
                </a:solidFill>
                <a:effectLst/>
                <a:latin typeface="Helvetica Neue" panose="02000503000000020004" pitchFamily="2" charset="0"/>
              </a:rPr>
              <a:t>空标签</a:t>
            </a:r>
            <a:r>
              <a:rPr lang="en-US" altLang="zh-CN" b="0" i="0">
                <a:solidFill>
                  <a:srgbClr val="333333"/>
                </a:solidFill>
                <a:effectLst/>
                <a:latin typeface="Helvetica Neue" panose="02000503000000020004" pitchFamily="2" charset="0"/>
              </a:rPr>
              <a:t>)</a:t>
            </a:r>
            <a:br>
              <a:rPr lang="en-US" altLang="zh-CN" b="0" i="0">
                <a:solidFill>
                  <a:srgbClr val="333333"/>
                </a:solidFill>
                <a:effectLst/>
                <a:latin typeface="Helvetica Neue" panose="02000503000000020004" pitchFamily="2" charset="0"/>
              </a:rPr>
            </a:br>
            <a:r>
              <a:rPr lang="zh-CN" altLang="en-US" b="0" i="0">
                <a:solidFill>
                  <a:srgbClr val="333333"/>
                </a:solidFill>
                <a:effectLst/>
                <a:latin typeface="Helvetica Neue" panose="02000503000000020004" pitchFamily="2" charset="0"/>
              </a:rPr>
              <a:t>        </a:t>
            </a:r>
            <a:r>
              <a:rPr lang="en-US" altLang="zh-CN" b="0" i="0">
                <a:solidFill>
                  <a:srgbClr val="333333"/>
                </a:solidFill>
                <a:effectLst/>
                <a:latin typeface="Helvetica Neue" panose="02000503000000020004" pitchFamily="2" charset="0"/>
              </a:rPr>
              <a:t>2.1 </a:t>
            </a:r>
            <a:r>
              <a:rPr lang="zh-CN" altLang="en-US" b="0" i="0">
                <a:solidFill>
                  <a:srgbClr val="333333"/>
                </a:solidFill>
                <a:effectLst/>
                <a:latin typeface="Helvetica Neue" panose="02000503000000020004" pitchFamily="2" charset="0"/>
              </a:rPr>
              <a:t>双标签是指由开始标签和结束标签组成的一对标签，这种标签允许嵌套和承载内容，比如</a:t>
            </a:r>
            <a:r>
              <a:rPr lang="en-US" altLang="zh-CN" b="0" i="0">
                <a:solidFill>
                  <a:srgbClr val="333333"/>
                </a:solidFill>
                <a:effectLst/>
                <a:latin typeface="Helvetica Neue" panose="02000503000000020004" pitchFamily="2" charset="0"/>
              </a:rPr>
              <a:t>: </a:t>
            </a:r>
            <a:r>
              <a:rPr lang="en" altLang="zh-CN" b="0" i="0">
                <a:solidFill>
                  <a:srgbClr val="333333"/>
                </a:solidFill>
                <a:effectLst/>
                <a:latin typeface="Helvetica Neue" panose="02000503000000020004" pitchFamily="2" charset="0"/>
              </a:rPr>
              <a:t>div</a:t>
            </a:r>
            <a:r>
              <a:rPr lang="zh-CN" altLang="en-US" b="0" i="0">
                <a:solidFill>
                  <a:srgbClr val="333333"/>
                </a:solidFill>
                <a:effectLst/>
                <a:latin typeface="Helvetica Neue" panose="02000503000000020004" pitchFamily="2" charset="0"/>
              </a:rPr>
              <a:t>标签</a:t>
            </a:r>
            <a:br>
              <a:rPr lang="zh-CN" altLang="en-US" b="0" i="0">
                <a:solidFill>
                  <a:srgbClr val="333333"/>
                </a:solidFill>
                <a:effectLst/>
                <a:latin typeface="Helvetica Neue" panose="02000503000000020004" pitchFamily="2" charset="0"/>
              </a:rPr>
            </a:br>
            <a:r>
              <a:rPr lang="zh-CN" altLang="en-US">
                <a:solidFill>
                  <a:srgbClr val="333333"/>
                </a:solidFill>
                <a:latin typeface="Helvetica Neue" panose="02000503000000020004" pitchFamily="2" charset="0"/>
              </a:rPr>
              <a:t>        </a:t>
            </a:r>
            <a:r>
              <a:rPr lang="en-US" altLang="zh-CN" b="0" i="0">
                <a:solidFill>
                  <a:srgbClr val="333333"/>
                </a:solidFill>
                <a:effectLst/>
                <a:latin typeface="Helvetica Neue" panose="02000503000000020004" pitchFamily="2" charset="0"/>
              </a:rPr>
              <a:t>2.2 </a:t>
            </a:r>
            <a:r>
              <a:rPr lang="zh-CN" altLang="en-US" b="0" i="0">
                <a:solidFill>
                  <a:srgbClr val="333333"/>
                </a:solidFill>
                <a:effectLst/>
                <a:latin typeface="Helvetica Neue" panose="02000503000000020004" pitchFamily="2" charset="0"/>
              </a:rPr>
              <a:t>单标签是一个标签组成，没有标签内容， 比如</a:t>
            </a:r>
            <a:r>
              <a:rPr lang="en-US" altLang="zh-CN" b="0" i="0">
                <a:solidFill>
                  <a:srgbClr val="333333"/>
                </a:solidFill>
                <a:effectLst/>
                <a:latin typeface="Helvetica Neue" panose="02000503000000020004" pitchFamily="2" charset="0"/>
              </a:rPr>
              <a:t>: </a:t>
            </a:r>
            <a:r>
              <a:rPr lang="en" altLang="zh-CN" b="0" i="0">
                <a:solidFill>
                  <a:srgbClr val="333333"/>
                </a:solidFill>
                <a:effectLst/>
                <a:latin typeface="Helvetica Neue" panose="02000503000000020004" pitchFamily="2" charset="0"/>
              </a:rPr>
              <a:t>img</a:t>
            </a:r>
            <a:r>
              <a:rPr lang="zh-CN" altLang="en-US" b="0" i="0">
                <a:solidFill>
                  <a:srgbClr val="333333"/>
                </a:solidFill>
                <a:effectLst/>
                <a:latin typeface="Helvetica Neue" panose="02000503000000020004" pitchFamily="2" charset="0"/>
              </a:rPr>
              <a:t>标签</a:t>
            </a:r>
          </a:p>
        </p:txBody>
      </p:sp>
    </p:spTree>
    <p:extLst>
      <p:ext uri="{BB962C8B-B14F-4D97-AF65-F5344CB8AC3E}">
        <p14:creationId xmlns:p14="http://schemas.microsoft.com/office/powerpoint/2010/main" val="14772130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180780F-C9DB-2444-81D9-0C48F0501E10}"/>
              </a:ext>
            </a:extLst>
          </p:cNvPr>
          <p:cNvSpPr>
            <a:spLocks noGrp="1"/>
          </p:cNvSpPr>
          <p:nvPr>
            <p:ph type="ctrTitle"/>
          </p:nvPr>
        </p:nvSpPr>
        <p:spPr/>
        <p:txBody>
          <a:bodyPr>
            <a:normAutofit fontScale="90000"/>
          </a:bodyPr>
          <a:lstStyle/>
          <a:p>
            <a:r>
              <a:rPr lang="zh-CN" altLang="en-US" dirty="0"/>
              <a:t>资源路径</a:t>
            </a:r>
          </a:p>
        </p:txBody>
      </p:sp>
      <p:sp>
        <p:nvSpPr>
          <p:cNvPr id="4" name="文本占位符 3">
            <a:extLst>
              <a:ext uri="{FF2B5EF4-FFF2-40B4-BE49-F238E27FC236}">
                <a16:creationId xmlns:a16="http://schemas.microsoft.com/office/drawing/2014/main" id="{2B00E6CA-B092-D14B-AFC4-E64326B88CFD}"/>
              </a:ext>
            </a:extLst>
          </p:cNvPr>
          <p:cNvSpPr>
            <a:spLocks noGrp="1"/>
          </p:cNvSpPr>
          <p:nvPr>
            <p:ph type="body" idx="10"/>
          </p:nvPr>
        </p:nvSpPr>
        <p:spPr>
          <a:xfrm>
            <a:off x="5273040" y="3069271"/>
            <a:ext cx="5466080" cy="3551447"/>
          </a:xfrm>
        </p:spPr>
        <p:txBody>
          <a:bodyPr/>
          <a:lstStyle/>
          <a:p>
            <a:r>
              <a:rPr lang="zh-CN" altLang="en-US" dirty="0"/>
              <a:t>相对路径</a:t>
            </a:r>
            <a:endParaRPr lang="en-US" altLang="zh-CN" dirty="0"/>
          </a:p>
          <a:p>
            <a:r>
              <a:rPr lang="zh-CN" altLang="en-US" dirty="0"/>
              <a:t>绝对路径</a:t>
            </a:r>
            <a:endParaRPr lang="en-US" altLang="zh-CN" dirty="0"/>
          </a:p>
        </p:txBody>
      </p:sp>
      <p:sp>
        <p:nvSpPr>
          <p:cNvPr id="5" name="文本占位符 4">
            <a:extLst>
              <a:ext uri="{FF2B5EF4-FFF2-40B4-BE49-F238E27FC236}">
                <a16:creationId xmlns:a16="http://schemas.microsoft.com/office/drawing/2014/main" id="{E7AC8956-CADA-F84A-BC5C-542D3650A295}"/>
              </a:ext>
            </a:extLst>
          </p:cNvPr>
          <p:cNvSpPr>
            <a:spLocks noGrp="1"/>
          </p:cNvSpPr>
          <p:nvPr>
            <p:ph type="body" sz="quarter" idx="11"/>
          </p:nvPr>
        </p:nvSpPr>
        <p:spPr/>
        <p:txBody>
          <a:bodyPr/>
          <a:lstStyle/>
          <a:p>
            <a:r>
              <a:rPr lang="en-US" altLang="zh-CN" dirty="0"/>
              <a:t>05</a:t>
            </a:r>
            <a:endParaRPr lang="zh-CN" altLang="en-US" dirty="0"/>
          </a:p>
        </p:txBody>
      </p:sp>
    </p:spTree>
    <p:extLst>
      <p:ext uri="{BB962C8B-B14F-4D97-AF65-F5344CB8AC3E}">
        <p14:creationId xmlns:p14="http://schemas.microsoft.com/office/powerpoint/2010/main" val="13815868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zh-CN" altLang="en-US"/>
              <a:t>资源路径</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相对路径</a:t>
            </a:r>
          </a:p>
        </p:txBody>
      </p:sp>
      <p:sp>
        <p:nvSpPr>
          <p:cNvPr id="7" name="矩形 6">
            <a:extLst>
              <a:ext uri="{FF2B5EF4-FFF2-40B4-BE49-F238E27FC236}">
                <a16:creationId xmlns:a16="http://schemas.microsoft.com/office/drawing/2014/main" id="{7C32A3CB-B999-1E46-BB9C-C4241EBEE89B}"/>
              </a:ext>
            </a:extLst>
          </p:cNvPr>
          <p:cNvSpPr/>
          <p:nvPr/>
        </p:nvSpPr>
        <p:spPr>
          <a:xfrm>
            <a:off x="710880" y="1662903"/>
            <a:ext cx="11326791" cy="369332"/>
          </a:xfrm>
          <a:prstGeom prst="rect">
            <a:avLst/>
          </a:prstGeom>
        </p:spPr>
        <p:txBody>
          <a:bodyPr wrap="square">
            <a:spAutoFit/>
          </a:bodyPr>
          <a:lstStyle/>
          <a:p>
            <a:r>
              <a:rPr lang="zh-CN" altLang="en-US"/>
              <a:t>从当前操作 </a:t>
            </a:r>
            <a:r>
              <a:rPr lang="en" altLang="zh-CN"/>
              <a:t>html </a:t>
            </a:r>
            <a:r>
              <a:rPr lang="zh-CN" altLang="en-US"/>
              <a:t>的文档所在目录算起的路径叫做相对路径</a:t>
            </a:r>
            <a:endParaRPr lang="zh-CN" altLang="en-US" b="0" i="0">
              <a:solidFill>
                <a:srgbClr val="333333"/>
              </a:solidFill>
              <a:effectLst/>
              <a:latin typeface="Helvetica Neue" panose="02000503000000020004" pitchFamily="2" charset="0"/>
            </a:endParaRPr>
          </a:p>
        </p:txBody>
      </p:sp>
      <p:pic>
        <p:nvPicPr>
          <p:cNvPr id="2" name="图片 1">
            <a:extLst>
              <a:ext uri="{FF2B5EF4-FFF2-40B4-BE49-F238E27FC236}">
                <a16:creationId xmlns:a16="http://schemas.microsoft.com/office/drawing/2014/main" id="{E041E2FD-C603-494F-BE20-43A75BE92144}"/>
              </a:ext>
            </a:extLst>
          </p:cNvPr>
          <p:cNvPicPr>
            <a:picLocks noChangeAspect="1"/>
          </p:cNvPicPr>
          <p:nvPr/>
        </p:nvPicPr>
        <p:blipFill>
          <a:blip r:embed="rId2"/>
          <a:stretch>
            <a:fillRect/>
          </a:stretch>
        </p:blipFill>
        <p:spPr>
          <a:xfrm>
            <a:off x="840290" y="2142362"/>
            <a:ext cx="5765800" cy="1739900"/>
          </a:xfrm>
          <a:prstGeom prst="rect">
            <a:avLst/>
          </a:prstGeom>
        </p:spPr>
      </p:pic>
    </p:spTree>
    <p:extLst>
      <p:ext uri="{BB962C8B-B14F-4D97-AF65-F5344CB8AC3E}">
        <p14:creationId xmlns:p14="http://schemas.microsoft.com/office/powerpoint/2010/main" val="3708097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zh-CN" altLang="en-US"/>
              <a:t>资源路径</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绝对路径</a:t>
            </a:r>
          </a:p>
        </p:txBody>
      </p:sp>
      <p:sp>
        <p:nvSpPr>
          <p:cNvPr id="7" name="矩形 6">
            <a:extLst>
              <a:ext uri="{FF2B5EF4-FFF2-40B4-BE49-F238E27FC236}">
                <a16:creationId xmlns:a16="http://schemas.microsoft.com/office/drawing/2014/main" id="{7C32A3CB-B999-1E46-BB9C-C4241EBEE89B}"/>
              </a:ext>
            </a:extLst>
          </p:cNvPr>
          <p:cNvSpPr/>
          <p:nvPr/>
        </p:nvSpPr>
        <p:spPr>
          <a:xfrm>
            <a:off x="710880" y="1662903"/>
            <a:ext cx="11326791" cy="369332"/>
          </a:xfrm>
          <a:prstGeom prst="rect">
            <a:avLst/>
          </a:prstGeom>
        </p:spPr>
        <p:txBody>
          <a:bodyPr wrap="square">
            <a:spAutoFit/>
          </a:bodyPr>
          <a:lstStyle/>
          <a:p>
            <a:r>
              <a:rPr lang="zh-CN" altLang="en-US"/>
              <a:t>从根目录算起的路径叫做绝对路径，</a:t>
            </a:r>
            <a:r>
              <a:rPr lang="en" altLang="zh-CN"/>
              <a:t>Windows </a:t>
            </a:r>
            <a:r>
              <a:rPr lang="zh-CN" altLang="en-US"/>
              <a:t>的根目录是指定的盘符，</a:t>
            </a:r>
            <a:r>
              <a:rPr lang="en" altLang="zh-CN"/>
              <a:t>mac OS </a:t>
            </a:r>
            <a:r>
              <a:rPr lang="zh-CN" altLang="en-US"/>
              <a:t>和</a:t>
            </a:r>
            <a:r>
              <a:rPr lang="en" altLang="zh-CN"/>
              <a:t>Linux </a:t>
            </a:r>
            <a:r>
              <a:rPr lang="zh-CN" altLang="en-US"/>
              <a:t>是</a:t>
            </a:r>
            <a:r>
              <a:rPr lang="en-US" altLang="zh-CN"/>
              <a:t>/</a:t>
            </a:r>
            <a:endParaRPr lang="zh-CN" altLang="en-US" b="0" i="0">
              <a:solidFill>
                <a:srgbClr val="333333"/>
              </a:solidFill>
              <a:effectLst/>
              <a:latin typeface="Helvetica Neue" panose="02000503000000020004" pitchFamily="2" charset="0"/>
            </a:endParaRPr>
          </a:p>
        </p:txBody>
      </p:sp>
      <p:pic>
        <p:nvPicPr>
          <p:cNvPr id="3" name="图片 2">
            <a:extLst>
              <a:ext uri="{FF2B5EF4-FFF2-40B4-BE49-F238E27FC236}">
                <a16:creationId xmlns:a16="http://schemas.microsoft.com/office/drawing/2014/main" id="{16A3EA97-E834-2D48-A8D5-A5C4CCF5963B}"/>
              </a:ext>
            </a:extLst>
          </p:cNvPr>
          <p:cNvPicPr>
            <a:picLocks noChangeAspect="1"/>
          </p:cNvPicPr>
          <p:nvPr/>
        </p:nvPicPr>
        <p:blipFill>
          <a:blip r:embed="rId2"/>
          <a:stretch>
            <a:fillRect/>
          </a:stretch>
        </p:blipFill>
        <p:spPr>
          <a:xfrm>
            <a:off x="803478" y="2215989"/>
            <a:ext cx="7035800" cy="1384300"/>
          </a:xfrm>
          <a:prstGeom prst="rect">
            <a:avLst/>
          </a:prstGeom>
        </p:spPr>
      </p:pic>
      <p:sp>
        <p:nvSpPr>
          <p:cNvPr id="9" name="三角形 8">
            <a:extLst>
              <a:ext uri="{FF2B5EF4-FFF2-40B4-BE49-F238E27FC236}">
                <a16:creationId xmlns:a16="http://schemas.microsoft.com/office/drawing/2014/main" id="{A58B7335-7C50-E342-8609-6E0AF62132AB}"/>
              </a:ext>
            </a:extLst>
          </p:cNvPr>
          <p:cNvSpPr/>
          <p:nvPr/>
        </p:nvSpPr>
        <p:spPr>
          <a:xfrm rot="2651319">
            <a:off x="717495" y="4377244"/>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336C21D5-E47A-504D-B21C-A28065B62020}"/>
              </a:ext>
            </a:extLst>
          </p:cNvPr>
          <p:cNvSpPr/>
          <p:nvPr/>
        </p:nvSpPr>
        <p:spPr>
          <a:xfrm>
            <a:off x="810808" y="4021373"/>
            <a:ext cx="10302240" cy="967316"/>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7AEF9FB3-FDF0-0D46-A5B0-AEFCC28BF1EB}"/>
              </a:ext>
            </a:extLst>
          </p:cNvPr>
          <p:cNvSpPr/>
          <p:nvPr/>
        </p:nvSpPr>
        <p:spPr>
          <a:xfrm>
            <a:off x="710880" y="4093843"/>
            <a:ext cx="1053296" cy="300942"/>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Alibaba PuHuiTi R" pitchFamily="18" charset="-122"/>
                <a:ea typeface="Alibaba PuHuiTi R" pitchFamily="18" charset="-122"/>
                <a:cs typeface="Alibaba PuHuiTi R" pitchFamily="18" charset="-122"/>
              </a:rPr>
              <a:t>举例说明</a:t>
            </a:r>
          </a:p>
        </p:txBody>
      </p:sp>
      <p:sp>
        <p:nvSpPr>
          <p:cNvPr id="12" name="文本占位符 1">
            <a:extLst>
              <a:ext uri="{FF2B5EF4-FFF2-40B4-BE49-F238E27FC236}">
                <a16:creationId xmlns:a16="http://schemas.microsoft.com/office/drawing/2014/main" id="{488010B9-76CB-D845-B61E-912352711D64}"/>
              </a:ext>
            </a:extLst>
          </p:cNvPr>
          <p:cNvSpPr txBox="1">
            <a:spLocks/>
          </p:cNvSpPr>
          <p:nvPr/>
        </p:nvSpPr>
        <p:spPr>
          <a:xfrm>
            <a:off x="1078952" y="4398868"/>
            <a:ext cx="8957967" cy="455482"/>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Wingdings" pitchFamily="2" charset="2"/>
              <a:buChar char="p"/>
              <a:tabLst/>
              <a:defRPr lang="zh-CN" altLang="en-US" sz="1600" kern="1200" dirty="0">
                <a:solidFill>
                  <a:srgbClr val="404040"/>
                </a:solidFill>
                <a:latin typeface="Alibaba PuHuiTi R" pitchFamily="18" charset="-122"/>
                <a:ea typeface="Alibaba PuHuiTi R" pitchFamily="18" charset="-122"/>
                <a:cs typeface="Alibaba PuHuiTi R" pitchFamily="18" charset="-122"/>
              </a:defRPr>
            </a:lvl1pPr>
            <a:lvl2pPr marL="719138" indent="-358775" algn="l" rtl="0" eaLnBrk="0" fontAlgn="base" hangingPunct="0">
              <a:spcBef>
                <a:spcPct val="20000"/>
              </a:spcBef>
              <a:spcAft>
                <a:spcPct val="0"/>
              </a:spcAft>
              <a:buFont typeface="Wingdings" pitchFamily="2" charset="2"/>
              <a:buChar char="p"/>
              <a:tabLst/>
              <a:defRPr lang="en-US" altLang="zh-CN" sz="1600" b="0" kern="1200" dirty="0">
                <a:solidFill>
                  <a:srgbClr val="404040"/>
                </a:solidFill>
                <a:latin typeface="Alibaba PuHuiTi R" pitchFamily="18" charset="-122"/>
                <a:ea typeface="Alibaba PuHuiTi R" pitchFamily="18" charset="-122"/>
                <a:cs typeface="Alibaba PuHuiTi R" pitchFamily="18" charset="-122"/>
              </a:defRPr>
            </a:lvl2pPr>
            <a:lvl3pPr marL="1079500" indent="-358775" algn="l" rtl="0" eaLnBrk="0" fontAlgn="base" hangingPunct="0">
              <a:spcBef>
                <a:spcPct val="20000"/>
              </a:spcBef>
              <a:spcAft>
                <a:spcPct val="0"/>
              </a:spcAft>
              <a:buFont typeface="Wingdings" pitchFamily="2" charset="2"/>
              <a:buChar char="p"/>
              <a:tabLst/>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pPr>
            <a:r>
              <a:rPr lang="zh-CN" altLang="en-US" dirty="0"/>
              <a:t>一般都会使用相对路径，绝对路径的操作在其它电脑上打开会有可能出现资源文件找不到的问题</a:t>
            </a:r>
            <a:endParaRPr lang="en-US" altLang="zh-CN" dirty="0">
              <a:solidFill>
                <a:srgbClr val="262626"/>
              </a:solidFill>
            </a:endParaRPr>
          </a:p>
        </p:txBody>
      </p:sp>
    </p:spTree>
    <p:extLst>
      <p:ext uri="{BB962C8B-B14F-4D97-AF65-F5344CB8AC3E}">
        <p14:creationId xmlns:p14="http://schemas.microsoft.com/office/powerpoint/2010/main" val="1995002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180780F-C9DB-2444-81D9-0C48F0501E10}"/>
              </a:ext>
            </a:extLst>
          </p:cNvPr>
          <p:cNvSpPr>
            <a:spLocks noGrp="1"/>
          </p:cNvSpPr>
          <p:nvPr>
            <p:ph type="ctrTitle"/>
          </p:nvPr>
        </p:nvSpPr>
        <p:spPr/>
        <p:txBody>
          <a:bodyPr>
            <a:normAutofit fontScale="90000"/>
          </a:bodyPr>
          <a:lstStyle/>
          <a:p>
            <a:r>
              <a:rPr lang="zh-CN" altLang="en-US" dirty="0"/>
              <a:t>列表标签</a:t>
            </a:r>
          </a:p>
        </p:txBody>
      </p:sp>
      <p:sp>
        <p:nvSpPr>
          <p:cNvPr id="4" name="文本占位符 3">
            <a:extLst>
              <a:ext uri="{FF2B5EF4-FFF2-40B4-BE49-F238E27FC236}">
                <a16:creationId xmlns:a16="http://schemas.microsoft.com/office/drawing/2014/main" id="{2B00E6CA-B092-D14B-AFC4-E64326B88CFD}"/>
              </a:ext>
            </a:extLst>
          </p:cNvPr>
          <p:cNvSpPr>
            <a:spLocks noGrp="1"/>
          </p:cNvSpPr>
          <p:nvPr>
            <p:ph type="body" idx="10"/>
          </p:nvPr>
        </p:nvSpPr>
        <p:spPr>
          <a:xfrm>
            <a:off x="5273040" y="3069271"/>
            <a:ext cx="5466080" cy="3551447"/>
          </a:xfrm>
        </p:spPr>
        <p:txBody>
          <a:bodyPr/>
          <a:lstStyle/>
          <a:p>
            <a:r>
              <a:rPr lang="zh-CN" altLang="en-US" dirty="0"/>
              <a:t>无序列表</a:t>
            </a:r>
            <a:endParaRPr lang="en-US" altLang="zh-CN" dirty="0"/>
          </a:p>
          <a:p>
            <a:r>
              <a:rPr lang="zh-CN" altLang="en-US" dirty="0"/>
              <a:t>有序列表</a:t>
            </a:r>
            <a:endParaRPr lang="en-US" altLang="zh-CN" dirty="0"/>
          </a:p>
        </p:txBody>
      </p:sp>
      <p:sp>
        <p:nvSpPr>
          <p:cNvPr id="5" name="文本占位符 4">
            <a:extLst>
              <a:ext uri="{FF2B5EF4-FFF2-40B4-BE49-F238E27FC236}">
                <a16:creationId xmlns:a16="http://schemas.microsoft.com/office/drawing/2014/main" id="{E7AC8956-CADA-F84A-BC5C-542D3650A295}"/>
              </a:ext>
            </a:extLst>
          </p:cNvPr>
          <p:cNvSpPr>
            <a:spLocks noGrp="1"/>
          </p:cNvSpPr>
          <p:nvPr>
            <p:ph type="body" sz="quarter" idx="11"/>
          </p:nvPr>
        </p:nvSpPr>
        <p:spPr/>
        <p:txBody>
          <a:bodyPr/>
          <a:lstStyle/>
          <a:p>
            <a:r>
              <a:rPr lang="en-US" altLang="zh-CN" dirty="0"/>
              <a:t>06</a:t>
            </a:r>
            <a:endParaRPr lang="zh-CN" altLang="en-US" dirty="0"/>
          </a:p>
        </p:txBody>
      </p:sp>
    </p:spTree>
    <p:extLst>
      <p:ext uri="{BB962C8B-B14F-4D97-AF65-F5344CB8AC3E}">
        <p14:creationId xmlns:p14="http://schemas.microsoft.com/office/powerpoint/2010/main" val="35792565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zh-CN" altLang="en-US"/>
              <a:t>列表标签</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无序列表</a:t>
            </a:r>
          </a:p>
        </p:txBody>
      </p:sp>
      <p:pic>
        <p:nvPicPr>
          <p:cNvPr id="2" name="图片 1">
            <a:extLst>
              <a:ext uri="{FF2B5EF4-FFF2-40B4-BE49-F238E27FC236}">
                <a16:creationId xmlns:a16="http://schemas.microsoft.com/office/drawing/2014/main" id="{750AC234-4D5A-3D43-ADBF-AD377C0BE956}"/>
              </a:ext>
            </a:extLst>
          </p:cNvPr>
          <p:cNvPicPr>
            <a:picLocks noChangeAspect="1"/>
          </p:cNvPicPr>
          <p:nvPr/>
        </p:nvPicPr>
        <p:blipFill>
          <a:blip r:embed="rId2"/>
          <a:stretch>
            <a:fillRect/>
          </a:stretch>
        </p:blipFill>
        <p:spPr>
          <a:xfrm>
            <a:off x="818507" y="1471592"/>
            <a:ext cx="6388100" cy="2641600"/>
          </a:xfrm>
          <a:prstGeom prst="rect">
            <a:avLst/>
          </a:prstGeom>
        </p:spPr>
      </p:pic>
    </p:spTree>
    <p:extLst>
      <p:ext uri="{BB962C8B-B14F-4D97-AF65-F5344CB8AC3E}">
        <p14:creationId xmlns:p14="http://schemas.microsoft.com/office/powerpoint/2010/main" val="94152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zh-CN" altLang="en-US"/>
              <a:t>列表标签</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有序列表</a:t>
            </a:r>
          </a:p>
        </p:txBody>
      </p:sp>
      <p:pic>
        <p:nvPicPr>
          <p:cNvPr id="4" name="图片 3">
            <a:extLst>
              <a:ext uri="{FF2B5EF4-FFF2-40B4-BE49-F238E27FC236}">
                <a16:creationId xmlns:a16="http://schemas.microsoft.com/office/drawing/2014/main" id="{B41507AF-42FD-BF43-8E31-8142BB3E1B4F}"/>
              </a:ext>
            </a:extLst>
          </p:cNvPr>
          <p:cNvPicPr>
            <a:picLocks noChangeAspect="1"/>
          </p:cNvPicPr>
          <p:nvPr/>
        </p:nvPicPr>
        <p:blipFill>
          <a:blip r:embed="rId2"/>
          <a:stretch>
            <a:fillRect/>
          </a:stretch>
        </p:blipFill>
        <p:spPr>
          <a:xfrm>
            <a:off x="833521" y="1559092"/>
            <a:ext cx="6578600" cy="2552700"/>
          </a:xfrm>
          <a:prstGeom prst="rect">
            <a:avLst/>
          </a:prstGeom>
        </p:spPr>
      </p:pic>
    </p:spTree>
    <p:extLst>
      <p:ext uri="{BB962C8B-B14F-4D97-AF65-F5344CB8AC3E}">
        <p14:creationId xmlns:p14="http://schemas.microsoft.com/office/powerpoint/2010/main" val="1096385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180780F-C9DB-2444-81D9-0C48F0501E10}"/>
              </a:ext>
            </a:extLst>
          </p:cNvPr>
          <p:cNvSpPr>
            <a:spLocks noGrp="1"/>
          </p:cNvSpPr>
          <p:nvPr>
            <p:ph type="ctrTitle"/>
          </p:nvPr>
        </p:nvSpPr>
        <p:spPr/>
        <p:txBody>
          <a:bodyPr>
            <a:normAutofit fontScale="90000"/>
          </a:bodyPr>
          <a:lstStyle/>
          <a:p>
            <a:r>
              <a:rPr lang="zh-CN" altLang="en-US" dirty="0"/>
              <a:t>表格标签</a:t>
            </a:r>
          </a:p>
        </p:txBody>
      </p:sp>
      <p:sp>
        <p:nvSpPr>
          <p:cNvPr id="4" name="文本占位符 3">
            <a:extLst>
              <a:ext uri="{FF2B5EF4-FFF2-40B4-BE49-F238E27FC236}">
                <a16:creationId xmlns:a16="http://schemas.microsoft.com/office/drawing/2014/main" id="{2B00E6CA-B092-D14B-AFC4-E64326B88CFD}"/>
              </a:ext>
            </a:extLst>
          </p:cNvPr>
          <p:cNvSpPr>
            <a:spLocks noGrp="1"/>
          </p:cNvSpPr>
          <p:nvPr>
            <p:ph type="body" idx="10"/>
          </p:nvPr>
        </p:nvSpPr>
        <p:spPr>
          <a:xfrm>
            <a:off x="5273040" y="3069271"/>
            <a:ext cx="5466080" cy="3551447"/>
          </a:xfrm>
        </p:spPr>
        <p:txBody>
          <a:bodyPr/>
          <a:lstStyle/>
          <a:p>
            <a:r>
              <a:rPr lang="zh-CN" altLang="en-US" dirty="0"/>
              <a:t>表格的结构</a:t>
            </a:r>
            <a:endParaRPr lang="en-US" altLang="zh-CN" dirty="0"/>
          </a:p>
          <a:p>
            <a:r>
              <a:rPr lang="zh-CN" altLang="en-US" dirty="0"/>
              <a:t>表格标签</a:t>
            </a:r>
            <a:endParaRPr lang="en-US" altLang="zh-CN" dirty="0"/>
          </a:p>
        </p:txBody>
      </p:sp>
      <p:sp>
        <p:nvSpPr>
          <p:cNvPr id="5" name="文本占位符 4">
            <a:extLst>
              <a:ext uri="{FF2B5EF4-FFF2-40B4-BE49-F238E27FC236}">
                <a16:creationId xmlns:a16="http://schemas.microsoft.com/office/drawing/2014/main" id="{E7AC8956-CADA-F84A-BC5C-542D3650A295}"/>
              </a:ext>
            </a:extLst>
          </p:cNvPr>
          <p:cNvSpPr>
            <a:spLocks noGrp="1"/>
          </p:cNvSpPr>
          <p:nvPr>
            <p:ph type="body" sz="quarter" idx="11"/>
          </p:nvPr>
        </p:nvSpPr>
        <p:spPr/>
        <p:txBody>
          <a:bodyPr/>
          <a:lstStyle/>
          <a:p>
            <a:r>
              <a:rPr lang="en-US" altLang="zh-CN" dirty="0"/>
              <a:t>07</a:t>
            </a:r>
            <a:endParaRPr lang="zh-CN" altLang="en-US" dirty="0"/>
          </a:p>
        </p:txBody>
      </p:sp>
    </p:spTree>
    <p:extLst>
      <p:ext uri="{BB962C8B-B14F-4D97-AF65-F5344CB8AC3E}">
        <p14:creationId xmlns:p14="http://schemas.microsoft.com/office/powerpoint/2010/main" val="348877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zh-CN" altLang="en-US"/>
              <a:t>表格标签</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表格的结构</a:t>
            </a:r>
          </a:p>
        </p:txBody>
      </p:sp>
      <p:sp>
        <p:nvSpPr>
          <p:cNvPr id="2" name="矩形 1">
            <a:extLst>
              <a:ext uri="{FF2B5EF4-FFF2-40B4-BE49-F238E27FC236}">
                <a16:creationId xmlns:a16="http://schemas.microsoft.com/office/drawing/2014/main" id="{184F828F-6FA5-6E40-BE09-89D15F15E8FC}"/>
              </a:ext>
            </a:extLst>
          </p:cNvPr>
          <p:cNvSpPr/>
          <p:nvPr/>
        </p:nvSpPr>
        <p:spPr>
          <a:xfrm>
            <a:off x="710880" y="1566005"/>
            <a:ext cx="4419800" cy="369332"/>
          </a:xfrm>
          <a:prstGeom prst="rect">
            <a:avLst/>
          </a:prstGeom>
        </p:spPr>
        <p:txBody>
          <a:bodyPr wrap="none">
            <a:spAutoFit/>
          </a:bodyPr>
          <a:lstStyle/>
          <a:p>
            <a:r>
              <a:rPr lang="zh-CN" altLang="en-US" dirty="0"/>
              <a:t>表格是由行和列组成，好比一个</a:t>
            </a:r>
            <a:r>
              <a:rPr lang="en" altLang="zh-CN" dirty="0"/>
              <a:t>excel</a:t>
            </a:r>
            <a:r>
              <a:rPr lang="zh-CN" altLang="en-US" dirty="0"/>
              <a:t>文件</a:t>
            </a:r>
          </a:p>
        </p:txBody>
      </p:sp>
    </p:spTree>
    <p:extLst>
      <p:ext uri="{BB962C8B-B14F-4D97-AF65-F5344CB8AC3E}">
        <p14:creationId xmlns:p14="http://schemas.microsoft.com/office/powerpoint/2010/main" val="34062544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zh-CN" altLang="en-US"/>
              <a:t>表格标签</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表格标签</a:t>
            </a:r>
          </a:p>
        </p:txBody>
      </p:sp>
      <p:sp>
        <p:nvSpPr>
          <p:cNvPr id="2" name="矩形 1">
            <a:extLst>
              <a:ext uri="{FF2B5EF4-FFF2-40B4-BE49-F238E27FC236}">
                <a16:creationId xmlns:a16="http://schemas.microsoft.com/office/drawing/2014/main" id="{184F828F-6FA5-6E40-BE09-89D15F15E8FC}"/>
              </a:ext>
            </a:extLst>
          </p:cNvPr>
          <p:cNvSpPr/>
          <p:nvPr/>
        </p:nvSpPr>
        <p:spPr>
          <a:xfrm>
            <a:off x="6060280" y="2178689"/>
            <a:ext cx="4365298" cy="2542363"/>
          </a:xfrm>
          <a:prstGeom prst="rect">
            <a:avLst/>
          </a:prstGeom>
        </p:spPr>
        <p:txBody>
          <a:bodyPr wrap="none">
            <a:spAutoFit/>
          </a:bodyPr>
          <a:lstStyle/>
          <a:p>
            <a:pPr marL="285750" indent="-285750">
              <a:lnSpc>
                <a:spcPct val="150000"/>
              </a:lnSpc>
              <a:buFont typeface="Wingdings" pitchFamily="2" charset="2"/>
              <a:buChar char="l"/>
            </a:pPr>
            <a:r>
              <a:rPr lang="en" altLang="zh-CN"/>
              <a:t>&lt;table&gt;</a:t>
            </a:r>
            <a:r>
              <a:rPr lang="zh-CN" altLang="en-US"/>
              <a:t>标签：表示一个表格</a:t>
            </a:r>
            <a:endParaRPr lang="en-US" altLang="zh-CN"/>
          </a:p>
          <a:p>
            <a:pPr marL="742950" lvl="1" indent="-285750">
              <a:lnSpc>
                <a:spcPct val="150000"/>
              </a:lnSpc>
              <a:buFont typeface="Wingdings" pitchFamily="2" charset="2"/>
              <a:buChar char="n"/>
            </a:pPr>
            <a:r>
              <a:rPr lang="en-US" altLang="zh-CN"/>
              <a:t>&lt;</a:t>
            </a:r>
            <a:r>
              <a:rPr lang="en" altLang="zh-CN"/>
              <a:t>tr&gt;</a:t>
            </a:r>
            <a:r>
              <a:rPr lang="zh-CN" altLang="en-US"/>
              <a:t>标签：表示表格中的一行</a:t>
            </a:r>
          </a:p>
          <a:p>
            <a:pPr marL="1200150" lvl="2" indent="-285750">
              <a:lnSpc>
                <a:spcPct val="150000"/>
              </a:lnSpc>
              <a:buFont typeface="Wingdings" pitchFamily="2" charset="2"/>
              <a:buChar char="u"/>
            </a:pPr>
            <a:r>
              <a:rPr lang="en-US" altLang="zh-CN"/>
              <a:t>&lt;</a:t>
            </a:r>
            <a:r>
              <a:rPr lang="en" altLang="zh-CN"/>
              <a:t>td&gt;</a:t>
            </a:r>
            <a:r>
              <a:rPr lang="zh-CN" altLang="en-US"/>
              <a:t>标签：表示表格中的列</a:t>
            </a:r>
          </a:p>
          <a:p>
            <a:pPr marL="1200150" lvl="2" indent="-285750">
              <a:lnSpc>
                <a:spcPct val="150000"/>
              </a:lnSpc>
              <a:buFont typeface="Wingdings" pitchFamily="2" charset="2"/>
              <a:buChar char="u"/>
            </a:pPr>
            <a:r>
              <a:rPr lang="en-US" altLang="zh-CN"/>
              <a:t>&lt;</a:t>
            </a:r>
            <a:r>
              <a:rPr lang="en" altLang="zh-CN"/>
              <a:t>th&gt;</a:t>
            </a:r>
            <a:r>
              <a:rPr lang="zh-CN" altLang="en-US"/>
              <a:t>标签：表示表格中的表头</a:t>
            </a:r>
          </a:p>
          <a:p>
            <a:pPr>
              <a:lnSpc>
                <a:spcPct val="150000"/>
              </a:lnSpc>
            </a:pPr>
            <a:br>
              <a:rPr lang="zh-CN" altLang="en-US"/>
            </a:br>
            <a:endParaRPr lang="zh-CN" altLang="en-US"/>
          </a:p>
        </p:txBody>
      </p:sp>
      <p:pic>
        <p:nvPicPr>
          <p:cNvPr id="3" name="图片 2">
            <a:extLst>
              <a:ext uri="{FF2B5EF4-FFF2-40B4-BE49-F238E27FC236}">
                <a16:creationId xmlns:a16="http://schemas.microsoft.com/office/drawing/2014/main" id="{CC044238-BD83-C14C-850C-0048E06BD7DC}"/>
              </a:ext>
            </a:extLst>
          </p:cNvPr>
          <p:cNvPicPr>
            <a:picLocks noChangeAspect="1"/>
          </p:cNvPicPr>
          <p:nvPr/>
        </p:nvPicPr>
        <p:blipFill>
          <a:blip r:embed="rId2"/>
          <a:stretch>
            <a:fillRect/>
          </a:stretch>
        </p:blipFill>
        <p:spPr>
          <a:xfrm>
            <a:off x="1235883" y="1678221"/>
            <a:ext cx="4343400" cy="3543300"/>
          </a:xfrm>
          <a:prstGeom prst="rect">
            <a:avLst/>
          </a:prstGeom>
        </p:spPr>
      </p:pic>
      <p:sp>
        <p:nvSpPr>
          <p:cNvPr id="4" name="矩形 3">
            <a:extLst>
              <a:ext uri="{FF2B5EF4-FFF2-40B4-BE49-F238E27FC236}">
                <a16:creationId xmlns:a16="http://schemas.microsoft.com/office/drawing/2014/main" id="{4A3BB7D9-0845-D340-A6CD-21A05843B459}"/>
              </a:ext>
            </a:extLst>
          </p:cNvPr>
          <p:cNvSpPr/>
          <p:nvPr/>
        </p:nvSpPr>
        <p:spPr>
          <a:xfrm>
            <a:off x="1235883" y="5750314"/>
            <a:ext cx="9030861" cy="646331"/>
          </a:xfrm>
          <a:prstGeom prst="rect">
            <a:avLst/>
          </a:prstGeom>
        </p:spPr>
        <p:txBody>
          <a:bodyPr wrap="square">
            <a:spAutoFit/>
          </a:bodyPr>
          <a:lstStyle/>
          <a:p>
            <a:r>
              <a:rPr lang="zh-CN" altLang="en-US" b="1" i="0" dirty="0">
                <a:solidFill>
                  <a:srgbClr val="333333"/>
                </a:solidFill>
                <a:effectLst/>
                <a:latin typeface="Helvetica Neue" panose="02000503000000020004" pitchFamily="2" charset="0"/>
              </a:rPr>
              <a:t>表格边线合并</a:t>
            </a:r>
            <a:r>
              <a:rPr lang="en-US" altLang="zh-CN" b="1" i="0" dirty="0">
                <a:solidFill>
                  <a:srgbClr val="333333"/>
                </a:solidFill>
                <a:effectLst/>
                <a:latin typeface="Helvetica Neue" panose="02000503000000020004" pitchFamily="2" charset="0"/>
              </a:rPr>
              <a:t>:</a:t>
            </a:r>
            <a:endParaRPr lang="zh-CN" altLang="en-US" b="0" i="0" dirty="0">
              <a:solidFill>
                <a:srgbClr val="333333"/>
              </a:solidFill>
              <a:effectLst/>
              <a:latin typeface="Helvetica Neue" panose="02000503000000020004" pitchFamily="2" charset="0"/>
            </a:endParaRPr>
          </a:p>
          <a:p>
            <a:r>
              <a:rPr lang="en" altLang="zh-CN" b="0" i="0" dirty="0">
                <a:solidFill>
                  <a:srgbClr val="333333"/>
                </a:solidFill>
                <a:effectLst/>
                <a:latin typeface="Helvetica Neue" panose="02000503000000020004" pitchFamily="2" charset="0"/>
              </a:rPr>
              <a:t>border-collapse </a:t>
            </a:r>
            <a:r>
              <a:rPr lang="zh-CN" altLang="en-US" b="0" i="0" dirty="0">
                <a:solidFill>
                  <a:srgbClr val="333333"/>
                </a:solidFill>
                <a:effectLst/>
                <a:latin typeface="Helvetica Neue" panose="02000503000000020004" pitchFamily="2" charset="0"/>
              </a:rPr>
              <a:t>设置表格的边线合并，如：</a:t>
            </a:r>
            <a:r>
              <a:rPr lang="en" altLang="zh-CN" b="0" i="0" dirty="0">
                <a:solidFill>
                  <a:srgbClr val="333333"/>
                </a:solidFill>
                <a:effectLst/>
                <a:latin typeface="Helvetica Neue" panose="02000503000000020004" pitchFamily="2" charset="0"/>
              </a:rPr>
              <a:t>border-collapse:collapse;</a:t>
            </a:r>
          </a:p>
        </p:txBody>
      </p:sp>
    </p:spTree>
    <p:extLst>
      <p:ext uri="{BB962C8B-B14F-4D97-AF65-F5344CB8AC3E}">
        <p14:creationId xmlns:p14="http://schemas.microsoft.com/office/powerpoint/2010/main" val="23329371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180780F-C9DB-2444-81D9-0C48F0501E10}"/>
              </a:ext>
            </a:extLst>
          </p:cNvPr>
          <p:cNvSpPr>
            <a:spLocks noGrp="1"/>
          </p:cNvSpPr>
          <p:nvPr>
            <p:ph type="ctrTitle"/>
          </p:nvPr>
        </p:nvSpPr>
        <p:spPr/>
        <p:txBody>
          <a:bodyPr>
            <a:normAutofit fontScale="90000"/>
          </a:bodyPr>
          <a:lstStyle/>
          <a:p>
            <a:r>
              <a:rPr lang="zh-CN" altLang="en-US" dirty="0"/>
              <a:t>表单标签</a:t>
            </a:r>
          </a:p>
        </p:txBody>
      </p:sp>
      <p:sp>
        <p:nvSpPr>
          <p:cNvPr id="4" name="文本占位符 3">
            <a:extLst>
              <a:ext uri="{FF2B5EF4-FFF2-40B4-BE49-F238E27FC236}">
                <a16:creationId xmlns:a16="http://schemas.microsoft.com/office/drawing/2014/main" id="{2B00E6CA-B092-D14B-AFC4-E64326B88CFD}"/>
              </a:ext>
            </a:extLst>
          </p:cNvPr>
          <p:cNvSpPr>
            <a:spLocks noGrp="1"/>
          </p:cNvSpPr>
          <p:nvPr>
            <p:ph type="body" idx="10"/>
          </p:nvPr>
        </p:nvSpPr>
        <p:spPr>
          <a:xfrm>
            <a:off x="5273040" y="3069271"/>
            <a:ext cx="5466080" cy="3551447"/>
          </a:xfrm>
        </p:spPr>
        <p:txBody>
          <a:bodyPr/>
          <a:lstStyle/>
          <a:p>
            <a:r>
              <a:rPr lang="zh-CN" altLang="en-US" dirty="0"/>
              <a:t>表单介绍</a:t>
            </a:r>
            <a:endParaRPr lang="en-US" altLang="zh-CN" dirty="0"/>
          </a:p>
          <a:p>
            <a:r>
              <a:rPr lang="zh-CN" altLang="en-US" dirty="0"/>
              <a:t>表单相关标签</a:t>
            </a:r>
            <a:endParaRPr lang="en-US" altLang="zh-CN" dirty="0"/>
          </a:p>
        </p:txBody>
      </p:sp>
      <p:sp>
        <p:nvSpPr>
          <p:cNvPr id="5" name="文本占位符 4">
            <a:extLst>
              <a:ext uri="{FF2B5EF4-FFF2-40B4-BE49-F238E27FC236}">
                <a16:creationId xmlns:a16="http://schemas.microsoft.com/office/drawing/2014/main" id="{E7AC8956-CADA-F84A-BC5C-542D3650A295}"/>
              </a:ext>
            </a:extLst>
          </p:cNvPr>
          <p:cNvSpPr>
            <a:spLocks noGrp="1"/>
          </p:cNvSpPr>
          <p:nvPr>
            <p:ph type="body" sz="quarter" idx="11"/>
          </p:nvPr>
        </p:nvSpPr>
        <p:spPr/>
        <p:txBody>
          <a:bodyPr/>
          <a:lstStyle/>
          <a:p>
            <a:r>
              <a:rPr lang="en-US" altLang="zh-CN" dirty="0"/>
              <a:t>08</a:t>
            </a:r>
            <a:endParaRPr lang="zh-CN" altLang="en-US" dirty="0"/>
          </a:p>
        </p:txBody>
      </p:sp>
    </p:spTree>
    <p:extLst>
      <p:ext uri="{BB962C8B-B14F-4D97-AF65-F5344CB8AC3E}">
        <p14:creationId xmlns:p14="http://schemas.microsoft.com/office/powerpoint/2010/main" val="22184379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zh-CN" altLang="en-US"/>
              <a:t>表单标签</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表单介绍</a:t>
            </a:r>
          </a:p>
        </p:txBody>
      </p:sp>
      <p:sp>
        <p:nvSpPr>
          <p:cNvPr id="2" name="矩形 1">
            <a:extLst>
              <a:ext uri="{FF2B5EF4-FFF2-40B4-BE49-F238E27FC236}">
                <a16:creationId xmlns:a16="http://schemas.microsoft.com/office/drawing/2014/main" id="{184F828F-6FA5-6E40-BE09-89D15F15E8FC}"/>
              </a:ext>
            </a:extLst>
          </p:cNvPr>
          <p:cNvSpPr/>
          <p:nvPr/>
        </p:nvSpPr>
        <p:spPr>
          <a:xfrm>
            <a:off x="710880" y="1566005"/>
            <a:ext cx="9804287" cy="369332"/>
          </a:xfrm>
          <a:prstGeom prst="rect">
            <a:avLst/>
          </a:prstGeom>
        </p:spPr>
        <p:txBody>
          <a:bodyPr wrap="none">
            <a:spAutoFit/>
          </a:bodyPr>
          <a:lstStyle/>
          <a:p>
            <a:r>
              <a:rPr lang="zh-CN" altLang="en-US"/>
              <a:t>表单用于搜集不同类型的用户输入</a:t>
            </a:r>
            <a:r>
              <a:rPr lang="en-US" altLang="zh-CN"/>
              <a:t>(</a:t>
            </a:r>
            <a:r>
              <a:rPr lang="zh-CN" altLang="en-US"/>
              <a:t>用户输入的数据</a:t>
            </a:r>
            <a:r>
              <a:rPr lang="en-US" altLang="zh-CN"/>
              <a:t>)</a:t>
            </a:r>
            <a:r>
              <a:rPr lang="zh-CN" altLang="en-US"/>
              <a:t>，然后可以把用户数据提交到</a:t>
            </a:r>
            <a:r>
              <a:rPr lang="en" altLang="zh-CN"/>
              <a:t>web</a:t>
            </a:r>
            <a:r>
              <a:rPr lang="zh-CN" altLang="en-US"/>
              <a:t>服务器 。</a:t>
            </a:r>
          </a:p>
        </p:txBody>
      </p:sp>
    </p:spTree>
    <p:extLst>
      <p:ext uri="{BB962C8B-B14F-4D97-AF65-F5344CB8AC3E}">
        <p14:creationId xmlns:p14="http://schemas.microsoft.com/office/powerpoint/2010/main" val="4971551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zh-CN" altLang="en-US"/>
              <a:t>表单标签</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表单相关标签</a:t>
            </a:r>
          </a:p>
        </p:txBody>
      </p:sp>
      <p:pic>
        <p:nvPicPr>
          <p:cNvPr id="3" name="图片 2">
            <a:extLst>
              <a:ext uri="{FF2B5EF4-FFF2-40B4-BE49-F238E27FC236}">
                <a16:creationId xmlns:a16="http://schemas.microsoft.com/office/drawing/2014/main" id="{EA42AA56-61F5-2949-B866-7E00DDCE7B66}"/>
              </a:ext>
            </a:extLst>
          </p:cNvPr>
          <p:cNvPicPr>
            <a:picLocks noChangeAspect="1"/>
          </p:cNvPicPr>
          <p:nvPr/>
        </p:nvPicPr>
        <p:blipFill>
          <a:blip r:embed="rId2"/>
          <a:stretch>
            <a:fillRect/>
          </a:stretch>
        </p:blipFill>
        <p:spPr>
          <a:xfrm>
            <a:off x="871522" y="1301709"/>
            <a:ext cx="2519860" cy="5351521"/>
          </a:xfrm>
          <a:prstGeom prst="rect">
            <a:avLst/>
          </a:prstGeom>
        </p:spPr>
      </p:pic>
      <p:sp>
        <p:nvSpPr>
          <p:cNvPr id="4" name="矩形 3">
            <a:extLst>
              <a:ext uri="{FF2B5EF4-FFF2-40B4-BE49-F238E27FC236}">
                <a16:creationId xmlns:a16="http://schemas.microsoft.com/office/drawing/2014/main" id="{065E90DD-6999-CF44-9A48-7AA991075D3A}"/>
              </a:ext>
            </a:extLst>
          </p:cNvPr>
          <p:cNvSpPr/>
          <p:nvPr/>
        </p:nvSpPr>
        <p:spPr>
          <a:xfrm>
            <a:off x="3808071" y="1558626"/>
            <a:ext cx="8135076" cy="5078313"/>
          </a:xfrm>
          <a:prstGeom prst="rect">
            <a:avLst/>
          </a:prstGeom>
        </p:spPr>
        <p:txBody>
          <a:bodyPr wrap="square">
            <a:spAutoFit/>
          </a:bodyPr>
          <a:lstStyle/>
          <a:p>
            <a:pPr>
              <a:buFont typeface="+mj-lt"/>
              <a:buAutoNum type="arabicPeriod"/>
            </a:pPr>
            <a:r>
              <a:rPr lang="en" altLang="zh-CN" b="0" i="0" dirty="0">
                <a:solidFill>
                  <a:srgbClr val="333333"/>
                </a:solidFill>
                <a:effectLst/>
                <a:latin typeface="Helvetica Neue" panose="02000503000000020004" pitchFamily="2" charset="0"/>
              </a:rPr>
              <a:t>&lt;form&gt;</a:t>
            </a:r>
            <a:r>
              <a:rPr lang="zh-CN" altLang="en-US" b="0" i="0" dirty="0">
                <a:solidFill>
                  <a:srgbClr val="333333"/>
                </a:solidFill>
                <a:effectLst/>
                <a:latin typeface="Helvetica Neue" panose="02000503000000020004" pitchFamily="2" charset="0"/>
              </a:rPr>
              <a:t>标签 表示表单标签，定义整体的表单区域</a:t>
            </a:r>
          </a:p>
          <a:p>
            <a:pPr>
              <a:buFont typeface="+mj-lt"/>
              <a:buAutoNum type="arabicPeriod"/>
            </a:pPr>
            <a:r>
              <a:rPr lang="en-US" altLang="zh-CN" b="0" i="0" dirty="0">
                <a:solidFill>
                  <a:srgbClr val="333333"/>
                </a:solidFill>
                <a:effectLst/>
                <a:latin typeface="Helvetica Neue" panose="02000503000000020004" pitchFamily="2" charset="0"/>
              </a:rPr>
              <a:t>&lt;</a:t>
            </a:r>
            <a:r>
              <a:rPr lang="en" altLang="zh-CN" b="0" i="0" dirty="0">
                <a:solidFill>
                  <a:srgbClr val="333333"/>
                </a:solidFill>
                <a:effectLst/>
                <a:latin typeface="Helvetica Neue" panose="02000503000000020004" pitchFamily="2" charset="0"/>
              </a:rPr>
              <a:t>label&gt;</a:t>
            </a:r>
            <a:r>
              <a:rPr lang="zh-CN" altLang="en-US" b="0" i="0" dirty="0">
                <a:solidFill>
                  <a:srgbClr val="333333"/>
                </a:solidFill>
                <a:effectLst/>
                <a:latin typeface="Helvetica Neue" panose="02000503000000020004" pitchFamily="2" charset="0"/>
              </a:rPr>
              <a:t>标签 表示表单元素的文字标注标签，定义文字标注</a:t>
            </a:r>
          </a:p>
          <a:p>
            <a:pPr>
              <a:buFont typeface="+mj-lt"/>
              <a:buAutoNum type="arabicPeriod"/>
            </a:pPr>
            <a:r>
              <a:rPr lang="en-US" altLang="zh-CN" b="0" i="0" dirty="0">
                <a:solidFill>
                  <a:srgbClr val="333333"/>
                </a:solidFill>
                <a:effectLst/>
                <a:latin typeface="Helvetica Neue" panose="02000503000000020004" pitchFamily="2" charset="0"/>
              </a:rPr>
              <a:t>&lt;</a:t>
            </a:r>
            <a:r>
              <a:rPr lang="en" altLang="zh-CN" b="0" i="0" dirty="0">
                <a:solidFill>
                  <a:srgbClr val="333333"/>
                </a:solidFill>
                <a:effectLst/>
                <a:latin typeface="Helvetica Neue" panose="02000503000000020004" pitchFamily="2" charset="0"/>
              </a:rPr>
              <a:t>input&gt;</a:t>
            </a:r>
            <a:r>
              <a:rPr lang="zh-CN" altLang="en-US" b="0" i="0" dirty="0">
                <a:solidFill>
                  <a:srgbClr val="333333"/>
                </a:solidFill>
                <a:effectLst/>
                <a:latin typeface="Helvetica Neue" panose="02000503000000020004" pitchFamily="2" charset="0"/>
              </a:rPr>
              <a:t>标签 表示表单元素的用户输入标签，定义不同类型的用户输入数据方式</a:t>
            </a:r>
          </a:p>
          <a:p>
            <a:pPr marL="742950" lvl="1" indent="-285750">
              <a:buFont typeface="Wingdings" pitchFamily="2" charset="2"/>
              <a:buChar char="l"/>
            </a:pPr>
            <a:r>
              <a:rPr lang="en" altLang="zh-CN" b="0" i="0" dirty="0">
                <a:solidFill>
                  <a:srgbClr val="333333"/>
                </a:solidFill>
                <a:effectLst/>
                <a:latin typeface="Helvetica Neue" panose="02000503000000020004" pitchFamily="2" charset="0"/>
              </a:rPr>
              <a:t>type</a:t>
            </a:r>
            <a:r>
              <a:rPr lang="zh-CN" altLang="en-US" b="0" i="0" dirty="0">
                <a:solidFill>
                  <a:srgbClr val="333333"/>
                </a:solidFill>
                <a:effectLst/>
                <a:latin typeface="Helvetica Neue" panose="02000503000000020004" pitchFamily="2" charset="0"/>
              </a:rPr>
              <a:t>属性</a:t>
            </a:r>
          </a:p>
          <a:p>
            <a:pPr marL="1200150" lvl="2" indent="-285750">
              <a:buFont typeface="Arial" panose="020B0604020202020204" pitchFamily="34" charset="0"/>
              <a:buChar char="•"/>
            </a:pPr>
            <a:r>
              <a:rPr lang="en" altLang="zh-CN" b="0" i="0" dirty="0">
                <a:solidFill>
                  <a:srgbClr val="333333"/>
                </a:solidFill>
                <a:effectLst/>
                <a:latin typeface="Helvetica Neue" panose="02000503000000020004" pitchFamily="2" charset="0"/>
              </a:rPr>
              <a:t>type="text" </a:t>
            </a:r>
            <a:r>
              <a:rPr lang="zh-CN" altLang="en-US" b="0" i="0" dirty="0">
                <a:solidFill>
                  <a:srgbClr val="333333"/>
                </a:solidFill>
                <a:effectLst/>
                <a:latin typeface="Helvetica Neue" panose="02000503000000020004" pitchFamily="2" charset="0"/>
              </a:rPr>
              <a:t>定义单行文本输入框</a:t>
            </a:r>
          </a:p>
          <a:p>
            <a:pPr marL="1200150" lvl="2" indent="-285750">
              <a:buFont typeface="Arial" panose="020B0604020202020204" pitchFamily="34" charset="0"/>
              <a:buChar char="•"/>
            </a:pPr>
            <a:r>
              <a:rPr lang="en" altLang="zh-CN" b="0" i="0" dirty="0">
                <a:solidFill>
                  <a:srgbClr val="333333"/>
                </a:solidFill>
                <a:effectLst/>
                <a:latin typeface="Helvetica Neue" panose="02000503000000020004" pitchFamily="2" charset="0"/>
              </a:rPr>
              <a:t>type="password" </a:t>
            </a:r>
            <a:r>
              <a:rPr lang="zh-CN" altLang="en-US" b="0" i="0" dirty="0">
                <a:solidFill>
                  <a:srgbClr val="333333"/>
                </a:solidFill>
                <a:effectLst/>
                <a:latin typeface="Helvetica Neue" panose="02000503000000020004" pitchFamily="2" charset="0"/>
              </a:rPr>
              <a:t>定义密码输入框</a:t>
            </a:r>
          </a:p>
          <a:p>
            <a:pPr marL="1200150" lvl="2" indent="-285750">
              <a:buFont typeface="Arial" panose="020B0604020202020204" pitchFamily="34" charset="0"/>
              <a:buChar char="•"/>
            </a:pPr>
            <a:r>
              <a:rPr lang="en" altLang="zh-CN" b="0" i="0" dirty="0">
                <a:solidFill>
                  <a:srgbClr val="333333"/>
                </a:solidFill>
                <a:effectLst/>
                <a:latin typeface="Helvetica Neue" panose="02000503000000020004" pitchFamily="2" charset="0"/>
              </a:rPr>
              <a:t>type="radio" </a:t>
            </a:r>
            <a:r>
              <a:rPr lang="zh-CN" altLang="en-US" b="0" i="0" dirty="0">
                <a:solidFill>
                  <a:srgbClr val="333333"/>
                </a:solidFill>
                <a:effectLst/>
                <a:latin typeface="Helvetica Neue" panose="02000503000000020004" pitchFamily="2" charset="0"/>
              </a:rPr>
              <a:t>定义单选框</a:t>
            </a:r>
          </a:p>
          <a:p>
            <a:pPr marL="1200150" lvl="2" indent="-285750">
              <a:buFont typeface="Arial" panose="020B0604020202020204" pitchFamily="34" charset="0"/>
              <a:buChar char="•"/>
            </a:pPr>
            <a:r>
              <a:rPr lang="en" altLang="zh-CN" b="0" i="0" dirty="0">
                <a:solidFill>
                  <a:srgbClr val="333333"/>
                </a:solidFill>
                <a:effectLst/>
                <a:latin typeface="Helvetica Neue" panose="02000503000000020004" pitchFamily="2" charset="0"/>
              </a:rPr>
              <a:t>type="checkbox" </a:t>
            </a:r>
            <a:r>
              <a:rPr lang="zh-CN" altLang="en-US" b="0" i="0" dirty="0">
                <a:solidFill>
                  <a:srgbClr val="333333"/>
                </a:solidFill>
                <a:effectLst/>
                <a:latin typeface="Helvetica Neue" panose="02000503000000020004" pitchFamily="2" charset="0"/>
              </a:rPr>
              <a:t>定义复选框</a:t>
            </a:r>
          </a:p>
          <a:p>
            <a:pPr marL="1200150" lvl="2" indent="-285750">
              <a:buFont typeface="Arial" panose="020B0604020202020204" pitchFamily="34" charset="0"/>
              <a:buChar char="•"/>
            </a:pPr>
            <a:r>
              <a:rPr lang="en" altLang="zh-CN" b="0" i="0" dirty="0">
                <a:solidFill>
                  <a:srgbClr val="333333"/>
                </a:solidFill>
                <a:effectLst/>
                <a:latin typeface="Helvetica Neue" panose="02000503000000020004" pitchFamily="2" charset="0"/>
              </a:rPr>
              <a:t>type="file" </a:t>
            </a:r>
            <a:r>
              <a:rPr lang="zh-CN" altLang="en-US" b="0" i="0" dirty="0">
                <a:solidFill>
                  <a:srgbClr val="333333"/>
                </a:solidFill>
                <a:effectLst/>
                <a:latin typeface="Helvetica Neue" panose="02000503000000020004" pitchFamily="2" charset="0"/>
              </a:rPr>
              <a:t>定义上传文件</a:t>
            </a:r>
          </a:p>
          <a:p>
            <a:pPr marL="1200150" lvl="2" indent="-285750">
              <a:buFont typeface="Arial" panose="020B0604020202020204" pitchFamily="34" charset="0"/>
              <a:buChar char="•"/>
            </a:pPr>
            <a:r>
              <a:rPr lang="en" altLang="zh-CN" b="0" i="0" dirty="0">
                <a:solidFill>
                  <a:srgbClr val="333333"/>
                </a:solidFill>
                <a:effectLst/>
                <a:latin typeface="Helvetica Neue" panose="02000503000000020004" pitchFamily="2" charset="0"/>
              </a:rPr>
              <a:t>type="submit" </a:t>
            </a:r>
            <a:r>
              <a:rPr lang="zh-CN" altLang="en-US" b="0" i="0" dirty="0">
                <a:solidFill>
                  <a:srgbClr val="333333"/>
                </a:solidFill>
                <a:effectLst/>
                <a:latin typeface="Helvetica Neue" panose="02000503000000020004" pitchFamily="2" charset="0"/>
              </a:rPr>
              <a:t>定义提交按钮</a:t>
            </a:r>
          </a:p>
          <a:p>
            <a:pPr marL="1200150" lvl="2" indent="-285750">
              <a:buFont typeface="Arial" panose="020B0604020202020204" pitchFamily="34" charset="0"/>
              <a:buChar char="•"/>
            </a:pPr>
            <a:r>
              <a:rPr lang="en" altLang="zh-CN" b="0" i="0" dirty="0">
                <a:solidFill>
                  <a:srgbClr val="333333"/>
                </a:solidFill>
                <a:effectLst/>
                <a:latin typeface="Helvetica Neue" panose="02000503000000020004" pitchFamily="2" charset="0"/>
              </a:rPr>
              <a:t>type="reset" </a:t>
            </a:r>
            <a:r>
              <a:rPr lang="zh-CN" altLang="en-US" b="0" i="0" dirty="0">
                <a:solidFill>
                  <a:srgbClr val="333333"/>
                </a:solidFill>
                <a:effectLst/>
                <a:latin typeface="Helvetica Neue" panose="02000503000000020004" pitchFamily="2" charset="0"/>
              </a:rPr>
              <a:t>定义重置按钮</a:t>
            </a:r>
          </a:p>
          <a:p>
            <a:pPr marL="1200150" lvl="2" indent="-285750">
              <a:buFont typeface="Arial" panose="020B0604020202020204" pitchFamily="34" charset="0"/>
              <a:buChar char="•"/>
            </a:pPr>
            <a:r>
              <a:rPr lang="en" altLang="zh-CN" b="0" i="0" dirty="0">
                <a:solidFill>
                  <a:srgbClr val="333333"/>
                </a:solidFill>
                <a:effectLst/>
                <a:latin typeface="Helvetica Neue" panose="02000503000000020004" pitchFamily="2" charset="0"/>
              </a:rPr>
              <a:t>type="button" </a:t>
            </a:r>
            <a:r>
              <a:rPr lang="zh-CN" altLang="en-US" b="0" i="0" dirty="0">
                <a:solidFill>
                  <a:srgbClr val="333333"/>
                </a:solidFill>
                <a:effectLst/>
                <a:latin typeface="Helvetica Neue" panose="02000503000000020004" pitchFamily="2" charset="0"/>
              </a:rPr>
              <a:t>定义一个普通按钮</a:t>
            </a:r>
          </a:p>
          <a:p>
            <a:pPr>
              <a:buFont typeface="+mj-lt"/>
              <a:buAutoNum type="arabicPeriod"/>
            </a:pPr>
            <a:r>
              <a:rPr lang="en-US" altLang="zh-CN" b="0" i="0" dirty="0">
                <a:solidFill>
                  <a:srgbClr val="333333"/>
                </a:solidFill>
                <a:effectLst/>
                <a:latin typeface="Helvetica Neue" panose="02000503000000020004" pitchFamily="2" charset="0"/>
              </a:rPr>
              <a:t>&lt;</a:t>
            </a:r>
            <a:r>
              <a:rPr lang="en" altLang="zh-CN" b="0" i="0" dirty="0">
                <a:solidFill>
                  <a:srgbClr val="333333"/>
                </a:solidFill>
                <a:effectLst/>
                <a:latin typeface="Helvetica Neue" panose="02000503000000020004" pitchFamily="2" charset="0"/>
              </a:rPr>
              <a:t>textarea&gt;</a:t>
            </a:r>
            <a:r>
              <a:rPr lang="zh-CN" altLang="en-US" b="0" i="0" dirty="0">
                <a:solidFill>
                  <a:srgbClr val="333333"/>
                </a:solidFill>
                <a:effectLst/>
                <a:latin typeface="Helvetica Neue" panose="02000503000000020004" pitchFamily="2" charset="0"/>
              </a:rPr>
              <a:t>标签 表示表单元素的多行文本输入框标签 定义多行文本输入框</a:t>
            </a:r>
          </a:p>
          <a:p>
            <a:pPr>
              <a:buFont typeface="+mj-lt"/>
              <a:buAutoNum type="arabicPeriod"/>
            </a:pPr>
            <a:r>
              <a:rPr lang="en-US" altLang="zh-CN" b="0" i="0" dirty="0">
                <a:solidFill>
                  <a:srgbClr val="333333"/>
                </a:solidFill>
                <a:effectLst/>
                <a:latin typeface="Helvetica Neue" panose="02000503000000020004" pitchFamily="2" charset="0"/>
              </a:rPr>
              <a:t>&lt;</a:t>
            </a:r>
            <a:r>
              <a:rPr lang="en" altLang="zh-CN" b="0" i="0" dirty="0">
                <a:solidFill>
                  <a:srgbClr val="333333"/>
                </a:solidFill>
                <a:effectLst/>
                <a:latin typeface="Helvetica Neue" panose="02000503000000020004" pitchFamily="2" charset="0"/>
              </a:rPr>
              <a:t>select&gt;</a:t>
            </a:r>
            <a:r>
              <a:rPr lang="zh-CN" altLang="en-US" b="0" i="0" dirty="0">
                <a:solidFill>
                  <a:srgbClr val="333333"/>
                </a:solidFill>
                <a:effectLst/>
                <a:latin typeface="Helvetica Neue" panose="02000503000000020004" pitchFamily="2" charset="0"/>
              </a:rPr>
              <a:t>标签 表示表单元素的下拉列表标签 定义下拉列表</a:t>
            </a:r>
          </a:p>
          <a:p>
            <a:pPr marL="742950" lvl="1" indent="-285750">
              <a:buFont typeface="Arial" panose="020B0604020202020204" pitchFamily="34" charset="0"/>
              <a:buChar char="•"/>
            </a:pPr>
            <a:r>
              <a:rPr lang="en-US" altLang="zh-CN" b="0" i="0" dirty="0">
                <a:solidFill>
                  <a:srgbClr val="333333"/>
                </a:solidFill>
                <a:effectLst/>
                <a:latin typeface="Helvetica Neue" panose="02000503000000020004" pitchFamily="2" charset="0"/>
              </a:rPr>
              <a:t>&lt;</a:t>
            </a:r>
            <a:r>
              <a:rPr lang="en" altLang="zh-CN" b="0" i="0" dirty="0">
                <a:solidFill>
                  <a:srgbClr val="333333"/>
                </a:solidFill>
                <a:effectLst/>
                <a:latin typeface="Helvetica Neue" panose="02000503000000020004" pitchFamily="2" charset="0"/>
              </a:rPr>
              <a:t>option&gt;</a:t>
            </a:r>
            <a:r>
              <a:rPr lang="zh-CN" altLang="en-US" b="0" i="0" dirty="0">
                <a:solidFill>
                  <a:srgbClr val="333333"/>
                </a:solidFill>
                <a:effectLst/>
                <a:latin typeface="Helvetica Neue" panose="02000503000000020004" pitchFamily="2" charset="0"/>
              </a:rPr>
              <a:t>标签 与</a:t>
            </a:r>
            <a:r>
              <a:rPr lang="en-US" altLang="zh-CN" b="0" i="0" dirty="0">
                <a:solidFill>
                  <a:srgbClr val="333333"/>
                </a:solidFill>
                <a:effectLst/>
                <a:latin typeface="Helvetica Neue" panose="02000503000000020004" pitchFamily="2" charset="0"/>
              </a:rPr>
              <a:t>&lt;</a:t>
            </a:r>
            <a:r>
              <a:rPr lang="en" altLang="zh-CN" b="0" i="0" dirty="0">
                <a:solidFill>
                  <a:srgbClr val="333333"/>
                </a:solidFill>
                <a:effectLst/>
                <a:latin typeface="Helvetica Neue" panose="02000503000000020004" pitchFamily="2" charset="0"/>
              </a:rPr>
              <a:t>select&gt;</a:t>
            </a:r>
            <a:r>
              <a:rPr lang="zh-CN" altLang="en-US" b="0" i="0" dirty="0">
                <a:solidFill>
                  <a:srgbClr val="333333"/>
                </a:solidFill>
                <a:effectLst/>
                <a:latin typeface="Helvetica Neue" panose="02000503000000020004" pitchFamily="2" charset="0"/>
              </a:rPr>
              <a:t>标签配合，定义下拉列表中的选项</a:t>
            </a:r>
          </a:p>
          <a:p>
            <a:br>
              <a:rPr lang="zh-CN" altLang="en-US" dirty="0"/>
            </a:br>
            <a:endParaRPr lang="zh-CN" altLang="en-US" dirty="0"/>
          </a:p>
        </p:txBody>
      </p:sp>
    </p:spTree>
    <p:extLst>
      <p:ext uri="{BB962C8B-B14F-4D97-AF65-F5344CB8AC3E}">
        <p14:creationId xmlns:p14="http://schemas.microsoft.com/office/powerpoint/2010/main" val="14149150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180780F-C9DB-2444-81D9-0C48F0501E10}"/>
              </a:ext>
            </a:extLst>
          </p:cNvPr>
          <p:cNvSpPr>
            <a:spLocks noGrp="1"/>
          </p:cNvSpPr>
          <p:nvPr>
            <p:ph type="ctrTitle"/>
          </p:nvPr>
        </p:nvSpPr>
        <p:spPr/>
        <p:txBody>
          <a:bodyPr>
            <a:normAutofit fontScale="90000"/>
          </a:bodyPr>
          <a:lstStyle/>
          <a:p>
            <a:r>
              <a:rPr lang="zh-CN" altLang="en-US" dirty="0"/>
              <a:t>表单提交</a:t>
            </a:r>
          </a:p>
        </p:txBody>
      </p:sp>
      <p:sp>
        <p:nvSpPr>
          <p:cNvPr id="4" name="文本占位符 3">
            <a:extLst>
              <a:ext uri="{FF2B5EF4-FFF2-40B4-BE49-F238E27FC236}">
                <a16:creationId xmlns:a16="http://schemas.microsoft.com/office/drawing/2014/main" id="{2B00E6CA-B092-D14B-AFC4-E64326B88CFD}"/>
              </a:ext>
            </a:extLst>
          </p:cNvPr>
          <p:cNvSpPr>
            <a:spLocks noGrp="1"/>
          </p:cNvSpPr>
          <p:nvPr>
            <p:ph type="body" idx="10"/>
          </p:nvPr>
        </p:nvSpPr>
        <p:spPr>
          <a:xfrm>
            <a:off x="5273040" y="3069271"/>
            <a:ext cx="5466080" cy="3551447"/>
          </a:xfrm>
        </p:spPr>
        <p:txBody>
          <a:bodyPr/>
          <a:lstStyle/>
          <a:p>
            <a:r>
              <a:rPr lang="zh-CN" altLang="en-US" dirty="0"/>
              <a:t>表单属性设置</a:t>
            </a:r>
            <a:endParaRPr lang="en-US" altLang="zh-CN" dirty="0"/>
          </a:p>
          <a:p>
            <a:r>
              <a:rPr lang="zh-CN" altLang="en-US" dirty="0"/>
              <a:t>表单元素属性设置</a:t>
            </a:r>
            <a:endParaRPr lang="en-US" altLang="zh-CN" dirty="0"/>
          </a:p>
        </p:txBody>
      </p:sp>
      <p:sp>
        <p:nvSpPr>
          <p:cNvPr id="5" name="文本占位符 4">
            <a:extLst>
              <a:ext uri="{FF2B5EF4-FFF2-40B4-BE49-F238E27FC236}">
                <a16:creationId xmlns:a16="http://schemas.microsoft.com/office/drawing/2014/main" id="{E7AC8956-CADA-F84A-BC5C-542D3650A295}"/>
              </a:ext>
            </a:extLst>
          </p:cNvPr>
          <p:cNvSpPr>
            <a:spLocks noGrp="1"/>
          </p:cNvSpPr>
          <p:nvPr>
            <p:ph type="body" sz="quarter" idx="11"/>
          </p:nvPr>
        </p:nvSpPr>
        <p:spPr/>
        <p:txBody>
          <a:bodyPr/>
          <a:lstStyle/>
          <a:p>
            <a:r>
              <a:rPr lang="en-US" altLang="zh-CN" dirty="0"/>
              <a:t>09</a:t>
            </a:r>
            <a:endParaRPr lang="zh-CN" altLang="en-US" dirty="0"/>
          </a:p>
        </p:txBody>
      </p:sp>
    </p:spTree>
    <p:extLst>
      <p:ext uri="{BB962C8B-B14F-4D97-AF65-F5344CB8AC3E}">
        <p14:creationId xmlns:p14="http://schemas.microsoft.com/office/powerpoint/2010/main" val="38755645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zh-CN" altLang="en-US"/>
              <a:t>表单提交</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表单属性设置</a:t>
            </a:r>
          </a:p>
        </p:txBody>
      </p:sp>
      <p:sp>
        <p:nvSpPr>
          <p:cNvPr id="2" name="矩形 1">
            <a:extLst>
              <a:ext uri="{FF2B5EF4-FFF2-40B4-BE49-F238E27FC236}">
                <a16:creationId xmlns:a16="http://schemas.microsoft.com/office/drawing/2014/main" id="{184F828F-6FA5-6E40-BE09-89D15F15E8FC}"/>
              </a:ext>
            </a:extLst>
          </p:cNvPr>
          <p:cNvSpPr/>
          <p:nvPr/>
        </p:nvSpPr>
        <p:spPr>
          <a:xfrm>
            <a:off x="710880" y="1566005"/>
            <a:ext cx="8880957" cy="923330"/>
          </a:xfrm>
          <a:prstGeom prst="rect">
            <a:avLst/>
          </a:prstGeom>
        </p:spPr>
        <p:txBody>
          <a:bodyPr wrap="none">
            <a:spAutoFit/>
          </a:bodyPr>
          <a:lstStyle/>
          <a:p>
            <a:r>
              <a:rPr lang="en" altLang="zh-CN" dirty="0"/>
              <a:t>&lt;form&gt;</a:t>
            </a:r>
            <a:r>
              <a:rPr lang="zh-CN" altLang="en-US" dirty="0"/>
              <a:t>标签 表示表单标签，定义整体的表单区域</a:t>
            </a:r>
          </a:p>
          <a:p>
            <a:pPr marL="285750" indent="-285750">
              <a:buFont typeface="Arial" panose="020B0604020202020204" pitchFamily="34" charset="0"/>
              <a:buChar char="•"/>
            </a:pPr>
            <a:r>
              <a:rPr lang="en" altLang="zh-CN" dirty="0"/>
              <a:t>action</a:t>
            </a:r>
            <a:r>
              <a:rPr lang="zh-CN" altLang="en-US" dirty="0"/>
              <a:t>属性 设置表单数据提交地址</a:t>
            </a:r>
          </a:p>
          <a:p>
            <a:pPr marL="285750" indent="-285750">
              <a:buFont typeface="Arial" panose="020B0604020202020204" pitchFamily="34" charset="0"/>
              <a:buChar char="•"/>
            </a:pPr>
            <a:r>
              <a:rPr lang="en" altLang="zh-CN" dirty="0"/>
              <a:t>method</a:t>
            </a:r>
            <a:r>
              <a:rPr lang="zh-CN" altLang="en-US" dirty="0"/>
              <a:t>属性 设置表单提交的方式，一般有“</a:t>
            </a:r>
            <a:r>
              <a:rPr lang="en" altLang="zh-CN" dirty="0"/>
              <a:t>GET”</a:t>
            </a:r>
            <a:r>
              <a:rPr lang="zh-CN" altLang="en-US" dirty="0"/>
              <a:t>方式和“</a:t>
            </a:r>
            <a:r>
              <a:rPr lang="en" altLang="zh-CN" dirty="0"/>
              <a:t>POST”</a:t>
            </a:r>
            <a:r>
              <a:rPr lang="zh-CN" altLang="en-US" dirty="0"/>
              <a:t>方式</a:t>
            </a:r>
            <a:r>
              <a:rPr lang="en-US" altLang="zh-CN" dirty="0"/>
              <a:t>, </a:t>
            </a:r>
            <a:r>
              <a:rPr lang="zh-CN" altLang="en-US" dirty="0"/>
              <a:t>不区分大小写</a:t>
            </a:r>
          </a:p>
        </p:txBody>
      </p:sp>
    </p:spTree>
    <p:extLst>
      <p:ext uri="{BB962C8B-B14F-4D97-AF65-F5344CB8AC3E}">
        <p14:creationId xmlns:p14="http://schemas.microsoft.com/office/powerpoint/2010/main" val="24011051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zh-CN" altLang="en-US"/>
              <a:t>表单提交</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表单元素属性设置</a:t>
            </a:r>
          </a:p>
        </p:txBody>
      </p:sp>
      <p:sp>
        <p:nvSpPr>
          <p:cNvPr id="2" name="矩形 1">
            <a:extLst>
              <a:ext uri="{FF2B5EF4-FFF2-40B4-BE49-F238E27FC236}">
                <a16:creationId xmlns:a16="http://schemas.microsoft.com/office/drawing/2014/main" id="{184F828F-6FA5-6E40-BE09-89D15F15E8FC}"/>
              </a:ext>
            </a:extLst>
          </p:cNvPr>
          <p:cNvSpPr/>
          <p:nvPr/>
        </p:nvSpPr>
        <p:spPr>
          <a:xfrm>
            <a:off x="710880" y="1566005"/>
            <a:ext cx="7260129" cy="646331"/>
          </a:xfrm>
          <a:prstGeom prst="rect">
            <a:avLst/>
          </a:prstGeom>
        </p:spPr>
        <p:txBody>
          <a:bodyPr wrap="none">
            <a:spAutoFit/>
          </a:bodyPr>
          <a:lstStyle/>
          <a:p>
            <a:pPr marL="285750" indent="-285750">
              <a:buFont typeface="Arial" panose="020B0604020202020204" pitchFamily="34" charset="0"/>
              <a:buChar char="•"/>
            </a:pPr>
            <a:r>
              <a:rPr lang="en" altLang="zh-CN"/>
              <a:t>name</a:t>
            </a:r>
            <a:r>
              <a:rPr lang="zh-CN" altLang="en-US"/>
              <a:t>属性 设置表单元素的名称，该名称是提交数据时的参数名</a:t>
            </a:r>
          </a:p>
          <a:p>
            <a:pPr marL="285750" indent="-285750">
              <a:buFont typeface="Arial" panose="020B0604020202020204" pitchFamily="34" charset="0"/>
              <a:buChar char="•"/>
            </a:pPr>
            <a:r>
              <a:rPr lang="en" altLang="zh-CN"/>
              <a:t>value</a:t>
            </a:r>
            <a:r>
              <a:rPr lang="zh-CN" altLang="en-US"/>
              <a:t>属性 设置表单元素的值，该值是提交数据时参数名所对应的值</a:t>
            </a:r>
          </a:p>
        </p:txBody>
      </p:sp>
    </p:spTree>
    <p:extLst>
      <p:ext uri="{BB962C8B-B14F-4D97-AF65-F5344CB8AC3E}">
        <p14:creationId xmlns:p14="http://schemas.microsoft.com/office/powerpoint/2010/main" val="26354160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DC7A42-DEB9-4846-9885-EF1F65B29AB4}"/>
              </a:ext>
            </a:extLst>
          </p:cNvPr>
          <p:cNvSpPr>
            <a:spLocks noGrp="1"/>
          </p:cNvSpPr>
          <p:nvPr>
            <p:ph type="title"/>
          </p:nvPr>
        </p:nvSpPr>
        <p:spPr/>
        <p:txBody>
          <a:bodyPr/>
          <a:lstStyle/>
          <a:p>
            <a:r>
              <a:rPr kumimoji="1" lang="en-US" altLang="zh-CN" dirty="0"/>
              <a:t>css</a:t>
            </a:r>
            <a:r>
              <a:rPr kumimoji="1" lang="zh-CN" altLang="en-US" dirty="0"/>
              <a:t>部分</a:t>
            </a:r>
          </a:p>
        </p:txBody>
      </p:sp>
    </p:spTree>
    <p:extLst>
      <p:ext uri="{BB962C8B-B14F-4D97-AF65-F5344CB8AC3E}">
        <p14:creationId xmlns:p14="http://schemas.microsoft.com/office/powerpoint/2010/main" val="13309011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180780F-C9DB-2444-81D9-0C48F0501E10}"/>
              </a:ext>
            </a:extLst>
          </p:cNvPr>
          <p:cNvSpPr>
            <a:spLocks noGrp="1"/>
          </p:cNvSpPr>
          <p:nvPr>
            <p:ph type="ctrTitle"/>
          </p:nvPr>
        </p:nvSpPr>
        <p:spPr/>
        <p:txBody>
          <a:bodyPr>
            <a:normAutofit fontScale="90000"/>
          </a:bodyPr>
          <a:lstStyle/>
          <a:p>
            <a:r>
              <a:rPr lang="en-US" altLang="zh-CN" dirty="0"/>
              <a:t>css</a:t>
            </a:r>
            <a:r>
              <a:rPr lang="zh-CN" altLang="en-US" dirty="0"/>
              <a:t>介绍</a:t>
            </a:r>
          </a:p>
        </p:txBody>
      </p:sp>
      <p:sp>
        <p:nvSpPr>
          <p:cNvPr id="4" name="文本占位符 3">
            <a:extLst>
              <a:ext uri="{FF2B5EF4-FFF2-40B4-BE49-F238E27FC236}">
                <a16:creationId xmlns:a16="http://schemas.microsoft.com/office/drawing/2014/main" id="{2B00E6CA-B092-D14B-AFC4-E64326B88CFD}"/>
              </a:ext>
            </a:extLst>
          </p:cNvPr>
          <p:cNvSpPr>
            <a:spLocks noGrp="1"/>
          </p:cNvSpPr>
          <p:nvPr>
            <p:ph type="body" idx="10"/>
          </p:nvPr>
        </p:nvSpPr>
        <p:spPr>
          <a:xfrm>
            <a:off x="5273040" y="3069271"/>
            <a:ext cx="5466080" cy="3551447"/>
          </a:xfrm>
        </p:spPr>
        <p:txBody>
          <a:bodyPr/>
          <a:lstStyle/>
          <a:p>
            <a:r>
              <a:rPr lang="en-US" altLang="zh-CN" dirty="0"/>
              <a:t>css</a:t>
            </a:r>
            <a:r>
              <a:rPr lang="zh-CN" altLang="en-US" dirty="0"/>
              <a:t>定义</a:t>
            </a:r>
            <a:endParaRPr lang="en-US" altLang="zh-CN" dirty="0"/>
          </a:p>
          <a:p>
            <a:r>
              <a:rPr lang="en-US" altLang="zh-CN" dirty="0"/>
              <a:t>css</a:t>
            </a:r>
            <a:r>
              <a:rPr lang="zh-CN" altLang="en-US" dirty="0"/>
              <a:t>作用</a:t>
            </a:r>
            <a:endParaRPr lang="en-US" altLang="zh-CN" dirty="0"/>
          </a:p>
          <a:p>
            <a:r>
              <a:rPr lang="en-US" altLang="zh-CN" dirty="0"/>
              <a:t>css</a:t>
            </a:r>
            <a:r>
              <a:rPr lang="zh-CN" altLang="en-US" dirty="0"/>
              <a:t>基本语法</a:t>
            </a:r>
            <a:endParaRPr lang="en-US" altLang="zh-CN" dirty="0"/>
          </a:p>
        </p:txBody>
      </p:sp>
      <p:sp>
        <p:nvSpPr>
          <p:cNvPr id="5" name="文本占位符 4">
            <a:extLst>
              <a:ext uri="{FF2B5EF4-FFF2-40B4-BE49-F238E27FC236}">
                <a16:creationId xmlns:a16="http://schemas.microsoft.com/office/drawing/2014/main" id="{E7AC8956-CADA-F84A-BC5C-542D3650A295}"/>
              </a:ext>
            </a:extLst>
          </p:cNvPr>
          <p:cNvSpPr>
            <a:spLocks noGrp="1"/>
          </p:cNvSpPr>
          <p:nvPr>
            <p:ph type="body" sz="quarter" idx="11"/>
          </p:nvPr>
        </p:nvSpPr>
        <p:spPr/>
        <p:txBody>
          <a:bodyPr/>
          <a:lstStyle/>
          <a:p>
            <a:r>
              <a:rPr lang="en-US" altLang="zh-CN" dirty="0"/>
              <a:t>01</a:t>
            </a:r>
            <a:endParaRPr lang="zh-CN" altLang="en-US" dirty="0"/>
          </a:p>
        </p:txBody>
      </p:sp>
    </p:spTree>
    <p:extLst>
      <p:ext uri="{BB962C8B-B14F-4D97-AF65-F5344CB8AC3E}">
        <p14:creationId xmlns:p14="http://schemas.microsoft.com/office/powerpoint/2010/main" val="10456739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介绍</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en-US" altLang="zh-CN"/>
              <a:t>css</a:t>
            </a:r>
            <a:r>
              <a:rPr lang="zh-CN" altLang="en-US"/>
              <a:t>定义</a:t>
            </a:r>
          </a:p>
        </p:txBody>
      </p:sp>
      <p:sp>
        <p:nvSpPr>
          <p:cNvPr id="2" name="矩形 1">
            <a:extLst>
              <a:ext uri="{FF2B5EF4-FFF2-40B4-BE49-F238E27FC236}">
                <a16:creationId xmlns:a16="http://schemas.microsoft.com/office/drawing/2014/main" id="{184F828F-6FA5-6E40-BE09-89D15F15E8FC}"/>
              </a:ext>
            </a:extLst>
          </p:cNvPr>
          <p:cNvSpPr/>
          <p:nvPr/>
        </p:nvSpPr>
        <p:spPr>
          <a:xfrm>
            <a:off x="710880" y="1566005"/>
            <a:ext cx="7539308" cy="369332"/>
          </a:xfrm>
          <a:prstGeom prst="rect">
            <a:avLst/>
          </a:prstGeom>
        </p:spPr>
        <p:txBody>
          <a:bodyPr wrap="none">
            <a:spAutoFit/>
          </a:bodyPr>
          <a:lstStyle/>
          <a:p>
            <a:r>
              <a:rPr lang="en" altLang="zh-CN"/>
              <a:t>css(Cascading Style Sheet)</a:t>
            </a:r>
            <a:r>
              <a:rPr lang="zh-CN" altLang="en-US"/>
              <a:t>层叠样式表，它是用来美化页面的一种语言。</a:t>
            </a:r>
          </a:p>
        </p:txBody>
      </p:sp>
      <p:pic>
        <p:nvPicPr>
          <p:cNvPr id="8" name="图片 7">
            <a:extLst>
              <a:ext uri="{FF2B5EF4-FFF2-40B4-BE49-F238E27FC236}">
                <a16:creationId xmlns:a16="http://schemas.microsoft.com/office/drawing/2014/main" id="{DD77F27E-B376-4A98-BB5A-C4EBEE56C2D3}"/>
              </a:ext>
            </a:extLst>
          </p:cNvPr>
          <p:cNvPicPr>
            <a:picLocks noChangeAspect="1"/>
          </p:cNvPicPr>
          <p:nvPr/>
        </p:nvPicPr>
        <p:blipFill>
          <a:blip r:embed="rId2"/>
          <a:stretch>
            <a:fillRect/>
          </a:stretch>
        </p:blipFill>
        <p:spPr>
          <a:xfrm>
            <a:off x="3077106" y="2199632"/>
            <a:ext cx="2400508" cy="3650296"/>
          </a:xfrm>
          <a:prstGeom prst="rect">
            <a:avLst/>
          </a:prstGeom>
        </p:spPr>
      </p:pic>
      <p:pic>
        <p:nvPicPr>
          <p:cNvPr id="10" name="图片 9">
            <a:extLst>
              <a:ext uri="{FF2B5EF4-FFF2-40B4-BE49-F238E27FC236}">
                <a16:creationId xmlns:a16="http://schemas.microsoft.com/office/drawing/2014/main" id="{B2F85A00-6ADF-457A-AD76-0134EEDA0BFF}"/>
              </a:ext>
            </a:extLst>
          </p:cNvPr>
          <p:cNvPicPr>
            <a:picLocks noChangeAspect="1"/>
          </p:cNvPicPr>
          <p:nvPr/>
        </p:nvPicPr>
        <p:blipFill>
          <a:blip r:embed="rId3"/>
          <a:stretch>
            <a:fillRect/>
          </a:stretch>
        </p:blipFill>
        <p:spPr>
          <a:xfrm>
            <a:off x="6354975" y="2138666"/>
            <a:ext cx="2408129" cy="3711262"/>
          </a:xfrm>
          <a:prstGeom prst="rect">
            <a:avLst/>
          </a:prstGeom>
        </p:spPr>
      </p:pic>
    </p:spTree>
    <p:extLst>
      <p:ext uri="{BB962C8B-B14F-4D97-AF65-F5344CB8AC3E}">
        <p14:creationId xmlns:p14="http://schemas.microsoft.com/office/powerpoint/2010/main" val="31725841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介绍</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en-US" altLang="zh-CN"/>
              <a:t>css</a:t>
            </a:r>
            <a:r>
              <a:rPr lang="zh-CN" altLang="en-US"/>
              <a:t>作用</a:t>
            </a:r>
          </a:p>
        </p:txBody>
      </p:sp>
      <p:sp>
        <p:nvSpPr>
          <p:cNvPr id="2" name="矩形 1">
            <a:extLst>
              <a:ext uri="{FF2B5EF4-FFF2-40B4-BE49-F238E27FC236}">
                <a16:creationId xmlns:a16="http://schemas.microsoft.com/office/drawing/2014/main" id="{184F828F-6FA5-6E40-BE09-89D15F15E8FC}"/>
              </a:ext>
            </a:extLst>
          </p:cNvPr>
          <p:cNvSpPr/>
          <p:nvPr/>
        </p:nvSpPr>
        <p:spPr>
          <a:xfrm>
            <a:off x="710880" y="1566005"/>
            <a:ext cx="6700873" cy="646331"/>
          </a:xfrm>
          <a:prstGeom prst="rect">
            <a:avLst/>
          </a:prstGeom>
        </p:spPr>
        <p:txBody>
          <a:bodyPr wrap="none">
            <a:spAutoFit/>
          </a:bodyPr>
          <a:lstStyle/>
          <a:p>
            <a:pPr marL="285750" indent="-285750">
              <a:buFont typeface="Arial" panose="020B0604020202020204" pitchFamily="34" charset="0"/>
              <a:buChar char="•"/>
            </a:pPr>
            <a:r>
              <a:rPr lang="zh-CN" altLang="en-US"/>
              <a:t>美化界面</a:t>
            </a:r>
            <a:r>
              <a:rPr lang="en-US" altLang="zh-CN"/>
              <a:t>, </a:t>
            </a:r>
            <a:r>
              <a:rPr lang="zh-CN" altLang="en-US"/>
              <a:t>比如</a:t>
            </a:r>
            <a:r>
              <a:rPr lang="en-US" altLang="zh-CN"/>
              <a:t>: </a:t>
            </a:r>
            <a:r>
              <a:rPr lang="zh-CN" altLang="en-US"/>
              <a:t>设置标签文字大小、颜色、字体加粗等样式。</a:t>
            </a:r>
          </a:p>
          <a:p>
            <a:pPr marL="285750" indent="-285750">
              <a:buFont typeface="Arial" panose="020B0604020202020204" pitchFamily="34" charset="0"/>
              <a:buChar char="•"/>
            </a:pPr>
            <a:r>
              <a:rPr lang="zh-CN" altLang="en-US"/>
              <a:t>控制页面布局</a:t>
            </a:r>
            <a:r>
              <a:rPr lang="en-US" altLang="zh-CN"/>
              <a:t>, </a:t>
            </a:r>
            <a:r>
              <a:rPr lang="zh-CN" altLang="en-US"/>
              <a:t>比如</a:t>
            </a:r>
            <a:r>
              <a:rPr lang="en-US" altLang="zh-CN"/>
              <a:t>: </a:t>
            </a:r>
            <a:r>
              <a:rPr lang="zh-CN" altLang="en-US"/>
              <a:t>设置浮动、定位等样式。</a:t>
            </a:r>
          </a:p>
        </p:txBody>
      </p:sp>
    </p:spTree>
    <p:extLst>
      <p:ext uri="{BB962C8B-B14F-4D97-AF65-F5344CB8AC3E}">
        <p14:creationId xmlns:p14="http://schemas.microsoft.com/office/powerpoint/2010/main" val="15723433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介绍</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en-US" altLang="zh-CN"/>
              <a:t>css</a:t>
            </a:r>
            <a:r>
              <a:rPr lang="zh-CN" altLang="en-US"/>
              <a:t>基本语法</a:t>
            </a:r>
          </a:p>
        </p:txBody>
      </p:sp>
      <p:sp>
        <p:nvSpPr>
          <p:cNvPr id="7" name="TextBox 3">
            <a:extLst>
              <a:ext uri="{FF2B5EF4-FFF2-40B4-BE49-F238E27FC236}">
                <a16:creationId xmlns:a16="http://schemas.microsoft.com/office/drawing/2014/main" id="{05E6A69A-E82C-B143-A8DD-2C16629B1F08}"/>
              </a:ext>
            </a:extLst>
          </p:cNvPr>
          <p:cNvSpPr txBox="1"/>
          <p:nvPr/>
        </p:nvSpPr>
        <p:spPr>
          <a:xfrm>
            <a:off x="803478" y="1426214"/>
            <a:ext cx="5770944" cy="2862322"/>
          </a:xfrm>
          <a:prstGeom prst="rect">
            <a:avLst/>
          </a:prstGeom>
          <a:solidFill>
            <a:srgbClr val="FFFFE4"/>
          </a:solidFill>
          <a:ln w="3175">
            <a:solidFill>
              <a:srgbClr val="919191"/>
            </a:solidFill>
          </a:ln>
        </p:spPr>
        <p:txBody>
          <a:bodyPr wrap="square">
            <a:spAutoFit/>
          </a:bodyPr>
          <a:lstStyle/>
          <a:p>
            <a:r>
              <a:rPr lang="zh-CN" altLang="en-US"/>
              <a:t>选择器</a:t>
            </a:r>
            <a:r>
              <a:rPr lang="en-US" altLang="zh-CN"/>
              <a:t>{</a:t>
            </a:r>
          </a:p>
          <a:p>
            <a:r>
              <a:rPr lang="zh-CN" altLang="en-US"/>
              <a:t>样式规则</a:t>
            </a:r>
          </a:p>
          <a:p>
            <a:r>
              <a:rPr lang="en-US" altLang="zh-CN"/>
              <a:t>}</a:t>
            </a:r>
          </a:p>
          <a:p>
            <a:r>
              <a:rPr lang="zh-CN" altLang="en-US"/>
              <a:t>样式规则：</a:t>
            </a:r>
          </a:p>
          <a:p>
            <a:r>
              <a:rPr lang="zh-CN" altLang="en-US"/>
              <a:t>属性名</a:t>
            </a:r>
            <a:r>
              <a:rPr lang="en-US" altLang="zh-CN"/>
              <a:t>1</a:t>
            </a:r>
            <a:r>
              <a:rPr lang="zh-CN" altLang="en-US"/>
              <a:t>：属性值</a:t>
            </a:r>
            <a:r>
              <a:rPr lang="en-US" altLang="zh-CN"/>
              <a:t>1;</a:t>
            </a:r>
          </a:p>
          <a:p>
            <a:r>
              <a:rPr lang="zh-CN" altLang="en-US"/>
              <a:t>属性名</a:t>
            </a:r>
            <a:r>
              <a:rPr lang="en-US" altLang="zh-CN"/>
              <a:t>2</a:t>
            </a:r>
            <a:r>
              <a:rPr lang="zh-CN" altLang="en-US"/>
              <a:t>：属性值</a:t>
            </a:r>
            <a:r>
              <a:rPr lang="en-US" altLang="zh-CN"/>
              <a:t>2;</a:t>
            </a:r>
          </a:p>
          <a:p>
            <a:r>
              <a:rPr lang="zh-CN" altLang="en-US"/>
              <a:t>属性名</a:t>
            </a:r>
            <a:r>
              <a:rPr lang="en-US" altLang="zh-CN"/>
              <a:t>3</a:t>
            </a:r>
            <a:r>
              <a:rPr lang="zh-CN" altLang="en-US"/>
              <a:t>：属性值</a:t>
            </a:r>
            <a:r>
              <a:rPr lang="en-US" altLang="zh-CN"/>
              <a:t>3;</a:t>
            </a:r>
          </a:p>
          <a:p>
            <a:r>
              <a:rPr lang="en-US" altLang="zh-CN"/>
              <a:t>...</a:t>
            </a:r>
          </a:p>
          <a:p>
            <a:endParaRPr lang="en-US" altLang="zh-CN"/>
          </a:p>
          <a:p>
            <a:r>
              <a:rPr lang="zh-CN" altLang="en-US"/>
              <a:t>选择器</a:t>
            </a:r>
            <a:r>
              <a:rPr lang="en-US" altLang="zh-CN"/>
              <a:t>:</a:t>
            </a:r>
            <a:r>
              <a:rPr lang="zh-CN" altLang="en-US" b="1"/>
              <a:t>是用来选择标签的，选出来以后给标签加样式。</a:t>
            </a:r>
            <a:endParaRPr lang="en-US" altLang="zh-CN"/>
          </a:p>
        </p:txBody>
      </p:sp>
      <p:pic>
        <p:nvPicPr>
          <p:cNvPr id="3" name="图片 2">
            <a:extLst>
              <a:ext uri="{FF2B5EF4-FFF2-40B4-BE49-F238E27FC236}">
                <a16:creationId xmlns:a16="http://schemas.microsoft.com/office/drawing/2014/main" id="{31CDDAB2-351D-2447-88C1-E5F85557E83E}"/>
              </a:ext>
            </a:extLst>
          </p:cNvPr>
          <p:cNvPicPr>
            <a:picLocks noChangeAspect="1"/>
          </p:cNvPicPr>
          <p:nvPr/>
        </p:nvPicPr>
        <p:blipFill>
          <a:blip r:embed="rId2"/>
          <a:stretch>
            <a:fillRect/>
          </a:stretch>
        </p:blipFill>
        <p:spPr>
          <a:xfrm>
            <a:off x="6733411" y="1426214"/>
            <a:ext cx="5207000" cy="2743200"/>
          </a:xfrm>
          <a:prstGeom prst="rect">
            <a:avLst/>
          </a:prstGeom>
        </p:spPr>
      </p:pic>
      <p:sp>
        <p:nvSpPr>
          <p:cNvPr id="9" name="三角形 8">
            <a:extLst>
              <a:ext uri="{FF2B5EF4-FFF2-40B4-BE49-F238E27FC236}">
                <a16:creationId xmlns:a16="http://schemas.microsoft.com/office/drawing/2014/main" id="{A8F1B63A-A744-9445-86DF-188A750A49F2}"/>
              </a:ext>
            </a:extLst>
          </p:cNvPr>
          <p:cNvSpPr/>
          <p:nvPr/>
        </p:nvSpPr>
        <p:spPr>
          <a:xfrm rot="2651319">
            <a:off x="717495" y="5370797"/>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43CC9ECB-6318-AD41-B5CE-1F08924C8C40}"/>
              </a:ext>
            </a:extLst>
          </p:cNvPr>
          <p:cNvSpPr/>
          <p:nvPr/>
        </p:nvSpPr>
        <p:spPr>
          <a:xfrm>
            <a:off x="810808" y="5014926"/>
            <a:ext cx="10302240" cy="1018746"/>
          </a:xfrm>
          <a:prstGeom prst="rect">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1C9D587D-1903-644A-8E30-A77926051497}"/>
              </a:ext>
            </a:extLst>
          </p:cNvPr>
          <p:cNvSpPr/>
          <p:nvPr/>
        </p:nvSpPr>
        <p:spPr>
          <a:xfrm>
            <a:off x="710880" y="5087396"/>
            <a:ext cx="1053296" cy="300942"/>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400" dirty="0">
                <a:latin typeface="Alibaba PuHuiTi R" pitchFamily="18" charset="-122"/>
                <a:ea typeface="Alibaba PuHuiTi R" pitchFamily="18" charset="-122"/>
                <a:cs typeface="Alibaba PuHuiTi R" pitchFamily="18" charset="-122"/>
              </a:rPr>
              <a:t>说明</a:t>
            </a:r>
          </a:p>
        </p:txBody>
      </p:sp>
      <p:sp>
        <p:nvSpPr>
          <p:cNvPr id="12" name="文本占位符 1">
            <a:extLst>
              <a:ext uri="{FF2B5EF4-FFF2-40B4-BE49-F238E27FC236}">
                <a16:creationId xmlns:a16="http://schemas.microsoft.com/office/drawing/2014/main" id="{E8E20DAE-D4DB-9840-AAA2-03D1288EE4EA}"/>
              </a:ext>
            </a:extLst>
          </p:cNvPr>
          <p:cNvSpPr txBox="1">
            <a:spLocks/>
          </p:cNvSpPr>
          <p:nvPr/>
        </p:nvSpPr>
        <p:spPr>
          <a:xfrm>
            <a:off x="1007836" y="5460809"/>
            <a:ext cx="9189460" cy="700246"/>
          </a:xfrm>
          <a:prstGeom prst="rect">
            <a:avLst/>
          </a:prstGeom>
        </p:spPr>
        <p:txBody>
          <a:bodyPr/>
          <a:lstStyle>
            <a:lvl1pPr marL="360000" indent="-360000" algn="l" rtl="0" eaLnBrk="0" fontAlgn="base" hangingPunct="0">
              <a:lnSpc>
                <a:spcPct val="150000"/>
              </a:lnSpc>
              <a:spcBef>
                <a:spcPct val="20000"/>
              </a:spcBef>
              <a:spcAft>
                <a:spcPct val="0"/>
              </a:spcAft>
              <a:buClr>
                <a:srgbClr val="404040"/>
              </a:buClr>
              <a:buSzPct val="85000"/>
              <a:buFont typeface="Wingdings" pitchFamily="2" charset="2"/>
              <a:buChar char="p"/>
              <a:tabLst/>
              <a:defRPr lang="zh-CN" altLang="en-US" sz="1600" kern="1200" dirty="0">
                <a:solidFill>
                  <a:srgbClr val="404040"/>
                </a:solidFill>
                <a:latin typeface="Alibaba PuHuiTi R" pitchFamily="18" charset="-122"/>
                <a:ea typeface="Alibaba PuHuiTi R" pitchFamily="18" charset="-122"/>
                <a:cs typeface="Alibaba PuHuiTi R" pitchFamily="18" charset="-122"/>
              </a:defRPr>
            </a:lvl1pPr>
            <a:lvl2pPr marL="719138" indent="-358775" algn="l" rtl="0" eaLnBrk="0" fontAlgn="base" hangingPunct="0">
              <a:spcBef>
                <a:spcPct val="20000"/>
              </a:spcBef>
              <a:spcAft>
                <a:spcPct val="0"/>
              </a:spcAft>
              <a:buFont typeface="Wingdings" pitchFamily="2" charset="2"/>
              <a:buChar char="p"/>
              <a:tabLst/>
              <a:defRPr lang="en-US" altLang="zh-CN" sz="1600" b="0" kern="1200" dirty="0">
                <a:solidFill>
                  <a:srgbClr val="404040"/>
                </a:solidFill>
                <a:latin typeface="Alibaba PuHuiTi R" pitchFamily="18" charset="-122"/>
                <a:ea typeface="Alibaba PuHuiTi R" pitchFamily="18" charset="-122"/>
                <a:cs typeface="Alibaba PuHuiTi R" pitchFamily="18" charset="-122"/>
              </a:defRPr>
            </a:lvl2pPr>
            <a:lvl3pPr marL="1079500" indent="-358775" algn="l" rtl="0" eaLnBrk="0" fontAlgn="base" hangingPunct="0">
              <a:spcBef>
                <a:spcPct val="20000"/>
              </a:spcBef>
              <a:spcAft>
                <a:spcPct val="0"/>
              </a:spcAft>
              <a:buFont typeface="Wingdings" pitchFamily="2" charset="2"/>
              <a:buChar char="p"/>
              <a:tabLst/>
              <a:defRPr lang="zh-CN" altLang="en-US" sz="1600" b="0" kern="1200" dirty="0">
                <a:solidFill>
                  <a:srgbClr val="404040"/>
                </a:solidFill>
                <a:latin typeface="黑体" panose="02010609060101010101" pitchFamily="49" charset="-122"/>
                <a:ea typeface="黑体" panose="02010609060101010101" pitchFamily="49" charset="-122"/>
                <a:cs typeface="+mn-cs"/>
              </a:defRPr>
            </a:lvl3pPr>
            <a:lvl4pPr marL="2133547"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4pPr>
            <a:lvl5pPr marL="2743131" indent="-304792" algn="l"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pPr>
            <a:r>
              <a:rPr lang="en" altLang="zh-CN" dirty="0"/>
              <a:t>css </a:t>
            </a:r>
            <a:r>
              <a:rPr lang="zh-CN" altLang="en-US" dirty="0"/>
              <a:t>是由两个主要的部分构成：</a:t>
            </a:r>
            <a:r>
              <a:rPr lang="zh-CN" altLang="en-US" b="1" dirty="0"/>
              <a:t>选择器和一条或多条样式规则</a:t>
            </a:r>
            <a:r>
              <a:rPr lang="zh-CN" altLang="en-US" dirty="0"/>
              <a:t>，注意</a:t>
            </a:r>
            <a:r>
              <a:rPr lang="en-US" altLang="zh-CN" dirty="0"/>
              <a:t>:</a:t>
            </a:r>
            <a:r>
              <a:rPr lang="zh-CN" altLang="en-US" b="1" dirty="0"/>
              <a:t>样式规则需要放到大括号里面。</a:t>
            </a:r>
            <a:endParaRPr lang="en-US" altLang="zh-CN" dirty="0">
              <a:solidFill>
                <a:srgbClr val="262626"/>
              </a:solidFill>
            </a:endParaRPr>
          </a:p>
        </p:txBody>
      </p:sp>
    </p:spTree>
    <p:extLst>
      <p:ext uri="{BB962C8B-B14F-4D97-AF65-F5344CB8AC3E}">
        <p14:creationId xmlns:p14="http://schemas.microsoft.com/office/powerpoint/2010/main" val="28043382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180780F-C9DB-2444-81D9-0C48F0501E10}"/>
              </a:ext>
            </a:extLst>
          </p:cNvPr>
          <p:cNvSpPr>
            <a:spLocks noGrp="1"/>
          </p:cNvSpPr>
          <p:nvPr>
            <p:ph type="ctrTitle"/>
          </p:nvPr>
        </p:nvSpPr>
        <p:spPr/>
        <p:txBody>
          <a:bodyPr>
            <a:normAutofit fontScale="90000"/>
          </a:bodyPr>
          <a:lstStyle/>
          <a:p>
            <a:r>
              <a:rPr lang="en-US" altLang="zh-CN" dirty="0"/>
              <a:t>css</a:t>
            </a:r>
            <a:r>
              <a:rPr lang="zh-CN" altLang="en-US" dirty="0"/>
              <a:t>引入方式</a:t>
            </a:r>
          </a:p>
        </p:txBody>
      </p:sp>
      <p:sp>
        <p:nvSpPr>
          <p:cNvPr id="4" name="文本占位符 3">
            <a:extLst>
              <a:ext uri="{FF2B5EF4-FFF2-40B4-BE49-F238E27FC236}">
                <a16:creationId xmlns:a16="http://schemas.microsoft.com/office/drawing/2014/main" id="{2B00E6CA-B092-D14B-AFC4-E64326B88CFD}"/>
              </a:ext>
            </a:extLst>
          </p:cNvPr>
          <p:cNvSpPr>
            <a:spLocks noGrp="1"/>
          </p:cNvSpPr>
          <p:nvPr>
            <p:ph type="body" idx="10"/>
          </p:nvPr>
        </p:nvSpPr>
        <p:spPr>
          <a:xfrm>
            <a:off x="5273040" y="3069271"/>
            <a:ext cx="5466080" cy="3551447"/>
          </a:xfrm>
        </p:spPr>
        <p:txBody>
          <a:bodyPr/>
          <a:lstStyle/>
          <a:p>
            <a:r>
              <a:rPr lang="zh-CN" altLang="en-US" dirty="0"/>
              <a:t>行内式</a:t>
            </a:r>
            <a:endParaRPr lang="en-US" altLang="zh-CN" dirty="0"/>
          </a:p>
          <a:p>
            <a:r>
              <a:rPr lang="zh-CN" altLang="en-US" dirty="0"/>
              <a:t>内嵌式</a:t>
            </a:r>
            <a:endParaRPr lang="en-US" altLang="zh-CN" dirty="0"/>
          </a:p>
          <a:p>
            <a:r>
              <a:rPr lang="zh-CN" altLang="en-US" dirty="0"/>
              <a:t>外链式</a:t>
            </a:r>
            <a:endParaRPr lang="en-US" altLang="zh-CN" dirty="0"/>
          </a:p>
          <a:p>
            <a:r>
              <a:rPr lang="en-US" altLang="zh-CN" dirty="0"/>
              <a:t>css</a:t>
            </a:r>
            <a:r>
              <a:rPr lang="zh-CN" altLang="en-US" dirty="0"/>
              <a:t>引入方式选择</a:t>
            </a:r>
            <a:endParaRPr lang="en-US" altLang="zh-CN" dirty="0"/>
          </a:p>
        </p:txBody>
      </p:sp>
      <p:sp>
        <p:nvSpPr>
          <p:cNvPr id="5" name="文本占位符 4">
            <a:extLst>
              <a:ext uri="{FF2B5EF4-FFF2-40B4-BE49-F238E27FC236}">
                <a16:creationId xmlns:a16="http://schemas.microsoft.com/office/drawing/2014/main" id="{E7AC8956-CADA-F84A-BC5C-542D3650A295}"/>
              </a:ext>
            </a:extLst>
          </p:cNvPr>
          <p:cNvSpPr>
            <a:spLocks noGrp="1"/>
          </p:cNvSpPr>
          <p:nvPr>
            <p:ph type="body" sz="quarter" idx="11"/>
          </p:nvPr>
        </p:nvSpPr>
        <p:spPr/>
        <p:txBody>
          <a:bodyPr/>
          <a:lstStyle/>
          <a:p>
            <a:r>
              <a:rPr lang="en-US" altLang="zh-CN" dirty="0"/>
              <a:t>02</a:t>
            </a:r>
            <a:endParaRPr lang="zh-CN" altLang="en-US" dirty="0"/>
          </a:p>
        </p:txBody>
      </p:sp>
    </p:spTree>
    <p:extLst>
      <p:ext uri="{BB962C8B-B14F-4D97-AF65-F5344CB8AC3E}">
        <p14:creationId xmlns:p14="http://schemas.microsoft.com/office/powerpoint/2010/main" val="531631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引入方式</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行内式</a:t>
            </a:r>
          </a:p>
        </p:txBody>
      </p:sp>
      <p:sp>
        <p:nvSpPr>
          <p:cNvPr id="2" name="矩形 1">
            <a:extLst>
              <a:ext uri="{FF2B5EF4-FFF2-40B4-BE49-F238E27FC236}">
                <a16:creationId xmlns:a16="http://schemas.microsoft.com/office/drawing/2014/main" id="{184F828F-6FA5-6E40-BE09-89D15F15E8FC}"/>
              </a:ext>
            </a:extLst>
          </p:cNvPr>
          <p:cNvSpPr/>
          <p:nvPr/>
        </p:nvSpPr>
        <p:spPr>
          <a:xfrm>
            <a:off x="710880" y="1566005"/>
            <a:ext cx="4191212" cy="369332"/>
          </a:xfrm>
          <a:prstGeom prst="rect">
            <a:avLst/>
          </a:prstGeom>
        </p:spPr>
        <p:txBody>
          <a:bodyPr wrap="none">
            <a:spAutoFit/>
          </a:bodyPr>
          <a:lstStyle/>
          <a:p>
            <a:r>
              <a:rPr lang="zh-CN" altLang="en-US"/>
              <a:t>直接在标签的 </a:t>
            </a:r>
            <a:r>
              <a:rPr lang="en" altLang="zh-CN"/>
              <a:t>style </a:t>
            </a:r>
            <a:r>
              <a:rPr lang="zh-CN" altLang="en-US"/>
              <a:t>属性中添加 </a:t>
            </a:r>
            <a:r>
              <a:rPr lang="en" altLang="zh-CN"/>
              <a:t>css </a:t>
            </a:r>
            <a:r>
              <a:rPr lang="zh-CN" altLang="en-US"/>
              <a:t>样式</a:t>
            </a:r>
          </a:p>
        </p:txBody>
      </p:sp>
      <p:pic>
        <p:nvPicPr>
          <p:cNvPr id="4" name="图片 3">
            <a:extLst>
              <a:ext uri="{FF2B5EF4-FFF2-40B4-BE49-F238E27FC236}">
                <a16:creationId xmlns:a16="http://schemas.microsoft.com/office/drawing/2014/main" id="{49B59B33-CF4A-ED42-960C-9D5C2FE9959F}"/>
              </a:ext>
            </a:extLst>
          </p:cNvPr>
          <p:cNvPicPr>
            <a:picLocks noChangeAspect="1"/>
          </p:cNvPicPr>
          <p:nvPr/>
        </p:nvPicPr>
        <p:blipFill>
          <a:blip r:embed="rId2"/>
          <a:stretch>
            <a:fillRect/>
          </a:stretch>
        </p:blipFill>
        <p:spPr>
          <a:xfrm>
            <a:off x="710880" y="2327636"/>
            <a:ext cx="10096500" cy="1346200"/>
          </a:xfrm>
          <a:prstGeom prst="rect">
            <a:avLst/>
          </a:prstGeom>
        </p:spPr>
      </p:pic>
    </p:spTree>
    <p:extLst>
      <p:ext uri="{BB962C8B-B14F-4D97-AF65-F5344CB8AC3E}">
        <p14:creationId xmlns:p14="http://schemas.microsoft.com/office/powerpoint/2010/main" val="3776444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引入方式</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内嵌式</a:t>
            </a:r>
          </a:p>
        </p:txBody>
      </p:sp>
      <p:sp>
        <p:nvSpPr>
          <p:cNvPr id="2" name="矩形 1">
            <a:extLst>
              <a:ext uri="{FF2B5EF4-FFF2-40B4-BE49-F238E27FC236}">
                <a16:creationId xmlns:a16="http://schemas.microsoft.com/office/drawing/2014/main" id="{184F828F-6FA5-6E40-BE09-89D15F15E8FC}"/>
              </a:ext>
            </a:extLst>
          </p:cNvPr>
          <p:cNvSpPr/>
          <p:nvPr/>
        </p:nvSpPr>
        <p:spPr>
          <a:xfrm>
            <a:off x="710880" y="1484982"/>
            <a:ext cx="7017947" cy="369332"/>
          </a:xfrm>
          <a:prstGeom prst="rect">
            <a:avLst/>
          </a:prstGeom>
        </p:spPr>
        <p:txBody>
          <a:bodyPr wrap="none">
            <a:spAutoFit/>
          </a:bodyPr>
          <a:lstStyle/>
          <a:p>
            <a:pPr marL="285750" indent="-285750">
              <a:buFont typeface="Arial" panose="020B0604020202020204" pitchFamily="34" charset="0"/>
              <a:buChar char="•"/>
            </a:pPr>
            <a:r>
              <a:rPr lang="zh-CN" altLang="en-US"/>
              <a:t>在</a:t>
            </a:r>
            <a:r>
              <a:rPr lang="en-US" altLang="zh-CN"/>
              <a:t>&lt;</a:t>
            </a:r>
            <a:r>
              <a:rPr lang="en" altLang="zh-CN"/>
              <a:t>head&gt;</a:t>
            </a:r>
            <a:r>
              <a:rPr lang="zh-CN" altLang="en-US"/>
              <a:t>标签内加入</a:t>
            </a:r>
            <a:r>
              <a:rPr lang="en-US" altLang="zh-CN"/>
              <a:t>&lt;</a:t>
            </a:r>
            <a:r>
              <a:rPr lang="en" altLang="zh-CN"/>
              <a:t>style&gt;</a:t>
            </a:r>
            <a:r>
              <a:rPr lang="zh-CN" altLang="en-US"/>
              <a:t>标签，在</a:t>
            </a:r>
            <a:r>
              <a:rPr lang="en-US" altLang="zh-CN"/>
              <a:t>&lt;</a:t>
            </a:r>
            <a:r>
              <a:rPr lang="en" altLang="zh-CN"/>
              <a:t>style&gt;</a:t>
            </a:r>
            <a:r>
              <a:rPr lang="zh-CN" altLang="en-US"/>
              <a:t>标签中编写</a:t>
            </a:r>
            <a:r>
              <a:rPr lang="en" altLang="zh-CN"/>
              <a:t>css</a:t>
            </a:r>
            <a:r>
              <a:rPr lang="zh-CN" altLang="en-US"/>
              <a:t>代码。</a:t>
            </a:r>
          </a:p>
        </p:txBody>
      </p:sp>
      <p:pic>
        <p:nvPicPr>
          <p:cNvPr id="3" name="图片 2">
            <a:extLst>
              <a:ext uri="{FF2B5EF4-FFF2-40B4-BE49-F238E27FC236}">
                <a16:creationId xmlns:a16="http://schemas.microsoft.com/office/drawing/2014/main" id="{13B965A6-D2C3-5E45-9DE1-45FB82AE0334}"/>
              </a:ext>
            </a:extLst>
          </p:cNvPr>
          <p:cNvPicPr>
            <a:picLocks noChangeAspect="1"/>
          </p:cNvPicPr>
          <p:nvPr/>
        </p:nvPicPr>
        <p:blipFill>
          <a:blip r:embed="rId2"/>
          <a:stretch>
            <a:fillRect/>
          </a:stretch>
        </p:blipFill>
        <p:spPr>
          <a:xfrm>
            <a:off x="710880" y="2133439"/>
            <a:ext cx="10007600" cy="3378200"/>
          </a:xfrm>
          <a:prstGeom prst="rect">
            <a:avLst/>
          </a:prstGeom>
        </p:spPr>
      </p:pic>
      <p:sp>
        <p:nvSpPr>
          <p:cNvPr id="4" name="矩形 3">
            <a:extLst>
              <a:ext uri="{FF2B5EF4-FFF2-40B4-BE49-F238E27FC236}">
                <a16:creationId xmlns:a16="http://schemas.microsoft.com/office/drawing/2014/main" id="{C34D212F-76B6-AF4F-8649-6B4C986AA67A}"/>
              </a:ext>
            </a:extLst>
          </p:cNvPr>
          <p:cNvSpPr/>
          <p:nvPr/>
        </p:nvSpPr>
        <p:spPr>
          <a:xfrm>
            <a:off x="710880" y="5697037"/>
            <a:ext cx="6096000" cy="646331"/>
          </a:xfrm>
          <a:prstGeom prst="rect">
            <a:avLst/>
          </a:prstGeom>
        </p:spPr>
        <p:txBody>
          <a:bodyPr>
            <a:spAutoFit/>
          </a:bodyPr>
          <a:lstStyle/>
          <a:p>
            <a:r>
              <a:rPr lang="zh-CN" altLang="en-US" b="0" i="0" dirty="0">
                <a:solidFill>
                  <a:srgbClr val="333333"/>
                </a:solidFill>
                <a:effectLst/>
                <a:latin typeface="Helvetica Neue" panose="02000503000000020004" pitchFamily="2" charset="0"/>
              </a:rPr>
              <a:t>优点：在同一个页面内部便于复用和维护。 </a:t>
            </a:r>
            <a:endParaRPr lang="en-US" altLang="zh-CN" b="0" i="0" dirty="0">
              <a:solidFill>
                <a:srgbClr val="333333"/>
              </a:solidFill>
              <a:effectLst/>
              <a:latin typeface="Helvetica Neue" panose="02000503000000020004" pitchFamily="2" charset="0"/>
            </a:endParaRPr>
          </a:p>
          <a:p>
            <a:r>
              <a:rPr lang="zh-CN" altLang="en-US" b="0" i="0" dirty="0">
                <a:solidFill>
                  <a:srgbClr val="333333"/>
                </a:solidFill>
                <a:effectLst/>
                <a:latin typeface="Helvetica Neue" panose="02000503000000020004" pitchFamily="2" charset="0"/>
              </a:rPr>
              <a:t>缺点：在多个页面之间的可重用性不够高。</a:t>
            </a:r>
            <a:endParaRPr lang="zh-CN" altLang="en-US" dirty="0"/>
          </a:p>
        </p:txBody>
      </p:sp>
    </p:spTree>
    <p:extLst>
      <p:ext uri="{BB962C8B-B14F-4D97-AF65-F5344CB8AC3E}">
        <p14:creationId xmlns:p14="http://schemas.microsoft.com/office/powerpoint/2010/main" val="8889850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引入方式</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dirty="0"/>
              <a:t>外链式</a:t>
            </a:r>
          </a:p>
        </p:txBody>
      </p:sp>
      <p:sp>
        <p:nvSpPr>
          <p:cNvPr id="2" name="矩形 1">
            <a:extLst>
              <a:ext uri="{FF2B5EF4-FFF2-40B4-BE49-F238E27FC236}">
                <a16:creationId xmlns:a16="http://schemas.microsoft.com/office/drawing/2014/main" id="{184F828F-6FA5-6E40-BE09-89D15F15E8FC}"/>
              </a:ext>
            </a:extLst>
          </p:cNvPr>
          <p:cNvSpPr/>
          <p:nvPr/>
        </p:nvSpPr>
        <p:spPr>
          <a:xfrm>
            <a:off x="710880" y="1566005"/>
            <a:ext cx="10357323" cy="369332"/>
          </a:xfrm>
          <a:prstGeom prst="rect">
            <a:avLst/>
          </a:prstGeom>
        </p:spPr>
        <p:txBody>
          <a:bodyPr wrap="none">
            <a:spAutoFit/>
          </a:bodyPr>
          <a:lstStyle/>
          <a:p>
            <a:pPr marL="285750" indent="-285750">
              <a:buFont typeface="Arial" panose="020B0604020202020204" pitchFamily="34" charset="0"/>
              <a:buChar char="•"/>
            </a:pPr>
            <a:r>
              <a:rPr lang="zh-CN" altLang="en-US"/>
              <a:t>将</a:t>
            </a:r>
            <a:r>
              <a:rPr lang="en" altLang="zh-CN"/>
              <a:t>css</a:t>
            </a:r>
            <a:r>
              <a:rPr lang="zh-CN" altLang="en-US"/>
              <a:t>代码写在一个单独的</a:t>
            </a:r>
            <a:r>
              <a:rPr lang="en-US" altLang="zh-CN"/>
              <a:t>.</a:t>
            </a:r>
            <a:r>
              <a:rPr lang="en" altLang="zh-CN"/>
              <a:t>css</a:t>
            </a:r>
            <a:r>
              <a:rPr lang="zh-CN" altLang="en-US"/>
              <a:t>文件中，在</a:t>
            </a:r>
            <a:r>
              <a:rPr lang="en-US" altLang="zh-CN"/>
              <a:t>&lt;</a:t>
            </a:r>
            <a:r>
              <a:rPr lang="en" altLang="zh-CN"/>
              <a:t>head&gt;</a:t>
            </a:r>
            <a:r>
              <a:rPr lang="zh-CN" altLang="en-US"/>
              <a:t>标签中使用</a:t>
            </a:r>
            <a:r>
              <a:rPr lang="en-US" altLang="zh-CN"/>
              <a:t>&lt;</a:t>
            </a:r>
            <a:r>
              <a:rPr lang="en" altLang="zh-CN"/>
              <a:t>link&gt;</a:t>
            </a:r>
            <a:r>
              <a:rPr lang="zh-CN" altLang="en-US"/>
              <a:t>标签直接引入该文件到页面中。</a:t>
            </a:r>
          </a:p>
        </p:txBody>
      </p:sp>
      <p:pic>
        <p:nvPicPr>
          <p:cNvPr id="3" name="图片 2">
            <a:extLst>
              <a:ext uri="{FF2B5EF4-FFF2-40B4-BE49-F238E27FC236}">
                <a16:creationId xmlns:a16="http://schemas.microsoft.com/office/drawing/2014/main" id="{559CBBCA-3742-7E4C-BA79-9E2E39273451}"/>
              </a:ext>
            </a:extLst>
          </p:cNvPr>
          <p:cNvPicPr>
            <a:picLocks noChangeAspect="1"/>
          </p:cNvPicPr>
          <p:nvPr/>
        </p:nvPicPr>
        <p:blipFill>
          <a:blip r:embed="rId2"/>
          <a:stretch>
            <a:fillRect/>
          </a:stretch>
        </p:blipFill>
        <p:spPr>
          <a:xfrm>
            <a:off x="710880" y="2306738"/>
            <a:ext cx="9880600" cy="1295400"/>
          </a:xfrm>
          <a:prstGeom prst="rect">
            <a:avLst/>
          </a:prstGeom>
        </p:spPr>
      </p:pic>
      <p:sp>
        <p:nvSpPr>
          <p:cNvPr id="4" name="矩形 3">
            <a:extLst>
              <a:ext uri="{FF2B5EF4-FFF2-40B4-BE49-F238E27FC236}">
                <a16:creationId xmlns:a16="http://schemas.microsoft.com/office/drawing/2014/main" id="{9D510968-24BC-BE4C-889D-67A254C8F93A}"/>
              </a:ext>
            </a:extLst>
          </p:cNvPr>
          <p:cNvSpPr/>
          <p:nvPr/>
        </p:nvSpPr>
        <p:spPr>
          <a:xfrm>
            <a:off x="710879" y="3973539"/>
            <a:ext cx="9775783" cy="1291379"/>
          </a:xfrm>
          <a:prstGeom prst="rect">
            <a:avLst/>
          </a:prstGeom>
        </p:spPr>
        <p:txBody>
          <a:bodyPr wrap="square">
            <a:spAutoFit/>
          </a:bodyPr>
          <a:lstStyle/>
          <a:p>
            <a:pPr>
              <a:lnSpc>
                <a:spcPct val="150000"/>
              </a:lnSpc>
            </a:pPr>
            <a:r>
              <a:rPr lang="zh-CN" altLang="en-US" b="0" i="0" dirty="0">
                <a:solidFill>
                  <a:srgbClr val="333333"/>
                </a:solidFill>
                <a:effectLst/>
                <a:latin typeface="Helvetica Neue" panose="02000503000000020004" pitchFamily="2" charset="0"/>
              </a:rPr>
              <a:t>优点：使得</a:t>
            </a:r>
            <a:r>
              <a:rPr lang="en" altLang="zh-CN" b="0" i="0" dirty="0">
                <a:solidFill>
                  <a:srgbClr val="333333"/>
                </a:solidFill>
                <a:effectLst/>
                <a:latin typeface="Helvetica Neue" panose="02000503000000020004" pitchFamily="2" charset="0"/>
              </a:rPr>
              <a:t>css</a:t>
            </a:r>
            <a:r>
              <a:rPr lang="zh-CN" altLang="en-US" b="0" i="0" dirty="0">
                <a:solidFill>
                  <a:srgbClr val="333333"/>
                </a:solidFill>
                <a:effectLst/>
                <a:latin typeface="Helvetica Neue" panose="02000503000000020004" pitchFamily="2" charset="0"/>
              </a:rPr>
              <a:t>样式与</a:t>
            </a:r>
            <a:r>
              <a:rPr lang="en" altLang="zh-CN" b="0" i="0" dirty="0">
                <a:solidFill>
                  <a:srgbClr val="333333"/>
                </a:solidFill>
                <a:effectLst/>
                <a:latin typeface="Helvetica Neue" panose="02000503000000020004" pitchFamily="2" charset="0"/>
              </a:rPr>
              <a:t>html</a:t>
            </a:r>
            <a:r>
              <a:rPr lang="zh-CN" altLang="en-US" b="0" i="0" dirty="0">
                <a:solidFill>
                  <a:srgbClr val="333333"/>
                </a:solidFill>
                <a:effectLst/>
                <a:latin typeface="Helvetica Neue" panose="02000503000000020004" pitchFamily="2" charset="0"/>
              </a:rPr>
              <a:t>页面分离，便于整个页面系统的规划和维护，可重用性高。 </a:t>
            </a:r>
            <a:endParaRPr lang="en-US" altLang="zh-CN" b="0" i="0" dirty="0">
              <a:solidFill>
                <a:srgbClr val="333333"/>
              </a:solidFill>
              <a:effectLst/>
              <a:latin typeface="Helvetica Neue" panose="02000503000000020004" pitchFamily="2" charset="0"/>
            </a:endParaRPr>
          </a:p>
          <a:p>
            <a:pPr>
              <a:lnSpc>
                <a:spcPct val="150000"/>
              </a:lnSpc>
            </a:pPr>
            <a:r>
              <a:rPr lang="zh-CN" altLang="en-US" b="0" i="0" dirty="0">
                <a:solidFill>
                  <a:srgbClr val="333333"/>
                </a:solidFill>
                <a:effectLst/>
                <a:latin typeface="Helvetica Neue" panose="02000503000000020004" pitchFamily="2" charset="0"/>
              </a:rPr>
              <a:t>缺点：</a:t>
            </a:r>
            <a:r>
              <a:rPr lang="en" altLang="zh-CN" b="0" i="0" dirty="0">
                <a:solidFill>
                  <a:srgbClr val="333333"/>
                </a:solidFill>
                <a:effectLst/>
                <a:latin typeface="Helvetica Neue" panose="02000503000000020004" pitchFamily="2" charset="0"/>
              </a:rPr>
              <a:t>css</a:t>
            </a:r>
            <a:r>
              <a:rPr lang="zh-CN" altLang="en-US" b="0" i="0" dirty="0">
                <a:solidFill>
                  <a:srgbClr val="333333"/>
                </a:solidFill>
                <a:effectLst/>
                <a:latin typeface="Helvetica Neue" panose="02000503000000020004" pitchFamily="2" charset="0"/>
              </a:rPr>
              <a:t>代码由于分离到单独的</a:t>
            </a:r>
            <a:r>
              <a:rPr lang="en" altLang="zh-CN" b="0" i="0" dirty="0">
                <a:solidFill>
                  <a:srgbClr val="333333"/>
                </a:solidFill>
                <a:effectLst/>
                <a:latin typeface="Helvetica Neue" panose="02000503000000020004" pitchFamily="2" charset="0"/>
              </a:rPr>
              <a:t>css</a:t>
            </a:r>
            <a:r>
              <a:rPr lang="zh-CN" altLang="en-US" b="0" i="0" dirty="0">
                <a:solidFill>
                  <a:srgbClr val="333333"/>
                </a:solidFill>
                <a:effectLst/>
                <a:latin typeface="Helvetica Neue" panose="02000503000000020004" pitchFamily="2" charset="0"/>
              </a:rPr>
              <a:t>文件，容易出现</a:t>
            </a:r>
            <a:r>
              <a:rPr lang="en" altLang="zh-CN" b="0" i="0" dirty="0">
                <a:solidFill>
                  <a:srgbClr val="333333"/>
                </a:solidFill>
                <a:effectLst/>
                <a:latin typeface="Helvetica Neue" panose="02000503000000020004" pitchFamily="2" charset="0"/>
              </a:rPr>
              <a:t>css</a:t>
            </a:r>
            <a:r>
              <a:rPr lang="zh-CN" altLang="en-US" b="0" i="0" dirty="0">
                <a:solidFill>
                  <a:srgbClr val="333333"/>
                </a:solidFill>
                <a:effectLst/>
                <a:latin typeface="Helvetica Neue" panose="02000503000000020004" pitchFamily="2" charset="0"/>
              </a:rPr>
              <a:t>代码过于集中，若维护不当则极容易造成混乱。</a:t>
            </a:r>
            <a:endParaRPr lang="zh-CN" altLang="en-US" dirty="0"/>
          </a:p>
        </p:txBody>
      </p:sp>
    </p:spTree>
    <p:extLst>
      <p:ext uri="{BB962C8B-B14F-4D97-AF65-F5344CB8AC3E}">
        <p14:creationId xmlns:p14="http://schemas.microsoft.com/office/powerpoint/2010/main" val="3847719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引入方式</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en-US" altLang="zh-CN"/>
              <a:t>css</a:t>
            </a:r>
            <a:r>
              <a:rPr lang="zh-CN" altLang="en-US"/>
              <a:t>引入方式选择</a:t>
            </a:r>
          </a:p>
        </p:txBody>
      </p:sp>
      <p:sp>
        <p:nvSpPr>
          <p:cNvPr id="2" name="矩形 1">
            <a:extLst>
              <a:ext uri="{FF2B5EF4-FFF2-40B4-BE49-F238E27FC236}">
                <a16:creationId xmlns:a16="http://schemas.microsoft.com/office/drawing/2014/main" id="{184F828F-6FA5-6E40-BE09-89D15F15E8FC}"/>
              </a:ext>
            </a:extLst>
          </p:cNvPr>
          <p:cNvSpPr/>
          <p:nvPr/>
        </p:nvSpPr>
        <p:spPr>
          <a:xfrm>
            <a:off x="710880" y="1566005"/>
            <a:ext cx="8090163" cy="1291379"/>
          </a:xfrm>
          <a:prstGeom prst="rect">
            <a:avLst/>
          </a:prstGeom>
        </p:spPr>
        <p:txBody>
          <a:bodyPr wrap="none">
            <a:spAutoFit/>
          </a:bodyPr>
          <a:lstStyle/>
          <a:p>
            <a:pPr marL="285750" indent="-285750">
              <a:lnSpc>
                <a:spcPct val="150000"/>
              </a:lnSpc>
              <a:buFont typeface="Arial" panose="020B0604020202020204" pitchFamily="34" charset="0"/>
              <a:buChar char="•"/>
            </a:pPr>
            <a:r>
              <a:rPr lang="zh-CN" altLang="en-US" dirty="0"/>
              <a:t>行内式几乎不用</a:t>
            </a:r>
          </a:p>
          <a:p>
            <a:pPr marL="285750" indent="-285750">
              <a:lnSpc>
                <a:spcPct val="150000"/>
              </a:lnSpc>
              <a:buFont typeface="Arial" panose="020B0604020202020204" pitchFamily="34" charset="0"/>
              <a:buChar char="•"/>
            </a:pPr>
            <a:r>
              <a:rPr lang="zh-CN" altLang="en-US" dirty="0"/>
              <a:t>内嵌式在学习</a:t>
            </a:r>
            <a:r>
              <a:rPr lang="en" altLang="zh-CN" dirty="0"/>
              <a:t>css</a:t>
            </a:r>
            <a:r>
              <a:rPr lang="zh-CN" altLang="en-US" dirty="0"/>
              <a:t>样式的阶段使用</a:t>
            </a:r>
          </a:p>
          <a:p>
            <a:pPr marL="285750" indent="-285750">
              <a:lnSpc>
                <a:spcPct val="150000"/>
              </a:lnSpc>
              <a:buFont typeface="Arial" panose="020B0604020202020204" pitchFamily="34" charset="0"/>
              <a:buChar char="•"/>
            </a:pPr>
            <a:r>
              <a:rPr lang="zh-CN" altLang="en-US" dirty="0"/>
              <a:t>外链式在公司开发的阶段使用，可以对 </a:t>
            </a:r>
            <a:r>
              <a:rPr lang="en" altLang="zh-CN" dirty="0"/>
              <a:t>css </a:t>
            </a:r>
            <a:r>
              <a:rPr lang="zh-CN" altLang="en-US" dirty="0"/>
              <a:t>样式和 </a:t>
            </a:r>
            <a:r>
              <a:rPr lang="en" altLang="zh-CN" dirty="0"/>
              <a:t>html </a:t>
            </a:r>
            <a:r>
              <a:rPr lang="zh-CN" altLang="en-US" dirty="0"/>
              <a:t>页面分别进行开发。</a:t>
            </a:r>
          </a:p>
        </p:txBody>
      </p:sp>
    </p:spTree>
    <p:extLst>
      <p:ext uri="{BB962C8B-B14F-4D97-AF65-F5344CB8AC3E}">
        <p14:creationId xmlns:p14="http://schemas.microsoft.com/office/powerpoint/2010/main" val="15440618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180780F-C9DB-2444-81D9-0C48F0501E10}"/>
              </a:ext>
            </a:extLst>
          </p:cNvPr>
          <p:cNvSpPr>
            <a:spLocks noGrp="1"/>
          </p:cNvSpPr>
          <p:nvPr>
            <p:ph type="ctrTitle"/>
          </p:nvPr>
        </p:nvSpPr>
        <p:spPr/>
        <p:txBody>
          <a:bodyPr>
            <a:normAutofit fontScale="90000"/>
          </a:bodyPr>
          <a:lstStyle/>
          <a:p>
            <a:r>
              <a:rPr lang="en-US" altLang="zh-CN" dirty="0"/>
              <a:t>css</a:t>
            </a:r>
            <a:r>
              <a:rPr lang="zh-CN" altLang="en-US" dirty="0"/>
              <a:t>选择器</a:t>
            </a:r>
          </a:p>
        </p:txBody>
      </p:sp>
      <p:sp>
        <p:nvSpPr>
          <p:cNvPr id="4" name="文本占位符 3">
            <a:extLst>
              <a:ext uri="{FF2B5EF4-FFF2-40B4-BE49-F238E27FC236}">
                <a16:creationId xmlns:a16="http://schemas.microsoft.com/office/drawing/2014/main" id="{2B00E6CA-B092-D14B-AFC4-E64326B88CFD}"/>
              </a:ext>
            </a:extLst>
          </p:cNvPr>
          <p:cNvSpPr>
            <a:spLocks noGrp="1"/>
          </p:cNvSpPr>
          <p:nvPr>
            <p:ph type="body" idx="10"/>
          </p:nvPr>
        </p:nvSpPr>
        <p:spPr>
          <a:xfrm>
            <a:off x="5273040" y="3069271"/>
            <a:ext cx="5466080" cy="3551447"/>
          </a:xfrm>
        </p:spPr>
        <p:txBody>
          <a:bodyPr/>
          <a:lstStyle/>
          <a:p>
            <a:r>
              <a:rPr lang="en-US" altLang="zh-CN" dirty="0"/>
              <a:t>css</a:t>
            </a:r>
            <a:r>
              <a:rPr lang="zh-CN" altLang="en-US" dirty="0"/>
              <a:t>选择器说明</a:t>
            </a:r>
            <a:endParaRPr lang="en-US" altLang="zh-CN" dirty="0"/>
          </a:p>
          <a:p>
            <a:r>
              <a:rPr lang="zh-CN" altLang="en-US" dirty="0"/>
              <a:t>标签选择器</a:t>
            </a:r>
            <a:endParaRPr lang="en-US" altLang="zh-CN" dirty="0"/>
          </a:p>
          <a:p>
            <a:r>
              <a:rPr lang="zh-CN" altLang="en-US" dirty="0"/>
              <a:t>类选择器</a:t>
            </a:r>
            <a:endParaRPr lang="en-US" altLang="zh-CN" dirty="0"/>
          </a:p>
          <a:p>
            <a:r>
              <a:rPr lang="zh-CN" altLang="en-US" dirty="0"/>
              <a:t>层级选择器</a:t>
            </a:r>
            <a:endParaRPr lang="en-US" altLang="zh-CN" dirty="0"/>
          </a:p>
          <a:p>
            <a:r>
              <a:rPr lang="en-US" altLang="zh-CN" dirty="0"/>
              <a:t>id</a:t>
            </a:r>
            <a:r>
              <a:rPr lang="zh-CN" altLang="en-US" dirty="0"/>
              <a:t>选择器</a:t>
            </a:r>
            <a:endParaRPr lang="en-US" altLang="zh-CN" dirty="0"/>
          </a:p>
          <a:p>
            <a:r>
              <a:rPr lang="zh-CN" altLang="en-US" dirty="0"/>
              <a:t>组选择器</a:t>
            </a:r>
            <a:endParaRPr lang="en-US" altLang="zh-CN" dirty="0"/>
          </a:p>
          <a:p>
            <a:r>
              <a:rPr lang="zh-CN" altLang="en-US" dirty="0"/>
              <a:t>伪类选择器</a:t>
            </a:r>
            <a:endParaRPr lang="en-US" altLang="zh-CN" dirty="0"/>
          </a:p>
        </p:txBody>
      </p:sp>
      <p:sp>
        <p:nvSpPr>
          <p:cNvPr id="5" name="文本占位符 4">
            <a:extLst>
              <a:ext uri="{FF2B5EF4-FFF2-40B4-BE49-F238E27FC236}">
                <a16:creationId xmlns:a16="http://schemas.microsoft.com/office/drawing/2014/main" id="{E7AC8956-CADA-F84A-BC5C-542D3650A295}"/>
              </a:ext>
            </a:extLst>
          </p:cNvPr>
          <p:cNvSpPr>
            <a:spLocks noGrp="1"/>
          </p:cNvSpPr>
          <p:nvPr>
            <p:ph type="body" sz="quarter" idx="11"/>
          </p:nvPr>
        </p:nvSpPr>
        <p:spPr/>
        <p:txBody>
          <a:bodyPr/>
          <a:lstStyle/>
          <a:p>
            <a:r>
              <a:rPr lang="en-US" altLang="zh-CN" dirty="0"/>
              <a:t>03</a:t>
            </a:r>
            <a:endParaRPr lang="zh-CN" altLang="en-US" dirty="0"/>
          </a:p>
        </p:txBody>
      </p:sp>
    </p:spTree>
    <p:extLst>
      <p:ext uri="{BB962C8B-B14F-4D97-AF65-F5344CB8AC3E}">
        <p14:creationId xmlns:p14="http://schemas.microsoft.com/office/powerpoint/2010/main" val="29627000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选择器</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en-US" altLang="zh-CN"/>
              <a:t>css</a:t>
            </a:r>
            <a:r>
              <a:rPr lang="zh-CN" altLang="en-US"/>
              <a:t>选择器的定义</a:t>
            </a:r>
          </a:p>
        </p:txBody>
      </p:sp>
      <p:sp>
        <p:nvSpPr>
          <p:cNvPr id="2" name="矩形 1">
            <a:extLst>
              <a:ext uri="{FF2B5EF4-FFF2-40B4-BE49-F238E27FC236}">
                <a16:creationId xmlns:a16="http://schemas.microsoft.com/office/drawing/2014/main" id="{184F828F-6FA5-6E40-BE09-89D15F15E8FC}"/>
              </a:ext>
            </a:extLst>
          </p:cNvPr>
          <p:cNvSpPr/>
          <p:nvPr/>
        </p:nvSpPr>
        <p:spPr>
          <a:xfrm>
            <a:off x="710880" y="1473407"/>
            <a:ext cx="6431569" cy="460382"/>
          </a:xfrm>
          <a:prstGeom prst="rect">
            <a:avLst/>
          </a:prstGeom>
        </p:spPr>
        <p:txBody>
          <a:bodyPr wrap="none">
            <a:spAutoFit/>
          </a:bodyPr>
          <a:lstStyle/>
          <a:p>
            <a:pPr marL="285750" indent="-285750">
              <a:lnSpc>
                <a:spcPct val="150000"/>
              </a:lnSpc>
              <a:buFont typeface="Arial" panose="020B0604020202020204" pitchFamily="34" charset="0"/>
              <a:buChar char="•"/>
            </a:pPr>
            <a:r>
              <a:rPr lang="en" altLang="zh-CN"/>
              <a:t>css </a:t>
            </a:r>
            <a:r>
              <a:rPr lang="zh-CN" altLang="en-US"/>
              <a:t>选择器是用来选择标签的，选出来以后给标签加样式。</a:t>
            </a:r>
          </a:p>
        </p:txBody>
      </p:sp>
    </p:spTree>
    <p:extLst>
      <p:ext uri="{BB962C8B-B14F-4D97-AF65-F5344CB8AC3E}">
        <p14:creationId xmlns:p14="http://schemas.microsoft.com/office/powerpoint/2010/main" val="7675057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选择器</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dirty="0"/>
              <a:t>标签选择器</a:t>
            </a:r>
          </a:p>
        </p:txBody>
      </p:sp>
      <p:sp>
        <p:nvSpPr>
          <p:cNvPr id="2" name="矩形 1">
            <a:extLst>
              <a:ext uri="{FF2B5EF4-FFF2-40B4-BE49-F238E27FC236}">
                <a16:creationId xmlns:a16="http://schemas.microsoft.com/office/drawing/2014/main" id="{184F828F-6FA5-6E40-BE09-89D15F15E8FC}"/>
              </a:ext>
            </a:extLst>
          </p:cNvPr>
          <p:cNvSpPr/>
          <p:nvPr/>
        </p:nvSpPr>
        <p:spPr>
          <a:xfrm>
            <a:off x="710880" y="1473407"/>
            <a:ext cx="9483686" cy="460382"/>
          </a:xfrm>
          <a:prstGeom prst="rect">
            <a:avLst/>
          </a:prstGeom>
        </p:spPr>
        <p:txBody>
          <a:bodyPr wrap="none">
            <a:spAutoFit/>
          </a:bodyPr>
          <a:lstStyle/>
          <a:p>
            <a:pPr marL="285750" indent="-285750">
              <a:lnSpc>
                <a:spcPct val="150000"/>
              </a:lnSpc>
              <a:buFont typeface="Arial" panose="020B0604020202020204" pitchFamily="34" charset="0"/>
              <a:buChar char="•"/>
            </a:pPr>
            <a:r>
              <a:rPr lang="zh-CN" altLang="en-US"/>
              <a:t>根据标签来选择标签，</a:t>
            </a:r>
            <a:r>
              <a:rPr lang="zh-CN" altLang="en-US" b="1"/>
              <a:t>以标签开头</a:t>
            </a:r>
            <a:r>
              <a:rPr lang="zh-CN" altLang="en-US"/>
              <a:t>，此种选择器影响范围大，一般用来做一些通用设置。</a:t>
            </a:r>
          </a:p>
        </p:txBody>
      </p:sp>
      <p:pic>
        <p:nvPicPr>
          <p:cNvPr id="3" name="图片 2">
            <a:extLst>
              <a:ext uri="{FF2B5EF4-FFF2-40B4-BE49-F238E27FC236}">
                <a16:creationId xmlns:a16="http://schemas.microsoft.com/office/drawing/2014/main" id="{034F075D-9444-5E43-8250-4DDBA2715177}"/>
              </a:ext>
            </a:extLst>
          </p:cNvPr>
          <p:cNvPicPr>
            <a:picLocks noChangeAspect="1"/>
          </p:cNvPicPr>
          <p:nvPr/>
        </p:nvPicPr>
        <p:blipFill>
          <a:blip r:embed="rId2"/>
          <a:stretch>
            <a:fillRect/>
          </a:stretch>
        </p:blipFill>
        <p:spPr>
          <a:xfrm>
            <a:off x="710880" y="2208433"/>
            <a:ext cx="9893300" cy="3644900"/>
          </a:xfrm>
          <a:prstGeom prst="rect">
            <a:avLst/>
          </a:prstGeom>
        </p:spPr>
      </p:pic>
    </p:spTree>
    <p:extLst>
      <p:ext uri="{BB962C8B-B14F-4D97-AF65-F5344CB8AC3E}">
        <p14:creationId xmlns:p14="http://schemas.microsoft.com/office/powerpoint/2010/main" val="35606182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选择器</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dirty="0"/>
              <a:t>类选择器</a:t>
            </a:r>
          </a:p>
        </p:txBody>
      </p:sp>
      <p:sp>
        <p:nvSpPr>
          <p:cNvPr id="2" name="矩形 1">
            <a:extLst>
              <a:ext uri="{FF2B5EF4-FFF2-40B4-BE49-F238E27FC236}">
                <a16:creationId xmlns:a16="http://schemas.microsoft.com/office/drawing/2014/main" id="{184F828F-6FA5-6E40-BE09-89D15F15E8FC}"/>
              </a:ext>
            </a:extLst>
          </p:cNvPr>
          <p:cNvSpPr/>
          <p:nvPr/>
        </p:nvSpPr>
        <p:spPr>
          <a:xfrm>
            <a:off x="710880" y="1473407"/>
            <a:ext cx="11085086" cy="875881"/>
          </a:xfrm>
          <a:prstGeom prst="rect">
            <a:avLst/>
          </a:prstGeom>
        </p:spPr>
        <p:txBody>
          <a:bodyPr wrap="none">
            <a:spAutoFit/>
          </a:bodyPr>
          <a:lstStyle/>
          <a:p>
            <a:pPr>
              <a:lnSpc>
                <a:spcPct val="150000"/>
              </a:lnSpc>
            </a:pPr>
            <a:r>
              <a:rPr lang="zh-CN" altLang="en-US" dirty="0"/>
              <a:t>根据类名来选择标签，</a:t>
            </a:r>
            <a:r>
              <a:rPr lang="zh-CN" altLang="en-US" b="1" dirty="0"/>
              <a:t>以 </a:t>
            </a:r>
            <a:r>
              <a:rPr lang="en-US" altLang="zh-CN" b="1" dirty="0"/>
              <a:t>. </a:t>
            </a:r>
            <a:r>
              <a:rPr lang="zh-CN" altLang="en-US" b="1" dirty="0"/>
              <a:t>开头</a:t>
            </a:r>
            <a:r>
              <a:rPr lang="en-US" altLang="zh-CN" dirty="0"/>
              <a:t>, </a:t>
            </a:r>
            <a:r>
              <a:rPr lang="zh-CN" altLang="en-US" dirty="0"/>
              <a:t>一个类选择器可应用于多个标签上，一个标签上也可以使用多个类选择器，</a:t>
            </a:r>
            <a:endParaRPr lang="en-US" altLang="zh-CN" dirty="0"/>
          </a:p>
          <a:p>
            <a:pPr>
              <a:lnSpc>
                <a:spcPct val="150000"/>
              </a:lnSpc>
            </a:pPr>
            <a:r>
              <a:rPr lang="zh-CN" altLang="en-US" dirty="0"/>
              <a:t>多个类选择器需要使用空格分割，应用灵活，可复用，是</a:t>
            </a:r>
            <a:r>
              <a:rPr lang="en" altLang="zh-CN" dirty="0"/>
              <a:t>css</a:t>
            </a:r>
            <a:r>
              <a:rPr lang="zh-CN" altLang="en-US" dirty="0"/>
              <a:t>中应用最多的一种选择器。</a:t>
            </a:r>
          </a:p>
        </p:txBody>
      </p:sp>
      <p:pic>
        <p:nvPicPr>
          <p:cNvPr id="4" name="图片 3">
            <a:extLst>
              <a:ext uri="{FF2B5EF4-FFF2-40B4-BE49-F238E27FC236}">
                <a16:creationId xmlns:a16="http://schemas.microsoft.com/office/drawing/2014/main" id="{E2666440-64AA-714C-89E1-BE3AE030F180}"/>
              </a:ext>
            </a:extLst>
          </p:cNvPr>
          <p:cNvPicPr>
            <a:picLocks noChangeAspect="1"/>
          </p:cNvPicPr>
          <p:nvPr/>
        </p:nvPicPr>
        <p:blipFill>
          <a:blip r:embed="rId2"/>
          <a:stretch>
            <a:fillRect/>
          </a:stretch>
        </p:blipFill>
        <p:spPr>
          <a:xfrm>
            <a:off x="815053" y="2568280"/>
            <a:ext cx="9817100" cy="3505200"/>
          </a:xfrm>
          <a:prstGeom prst="rect">
            <a:avLst/>
          </a:prstGeom>
        </p:spPr>
      </p:pic>
    </p:spTree>
    <p:extLst>
      <p:ext uri="{BB962C8B-B14F-4D97-AF65-F5344CB8AC3E}">
        <p14:creationId xmlns:p14="http://schemas.microsoft.com/office/powerpoint/2010/main" val="16340065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选择器</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en-US" altLang="zh-CN" dirty="0"/>
              <a:t>id</a:t>
            </a:r>
            <a:r>
              <a:rPr lang="zh-CN" altLang="en-US" dirty="0"/>
              <a:t>选择器</a:t>
            </a:r>
          </a:p>
        </p:txBody>
      </p:sp>
      <p:sp>
        <p:nvSpPr>
          <p:cNvPr id="2" name="矩形 1">
            <a:extLst>
              <a:ext uri="{FF2B5EF4-FFF2-40B4-BE49-F238E27FC236}">
                <a16:creationId xmlns:a16="http://schemas.microsoft.com/office/drawing/2014/main" id="{184F828F-6FA5-6E40-BE09-89D15F15E8FC}"/>
              </a:ext>
            </a:extLst>
          </p:cNvPr>
          <p:cNvSpPr/>
          <p:nvPr/>
        </p:nvSpPr>
        <p:spPr>
          <a:xfrm>
            <a:off x="710880" y="1473407"/>
            <a:ext cx="9706503" cy="875881"/>
          </a:xfrm>
          <a:prstGeom prst="rect">
            <a:avLst/>
          </a:prstGeom>
        </p:spPr>
        <p:txBody>
          <a:bodyPr wrap="none">
            <a:spAutoFit/>
          </a:bodyPr>
          <a:lstStyle/>
          <a:p>
            <a:pPr>
              <a:lnSpc>
                <a:spcPct val="150000"/>
              </a:lnSpc>
            </a:pPr>
            <a:r>
              <a:rPr lang="zh-CN" altLang="en-US" dirty="0"/>
              <a:t>根据</a:t>
            </a:r>
            <a:r>
              <a:rPr lang="en" altLang="zh-CN" dirty="0"/>
              <a:t>id</a:t>
            </a:r>
            <a:r>
              <a:rPr lang="zh-CN" altLang="en-US" dirty="0"/>
              <a:t>选择标签，以</a:t>
            </a:r>
            <a:r>
              <a:rPr lang="en-US" altLang="zh-CN" dirty="0"/>
              <a:t>#</a:t>
            </a:r>
            <a:r>
              <a:rPr lang="zh-CN" altLang="en-US" dirty="0"/>
              <a:t>开头</a:t>
            </a:r>
            <a:r>
              <a:rPr lang="en-US" altLang="zh-CN" dirty="0"/>
              <a:t>, </a:t>
            </a:r>
            <a:r>
              <a:rPr lang="zh-CN" altLang="en-US" dirty="0"/>
              <a:t>元素的</a:t>
            </a:r>
            <a:r>
              <a:rPr lang="en" altLang="zh-CN" dirty="0"/>
              <a:t>id</a:t>
            </a:r>
            <a:r>
              <a:rPr lang="zh-CN" altLang="en-US" dirty="0"/>
              <a:t>名称不能重复，所以</a:t>
            </a:r>
            <a:r>
              <a:rPr lang="en" altLang="zh-CN" dirty="0"/>
              <a:t>id</a:t>
            </a:r>
            <a:r>
              <a:rPr lang="zh-CN" altLang="en-US" dirty="0"/>
              <a:t>选择器只能对应于页面上一个元素，</a:t>
            </a:r>
            <a:endParaRPr lang="en-US" altLang="zh-CN" dirty="0"/>
          </a:p>
          <a:p>
            <a:pPr>
              <a:lnSpc>
                <a:spcPct val="150000"/>
              </a:lnSpc>
            </a:pPr>
            <a:r>
              <a:rPr lang="zh-CN" altLang="en-US" dirty="0"/>
              <a:t>不能复用，</a:t>
            </a:r>
            <a:r>
              <a:rPr lang="en" altLang="zh-CN" dirty="0"/>
              <a:t>id</a:t>
            </a:r>
            <a:r>
              <a:rPr lang="zh-CN" altLang="en-US" dirty="0"/>
              <a:t>名一般给程序使用，所以不推荐使用</a:t>
            </a:r>
            <a:r>
              <a:rPr lang="en" altLang="zh-CN" dirty="0"/>
              <a:t>id</a:t>
            </a:r>
            <a:r>
              <a:rPr lang="zh-CN" altLang="en-US" dirty="0"/>
              <a:t>作为选择器。</a:t>
            </a:r>
          </a:p>
        </p:txBody>
      </p:sp>
      <p:pic>
        <p:nvPicPr>
          <p:cNvPr id="4" name="图片 3">
            <a:extLst>
              <a:ext uri="{FF2B5EF4-FFF2-40B4-BE49-F238E27FC236}">
                <a16:creationId xmlns:a16="http://schemas.microsoft.com/office/drawing/2014/main" id="{11760AB8-0CC9-214B-9D3F-93C684DA9F99}"/>
              </a:ext>
            </a:extLst>
          </p:cNvPr>
          <p:cNvPicPr>
            <a:picLocks noChangeAspect="1"/>
          </p:cNvPicPr>
          <p:nvPr/>
        </p:nvPicPr>
        <p:blipFill>
          <a:blip r:embed="rId2"/>
          <a:stretch>
            <a:fillRect/>
          </a:stretch>
        </p:blipFill>
        <p:spPr>
          <a:xfrm>
            <a:off x="1221580" y="3008666"/>
            <a:ext cx="9677400" cy="2768600"/>
          </a:xfrm>
          <a:prstGeom prst="rect">
            <a:avLst/>
          </a:prstGeom>
        </p:spPr>
      </p:pic>
    </p:spTree>
    <p:extLst>
      <p:ext uri="{BB962C8B-B14F-4D97-AF65-F5344CB8AC3E}">
        <p14:creationId xmlns:p14="http://schemas.microsoft.com/office/powerpoint/2010/main" val="27789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选择器</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dirty="0"/>
              <a:t>层级选择器</a:t>
            </a:r>
          </a:p>
        </p:txBody>
      </p:sp>
      <p:sp>
        <p:nvSpPr>
          <p:cNvPr id="2" name="矩形 1">
            <a:extLst>
              <a:ext uri="{FF2B5EF4-FFF2-40B4-BE49-F238E27FC236}">
                <a16:creationId xmlns:a16="http://schemas.microsoft.com/office/drawing/2014/main" id="{184F828F-6FA5-6E40-BE09-89D15F15E8FC}"/>
              </a:ext>
            </a:extLst>
          </p:cNvPr>
          <p:cNvSpPr/>
          <p:nvPr/>
        </p:nvSpPr>
        <p:spPr>
          <a:xfrm>
            <a:off x="710880" y="1473407"/>
            <a:ext cx="10214656" cy="460382"/>
          </a:xfrm>
          <a:prstGeom prst="rect">
            <a:avLst/>
          </a:prstGeom>
        </p:spPr>
        <p:txBody>
          <a:bodyPr wrap="none">
            <a:spAutoFit/>
          </a:bodyPr>
          <a:lstStyle/>
          <a:p>
            <a:pPr>
              <a:lnSpc>
                <a:spcPct val="150000"/>
              </a:lnSpc>
            </a:pPr>
            <a:r>
              <a:rPr lang="zh-CN" altLang="en-US"/>
              <a:t>根据层级关系选择后代标签，</a:t>
            </a:r>
            <a:r>
              <a:rPr lang="zh-CN" altLang="en-US" b="1"/>
              <a:t>以选择器</a:t>
            </a:r>
            <a:r>
              <a:rPr lang="en-US" altLang="zh-CN" b="1"/>
              <a:t>1 </a:t>
            </a:r>
            <a:r>
              <a:rPr lang="zh-CN" altLang="en-US" b="1"/>
              <a:t>选择器</a:t>
            </a:r>
            <a:r>
              <a:rPr lang="en-US" altLang="zh-CN" b="1"/>
              <a:t>2</a:t>
            </a:r>
            <a:r>
              <a:rPr lang="zh-CN" altLang="en-US" b="1"/>
              <a:t>开头</a:t>
            </a:r>
            <a:r>
              <a:rPr lang="zh-CN" altLang="en-US"/>
              <a:t>，主要应用在标签嵌套的结构中，减少命名。</a:t>
            </a:r>
          </a:p>
        </p:txBody>
      </p:sp>
      <p:pic>
        <p:nvPicPr>
          <p:cNvPr id="3" name="图片 2">
            <a:extLst>
              <a:ext uri="{FF2B5EF4-FFF2-40B4-BE49-F238E27FC236}">
                <a16:creationId xmlns:a16="http://schemas.microsoft.com/office/drawing/2014/main" id="{E4ADF17E-E11F-594B-81FE-2A7F1652BE6C}"/>
              </a:ext>
            </a:extLst>
          </p:cNvPr>
          <p:cNvPicPr>
            <a:picLocks noChangeAspect="1"/>
          </p:cNvPicPr>
          <p:nvPr/>
        </p:nvPicPr>
        <p:blipFill>
          <a:blip r:embed="rId2"/>
          <a:stretch>
            <a:fillRect/>
          </a:stretch>
        </p:blipFill>
        <p:spPr>
          <a:xfrm>
            <a:off x="4288477" y="2138782"/>
            <a:ext cx="3615046" cy="4485189"/>
          </a:xfrm>
          <a:prstGeom prst="rect">
            <a:avLst/>
          </a:prstGeom>
        </p:spPr>
      </p:pic>
    </p:spTree>
    <p:extLst>
      <p:ext uri="{BB962C8B-B14F-4D97-AF65-F5344CB8AC3E}">
        <p14:creationId xmlns:p14="http://schemas.microsoft.com/office/powerpoint/2010/main" val="12208729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选择器</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dirty="0"/>
              <a:t>组选择器</a:t>
            </a:r>
          </a:p>
        </p:txBody>
      </p:sp>
      <p:sp>
        <p:nvSpPr>
          <p:cNvPr id="2" name="矩形 1">
            <a:extLst>
              <a:ext uri="{FF2B5EF4-FFF2-40B4-BE49-F238E27FC236}">
                <a16:creationId xmlns:a16="http://schemas.microsoft.com/office/drawing/2014/main" id="{184F828F-6FA5-6E40-BE09-89D15F15E8FC}"/>
              </a:ext>
            </a:extLst>
          </p:cNvPr>
          <p:cNvSpPr/>
          <p:nvPr/>
        </p:nvSpPr>
        <p:spPr>
          <a:xfrm>
            <a:off x="710880" y="1473407"/>
            <a:ext cx="9744975" cy="460382"/>
          </a:xfrm>
          <a:prstGeom prst="rect">
            <a:avLst/>
          </a:prstGeom>
        </p:spPr>
        <p:txBody>
          <a:bodyPr wrap="none">
            <a:spAutoFit/>
          </a:bodyPr>
          <a:lstStyle/>
          <a:p>
            <a:pPr>
              <a:lnSpc>
                <a:spcPct val="150000"/>
              </a:lnSpc>
            </a:pPr>
            <a:r>
              <a:rPr lang="zh-CN" altLang="en-US" dirty="0"/>
              <a:t>根据组合的选择器选择不同的标签，</a:t>
            </a:r>
            <a:r>
              <a:rPr lang="zh-CN" altLang="en-US" b="1" dirty="0"/>
              <a:t>以 </a:t>
            </a:r>
            <a:r>
              <a:rPr lang="en-US" altLang="zh-CN" b="1" dirty="0"/>
              <a:t>, </a:t>
            </a:r>
            <a:r>
              <a:rPr lang="zh-CN" altLang="en-US" b="1" dirty="0"/>
              <a:t>分割开</a:t>
            </a:r>
            <a:r>
              <a:rPr lang="en-US" altLang="zh-CN" dirty="0"/>
              <a:t>, </a:t>
            </a:r>
            <a:r>
              <a:rPr lang="zh-CN" altLang="en-US" dirty="0"/>
              <a:t>如果有公共的样式设置，可以使用组选择器。</a:t>
            </a:r>
          </a:p>
        </p:txBody>
      </p:sp>
      <p:pic>
        <p:nvPicPr>
          <p:cNvPr id="3" name="图片 2">
            <a:extLst>
              <a:ext uri="{FF2B5EF4-FFF2-40B4-BE49-F238E27FC236}">
                <a16:creationId xmlns:a16="http://schemas.microsoft.com/office/drawing/2014/main" id="{1B750701-8B45-334A-BF8A-2AA6D60D872E}"/>
              </a:ext>
            </a:extLst>
          </p:cNvPr>
          <p:cNvPicPr>
            <a:picLocks noChangeAspect="1"/>
          </p:cNvPicPr>
          <p:nvPr/>
        </p:nvPicPr>
        <p:blipFill>
          <a:blip r:embed="rId2"/>
          <a:stretch>
            <a:fillRect/>
          </a:stretch>
        </p:blipFill>
        <p:spPr>
          <a:xfrm>
            <a:off x="1379397" y="2390480"/>
            <a:ext cx="9664700" cy="3683000"/>
          </a:xfrm>
          <a:prstGeom prst="rect">
            <a:avLst/>
          </a:prstGeom>
        </p:spPr>
      </p:pic>
    </p:spTree>
    <p:extLst>
      <p:ext uri="{BB962C8B-B14F-4D97-AF65-F5344CB8AC3E}">
        <p14:creationId xmlns:p14="http://schemas.microsoft.com/office/powerpoint/2010/main" val="1259222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选择器</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伪类选择器</a:t>
            </a:r>
          </a:p>
        </p:txBody>
      </p:sp>
      <p:sp>
        <p:nvSpPr>
          <p:cNvPr id="2" name="矩形 1">
            <a:extLst>
              <a:ext uri="{FF2B5EF4-FFF2-40B4-BE49-F238E27FC236}">
                <a16:creationId xmlns:a16="http://schemas.microsoft.com/office/drawing/2014/main" id="{184F828F-6FA5-6E40-BE09-89D15F15E8FC}"/>
              </a:ext>
            </a:extLst>
          </p:cNvPr>
          <p:cNvSpPr/>
          <p:nvPr/>
        </p:nvSpPr>
        <p:spPr>
          <a:xfrm>
            <a:off x="710880" y="1473407"/>
            <a:ext cx="10565713" cy="460382"/>
          </a:xfrm>
          <a:prstGeom prst="rect">
            <a:avLst/>
          </a:prstGeom>
        </p:spPr>
        <p:txBody>
          <a:bodyPr wrap="none">
            <a:spAutoFit/>
          </a:bodyPr>
          <a:lstStyle/>
          <a:p>
            <a:pPr>
              <a:lnSpc>
                <a:spcPct val="150000"/>
              </a:lnSpc>
            </a:pPr>
            <a:r>
              <a:rPr lang="zh-CN" altLang="en-US"/>
              <a:t>用于向选择器添加特殊的效果</a:t>
            </a:r>
            <a:r>
              <a:rPr lang="en-US" altLang="zh-CN"/>
              <a:t>, </a:t>
            </a:r>
            <a:r>
              <a:rPr lang="zh-CN" altLang="en-US" b="1"/>
              <a:t>以 </a:t>
            </a:r>
            <a:r>
              <a:rPr lang="en-US" altLang="zh-CN" b="1"/>
              <a:t>: </a:t>
            </a:r>
            <a:r>
              <a:rPr lang="zh-CN" altLang="en-US" b="1"/>
              <a:t>分割开</a:t>
            </a:r>
            <a:r>
              <a:rPr lang="en-US" altLang="zh-CN"/>
              <a:t>, </a:t>
            </a:r>
            <a:r>
              <a:rPr lang="zh-CN" altLang="en-US"/>
              <a:t>当用户和网站交互的时候改变显示效果可以使用伪类选择器</a:t>
            </a:r>
          </a:p>
        </p:txBody>
      </p:sp>
      <p:pic>
        <p:nvPicPr>
          <p:cNvPr id="4" name="图片 3">
            <a:extLst>
              <a:ext uri="{FF2B5EF4-FFF2-40B4-BE49-F238E27FC236}">
                <a16:creationId xmlns:a16="http://schemas.microsoft.com/office/drawing/2014/main" id="{85FAE097-2198-E942-A58B-4B3FBE773ED2}"/>
              </a:ext>
            </a:extLst>
          </p:cNvPr>
          <p:cNvPicPr>
            <a:picLocks noChangeAspect="1"/>
          </p:cNvPicPr>
          <p:nvPr/>
        </p:nvPicPr>
        <p:blipFill>
          <a:blip r:embed="rId2"/>
          <a:stretch>
            <a:fillRect/>
          </a:stretch>
        </p:blipFill>
        <p:spPr>
          <a:xfrm>
            <a:off x="1809750" y="2409222"/>
            <a:ext cx="8572500" cy="2247900"/>
          </a:xfrm>
          <a:prstGeom prst="rect">
            <a:avLst/>
          </a:prstGeom>
        </p:spPr>
      </p:pic>
    </p:spTree>
    <p:extLst>
      <p:ext uri="{BB962C8B-B14F-4D97-AF65-F5344CB8AC3E}">
        <p14:creationId xmlns:p14="http://schemas.microsoft.com/office/powerpoint/2010/main" val="26609477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180780F-C9DB-2444-81D9-0C48F0501E10}"/>
              </a:ext>
            </a:extLst>
          </p:cNvPr>
          <p:cNvSpPr>
            <a:spLocks noGrp="1"/>
          </p:cNvSpPr>
          <p:nvPr>
            <p:ph type="ctrTitle"/>
          </p:nvPr>
        </p:nvSpPr>
        <p:spPr/>
        <p:txBody>
          <a:bodyPr>
            <a:normAutofit fontScale="90000"/>
          </a:bodyPr>
          <a:lstStyle/>
          <a:p>
            <a:r>
              <a:rPr lang="en-US" altLang="zh-CN" dirty="0"/>
              <a:t>css</a:t>
            </a:r>
            <a:r>
              <a:rPr lang="zh-CN" altLang="en-US" dirty="0"/>
              <a:t>属性</a:t>
            </a:r>
          </a:p>
        </p:txBody>
      </p:sp>
      <p:sp>
        <p:nvSpPr>
          <p:cNvPr id="4" name="文本占位符 3">
            <a:extLst>
              <a:ext uri="{FF2B5EF4-FFF2-40B4-BE49-F238E27FC236}">
                <a16:creationId xmlns:a16="http://schemas.microsoft.com/office/drawing/2014/main" id="{2B00E6CA-B092-D14B-AFC4-E64326B88CFD}"/>
              </a:ext>
            </a:extLst>
          </p:cNvPr>
          <p:cNvSpPr>
            <a:spLocks noGrp="1"/>
          </p:cNvSpPr>
          <p:nvPr>
            <p:ph type="body" idx="10"/>
          </p:nvPr>
        </p:nvSpPr>
        <p:spPr>
          <a:xfrm>
            <a:off x="5273040" y="3069271"/>
            <a:ext cx="5466080" cy="3551447"/>
          </a:xfrm>
        </p:spPr>
        <p:txBody>
          <a:bodyPr/>
          <a:lstStyle/>
          <a:p>
            <a:r>
              <a:rPr lang="zh-CN" altLang="en-US" dirty="0"/>
              <a:t>布局常用样式属性</a:t>
            </a:r>
            <a:endParaRPr lang="en-US" altLang="zh-CN" dirty="0"/>
          </a:p>
          <a:p>
            <a:r>
              <a:rPr lang="zh-CN" altLang="en-US" dirty="0"/>
              <a:t>文本常用样式属性</a:t>
            </a:r>
            <a:endParaRPr lang="en-US" altLang="zh-CN" dirty="0"/>
          </a:p>
          <a:p>
            <a:r>
              <a:rPr lang="zh-CN" altLang="en-US" dirty="0"/>
              <a:t>布局常用样式代码</a:t>
            </a:r>
            <a:endParaRPr lang="en-US" altLang="zh-CN" dirty="0"/>
          </a:p>
          <a:p>
            <a:r>
              <a:rPr lang="zh-CN" altLang="en-US" dirty="0"/>
              <a:t>文本常用样式代码</a:t>
            </a:r>
            <a:endParaRPr lang="en-US" altLang="zh-CN" dirty="0"/>
          </a:p>
        </p:txBody>
      </p:sp>
      <p:sp>
        <p:nvSpPr>
          <p:cNvPr id="5" name="文本占位符 4">
            <a:extLst>
              <a:ext uri="{FF2B5EF4-FFF2-40B4-BE49-F238E27FC236}">
                <a16:creationId xmlns:a16="http://schemas.microsoft.com/office/drawing/2014/main" id="{E7AC8956-CADA-F84A-BC5C-542D3650A295}"/>
              </a:ext>
            </a:extLst>
          </p:cNvPr>
          <p:cNvSpPr>
            <a:spLocks noGrp="1"/>
          </p:cNvSpPr>
          <p:nvPr>
            <p:ph type="body" sz="quarter" idx="11"/>
          </p:nvPr>
        </p:nvSpPr>
        <p:spPr/>
        <p:txBody>
          <a:bodyPr/>
          <a:lstStyle/>
          <a:p>
            <a:r>
              <a:rPr lang="en-US" altLang="zh-CN" dirty="0"/>
              <a:t>04</a:t>
            </a:r>
            <a:endParaRPr lang="zh-CN" altLang="en-US" dirty="0"/>
          </a:p>
        </p:txBody>
      </p:sp>
    </p:spTree>
    <p:extLst>
      <p:ext uri="{BB962C8B-B14F-4D97-AF65-F5344CB8AC3E}">
        <p14:creationId xmlns:p14="http://schemas.microsoft.com/office/powerpoint/2010/main" val="37424176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属性</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a:t>布局常用样式属性</a:t>
            </a:r>
          </a:p>
        </p:txBody>
      </p:sp>
      <p:sp>
        <p:nvSpPr>
          <p:cNvPr id="2" name="矩形 1">
            <a:extLst>
              <a:ext uri="{FF2B5EF4-FFF2-40B4-BE49-F238E27FC236}">
                <a16:creationId xmlns:a16="http://schemas.microsoft.com/office/drawing/2014/main" id="{184F828F-6FA5-6E40-BE09-89D15F15E8FC}"/>
              </a:ext>
            </a:extLst>
          </p:cNvPr>
          <p:cNvSpPr/>
          <p:nvPr/>
        </p:nvSpPr>
        <p:spPr>
          <a:xfrm>
            <a:off x="710880" y="1473407"/>
            <a:ext cx="10157268" cy="4199868"/>
          </a:xfrm>
          <a:prstGeom prst="rect">
            <a:avLst/>
          </a:prstGeom>
        </p:spPr>
        <p:txBody>
          <a:bodyPr wrap="none">
            <a:spAutoFit/>
          </a:bodyPr>
          <a:lstStyle/>
          <a:p>
            <a:pPr marL="285750" indent="-285750">
              <a:lnSpc>
                <a:spcPct val="150000"/>
              </a:lnSpc>
              <a:buFont typeface="Arial" panose="020B0604020202020204" pitchFamily="34" charset="0"/>
              <a:buChar char="•"/>
            </a:pPr>
            <a:r>
              <a:rPr lang="en" altLang="zh-CN" dirty="0"/>
              <a:t>width </a:t>
            </a:r>
            <a:r>
              <a:rPr lang="zh-CN" altLang="en-US" dirty="0"/>
              <a:t>设置元素</a:t>
            </a:r>
            <a:r>
              <a:rPr lang="en-US" altLang="zh-CN" dirty="0"/>
              <a:t>(</a:t>
            </a:r>
            <a:r>
              <a:rPr lang="zh-CN" altLang="en-US" dirty="0"/>
              <a:t>标签</a:t>
            </a:r>
            <a:r>
              <a:rPr lang="en-US" altLang="zh-CN" dirty="0"/>
              <a:t>)</a:t>
            </a:r>
            <a:r>
              <a:rPr lang="zh-CN" altLang="en-US" dirty="0"/>
              <a:t>的宽度，如：</a:t>
            </a:r>
            <a:r>
              <a:rPr lang="en" altLang="zh-CN" dirty="0"/>
              <a:t>width:100px;</a:t>
            </a:r>
          </a:p>
          <a:p>
            <a:pPr marL="285750" indent="-285750">
              <a:lnSpc>
                <a:spcPct val="150000"/>
              </a:lnSpc>
              <a:buFont typeface="Arial" panose="020B0604020202020204" pitchFamily="34" charset="0"/>
              <a:buChar char="•"/>
            </a:pPr>
            <a:r>
              <a:rPr lang="en" altLang="zh-CN" dirty="0"/>
              <a:t>height </a:t>
            </a:r>
            <a:r>
              <a:rPr lang="zh-CN" altLang="en-US" dirty="0"/>
              <a:t>设置元素</a:t>
            </a:r>
            <a:r>
              <a:rPr lang="en-US" altLang="zh-CN" dirty="0"/>
              <a:t>(</a:t>
            </a:r>
            <a:r>
              <a:rPr lang="zh-CN" altLang="en-US" dirty="0"/>
              <a:t>标签</a:t>
            </a:r>
            <a:r>
              <a:rPr lang="en-US" altLang="zh-CN" dirty="0"/>
              <a:t>)</a:t>
            </a:r>
            <a:r>
              <a:rPr lang="zh-CN" altLang="en-US" dirty="0"/>
              <a:t>的高度，如：</a:t>
            </a:r>
            <a:r>
              <a:rPr lang="en" altLang="zh-CN" dirty="0"/>
              <a:t>height:200px;</a:t>
            </a:r>
          </a:p>
          <a:p>
            <a:pPr marL="285750" indent="-285750">
              <a:lnSpc>
                <a:spcPct val="150000"/>
              </a:lnSpc>
              <a:buFont typeface="Arial" panose="020B0604020202020204" pitchFamily="34" charset="0"/>
              <a:buChar char="•"/>
            </a:pPr>
            <a:r>
              <a:rPr lang="en" altLang="zh-CN" dirty="0"/>
              <a:t>background </a:t>
            </a:r>
            <a:r>
              <a:rPr lang="zh-CN" altLang="en-US" dirty="0"/>
              <a:t>设置元素背景色或者背景图片，如：</a:t>
            </a:r>
            <a:r>
              <a:rPr lang="en" altLang="zh-CN" dirty="0"/>
              <a:t>background:gold; </a:t>
            </a:r>
            <a:r>
              <a:rPr lang="zh-CN" altLang="en-US" dirty="0"/>
              <a:t>设置元素的背景色</a:t>
            </a:r>
            <a:r>
              <a:rPr lang="en-US" altLang="zh-CN" dirty="0"/>
              <a:t>, </a:t>
            </a:r>
          </a:p>
          <a:p>
            <a:pPr>
              <a:lnSpc>
                <a:spcPct val="150000"/>
              </a:lnSpc>
            </a:pPr>
            <a:r>
              <a:rPr lang="en" altLang="zh-CN" dirty="0"/>
              <a:t>background: url(images/logo.png); </a:t>
            </a:r>
            <a:r>
              <a:rPr lang="zh-CN" altLang="en-US" dirty="0"/>
              <a:t>设置元素的背景图片。</a:t>
            </a:r>
          </a:p>
          <a:p>
            <a:pPr marL="285750" indent="-285750">
              <a:lnSpc>
                <a:spcPct val="150000"/>
              </a:lnSpc>
              <a:buFont typeface="Arial" panose="020B0604020202020204" pitchFamily="34" charset="0"/>
              <a:buChar char="•"/>
            </a:pPr>
            <a:r>
              <a:rPr lang="en" altLang="zh-CN" dirty="0"/>
              <a:t>border </a:t>
            </a:r>
            <a:r>
              <a:rPr lang="zh-CN" altLang="en-US" dirty="0"/>
              <a:t>设置元素四周的边框，如：</a:t>
            </a:r>
            <a:r>
              <a:rPr lang="en" altLang="zh-CN" dirty="0"/>
              <a:t>border:1px solid black; </a:t>
            </a:r>
            <a:r>
              <a:rPr lang="zh-CN" altLang="en-US" dirty="0"/>
              <a:t>设置元素四周边框是</a:t>
            </a:r>
            <a:r>
              <a:rPr lang="en-US" altLang="zh-CN" dirty="0"/>
              <a:t>1</a:t>
            </a:r>
            <a:r>
              <a:rPr lang="zh-CN" altLang="en-US" dirty="0"/>
              <a:t>像素宽的黑色实线</a:t>
            </a:r>
          </a:p>
          <a:p>
            <a:pPr marL="285750" indent="-285750">
              <a:lnSpc>
                <a:spcPct val="150000"/>
              </a:lnSpc>
              <a:buFont typeface="Arial" panose="020B0604020202020204" pitchFamily="34" charset="0"/>
              <a:buChar char="•"/>
            </a:pPr>
            <a:r>
              <a:rPr lang="zh-CN" altLang="en-US" dirty="0"/>
              <a:t>以上也可以拆分成四个边的写法，分别设置四个边的：</a:t>
            </a:r>
          </a:p>
          <a:p>
            <a:pPr marL="285750" indent="-285750">
              <a:lnSpc>
                <a:spcPct val="150000"/>
              </a:lnSpc>
              <a:buFont typeface="Arial" panose="020B0604020202020204" pitchFamily="34" charset="0"/>
              <a:buChar char="•"/>
            </a:pPr>
            <a:r>
              <a:rPr lang="en" altLang="zh-CN" dirty="0"/>
              <a:t>border-top </a:t>
            </a:r>
            <a:r>
              <a:rPr lang="zh-CN" altLang="en-US" dirty="0"/>
              <a:t>设置顶边边框，如：</a:t>
            </a:r>
            <a:r>
              <a:rPr lang="en" altLang="zh-CN" dirty="0"/>
              <a:t>border-top:10px solid red;</a:t>
            </a:r>
          </a:p>
          <a:p>
            <a:pPr marL="285750" indent="-285750">
              <a:lnSpc>
                <a:spcPct val="150000"/>
              </a:lnSpc>
              <a:buFont typeface="Arial" panose="020B0604020202020204" pitchFamily="34" charset="0"/>
              <a:buChar char="•"/>
            </a:pPr>
            <a:r>
              <a:rPr lang="en" altLang="zh-CN" dirty="0"/>
              <a:t>border-left </a:t>
            </a:r>
            <a:r>
              <a:rPr lang="zh-CN" altLang="en-US" dirty="0"/>
              <a:t>设置左边边框，如：</a:t>
            </a:r>
            <a:r>
              <a:rPr lang="en" altLang="zh-CN" dirty="0"/>
              <a:t>border-left:10px solid blue;</a:t>
            </a:r>
          </a:p>
          <a:p>
            <a:pPr marL="285750" indent="-285750">
              <a:lnSpc>
                <a:spcPct val="150000"/>
              </a:lnSpc>
              <a:buFont typeface="Arial" panose="020B0604020202020204" pitchFamily="34" charset="0"/>
              <a:buChar char="•"/>
            </a:pPr>
            <a:r>
              <a:rPr lang="en" altLang="zh-CN" dirty="0"/>
              <a:t>border-right </a:t>
            </a:r>
            <a:r>
              <a:rPr lang="zh-CN" altLang="en-US" dirty="0"/>
              <a:t>设置右边边框，如：</a:t>
            </a:r>
            <a:r>
              <a:rPr lang="en" altLang="zh-CN" dirty="0"/>
              <a:t>border-right:10px solid green;</a:t>
            </a:r>
          </a:p>
          <a:p>
            <a:pPr marL="285750" indent="-285750">
              <a:lnSpc>
                <a:spcPct val="150000"/>
              </a:lnSpc>
              <a:buFont typeface="Arial" panose="020B0604020202020204" pitchFamily="34" charset="0"/>
              <a:buChar char="•"/>
            </a:pPr>
            <a:r>
              <a:rPr lang="en" altLang="zh-CN" dirty="0"/>
              <a:t>border-bottom </a:t>
            </a:r>
            <a:r>
              <a:rPr lang="zh-CN" altLang="en-US" dirty="0"/>
              <a:t>设置底边边框，如：</a:t>
            </a:r>
            <a:r>
              <a:rPr lang="en" altLang="zh-CN" dirty="0"/>
              <a:t>border-bottom:10px solid pink;</a:t>
            </a:r>
          </a:p>
        </p:txBody>
      </p:sp>
    </p:spTree>
    <p:extLst>
      <p:ext uri="{BB962C8B-B14F-4D97-AF65-F5344CB8AC3E}">
        <p14:creationId xmlns:p14="http://schemas.microsoft.com/office/powerpoint/2010/main" val="34407975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dirty="0" err="1"/>
              <a:t>css</a:t>
            </a:r>
            <a:r>
              <a:rPr lang="zh-CN" altLang="en-US" dirty="0"/>
              <a:t>属性</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dirty="0"/>
              <a:t>文本常用样式属性</a:t>
            </a:r>
          </a:p>
        </p:txBody>
      </p:sp>
      <p:sp>
        <p:nvSpPr>
          <p:cNvPr id="2" name="矩形 1">
            <a:extLst>
              <a:ext uri="{FF2B5EF4-FFF2-40B4-BE49-F238E27FC236}">
                <a16:creationId xmlns:a16="http://schemas.microsoft.com/office/drawing/2014/main" id="{184F828F-6FA5-6E40-BE09-89D15F15E8FC}"/>
              </a:ext>
            </a:extLst>
          </p:cNvPr>
          <p:cNvSpPr/>
          <p:nvPr/>
        </p:nvSpPr>
        <p:spPr>
          <a:xfrm>
            <a:off x="710880" y="1473407"/>
            <a:ext cx="10087377" cy="4199868"/>
          </a:xfrm>
          <a:prstGeom prst="rect">
            <a:avLst/>
          </a:prstGeom>
        </p:spPr>
        <p:txBody>
          <a:bodyPr wrap="none">
            <a:spAutoFit/>
          </a:bodyPr>
          <a:lstStyle/>
          <a:p>
            <a:pPr marL="285750" indent="-285750">
              <a:lnSpc>
                <a:spcPct val="150000"/>
              </a:lnSpc>
              <a:buFont typeface="Arial" panose="020B0604020202020204" pitchFamily="34" charset="0"/>
              <a:buChar char="•"/>
            </a:pPr>
            <a:r>
              <a:rPr lang="en-US" altLang="zh-CN" dirty="0"/>
              <a:t>color </a:t>
            </a:r>
            <a:r>
              <a:rPr lang="zh-CN" altLang="en-US" dirty="0"/>
              <a:t>设置文字的颜色，如： </a:t>
            </a:r>
            <a:r>
              <a:rPr lang="en-US" altLang="zh-CN" dirty="0" err="1"/>
              <a:t>color:red</a:t>
            </a:r>
            <a:r>
              <a:rPr lang="en-US" altLang="zh-CN" dirty="0"/>
              <a:t>;</a:t>
            </a:r>
          </a:p>
          <a:p>
            <a:pPr marL="285750" indent="-285750">
              <a:lnSpc>
                <a:spcPct val="150000"/>
              </a:lnSpc>
              <a:buFont typeface="Arial" panose="020B0604020202020204" pitchFamily="34" charset="0"/>
              <a:buChar char="•"/>
            </a:pPr>
            <a:r>
              <a:rPr lang="en-US" altLang="zh-CN" dirty="0"/>
              <a:t>font-size </a:t>
            </a:r>
            <a:r>
              <a:rPr lang="zh-CN" altLang="en-US" dirty="0"/>
              <a:t>设置文字的大小，如：</a:t>
            </a:r>
            <a:r>
              <a:rPr lang="en-US" altLang="zh-CN" dirty="0"/>
              <a:t>font-size:12px;</a:t>
            </a:r>
          </a:p>
          <a:p>
            <a:pPr marL="285750" indent="-285750">
              <a:lnSpc>
                <a:spcPct val="150000"/>
              </a:lnSpc>
              <a:buFont typeface="Arial" panose="020B0604020202020204" pitchFamily="34" charset="0"/>
              <a:buChar char="•"/>
            </a:pPr>
            <a:r>
              <a:rPr lang="en-US" altLang="zh-CN" dirty="0"/>
              <a:t>font-family </a:t>
            </a:r>
            <a:r>
              <a:rPr lang="zh-CN" altLang="en-US" dirty="0"/>
              <a:t>设置文字的字体，如：</a:t>
            </a:r>
            <a:r>
              <a:rPr lang="en-US" altLang="zh-CN" dirty="0"/>
              <a:t>font-family:'</a:t>
            </a:r>
            <a:r>
              <a:rPr lang="zh-CN" altLang="en-US" dirty="0"/>
              <a:t>微软雅黑</a:t>
            </a:r>
            <a:r>
              <a:rPr lang="en-US" altLang="zh-CN" dirty="0"/>
              <a:t>';</a:t>
            </a:r>
            <a:r>
              <a:rPr lang="zh-CN" altLang="en-US" dirty="0"/>
              <a:t>为了避免中文字不兼容，</a:t>
            </a:r>
            <a:endParaRPr lang="en-US" altLang="zh-CN" dirty="0"/>
          </a:p>
          <a:p>
            <a:pPr>
              <a:lnSpc>
                <a:spcPct val="150000"/>
              </a:lnSpc>
            </a:pPr>
            <a:r>
              <a:rPr lang="zh-CN" altLang="en-US" dirty="0"/>
              <a:t>一般写成：</a:t>
            </a:r>
            <a:r>
              <a:rPr lang="en-US" altLang="zh-CN" dirty="0" err="1"/>
              <a:t>font-family:'Microsoft</a:t>
            </a:r>
            <a:r>
              <a:rPr lang="en-US" altLang="zh-CN" dirty="0"/>
              <a:t> </a:t>
            </a:r>
            <a:r>
              <a:rPr lang="en-US" altLang="zh-CN" dirty="0" err="1"/>
              <a:t>Yahei</a:t>
            </a:r>
            <a:r>
              <a:rPr lang="en-US" altLang="zh-CN" dirty="0"/>
              <a:t>';</a:t>
            </a:r>
          </a:p>
          <a:p>
            <a:pPr marL="285750" indent="-285750">
              <a:lnSpc>
                <a:spcPct val="150000"/>
              </a:lnSpc>
              <a:buFont typeface="Arial" panose="020B0604020202020204" pitchFamily="34" charset="0"/>
              <a:buChar char="•"/>
            </a:pPr>
            <a:r>
              <a:rPr lang="en-US" altLang="zh-CN" dirty="0"/>
              <a:t>font-weight </a:t>
            </a:r>
            <a:r>
              <a:rPr lang="zh-CN" altLang="en-US" dirty="0"/>
              <a:t>设置文字是否加粗，如：</a:t>
            </a:r>
            <a:r>
              <a:rPr lang="en-US" altLang="zh-CN" dirty="0" err="1"/>
              <a:t>font-weight:bold</a:t>
            </a:r>
            <a:r>
              <a:rPr lang="en-US" altLang="zh-CN" dirty="0"/>
              <a:t>; </a:t>
            </a:r>
            <a:r>
              <a:rPr lang="zh-CN" altLang="en-US" dirty="0"/>
              <a:t>设置加粗 </a:t>
            </a:r>
            <a:r>
              <a:rPr lang="en-US" altLang="zh-CN" dirty="0" err="1"/>
              <a:t>font-weight:normal</a:t>
            </a:r>
            <a:r>
              <a:rPr lang="en-US" altLang="zh-CN" dirty="0"/>
              <a:t> </a:t>
            </a:r>
            <a:r>
              <a:rPr lang="zh-CN" altLang="en-US" dirty="0"/>
              <a:t>设置不加粗</a:t>
            </a:r>
          </a:p>
          <a:p>
            <a:pPr marL="285750" indent="-285750">
              <a:lnSpc>
                <a:spcPct val="150000"/>
              </a:lnSpc>
              <a:buFont typeface="Arial" panose="020B0604020202020204" pitchFamily="34" charset="0"/>
              <a:buChar char="•"/>
            </a:pPr>
            <a:r>
              <a:rPr lang="en-US" altLang="zh-CN" dirty="0"/>
              <a:t>line-height </a:t>
            </a:r>
            <a:r>
              <a:rPr lang="zh-CN" altLang="en-US" dirty="0"/>
              <a:t>设置文字的行高，如：</a:t>
            </a:r>
            <a:r>
              <a:rPr lang="en-US" altLang="zh-CN" dirty="0"/>
              <a:t>line-height:24px; </a:t>
            </a:r>
            <a:r>
              <a:rPr lang="zh-CN" altLang="en-US" dirty="0"/>
              <a:t>表示文字高度加上文字上下的间距是</a:t>
            </a:r>
            <a:r>
              <a:rPr lang="en-US" altLang="zh-CN" dirty="0"/>
              <a:t>24px</a:t>
            </a:r>
            <a:r>
              <a:rPr lang="zh-CN" altLang="en-US" dirty="0"/>
              <a:t>，也</a:t>
            </a:r>
            <a:endParaRPr lang="en-US" altLang="zh-CN" dirty="0"/>
          </a:p>
          <a:p>
            <a:pPr>
              <a:lnSpc>
                <a:spcPct val="150000"/>
              </a:lnSpc>
            </a:pPr>
            <a:r>
              <a:rPr lang="zh-CN" altLang="en-US" dirty="0"/>
              <a:t>就是每一行占有的高度是</a:t>
            </a:r>
            <a:r>
              <a:rPr lang="en-US" altLang="zh-CN" dirty="0"/>
              <a:t>24px</a:t>
            </a:r>
          </a:p>
          <a:p>
            <a:pPr marL="285750" indent="-285750">
              <a:lnSpc>
                <a:spcPct val="150000"/>
              </a:lnSpc>
              <a:buFont typeface="Arial" panose="020B0604020202020204" pitchFamily="34" charset="0"/>
              <a:buChar char="•"/>
            </a:pPr>
            <a:r>
              <a:rPr lang="en-US" altLang="zh-CN" dirty="0"/>
              <a:t>text-decoration </a:t>
            </a:r>
            <a:r>
              <a:rPr lang="zh-CN" altLang="en-US" dirty="0"/>
              <a:t>设置文字的下划线，如：</a:t>
            </a:r>
            <a:r>
              <a:rPr lang="en-US" altLang="zh-CN" dirty="0" err="1"/>
              <a:t>text-decoration:none</a:t>
            </a:r>
            <a:r>
              <a:rPr lang="en-US" altLang="zh-CN" dirty="0"/>
              <a:t>; </a:t>
            </a:r>
            <a:r>
              <a:rPr lang="zh-CN" altLang="en-US" dirty="0"/>
              <a:t>将文字下划线去掉</a:t>
            </a:r>
          </a:p>
          <a:p>
            <a:pPr marL="285750" indent="-285750">
              <a:lnSpc>
                <a:spcPct val="150000"/>
              </a:lnSpc>
              <a:buFont typeface="Arial" panose="020B0604020202020204" pitchFamily="34" charset="0"/>
              <a:buChar char="•"/>
            </a:pPr>
            <a:r>
              <a:rPr lang="en-US" altLang="zh-CN" dirty="0"/>
              <a:t>text-align </a:t>
            </a:r>
            <a:r>
              <a:rPr lang="zh-CN" altLang="en-US" dirty="0"/>
              <a:t>设置文字水平对齐方式，如</a:t>
            </a:r>
            <a:r>
              <a:rPr lang="en-US" altLang="zh-CN" dirty="0" err="1"/>
              <a:t>text-align:center</a:t>
            </a:r>
            <a:r>
              <a:rPr lang="en-US" altLang="zh-CN" dirty="0"/>
              <a:t> </a:t>
            </a:r>
            <a:r>
              <a:rPr lang="zh-CN" altLang="en-US" dirty="0"/>
              <a:t>设置文字水平居中</a:t>
            </a:r>
          </a:p>
          <a:p>
            <a:pPr marL="285750" indent="-285750">
              <a:lnSpc>
                <a:spcPct val="150000"/>
              </a:lnSpc>
              <a:buFont typeface="Arial" panose="020B0604020202020204" pitchFamily="34" charset="0"/>
              <a:buChar char="•"/>
            </a:pPr>
            <a:r>
              <a:rPr lang="en-US" altLang="zh-CN" dirty="0"/>
              <a:t>text-indent </a:t>
            </a:r>
            <a:r>
              <a:rPr lang="zh-CN" altLang="en-US" dirty="0"/>
              <a:t>设置文字首行缩进，如：</a:t>
            </a:r>
            <a:r>
              <a:rPr lang="en-US" altLang="zh-CN" dirty="0"/>
              <a:t>text-indent:24px; </a:t>
            </a:r>
            <a:r>
              <a:rPr lang="zh-CN" altLang="en-US" dirty="0"/>
              <a:t>设置文字首行缩进</a:t>
            </a:r>
            <a:r>
              <a:rPr lang="en-US" altLang="zh-CN" dirty="0"/>
              <a:t>24px</a:t>
            </a:r>
            <a:endParaRPr lang="en" altLang="zh-CN" dirty="0"/>
          </a:p>
        </p:txBody>
      </p:sp>
    </p:spTree>
    <p:extLst>
      <p:ext uri="{BB962C8B-B14F-4D97-AF65-F5344CB8AC3E}">
        <p14:creationId xmlns:p14="http://schemas.microsoft.com/office/powerpoint/2010/main" val="36434680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属性</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dirty="0"/>
              <a:t>布局常用样式代码</a:t>
            </a:r>
            <a:endParaRPr lang="en-US" altLang="zh-CN" dirty="0"/>
          </a:p>
        </p:txBody>
      </p:sp>
      <p:pic>
        <p:nvPicPr>
          <p:cNvPr id="3" name="图片 2">
            <a:extLst>
              <a:ext uri="{FF2B5EF4-FFF2-40B4-BE49-F238E27FC236}">
                <a16:creationId xmlns:a16="http://schemas.microsoft.com/office/drawing/2014/main" id="{37CFF25B-3E11-7E4C-97DD-F74AECB0600D}"/>
              </a:ext>
            </a:extLst>
          </p:cNvPr>
          <p:cNvPicPr>
            <a:picLocks noChangeAspect="1"/>
          </p:cNvPicPr>
          <p:nvPr/>
        </p:nvPicPr>
        <p:blipFill>
          <a:blip r:embed="rId2"/>
          <a:stretch>
            <a:fillRect/>
          </a:stretch>
        </p:blipFill>
        <p:spPr>
          <a:xfrm>
            <a:off x="1179395" y="1323436"/>
            <a:ext cx="3404180" cy="5432061"/>
          </a:xfrm>
          <a:prstGeom prst="rect">
            <a:avLst/>
          </a:prstGeom>
        </p:spPr>
      </p:pic>
      <p:pic>
        <p:nvPicPr>
          <p:cNvPr id="4" name="图片 3">
            <a:extLst>
              <a:ext uri="{FF2B5EF4-FFF2-40B4-BE49-F238E27FC236}">
                <a16:creationId xmlns:a16="http://schemas.microsoft.com/office/drawing/2014/main" id="{4299C08E-88BC-C546-8108-5876B45FDBE5}"/>
              </a:ext>
            </a:extLst>
          </p:cNvPr>
          <p:cNvPicPr>
            <a:picLocks noChangeAspect="1"/>
          </p:cNvPicPr>
          <p:nvPr/>
        </p:nvPicPr>
        <p:blipFill>
          <a:blip r:embed="rId3"/>
          <a:stretch>
            <a:fillRect/>
          </a:stretch>
        </p:blipFill>
        <p:spPr>
          <a:xfrm>
            <a:off x="5268973" y="2783390"/>
            <a:ext cx="5473700" cy="2032000"/>
          </a:xfrm>
          <a:prstGeom prst="rect">
            <a:avLst/>
          </a:prstGeom>
        </p:spPr>
      </p:pic>
    </p:spTree>
    <p:extLst>
      <p:ext uri="{BB962C8B-B14F-4D97-AF65-F5344CB8AC3E}">
        <p14:creationId xmlns:p14="http://schemas.microsoft.com/office/powerpoint/2010/main" val="9440243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045185A9-2C02-C749-A705-10ECC91CFB83}"/>
              </a:ext>
            </a:extLst>
          </p:cNvPr>
          <p:cNvSpPr>
            <a:spLocks noGrp="1"/>
          </p:cNvSpPr>
          <p:nvPr>
            <p:ph type="title"/>
          </p:nvPr>
        </p:nvSpPr>
        <p:spPr/>
        <p:txBody>
          <a:bodyPr/>
          <a:lstStyle/>
          <a:p>
            <a:r>
              <a:rPr lang="en-US" altLang="zh-CN"/>
              <a:t>css</a:t>
            </a:r>
            <a:r>
              <a:rPr lang="zh-CN" altLang="en-US"/>
              <a:t>属性</a:t>
            </a:r>
          </a:p>
        </p:txBody>
      </p:sp>
      <p:sp>
        <p:nvSpPr>
          <p:cNvPr id="6" name="文本占位符 5">
            <a:extLst>
              <a:ext uri="{FF2B5EF4-FFF2-40B4-BE49-F238E27FC236}">
                <a16:creationId xmlns:a16="http://schemas.microsoft.com/office/drawing/2014/main" id="{7BFA1826-1365-0F4C-8CD5-DE172EC412DB}"/>
              </a:ext>
            </a:extLst>
          </p:cNvPr>
          <p:cNvSpPr>
            <a:spLocks noGrp="1"/>
          </p:cNvSpPr>
          <p:nvPr>
            <p:ph type="body" sz="quarter" idx="10"/>
          </p:nvPr>
        </p:nvSpPr>
        <p:spPr>
          <a:xfrm>
            <a:off x="710880" y="784520"/>
            <a:ext cx="10698800" cy="517190"/>
          </a:xfrm>
        </p:spPr>
        <p:txBody>
          <a:bodyPr/>
          <a:lstStyle/>
          <a:p>
            <a:r>
              <a:rPr lang="zh-CN" altLang="en-US" dirty="0"/>
              <a:t>文本常用样式代码</a:t>
            </a:r>
            <a:endParaRPr lang="en-US" altLang="zh-CN" dirty="0"/>
          </a:p>
        </p:txBody>
      </p:sp>
      <p:pic>
        <p:nvPicPr>
          <p:cNvPr id="2" name="图片 1">
            <a:extLst>
              <a:ext uri="{FF2B5EF4-FFF2-40B4-BE49-F238E27FC236}">
                <a16:creationId xmlns:a16="http://schemas.microsoft.com/office/drawing/2014/main" id="{3D660B12-997E-734F-A6E1-736195E138D7}"/>
              </a:ext>
            </a:extLst>
          </p:cNvPr>
          <p:cNvPicPr>
            <a:picLocks noChangeAspect="1"/>
          </p:cNvPicPr>
          <p:nvPr/>
        </p:nvPicPr>
        <p:blipFill>
          <a:blip r:embed="rId2"/>
          <a:stretch>
            <a:fillRect/>
          </a:stretch>
        </p:blipFill>
        <p:spPr>
          <a:xfrm>
            <a:off x="930669" y="1335011"/>
            <a:ext cx="3780709" cy="5401013"/>
          </a:xfrm>
          <a:prstGeom prst="rect">
            <a:avLst/>
          </a:prstGeom>
        </p:spPr>
      </p:pic>
      <p:pic>
        <p:nvPicPr>
          <p:cNvPr id="7" name="图片 6">
            <a:extLst>
              <a:ext uri="{FF2B5EF4-FFF2-40B4-BE49-F238E27FC236}">
                <a16:creationId xmlns:a16="http://schemas.microsoft.com/office/drawing/2014/main" id="{B414EE43-3F39-5E49-A5F9-413C4F218156}"/>
              </a:ext>
            </a:extLst>
          </p:cNvPr>
          <p:cNvPicPr>
            <a:picLocks noChangeAspect="1"/>
          </p:cNvPicPr>
          <p:nvPr/>
        </p:nvPicPr>
        <p:blipFill>
          <a:blip r:embed="rId3"/>
          <a:stretch>
            <a:fillRect/>
          </a:stretch>
        </p:blipFill>
        <p:spPr>
          <a:xfrm>
            <a:off x="6096000" y="2860073"/>
            <a:ext cx="3162300" cy="1346200"/>
          </a:xfrm>
          <a:prstGeom prst="rect">
            <a:avLst/>
          </a:prstGeom>
        </p:spPr>
      </p:pic>
    </p:spTree>
    <p:extLst>
      <p:ext uri="{BB962C8B-B14F-4D97-AF65-F5344CB8AC3E}">
        <p14:creationId xmlns:p14="http://schemas.microsoft.com/office/powerpoint/2010/main" val="20997482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5645788"/>
      </p:ext>
    </p:extLst>
  </p:cSld>
  <p:clrMapOvr>
    <a:masterClrMapping/>
  </p:clrMapOvr>
</p:sld>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raClrScheme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7521</TotalTime>
  <Words>2248</Words>
  <Application>Microsoft Office PowerPoint</Application>
  <PresentationFormat>宽屏</PresentationFormat>
  <Paragraphs>285</Paragraphs>
  <Slides>59</Slides>
  <Notes>0</Notes>
  <HiddenSlides>0</HiddenSlides>
  <MMClips>0</MMClips>
  <ScaleCrop>false</ScaleCrop>
  <HeadingPairs>
    <vt:vector size="6" baseType="variant">
      <vt:variant>
        <vt:lpstr>已用的字体</vt:lpstr>
      </vt:variant>
      <vt:variant>
        <vt:i4>12</vt:i4>
      </vt:variant>
      <vt:variant>
        <vt:lpstr>主题</vt:lpstr>
      </vt:variant>
      <vt:variant>
        <vt:i4>7</vt:i4>
      </vt:variant>
      <vt:variant>
        <vt:lpstr>幻灯片标题</vt:lpstr>
      </vt:variant>
      <vt:variant>
        <vt:i4>59</vt:i4>
      </vt:variant>
    </vt:vector>
  </HeadingPairs>
  <TitlesOfParts>
    <vt:vector size="78" baseType="lpstr">
      <vt:lpstr>Alibaba PuHuiTi B</vt:lpstr>
      <vt:lpstr>Alibaba PuHuiTi M</vt:lpstr>
      <vt:lpstr>Alibaba PuHuiTi R</vt:lpstr>
      <vt:lpstr>Helvetica Neue</vt:lpstr>
      <vt:lpstr>阿里巴巴普惠体</vt:lpstr>
      <vt:lpstr>等线</vt:lpstr>
      <vt:lpstr>黑体</vt:lpstr>
      <vt:lpstr>Arial</vt:lpstr>
      <vt:lpstr>Calibri</vt:lpstr>
      <vt:lpstr>Segoe UI</vt:lpstr>
      <vt:lpstr>Verdana</vt:lpstr>
      <vt:lpstr>Wingdings</vt:lpstr>
      <vt:lpstr>封面2</vt:lpstr>
      <vt:lpstr>目录</vt:lpstr>
      <vt:lpstr>学习目标</vt:lpstr>
      <vt:lpstr>章节页版式（一级+二级标题）</vt:lpstr>
      <vt:lpstr>章节页版式（一级标题）</vt:lpstr>
      <vt:lpstr>正文设计方案</vt:lpstr>
      <vt:lpstr>5_结束页设计方案</vt:lpstr>
      <vt:lpstr>html+css基础</vt:lpstr>
      <vt:lpstr>PowerPoint 演示文稿</vt:lpstr>
      <vt:lpstr>PowerPoint 演示文稿</vt:lpstr>
      <vt:lpstr>html</vt:lpstr>
      <vt:lpstr>html介绍</vt:lpstr>
      <vt:lpstr>html介绍</vt:lpstr>
      <vt:lpstr>html介绍</vt:lpstr>
      <vt:lpstr>html基本结构</vt:lpstr>
      <vt:lpstr>html基本结构</vt:lpstr>
      <vt:lpstr>html基本结构</vt:lpstr>
      <vt:lpstr>vscode基本使用</vt:lpstr>
      <vt:lpstr>vscode基本使用</vt:lpstr>
      <vt:lpstr>vscode基本使用</vt:lpstr>
      <vt:lpstr>vscode基本使用</vt:lpstr>
      <vt:lpstr>vscode基本使用</vt:lpstr>
      <vt:lpstr>常用html标签</vt:lpstr>
      <vt:lpstr>常用html标签</vt:lpstr>
      <vt:lpstr>常用html标签</vt:lpstr>
      <vt:lpstr>常用html标签</vt:lpstr>
      <vt:lpstr>常用html标签</vt:lpstr>
      <vt:lpstr>资源路径</vt:lpstr>
      <vt:lpstr>资源路径</vt:lpstr>
      <vt:lpstr>资源路径</vt:lpstr>
      <vt:lpstr>列表标签</vt:lpstr>
      <vt:lpstr>列表标签</vt:lpstr>
      <vt:lpstr>列表标签</vt:lpstr>
      <vt:lpstr>表格标签</vt:lpstr>
      <vt:lpstr>表格标签</vt:lpstr>
      <vt:lpstr>表格标签</vt:lpstr>
      <vt:lpstr>表单标签</vt:lpstr>
      <vt:lpstr>表单标签</vt:lpstr>
      <vt:lpstr>表单标签</vt:lpstr>
      <vt:lpstr>表单提交</vt:lpstr>
      <vt:lpstr>表单提交</vt:lpstr>
      <vt:lpstr>表单提交</vt:lpstr>
      <vt:lpstr>css部分</vt:lpstr>
      <vt:lpstr>css介绍</vt:lpstr>
      <vt:lpstr>css介绍</vt:lpstr>
      <vt:lpstr>css介绍</vt:lpstr>
      <vt:lpstr>css介绍</vt:lpstr>
      <vt:lpstr>css引入方式</vt:lpstr>
      <vt:lpstr>css引入方式</vt:lpstr>
      <vt:lpstr>css引入方式</vt:lpstr>
      <vt:lpstr>css引入方式</vt:lpstr>
      <vt:lpstr>css引入方式</vt:lpstr>
      <vt:lpstr>css选择器</vt:lpstr>
      <vt:lpstr>css选择器</vt:lpstr>
      <vt:lpstr>css选择器</vt:lpstr>
      <vt:lpstr>css选择器</vt:lpstr>
      <vt:lpstr>css选择器</vt:lpstr>
      <vt:lpstr>css选择器</vt:lpstr>
      <vt:lpstr>css选择器</vt:lpstr>
      <vt:lpstr>css选择器</vt:lpstr>
      <vt:lpstr>css属性</vt:lpstr>
      <vt:lpstr>css属性</vt:lpstr>
      <vt:lpstr>css属性</vt:lpstr>
      <vt:lpstr>css属性</vt:lpstr>
      <vt:lpstr>css属性</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任 逍遥</cp:lastModifiedBy>
  <cp:revision>525</cp:revision>
  <dcterms:created xsi:type="dcterms:W3CDTF">2020-03-31T02:23:27Z</dcterms:created>
  <dcterms:modified xsi:type="dcterms:W3CDTF">2021-11-22T09:03:06Z</dcterms:modified>
</cp:coreProperties>
</file>