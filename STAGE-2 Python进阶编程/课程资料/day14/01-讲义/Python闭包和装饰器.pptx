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6.xml" ContentType="application/vnd.openxmlformats-officedocument.theme+xml"/>
  <Override PartName="/ppt/slideLayouts/slideLayout21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  <p:sldMasterId id="2147483665" r:id="rId2"/>
    <p:sldMasterId id="2147483707" r:id="rId3"/>
    <p:sldMasterId id="2147483700" r:id="rId4"/>
    <p:sldMasterId id="2147483698" r:id="rId5"/>
    <p:sldMasterId id="2147483668" r:id="rId6"/>
    <p:sldMasterId id="2147483672" r:id="rId7"/>
  </p:sldMasterIdLst>
  <p:notesMasterIdLst>
    <p:notesMasterId r:id="rId44"/>
  </p:notesMasterIdLst>
  <p:handoutMasterIdLst>
    <p:handoutMasterId r:id="rId45"/>
  </p:handoutMasterIdLst>
  <p:sldIdLst>
    <p:sldId id="462" r:id="rId8"/>
    <p:sldId id="463" r:id="rId9"/>
    <p:sldId id="464" r:id="rId10"/>
    <p:sldId id="466" r:id="rId11"/>
    <p:sldId id="640" r:id="rId12"/>
    <p:sldId id="467" r:id="rId13"/>
    <p:sldId id="556" r:id="rId14"/>
    <p:sldId id="610" r:id="rId15"/>
    <p:sldId id="611" r:id="rId16"/>
    <p:sldId id="612" r:id="rId17"/>
    <p:sldId id="616" r:id="rId18"/>
    <p:sldId id="617" r:id="rId19"/>
    <p:sldId id="618" r:id="rId20"/>
    <p:sldId id="641" r:id="rId21"/>
    <p:sldId id="619" r:id="rId22"/>
    <p:sldId id="620" r:id="rId23"/>
    <p:sldId id="621" r:id="rId24"/>
    <p:sldId id="622" r:id="rId25"/>
    <p:sldId id="623" r:id="rId26"/>
    <p:sldId id="624" r:id="rId27"/>
    <p:sldId id="625" r:id="rId28"/>
    <p:sldId id="626" r:id="rId29"/>
    <p:sldId id="627" r:id="rId30"/>
    <p:sldId id="628" r:id="rId31"/>
    <p:sldId id="629" r:id="rId32"/>
    <p:sldId id="630" r:id="rId33"/>
    <p:sldId id="631" r:id="rId34"/>
    <p:sldId id="632" r:id="rId35"/>
    <p:sldId id="633" r:id="rId36"/>
    <p:sldId id="634" r:id="rId37"/>
    <p:sldId id="635" r:id="rId38"/>
    <p:sldId id="636" r:id="rId39"/>
    <p:sldId id="637" r:id="rId40"/>
    <p:sldId id="638" r:id="rId41"/>
    <p:sldId id="639" r:id="rId42"/>
    <p:sldId id="264" r:id="rId4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FFFE4"/>
    <a:srgbClr val="B60206"/>
    <a:srgbClr val="AD2B26"/>
    <a:srgbClr val="49504F"/>
    <a:srgbClr val="B70006"/>
    <a:srgbClr val="919191"/>
    <a:srgbClr val="333333"/>
    <a:srgbClr val="D9D9D9"/>
    <a:srgbClr val="5151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93" autoAdjust="0"/>
    <p:restoredTop sz="89612" autoAdjust="0"/>
  </p:normalViewPr>
  <p:slideViewPr>
    <p:cSldViewPr snapToGrid="0">
      <p:cViewPr varScale="1">
        <p:scale>
          <a:sx n="77" d="100"/>
          <a:sy n="77" d="100"/>
        </p:scale>
        <p:origin x="71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slide" Target="slides/slide32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slide" Target="slides/slide35.xml"/><Relationship Id="rId47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tableStyles" Target="tableStyle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theme" Target="theme/theme1.xml"/><Relationship Id="rId8" Type="http://schemas.openxmlformats.org/officeDocument/2006/relationships/slide" Target="slides/slid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presProps" Target="presProps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75BAB8F7-26C7-2345-A2F0-4C70E8EFA8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EB0FE49-C86E-0B42-8C7E-921C60B5AA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/>
              <a:t>2021/4/12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E928822-8127-CD43-9156-5BB443851DB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FC3EF7F-6078-7249-A167-F5C06879924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626559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7ACF5-0677-4CC5-89ED-AE83D3F5859D}" type="datetimeFigureOut">
              <a:rPr lang="zh-CN" altLang="en-US" smtClean="0"/>
              <a:t>2021/4/12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63F50-FC71-46DD-9BDC-11F985EF41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5594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闭包执行结果的说明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: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通过上面的输出结果可以看出闭包保存了外部函数内的变量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num1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，每次执行闭包都是在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num1 = 1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基础上进行计算。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10527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闭包执行结果的说明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: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通过上面的输出结果可以看出闭包保存了外部函数内的变量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num1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，每次执行闭包都是在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num1 = 1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基础上进行计算。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47697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68703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20317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nonlocal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声明的变量不是局部变量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,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也不是全局变量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,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而是外部嵌套函数内的变量。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47324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06560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03781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代码说明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: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>
              <a:buFont typeface="Arial" panose="020B0604020202020204" pitchFamily="34" charset="0"/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① 闭包函数有且只有一个参数，必须是函数类型，这样定义的函数才是装饰器。</a:t>
            </a:r>
          </a:p>
          <a:p>
            <a:pPr algn="l">
              <a:buFont typeface="Arial" panose="020B0604020202020204" pitchFamily="34" charset="0"/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② 写代码要遵循开放封闭原则，它规定已经实现的功能代码不允许被修改，但可以被扩展。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84925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@check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等价于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comment = check(comment)</a:t>
            </a:r>
          </a:p>
          <a:p>
            <a:pPr algn="l">
              <a:buFont typeface="Arial" panose="020B0604020202020204" pitchFamily="34" charset="0"/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装饰器的执行时间是加载模块时立即执行。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16273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@check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等价于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comment = check(comment)</a:t>
            </a:r>
          </a:p>
          <a:p>
            <a:pPr algn="l">
              <a:buFont typeface="Arial" panose="020B0604020202020204" pitchFamily="34" charset="0"/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装饰器的执行时间是加载模块时立即执行。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5228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45380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49831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57321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7625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84401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61774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974367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出现以上错误原因：装饰器只能接收一个参数，并且还是函数类型。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75551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使用带有参数的装饰器，其实是在装饰器外面又包裹了一个函数，使用该函数接收参数，返回是装饰器，因为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@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符号需要配合装饰器实例使用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4645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033967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455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469F54-72BF-044A-89E7-CDAF75E947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</a:p>
        </p:txBody>
      </p:sp>
      <p:sp>
        <p:nvSpPr>
          <p:cNvPr id="3" name="文本占位符 3">
            <a:extLst>
              <a:ext uri="{FF2B5EF4-FFF2-40B4-BE49-F238E27FC236}">
                <a16:creationId xmlns:a16="http://schemas.microsoft.com/office/drawing/2014/main" id="{FE68CD30-ECD6-A642-8C7F-BA42D1249D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</a:p>
        </p:txBody>
      </p:sp>
    </p:spTree>
    <p:extLst>
      <p:ext uri="{BB962C8B-B14F-4D97-AF65-F5344CB8AC3E}">
        <p14:creationId xmlns:p14="http://schemas.microsoft.com/office/powerpoint/2010/main" val="588721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>
            <a:extLst>
              <a:ext uri="{FF2B5EF4-FFF2-40B4-BE49-F238E27FC236}">
                <a16:creationId xmlns:a16="http://schemas.microsoft.com/office/drawing/2014/main" id="{81B62E64-63F1-3949-8E18-11A80E8D9F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189" marR="0" lvl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/>
            </a:pPr>
            <a:r>
              <a:rPr kumimoji="1" lang="zh-CN" altLang="en-US" dirty="0"/>
              <a:t>此内容上下居中对齐，可根据实际情况微调位置和字体大小</a:t>
            </a:r>
          </a:p>
          <a:p>
            <a:pPr lvl="0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64694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>
            <a:extLst>
              <a:ext uri="{FF2B5EF4-FFF2-40B4-BE49-F238E27FC236}">
                <a16:creationId xmlns:a16="http://schemas.microsoft.com/office/drawing/2014/main" id="{81B62E64-63F1-3949-8E18-11A80E8D9F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</a:p>
        </p:txBody>
      </p:sp>
    </p:spTree>
    <p:extLst>
      <p:ext uri="{BB962C8B-B14F-4D97-AF65-F5344CB8AC3E}">
        <p14:creationId xmlns:p14="http://schemas.microsoft.com/office/powerpoint/2010/main" val="2196259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239209-2A8D-D940-8FA0-61988543E49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>
            <a:extLst>
              <a:ext uri="{FF2B5EF4-FFF2-40B4-BE49-F238E27FC236}">
                <a16:creationId xmlns:a16="http://schemas.microsoft.com/office/drawing/2014/main" id="{CA56E57C-1F68-E948-87DC-0FF15A8C7DE7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</a:p>
        </p:txBody>
      </p:sp>
      <p:sp>
        <p:nvSpPr>
          <p:cNvPr id="17" name="文本占位符 13">
            <a:extLst>
              <a:ext uri="{FF2B5EF4-FFF2-40B4-BE49-F238E27FC236}">
                <a16:creationId xmlns:a16="http://schemas.microsoft.com/office/drawing/2014/main" id="{01590D97-7CA9-B247-806A-885950A786C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  <p:extLst>
      <p:ext uri="{BB962C8B-B14F-4D97-AF65-F5344CB8AC3E}">
        <p14:creationId xmlns:p14="http://schemas.microsoft.com/office/powerpoint/2010/main" val="198760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>
            <a:extLst>
              <a:ext uri="{FF2B5EF4-FFF2-40B4-BE49-F238E27FC236}">
                <a16:creationId xmlns:a16="http://schemas.microsoft.com/office/drawing/2014/main" id="{ED1003EB-0D97-5849-AC50-BFB3EDAA3B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</a:p>
        </p:txBody>
      </p:sp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0C8E5D29-3E75-FC46-80C9-2080D9268EB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  <p:extLst>
      <p:ext uri="{BB962C8B-B14F-4D97-AF65-F5344CB8AC3E}">
        <p14:creationId xmlns:p14="http://schemas.microsoft.com/office/powerpoint/2010/main" val="3315334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6C2551-88ED-4239-96A2-7F3C49A205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1BE760B7-955D-46DB-9CF6-0F5E75ACEF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0F12D90F-BB49-421D-A9D1-C25C2A378E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18889851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>
            <a:extLst>
              <a:ext uri="{FF2B5EF4-FFF2-40B4-BE49-F238E27FC236}">
                <a16:creationId xmlns:a16="http://schemas.microsoft.com/office/drawing/2014/main" id="{052D8D2A-DC76-4246-B7A3-897EC5980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lnSpc>
                <a:spcPct val="150000"/>
              </a:lnSpc>
              <a:buFont typeface="Wingdings" pitchFamily="2" charset="2"/>
              <a:buChar char="l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49FCFB1A-E1EE-3245-9778-ABB7ACB14F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>
            <a:extLst>
              <a:ext uri="{FF2B5EF4-FFF2-40B4-BE49-F238E27FC236}">
                <a16:creationId xmlns:a16="http://schemas.microsoft.com/office/drawing/2014/main" id="{2DD40269-A2A6-814E-991D-1DBB128738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1639914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>
            <a:extLst>
              <a:ext uri="{FF2B5EF4-FFF2-40B4-BE49-F238E27FC236}">
                <a16:creationId xmlns:a16="http://schemas.microsoft.com/office/drawing/2014/main" id="{052D8D2A-DC76-4246-B7A3-897EC5980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tabLst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00" indent="-360000">
              <a:lnSpc>
                <a:spcPct val="150000"/>
              </a:lnSpc>
              <a:buFont typeface="+mj-lt"/>
              <a:buAutoNum type="arabicPeriod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64C54839-92D5-0E4E-B9C2-203FF53C32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>
            <a:extLst>
              <a:ext uri="{FF2B5EF4-FFF2-40B4-BE49-F238E27FC236}">
                <a16:creationId xmlns:a16="http://schemas.microsoft.com/office/drawing/2014/main" id="{E5CC542A-FF04-5243-BA82-1AC7B0A112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2862767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E4D92416-D30F-8049-AD27-C955EC07F2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5" name="文本占位符 9">
            <a:extLst>
              <a:ext uri="{FF2B5EF4-FFF2-40B4-BE49-F238E27FC236}">
                <a16:creationId xmlns:a16="http://schemas.microsoft.com/office/drawing/2014/main" id="{FB933948-E99B-AD48-8B41-DEA66BC8F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11">
            <a:extLst>
              <a:ext uri="{FF2B5EF4-FFF2-40B4-BE49-F238E27FC236}">
                <a16:creationId xmlns:a16="http://schemas.microsoft.com/office/drawing/2014/main" id="{D8BA1B0F-468D-0446-AB7E-B23A83414DF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buFont typeface="Wingdings" pitchFamily="2" charset="2"/>
              <a:buChar char="l"/>
              <a:tabLst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itchFamily="2" charset="2"/>
              <a:buChar char="l"/>
              <a:tabLst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37497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0F12D90F-BB49-421D-A9D1-C25C2A378E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9947CB16-8D08-5242-A2E0-936DC1D438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2908806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B678CE99-982F-E747-B6C5-B29DECDE38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>
            <a:extLst>
              <a:ext uri="{FF2B5EF4-FFF2-40B4-BE49-F238E27FC236}">
                <a16:creationId xmlns:a16="http://schemas.microsoft.com/office/drawing/2014/main" id="{88D105DB-24C1-B042-AF5E-89B95733125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tabLst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00" indent="-360000">
              <a:lnSpc>
                <a:spcPct val="150000"/>
              </a:lnSpc>
              <a:buFont typeface="+mj-lt"/>
              <a:buAutoNum type="arabicPeriod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588711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>
            <a:extLst>
              <a:ext uri="{FF2B5EF4-FFF2-40B4-BE49-F238E27FC236}">
                <a16:creationId xmlns:a16="http://schemas.microsoft.com/office/drawing/2014/main" id="{9C0915B4-3DAF-C444-883E-818CAE39A5B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buFont typeface="Wingdings" pitchFamily="2" charset="2"/>
              <a:buChar char="l"/>
              <a:tabLst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itchFamily="2" charset="2"/>
              <a:buChar char="l"/>
              <a:tabLst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571635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11824831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>
              <a:extLst>
                <a:ext uri="{FF2B5EF4-FFF2-40B4-BE49-F238E27FC236}">
                  <a16:creationId xmlns:a16="http://schemas.microsoft.com/office/drawing/2014/main" id="{C4064CF0-C79B-2F4A-839D-A26938667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28063303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>
              <a:extLst>
                <a:ext uri="{FF2B5EF4-FFF2-40B4-BE49-F238E27FC236}">
                  <a16:creationId xmlns:a16="http://schemas.microsoft.com/office/drawing/2014/main" id="{C4064CF0-C79B-2F4A-839D-A26938667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24558441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>
              <a:extLst>
                <a:ext uri="{FF2B5EF4-FFF2-40B4-BE49-F238E27FC236}">
                  <a16:creationId xmlns:a16="http://schemas.microsoft.com/office/drawing/2014/main" id="{C4064CF0-C79B-2F4A-839D-A26938667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14145838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>
            <a:extLst>
              <a:ext uri="{FF2B5EF4-FFF2-40B4-BE49-F238E27FC236}">
                <a16:creationId xmlns:a16="http://schemas.microsoft.com/office/drawing/2014/main" id="{380B9059-6AA7-9E4F-BC56-F30289A262EA}"/>
              </a:ext>
            </a:extLst>
          </p:cNvPr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>
            <a:extLst>
              <a:ext uri="{FF2B5EF4-FFF2-40B4-BE49-F238E27FC236}">
                <a16:creationId xmlns:a16="http://schemas.microsoft.com/office/drawing/2014/main" id="{D71D36F9-1B1C-094A-A062-19A46A7AB388}"/>
              </a:ext>
            </a:extLst>
          </p:cNvPr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</a:p>
        </p:txBody>
      </p:sp>
      <p:sp>
        <p:nvSpPr>
          <p:cNvPr id="20" name="标题 1">
            <a:extLst>
              <a:ext uri="{FF2B5EF4-FFF2-40B4-BE49-F238E27FC236}">
                <a16:creationId xmlns:a16="http://schemas.microsoft.com/office/drawing/2014/main" id="{493FA365-EB18-4C49-B470-79A013EED4C7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24" name="六边形 23">
            <a:extLst>
              <a:ext uri="{FF2B5EF4-FFF2-40B4-BE49-F238E27FC236}">
                <a16:creationId xmlns:a16="http://schemas.microsoft.com/office/drawing/2014/main" id="{745B08E3-3066-3844-87E9-46D7426765C6}"/>
              </a:ext>
            </a:extLst>
          </p:cNvPr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>
            <a:extLst>
              <a:ext uri="{FF2B5EF4-FFF2-40B4-BE49-F238E27FC236}">
                <a16:creationId xmlns:a16="http://schemas.microsoft.com/office/drawing/2014/main" id="{B7A42CA5-7885-7642-B20D-B92B35099CBC}"/>
              </a:ext>
            </a:extLst>
          </p:cNvPr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>
            <a:extLst>
              <a:ext uri="{FF2B5EF4-FFF2-40B4-BE49-F238E27FC236}">
                <a16:creationId xmlns:a16="http://schemas.microsoft.com/office/drawing/2014/main" id="{DE7B2235-1C6B-6B44-BC4F-1EC9BD8B9D8D}"/>
              </a:ext>
            </a:extLst>
          </p:cNvPr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>
            <a:extLst>
              <a:ext uri="{FF2B5EF4-FFF2-40B4-BE49-F238E27FC236}">
                <a16:creationId xmlns:a16="http://schemas.microsoft.com/office/drawing/2014/main" id="{5BF818FD-51C6-E54A-9D53-783E1313F19E}"/>
              </a:ext>
            </a:extLst>
          </p:cNvPr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1137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>
              <a:extLst>
                <a:ext uri="{FF2B5EF4-FFF2-40B4-BE49-F238E27FC236}">
                  <a16:creationId xmlns:a16="http://schemas.microsoft.com/office/drawing/2014/main" id="{EBBF2F2F-D96E-4638-A53F-CD7237FF5C1E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  <p:sp>
        <p:nvSpPr>
          <p:cNvPr id="21" name="标题 1">
            <a:extLst>
              <a:ext uri="{FF2B5EF4-FFF2-40B4-BE49-F238E27FC236}">
                <a16:creationId xmlns:a16="http://schemas.microsoft.com/office/drawing/2014/main" id="{B0EF16AB-AE8A-5D46-82EA-397E62F93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41700943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B0EF16AB-AE8A-5D46-82EA-397E62F93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15" name="泪珠形 14">
            <a:extLst>
              <a:ext uri="{FF2B5EF4-FFF2-40B4-BE49-F238E27FC236}">
                <a16:creationId xmlns:a16="http://schemas.microsoft.com/office/drawing/2014/main" id="{0EFAFC56-5B16-1644-BDCA-117D21E2806E}"/>
              </a:ext>
            </a:extLst>
          </p:cNvPr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>
            <a:extLst>
              <a:ext uri="{FF2B5EF4-FFF2-40B4-BE49-F238E27FC236}">
                <a16:creationId xmlns:a16="http://schemas.microsoft.com/office/drawing/2014/main" id="{02C17FF1-E140-B64F-AF1C-FE17A937E731}"/>
              </a:ext>
            </a:extLst>
          </p:cNvPr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>
            <a:extLst>
              <a:ext uri="{FF2B5EF4-FFF2-40B4-BE49-F238E27FC236}">
                <a16:creationId xmlns:a16="http://schemas.microsoft.com/office/drawing/2014/main" id="{F639FB5D-6047-3448-A319-F4FD2BA72BB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>
            <a:extLst>
              <a:ext uri="{FF2B5EF4-FFF2-40B4-BE49-F238E27FC236}">
                <a16:creationId xmlns:a16="http://schemas.microsoft.com/office/drawing/2014/main" id="{0C1BFADD-1066-B04B-BD99-C7E20F0FA73E}"/>
              </a:ext>
            </a:extLst>
          </p:cNvPr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>
            <a:extLst>
              <a:ext uri="{FF2B5EF4-FFF2-40B4-BE49-F238E27FC236}">
                <a16:creationId xmlns:a16="http://schemas.microsoft.com/office/drawing/2014/main" id="{20149FF9-71F5-FB43-A7A0-BB0C90CB4486}"/>
              </a:ext>
            </a:extLst>
          </p:cNvPr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>
            <a:extLst>
              <a:ext uri="{FF2B5EF4-FFF2-40B4-BE49-F238E27FC236}">
                <a16:creationId xmlns:a16="http://schemas.microsoft.com/office/drawing/2014/main" id="{098F3E8C-7A22-A34B-817A-438DDA0CAC1C}"/>
              </a:ext>
            </a:extLst>
          </p:cNvPr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06875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>
            <a:extLst>
              <a:ext uri="{FF2B5EF4-FFF2-40B4-BE49-F238E27FC236}">
                <a16:creationId xmlns:a16="http://schemas.microsoft.com/office/drawing/2014/main" id="{4AB6E3BD-F819-724D-9482-568CE7A3A1F8}"/>
              </a:ext>
            </a:extLst>
          </p:cNvPr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9BD6F73-BC4E-714F-81EB-5276C9B1460A}"/>
              </a:ext>
            </a:extLst>
          </p:cNvPr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3788A09-8D86-D048-B1A9-A02E86D4E252}"/>
              </a:ext>
            </a:extLst>
          </p:cNvPr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9328185-789E-DD42-AA27-851035E2E6BA}"/>
              </a:ext>
            </a:extLst>
          </p:cNvPr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5F2080FE-05C6-2340-B7D7-FCDE4D780420}"/>
              </a:ext>
            </a:extLst>
          </p:cNvPr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90C36A6-06C1-0647-8725-306AE7D5DB42}"/>
              </a:ext>
            </a:extLst>
          </p:cNvPr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B0EF16AB-AE8A-5D46-82EA-397E62F93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33" name="标题占位符 1">
            <a:extLst>
              <a:ext uri="{FF2B5EF4-FFF2-40B4-BE49-F238E27FC236}">
                <a16:creationId xmlns:a16="http://schemas.microsoft.com/office/drawing/2014/main" id="{C9A22D05-8FDB-7546-BB47-01F708903CC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9C7A4DAB-DC8A-9A43-A443-C9AE1D1E2698}"/>
              </a:ext>
            </a:extLst>
          </p:cNvPr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39224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4151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svg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8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7.xml"/><Relationship Id="rId16" Type="http://schemas.openxmlformats.org/officeDocument/2006/relationships/theme" Target="../theme/theme6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9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>
            <a:extLst>
              <a:ext uri="{FF2B5EF4-FFF2-40B4-BE49-F238E27FC236}">
                <a16:creationId xmlns:a16="http://schemas.microsoft.com/office/drawing/2014/main" id="{D359BD9D-8F8C-A44C-91CC-CA8F5146AA4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677" y="5726430"/>
            <a:ext cx="2748647" cy="448662"/>
          </a:xfrm>
          <a:prstGeom prst="rect">
            <a:avLst/>
          </a:prstGeom>
        </p:spPr>
      </p:pic>
      <p:sp>
        <p:nvSpPr>
          <p:cNvPr id="30" name="六边形 29">
            <a:extLst>
              <a:ext uri="{FF2B5EF4-FFF2-40B4-BE49-F238E27FC236}">
                <a16:creationId xmlns:a16="http://schemas.microsoft.com/office/drawing/2014/main" id="{6F51DA0D-EA98-B14B-A35B-7EDF8DBC5804}"/>
              </a:ext>
            </a:extLst>
          </p:cNvPr>
          <p:cNvSpPr/>
          <p:nvPr userDrawn="1"/>
        </p:nvSpPr>
        <p:spPr>
          <a:xfrm rot="5400000">
            <a:off x="8672366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" fmla="*/ 0 w 1034350"/>
              <a:gd name="connsiteY0" fmla="*/ 1136649 h 1136649"/>
              <a:gd name="connsiteX1" fmla="*/ 0 w 1034350"/>
              <a:gd name="connsiteY1" fmla="*/ 0 h 1136649"/>
              <a:gd name="connsiteX2" fmla="*/ 750188 w 1034350"/>
              <a:gd name="connsiteY2" fmla="*/ 0 h 1136649"/>
              <a:gd name="connsiteX3" fmla="*/ 1034350 w 1034350"/>
              <a:gd name="connsiteY3" fmla="*/ 568325 h 1136649"/>
              <a:gd name="connsiteX4" fmla="*/ 750188 w 1034350"/>
              <a:gd name="connsiteY4" fmla="*/ 1136649 h 1136649"/>
              <a:gd name="connsiteX5" fmla="*/ 0 w 1034350"/>
              <a:gd name="connsiteY5" fmla="*/ 1136649 h 1136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六边形 30">
            <a:extLst>
              <a:ext uri="{FF2B5EF4-FFF2-40B4-BE49-F238E27FC236}">
                <a16:creationId xmlns:a16="http://schemas.microsoft.com/office/drawing/2014/main" id="{B0F52978-FC9E-FC46-A244-4605B31E7CC6}"/>
              </a:ext>
            </a:extLst>
          </p:cNvPr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六边形 31">
            <a:extLst>
              <a:ext uri="{FF2B5EF4-FFF2-40B4-BE49-F238E27FC236}">
                <a16:creationId xmlns:a16="http://schemas.microsoft.com/office/drawing/2014/main" id="{6677D3A6-DA28-9444-815A-4524D9FED995}"/>
              </a:ext>
            </a:extLst>
          </p:cNvPr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六边形 32">
            <a:extLst>
              <a:ext uri="{FF2B5EF4-FFF2-40B4-BE49-F238E27FC236}">
                <a16:creationId xmlns:a16="http://schemas.microsoft.com/office/drawing/2014/main" id="{B3967B50-7DD6-B247-97B6-4844195F68D5}"/>
              </a:ext>
            </a:extLst>
          </p:cNvPr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六边形 33">
            <a:extLst>
              <a:ext uri="{FF2B5EF4-FFF2-40B4-BE49-F238E27FC236}">
                <a16:creationId xmlns:a16="http://schemas.microsoft.com/office/drawing/2014/main" id="{4C290A33-8D65-DC47-BE12-79B4B22A299D}"/>
              </a:ext>
            </a:extLst>
          </p:cNvPr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六边形 34">
            <a:extLst>
              <a:ext uri="{FF2B5EF4-FFF2-40B4-BE49-F238E27FC236}">
                <a16:creationId xmlns:a16="http://schemas.microsoft.com/office/drawing/2014/main" id="{E0867641-ABCE-C84A-84A4-696E52E6543B}"/>
              </a:ext>
            </a:extLst>
          </p:cNvPr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六边形 35">
            <a:extLst>
              <a:ext uri="{FF2B5EF4-FFF2-40B4-BE49-F238E27FC236}">
                <a16:creationId xmlns:a16="http://schemas.microsoft.com/office/drawing/2014/main" id="{3DC81806-A479-FD47-B1B6-A77189F32D48}"/>
              </a:ext>
            </a:extLst>
          </p:cNvPr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六边形 36">
            <a:extLst>
              <a:ext uri="{FF2B5EF4-FFF2-40B4-BE49-F238E27FC236}">
                <a16:creationId xmlns:a16="http://schemas.microsoft.com/office/drawing/2014/main" id="{D15987B7-89CB-8549-AEE5-ADD4AED257B7}"/>
              </a:ext>
            </a:extLst>
          </p:cNvPr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382A540C-45FC-EB45-96D5-1EA0511DAF21}"/>
              </a:ext>
            </a:extLst>
          </p:cNvPr>
          <p:cNvCxnSpPr>
            <a:cxnSpLocks/>
          </p:cNvCxnSpPr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>
            <a:extLst>
              <a:ext uri="{FF2B5EF4-FFF2-40B4-BE49-F238E27FC236}">
                <a16:creationId xmlns:a16="http://schemas.microsoft.com/office/drawing/2014/main" id="{28569DD6-18D5-5D45-BC4E-E4C2727B945C}"/>
              </a:ext>
            </a:extLst>
          </p:cNvPr>
          <p:cNvCxnSpPr>
            <a:cxnSpLocks/>
          </p:cNvCxnSpPr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7860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5pPr>
      <a:lvl6pPr marL="609585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6pPr>
      <a:lvl7pPr marL="1219170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7pPr>
      <a:lvl8pPr marL="1828754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8pPr>
      <a:lvl9pPr marL="2438339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BCEE7AE-CF55-47A2-9D29-09373E3D62B5}"/>
              </a:ext>
            </a:extLst>
          </p:cNvPr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 sz="240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2" name="矩形 22">
            <a:extLst>
              <a:ext uri="{FF2B5EF4-FFF2-40B4-BE49-F238E27FC236}">
                <a16:creationId xmlns:a16="http://schemas.microsoft.com/office/drawing/2014/main" id="{16A72991-4D35-45FC-8EF2-C9E3B4850B5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buFont typeface="Arial" charset="0"/>
              <a:buNone/>
              <a:defRPr/>
            </a:pPr>
            <a:endParaRPr lang="zh-CN" altLang="en-US" sz="2400" dirty="0">
              <a:latin typeface="Segoe UI" pitchFamily="34" charset="0"/>
              <a:ea typeface="微软雅黑" pitchFamily="34" charset="-122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3A7F5CA1-11F4-B94D-84AE-F6E3E12DEC4D}"/>
              </a:ext>
            </a:extLst>
          </p:cNvPr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DB73C1A2-926E-3849-92AB-BCE7B4C71DF2}"/>
                </a:ext>
              </a:extLst>
            </p:cNvPr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目录</a:t>
              </a: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3EC96A2F-7D7A-F34F-9BE8-8ADCD2919ACB}"/>
                </a:ext>
              </a:extLst>
            </p:cNvPr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>
              <a:extLst>
                <a:ext uri="{FF2B5EF4-FFF2-40B4-BE49-F238E27FC236}">
                  <a16:creationId xmlns:a16="http://schemas.microsoft.com/office/drawing/2014/main" id="{83E925B0-57FD-8B4B-8FF7-8BCD8AADEF23}"/>
                </a:ext>
              </a:extLst>
            </p:cNvPr>
            <p:cNvCxnSpPr>
              <a:cxnSpLocks/>
            </p:cNvCxnSpPr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>
              <a:extLst>
                <a:ext uri="{FF2B5EF4-FFF2-40B4-BE49-F238E27FC236}">
                  <a16:creationId xmlns:a16="http://schemas.microsoft.com/office/drawing/2014/main" id="{3EDCC472-8CF0-F84C-9270-06FAC7E8DD4D}"/>
                </a:ext>
              </a:extLst>
            </p:cNvPr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六边形 25">
              <a:extLst>
                <a:ext uri="{FF2B5EF4-FFF2-40B4-BE49-F238E27FC236}">
                  <a16:creationId xmlns:a16="http://schemas.microsoft.com/office/drawing/2014/main" id="{E8F71936-0CC4-CB4A-AF12-89754A9ADA5D}"/>
                </a:ext>
              </a:extLst>
            </p:cNvPr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59586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5pPr>
      <a:lvl6pPr marL="609585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6pPr>
      <a:lvl7pPr marL="121917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7pPr>
      <a:lvl8pPr marL="1828754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8pPr>
      <a:lvl9pPr marL="2438339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9pPr>
    </p:titleStyle>
    <p:bodyStyle>
      <a:lvl1pPr marL="457189" marR="0" indent="-457189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tabLst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585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7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8438130-7B30-A94E-B2AC-38EDD0B85909}"/>
              </a:ext>
            </a:extLst>
          </p:cNvPr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BCEE7AE-CF55-47A2-9D29-09373E3D62B5}"/>
              </a:ext>
            </a:extLst>
          </p:cNvPr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 sz="240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2" name="矩形 22">
            <a:extLst>
              <a:ext uri="{FF2B5EF4-FFF2-40B4-BE49-F238E27FC236}">
                <a16:creationId xmlns:a16="http://schemas.microsoft.com/office/drawing/2014/main" id="{16A72991-4D35-45FC-8EF2-C9E3B4850B5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buFont typeface="Arial" charset="0"/>
              <a:buNone/>
              <a:defRPr/>
            </a:pPr>
            <a:endParaRPr lang="zh-CN" altLang="en-US" sz="2400" dirty="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B73C1A2-926E-3849-92AB-BCE7B4C71DF2}"/>
              </a:ext>
            </a:extLst>
          </p:cNvPr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EC96A2F-7D7A-F34F-9BE8-8ADCD2919ACB}"/>
              </a:ext>
            </a:extLst>
          </p:cNvPr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>
            <a:extLst>
              <a:ext uri="{FF2B5EF4-FFF2-40B4-BE49-F238E27FC236}">
                <a16:creationId xmlns:a16="http://schemas.microsoft.com/office/drawing/2014/main" id="{83E925B0-57FD-8B4B-8FF7-8BCD8AADEF23}"/>
              </a:ext>
            </a:extLst>
          </p:cNvPr>
          <p:cNvCxnSpPr>
            <a:cxnSpLocks/>
          </p:cNvCxnSpPr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>
            <a:extLst>
              <a:ext uri="{FF2B5EF4-FFF2-40B4-BE49-F238E27FC236}">
                <a16:creationId xmlns:a16="http://schemas.microsoft.com/office/drawing/2014/main" id="{A7484BB2-BD94-3C49-9EC4-B9A294E2AF2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879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5pPr>
      <a:lvl6pPr marL="609585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6pPr>
      <a:lvl7pPr marL="121917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7pPr>
      <a:lvl8pPr marL="1828754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8pPr>
      <a:lvl9pPr marL="2438339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9pPr>
    </p:titleStyle>
    <p:bodyStyle>
      <a:lvl1pPr marL="457189" marR="0" indent="-457189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tabLst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585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7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>
            <a:extLst>
              <a:ext uri="{FF2B5EF4-FFF2-40B4-BE49-F238E27FC236}">
                <a16:creationId xmlns:a16="http://schemas.microsoft.com/office/drawing/2014/main" id="{91B717BE-9DF9-1B41-9DBF-CB511A9C606B}"/>
              </a:ext>
            </a:extLst>
          </p:cNvPr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六边形 7">
            <a:extLst>
              <a:ext uri="{FF2B5EF4-FFF2-40B4-BE49-F238E27FC236}">
                <a16:creationId xmlns:a16="http://schemas.microsoft.com/office/drawing/2014/main" id="{998722ED-C4DC-C24C-A17B-B9CA36751549}"/>
              </a:ext>
            </a:extLst>
          </p:cNvPr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57575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>
            <a:extLst>
              <a:ext uri="{FF2B5EF4-FFF2-40B4-BE49-F238E27FC236}">
                <a16:creationId xmlns:a16="http://schemas.microsoft.com/office/drawing/2014/main" id="{D82380DF-4088-5449-BBFC-0B57E0B8F475}"/>
              </a:ext>
            </a:extLst>
          </p:cNvPr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六边形 10">
            <a:extLst>
              <a:ext uri="{FF2B5EF4-FFF2-40B4-BE49-F238E27FC236}">
                <a16:creationId xmlns:a16="http://schemas.microsoft.com/office/drawing/2014/main" id="{2FB8D235-9189-C14B-8111-0D705B9AA121}"/>
              </a:ext>
            </a:extLst>
          </p:cNvPr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55265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4BCEE7AE-CF55-47A2-9D29-09373E3D62B5}"/>
              </a:ext>
            </a:extLst>
          </p:cNvPr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 sz="240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0" name="矩形 22">
            <a:extLst>
              <a:ext uri="{FF2B5EF4-FFF2-40B4-BE49-F238E27FC236}">
                <a16:creationId xmlns:a16="http://schemas.microsoft.com/office/drawing/2014/main" id="{16A72991-4D35-45FC-8EF2-C9E3B4850B5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buFont typeface="Arial" charset="0"/>
              <a:buNone/>
              <a:defRPr/>
            </a:pPr>
            <a:endParaRPr lang="zh-CN" altLang="en-US" sz="2400" dirty="0">
              <a:latin typeface="Segoe UI" pitchFamily="34" charset="0"/>
              <a:ea typeface="微软雅黑" pitchFamily="34" charset="-122"/>
            </a:endParaRPr>
          </a:p>
        </p:txBody>
      </p:sp>
      <p:cxnSp>
        <p:nvCxnSpPr>
          <p:cNvPr id="11" name="直接连接符 22">
            <a:extLst>
              <a:ext uri="{FF2B5EF4-FFF2-40B4-BE49-F238E27FC236}">
                <a16:creationId xmlns:a16="http://schemas.microsoft.com/office/drawing/2014/main" id="{E3D0AD59-338B-5041-BA54-3D9BB0E399D6}"/>
              </a:ext>
            </a:extLst>
          </p:cNvPr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F2197ADE-85E8-B341-8233-C315893A0BCC}"/>
              </a:ext>
            </a:extLst>
          </p:cNvPr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C3756651-9738-8349-95DA-B0B282B3FAEA}"/>
                </a:ext>
              </a:extLst>
            </p:cNvPr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5EF63353-41E7-0E43-AFC0-B2282740E9FE}"/>
                </a:ext>
              </a:extLst>
            </p:cNvPr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6" name="图片 15">
            <a:extLst>
              <a:ext uri="{FF2B5EF4-FFF2-40B4-BE49-F238E27FC236}">
                <a16:creationId xmlns:a16="http://schemas.microsoft.com/office/drawing/2014/main" id="{27893006-C6C0-BC4A-8CFB-289F585A2778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4242" y="283220"/>
            <a:ext cx="1225447" cy="358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442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83" r:id="rId3"/>
    <p:sldLayoutId id="2147483678" r:id="rId4"/>
    <p:sldLayoutId id="2147483679" r:id="rId5"/>
    <p:sldLayoutId id="2147483680" r:id="rId6"/>
    <p:sldLayoutId id="2147483677" r:id="rId7"/>
    <p:sldLayoutId id="2147483702" r:id="rId8"/>
    <p:sldLayoutId id="2147483703" r:id="rId9"/>
    <p:sldLayoutId id="2147483709" r:id="rId10"/>
    <p:sldLayoutId id="2147483704" r:id="rId11"/>
    <p:sldLayoutId id="2147483681" r:id="rId12"/>
    <p:sldLayoutId id="2147483693" r:id="rId13"/>
    <p:sldLayoutId id="2147483710" r:id="rId14"/>
    <p:sldLayoutId id="2147483706" r:id="rId15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5pPr>
      <a:lvl6pPr marL="609585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6pPr>
      <a:lvl7pPr marL="121917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7pPr>
      <a:lvl8pPr marL="1828754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8pPr>
      <a:lvl9pPr marL="2438339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7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8713" y="2604635"/>
            <a:ext cx="2314575" cy="955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715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5pPr>
      <a:lvl6pPr marL="609585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6pPr>
      <a:lvl7pPr marL="1219170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7pPr>
      <a:lvl8pPr marL="1828754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8pPr>
      <a:lvl9pPr marL="2438339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16EC87-9B0D-CD4B-997D-0A66FE90B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781" y="2224847"/>
            <a:ext cx="11565835" cy="1158875"/>
          </a:xfrm>
        </p:spPr>
        <p:txBody>
          <a:bodyPr/>
          <a:lstStyle/>
          <a:p>
            <a:r>
              <a:rPr kumimoji="1" lang="en-US" altLang="zh-CN" dirty="0">
                <a:latin typeface="Alibaba PuHuiTi M"/>
              </a:rPr>
              <a:t>Python</a:t>
            </a:r>
            <a:r>
              <a:rPr kumimoji="1" lang="zh-CN" altLang="en-US" dirty="0">
                <a:latin typeface="Alibaba PuHuiTi M"/>
              </a:rPr>
              <a:t>闭包和装饰器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B6AC0F8-4890-4046-8499-78F7C69738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zh-CN" altLang="en-US" dirty="0"/>
              <a:t>人生苦短，我学</a:t>
            </a:r>
            <a:r>
              <a:rPr kumimoji="1" lang="en-US" altLang="zh-CN" dirty="0"/>
              <a:t>Python!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339742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2691FACA-E1ED-6A48-A1E4-D925AAC030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74802" y="366519"/>
            <a:ext cx="5973761" cy="5437933"/>
          </a:xfrm>
        </p:spPr>
        <p:txBody>
          <a:bodyPr/>
          <a:lstStyle/>
          <a:p>
            <a:r>
              <a:rPr kumimoji="1" lang="zh-CN" altLang="en-US" dirty="0"/>
              <a:t>闭包介绍</a:t>
            </a:r>
            <a:endParaRPr kumimoji="1" lang="en-US" altLang="zh-CN" dirty="0"/>
          </a:p>
          <a:p>
            <a:r>
              <a:rPr kumimoji="1" lang="zh-CN" altLang="en-US" dirty="0">
                <a:solidFill>
                  <a:srgbClr val="C00000"/>
                </a:solidFill>
              </a:rPr>
              <a:t>闭包的使用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r>
              <a:rPr kumimoji="1" lang="zh-CN" altLang="en-US" dirty="0">
                <a:solidFill>
                  <a:srgbClr val="C00000"/>
                </a:solidFill>
              </a:rPr>
              <a:t>修改闭包内使用的外部变量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r>
              <a:rPr kumimoji="1" lang="zh-CN" altLang="en-US" dirty="0">
                <a:solidFill>
                  <a:srgbClr val="C00000"/>
                </a:solidFill>
              </a:rPr>
              <a:t>装饰器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r>
              <a:rPr kumimoji="1" lang="zh-CN" altLang="en-US" dirty="0">
                <a:solidFill>
                  <a:srgbClr val="C00000"/>
                </a:solidFill>
              </a:rPr>
              <a:t>装饰器的使用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r>
              <a:rPr kumimoji="1" lang="zh-CN" altLang="en-US" dirty="0">
                <a:solidFill>
                  <a:srgbClr val="C00000"/>
                </a:solidFill>
              </a:rPr>
              <a:t>通用装饰器的使用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r>
              <a:rPr kumimoji="1" lang="zh-CN" altLang="en-US" dirty="0">
                <a:solidFill>
                  <a:srgbClr val="C00000"/>
                </a:solidFill>
              </a:rPr>
              <a:t>多个装饰器的使用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r>
              <a:rPr kumimoji="1" lang="zh-CN" altLang="en-US" dirty="0">
                <a:solidFill>
                  <a:srgbClr val="C00000"/>
                </a:solidFill>
              </a:rPr>
              <a:t>带有参数装饰器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r>
              <a:rPr kumimoji="1" lang="zh-CN" altLang="en-US" dirty="0">
                <a:solidFill>
                  <a:srgbClr val="C00000"/>
                </a:solidFill>
              </a:rPr>
              <a:t>类装饰器的使用</a:t>
            </a:r>
            <a:endParaRPr kumimoji="1" lang="en-US" altLang="zh-CN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0185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F5F2403-DAC9-454A-9779-7331986EC4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28420" y="377686"/>
            <a:ext cx="6781703" cy="6102627"/>
          </a:xfrm>
        </p:spPr>
        <p:txBody>
          <a:bodyPr/>
          <a:lstStyle/>
          <a:p>
            <a:r>
              <a:rPr lang="zh-CN" altLang="en-US" dirty="0"/>
              <a:t>能够知道闭包的构成条件</a:t>
            </a:r>
          </a:p>
          <a:p>
            <a:r>
              <a:rPr lang="zh-CN" altLang="en-US" dirty="0">
                <a:solidFill>
                  <a:srgbClr val="C00000"/>
                </a:solidFill>
              </a:rPr>
              <a:t>能够知道定义闭包的</a:t>
            </a:r>
            <a:r>
              <a:rPr lang="zh-CN" altLang="en-US">
                <a:solidFill>
                  <a:srgbClr val="C00000"/>
                </a:solidFill>
              </a:rPr>
              <a:t>基本语法</a:t>
            </a:r>
            <a:endParaRPr lang="zh-CN" altLang="en-US" b="0" i="0" dirty="0">
              <a:solidFill>
                <a:srgbClr val="C00000"/>
              </a:solidFill>
              <a:effectLst/>
              <a:latin typeface="Helvetica Neue"/>
            </a:endParaRPr>
          </a:p>
          <a:p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能够知道修改闭包内使用的外部变量所需要的关键字</a:t>
            </a:r>
          </a:p>
          <a:p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能够知道定义装饰器的基本语法及其作用</a:t>
            </a:r>
            <a:endParaRPr lang="en-US" altLang="zh-CN" b="0" i="0" dirty="0">
              <a:solidFill>
                <a:srgbClr val="C00000"/>
              </a:solidFill>
              <a:effectLst/>
              <a:latin typeface="Helvetica Neue"/>
            </a:endParaRPr>
          </a:p>
          <a:p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能够写出通用的装饰器</a:t>
            </a:r>
          </a:p>
          <a:p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能够使用多个装饰器装饰一个函数</a:t>
            </a:r>
          </a:p>
          <a:p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能够写出带有参数的装饰器</a:t>
            </a:r>
          </a:p>
          <a:p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能够知道类装饰器的使用</a:t>
            </a:r>
            <a:br>
              <a:rPr lang="zh-CN" altLang="en-US" dirty="0"/>
            </a:br>
            <a:endParaRPr lang="zh-CN" altLang="en-US" b="0" i="0" dirty="0">
              <a:solidFill>
                <a:srgbClr val="C00000"/>
              </a:solidFill>
              <a:effectLst/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196209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DC7A42-DEB9-4846-9885-EF1F65B29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闭包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0D98B5-82FB-804B-8565-7E31DD4B40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01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1335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3E4A1AFF-5EB0-5C4B-93C7-DF3AA87FFA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全局变量的访问范围：</a:t>
            </a:r>
          </a:p>
          <a:p>
            <a:pPr marL="0" indent="0" algn="l">
              <a:buNone/>
            </a:pPr>
            <a:r>
              <a:rPr lang="zh-CN" altLang="en-US" b="0" i="0" dirty="0">
                <a:solidFill>
                  <a:schemeClr val="tx1"/>
                </a:solidFill>
                <a:effectLst/>
                <a:latin typeface="Helvetica Neue"/>
              </a:rPr>
              <a:t>① 在全局作用域中可以正常访问全局变量</a:t>
            </a:r>
          </a:p>
          <a:p>
            <a:pPr marL="0" indent="0" algn="l">
              <a:buNone/>
            </a:pPr>
            <a:r>
              <a:rPr lang="zh-CN" altLang="en-US" b="0" i="0" dirty="0">
                <a:solidFill>
                  <a:schemeClr val="tx1"/>
                </a:solidFill>
                <a:effectLst/>
                <a:latin typeface="Helvetica Neue"/>
              </a:rPr>
              <a:t>② 在局部作用域中也可以正常访问全局变量</a:t>
            </a:r>
            <a:endParaRPr lang="en-US" altLang="zh-CN" b="0" i="0" dirty="0">
              <a:solidFill>
                <a:schemeClr val="tx1"/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endParaRPr lang="en-US" altLang="zh-CN" dirty="0">
              <a:solidFill>
                <a:schemeClr val="tx1"/>
              </a:solidFill>
              <a:latin typeface="Helvetica Neue"/>
            </a:endParaRPr>
          </a:p>
          <a:p>
            <a:pPr marL="0" indent="0" algn="l">
              <a:buNone/>
            </a:pPr>
            <a:endParaRPr lang="en-US" altLang="zh-CN" b="0" i="0" dirty="0">
              <a:solidFill>
                <a:schemeClr val="tx1"/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局部变量的访问范围：</a:t>
            </a:r>
          </a:p>
          <a:p>
            <a:pPr marL="0" indent="0" algn="l">
              <a:buNone/>
            </a:pPr>
            <a:r>
              <a:rPr lang="zh-CN" altLang="en-US" b="0" i="0" dirty="0">
                <a:solidFill>
                  <a:schemeClr val="tx1"/>
                </a:solidFill>
                <a:effectLst/>
                <a:latin typeface="Helvetica Neue"/>
              </a:rPr>
              <a:t>① 在局部作用域中可以正常访问局部变量</a:t>
            </a:r>
          </a:p>
          <a:p>
            <a:pPr marL="0" indent="0" algn="l">
              <a:buNone/>
            </a:pPr>
            <a:r>
              <a:rPr lang="zh-CN" altLang="en-US" b="0" i="0" dirty="0">
                <a:solidFill>
                  <a:schemeClr val="tx1"/>
                </a:solidFill>
                <a:effectLst/>
                <a:latin typeface="Helvetica Neue"/>
              </a:rPr>
              <a:t>② 在全局作用域中无法正常访问局部变量，因为函数执行完毕后，其内部的变量会随之消失。</a:t>
            </a:r>
            <a:endParaRPr lang="en-US" altLang="zh-CN" b="0" i="0" dirty="0">
              <a:solidFill>
                <a:schemeClr val="tx1"/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endParaRPr lang="en-US" altLang="zh-CN" dirty="0">
              <a:solidFill>
                <a:schemeClr val="tx1"/>
              </a:solidFill>
              <a:latin typeface="Helvetica Neue"/>
            </a:endParaRPr>
          </a:p>
          <a:p>
            <a:pPr marL="0" indent="0" algn="l">
              <a:buNone/>
            </a:pPr>
            <a:r>
              <a:rPr lang="zh-CN" altLang="en-US" b="0" i="0" dirty="0">
                <a:solidFill>
                  <a:schemeClr val="tx1"/>
                </a:solidFill>
                <a:effectLst/>
                <a:latin typeface="Helvetica Neue"/>
              </a:rPr>
              <a:t>扩展：为什么函数执行完毕，其内部的变量会随之消失呢？  答：内存的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垃圾回收机制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变量在内存中的存储形式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F94E84-6F22-C942-A1D4-BA6A5DBD17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zh-CN" altLang="en-US" dirty="0">
                <a:solidFill>
                  <a:srgbClr val="333333"/>
                </a:solidFill>
                <a:latin typeface="Helvetica Neue"/>
              </a:rPr>
              <a:t>前言：全局变量与局部变量的访问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6996249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3E4A1AFF-5EB0-5C4B-93C7-DF3AA87FFA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algn="l"/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我们前面已经学过了函数，我们知道当函数调用完，函数内定义的变量都销毁了，但是我们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有时候需要保存函数内的这个变量，每次在这个变量的基础上完成一些列的操作，比如</a:t>
            </a:r>
            <a:r>
              <a:rPr lang="en-US" altLang="zh-CN" b="0" i="0" dirty="0">
                <a:solidFill>
                  <a:srgbClr val="C00000"/>
                </a:solidFill>
                <a:effectLst/>
                <a:latin typeface="Helvetica Neue"/>
              </a:rPr>
              <a:t>: 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每次在这个变量的基础上和其它数字进行求和计算，那怎么办呢</a:t>
            </a:r>
            <a:r>
              <a:rPr lang="en-US" altLang="zh-CN" b="0" i="0" dirty="0">
                <a:solidFill>
                  <a:srgbClr val="C00000"/>
                </a:solidFill>
                <a:effectLst/>
                <a:latin typeface="Helvetica Neue"/>
              </a:rPr>
              <a:t>?</a:t>
            </a:r>
          </a:p>
          <a:p>
            <a:pPr algn="l"/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我们就可以通过咱们今天学习的闭包来解决这个需求。</a:t>
            </a:r>
          </a:p>
          <a:p>
            <a:pPr algn="l"/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闭包的定义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:</a:t>
            </a:r>
          </a:p>
          <a:p>
            <a:pPr marL="0" indent="0" algn="l">
              <a:buNone/>
            </a:pP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在函数嵌套的前提下，内部函数使用了外部函数的变量，并且外部函数返回了内部函数，我们把这个使用外部函数变量的内部函数称为闭包。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闭包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F94E84-6F22-C942-A1D4-BA6A5DBD17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1</a:t>
            </a:r>
            <a:r>
              <a:rPr kumimoji="1" lang="zh-CN" altLang="en-US" dirty="0"/>
              <a:t>、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闭包的作用</a:t>
            </a:r>
          </a:p>
        </p:txBody>
      </p:sp>
    </p:spTree>
    <p:extLst>
      <p:ext uri="{BB962C8B-B14F-4D97-AF65-F5344CB8AC3E}">
        <p14:creationId xmlns:p14="http://schemas.microsoft.com/office/powerpoint/2010/main" val="1874264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3E4A1AFF-5EB0-5C4B-93C7-DF3AA87FFA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通过闭包的定义，我们可以得知闭包的形成条件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:</a:t>
            </a:r>
          </a:p>
          <a:p>
            <a:pPr marL="0" indent="0" algn="l">
              <a:buNone/>
            </a:pP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① 在函数嵌套</a:t>
            </a:r>
            <a:r>
              <a:rPr lang="en-US" altLang="zh-CN" b="0" i="0" dirty="0">
                <a:solidFill>
                  <a:srgbClr val="C00000"/>
                </a:solidFill>
                <a:effectLst/>
                <a:latin typeface="Helvetica Neue"/>
              </a:rPr>
              <a:t>(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函数里面再定义函数</a:t>
            </a:r>
            <a:r>
              <a:rPr lang="en-US" altLang="zh-CN" b="0" i="0" dirty="0">
                <a:solidFill>
                  <a:srgbClr val="C00000"/>
                </a:solidFill>
                <a:effectLst/>
                <a:latin typeface="Helvetica Neue"/>
              </a:rPr>
              <a:t>)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的前提下</a:t>
            </a:r>
          </a:p>
          <a:p>
            <a:pPr marL="0" indent="0" algn="l">
              <a:buNone/>
            </a:pP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② 内部函数使用了外部函数的变量</a:t>
            </a:r>
            <a:r>
              <a:rPr lang="en-US" altLang="zh-CN" b="0" i="0" dirty="0">
                <a:solidFill>
                  <a:srgbClr val="C00000"/>
                </a:solidFill>
                <a:effectLst/>
                <a:latin typeface="Helvetica Neue"/>
              </a:rPr>
              <a:t>(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还包括外部函数的参数</a:t>
            </a:r>
            <a:r>
              <a:rPr lang="en-US" altLang="zh-CN" b="0" i="0" dirty="0">
                <a:solidFill>
                  <a:srgbClr val="C00000"/>
                </a:solidFill>
                <a:effectLst/>
                <a:latin typeface="Helvetica Neue"/>
              </a:rPr>
              <a:t>)</a:t>
            </a:r>
          </a:p>
          <a:p>
            <a:pPr marL="0" indent="0" algn="l">
              <a:buNone/>
            </a:pP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③ 外部函数返回了内部函数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闭包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F94E84-6F22-C942-A1D4-BA6A5DBD17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2</a:t>
            </a:r>
            <a:r>
              <a:rPr kumimoji="1" lang="zh-CN" altLang="en-US" dirty="0"/>
              <a:t>、闭包的构成条件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467554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闭包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F94E84-6F22-C942-A1D4-BA6A5DBD17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3</a:t>
            </a:r>
            <a:r>
              <a:rPr kumimoji="1" lang="zh-CN" altLang="en-US" dirty="0"/>
              <a:t>、闭包的示例代码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797E2059-575B-4985-841F-1BB18E3E041E}"/>
              </a:ext>
            </a:extLst>
          </p:cNvPr>
          <p:cNvSpPr txBox="1"/>
          <p:nvPr/>
        </p:nvSpPr>
        <p:spPr>
          <a:xfrm>
            <a:off x="804027" y="1457271"/>
            <a:ext cx="10656452" cy="4901726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# </a:t>
            </a:r>
            <a:r>
              <a:rPr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定义一个外部函数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def </a:t>
            </a:r>
            <a:r>
              <a:rPr lang="en-US" altLang="zh-CN" sz="14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func_out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(num1):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# </a:t>
            </a:r>
            <a:r>
              <a:rPr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定义一个内部函数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def </a:t>
            </a:r>
            <a:r>
              <a:rPr lang="en-US" altLang="zh-CN" sz="14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func_inner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(num2):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    # </a:t>
            </a:r>
            <a:r>
              <a:rPr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内部函数使用了外部函数的变量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(num1)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    result = num1 + num2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    print("</a:t>
            </a:r>
            <a:r>
              <a:rPr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结果是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:", result)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# </a:t>
            </a:r>
            <a:r>
              <a:rPr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外部函数返回了内部函数，这里返回的内部函数就是闭包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return </a:t>
            </a:r>
            <a:r>
              <a:rPr lang="en-US" altLang="zh-CN" sz="14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func_inner</a:t>
            </a:r>
            <a:endParaRPr lang="en-US" altLang="zh-CN" sz="14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endParaRPr lang="en-US" altLang="zh-CN" sz="14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# </a:t>
            </a:r>
            <a:r>
              <a:rPr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创建闭包实例    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f = </a:t>
            </a:r>
            <a:r>
              <a:rPr lang="en-US" altLang="zh-CN" sz="14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func_out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(1)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# </a:t>
            </a:r>
            <a:r>
              <a:rPr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执行闭包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f(2)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f(3)</a:t>
            </a:r>
            <a:endParaRPr lang="zh-CN" altLang="zh-CN" sz="14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601563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闭包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F94E84-6F22-C942-A1D4-BA6A5DBD17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4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、闭包的作用</a:t>
            </a:r>
          </a:p>
        </p:txBody>
      </p:sp>
      <p:sp>
        <p:nvSpPr>
          <p:cNvPr id="7" name="文本占位符 1">
            <a:extLst>
              <a:ext uri="{FF2B5EF4-FFF2-40B4-BE49-F238E27FC236}">
                <a16:creationId xmlns:a16="http://schemas.microsoft.com/office/drawing/2014/main" id="{45F11FA6-765A-41D2-AB4B-F7EE2173E50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1" y="1646133"/>
            <a:ext cx="10749598" cy="4219575"/>
          </a:xfrm>
        </p:spPr>
        <p:txBody>
          <a:bodyPr/>
          <a:lstStyle/>
          <a:p>
            <a:pPr marL="0" indent="0" algn="l">
              <a:buNone/>
            </a:pP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闭包可以保存外部函数内的变量，不会随着外部函数调用完而销毁。</a:t>
            </a:r>
          </a:p>
          <a:p>
            <a:pPr marL="0" indent="0" algn="l">
              <a:buNone/>
            </a:pP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注意点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:</a:t>
            </a:r>
          </a:p>
          <a:p>
            <a:pPr marL="0" indent="0" algn="l">
              <a:buNone/>
            </a:pP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由于闭包引用了外部函数的变量，则外部函数的变量没有及时释放，消耗内存。</a:t>
            </a:r>
          </a:p>
        </p:txBody>
      </p:sp>
    </p:spTree>
    <p:extLst>
      <p:ext uri="{BB962C8B-B14F-4D97-AF65-F5344CB8AC3E}">
        <p14:creationId xmlns:p14="http://schemas.microsoft.com/office/powerpoint/2010/main" val="8385833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闭包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F94E84-6F22-C942-A1D4-BA6A5DBD17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5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、小结</a:t>
            </a:r>
          </a:p>
        </p:txBody>
      </p:sp>
      <p:sp>
        <p:nvSpPr>
          <p:cNvPr id="7" name="文本占位符 1">
            <a:extLst>
              <a:ext uri="{FF2B5EF4-FFF2-40B4-BE49-F238E27FC236}">
                <a16:creationId xmlns:a16="http://schemas.microsoft.com/office/drawing/2014/main" id="{45F11FA6-765A-41D2-AB4B-F7EE2173E50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1" y="1646133"/>
            <a:ext cx="10749598" cy="4219575"/>
          </a:xfrm>
        </p:spPr>
        <p:txBody>
          <a:bodyPr/>
          <a:lstStyle/>
          <a:p>
            <a:pPr marL="0" indent="0" algn="l">
              <a:buNone/>
            </a:pPr>
            <a:r>
              <a:rPr lang="zh-CN" altLang="en-US" dirty="0">
                <a:solidFill>
                  <a:srgbClr val="C00000"/>
                </a:solidFill>
                <a:latin typeface="Helvetica Neue"/>
              </a:rPr>
              <a:t>① 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当返回的内部函数使用了外部函数的变量就形成了闭包</a:t>
            </a:r>
          </a:p>
          <a:p>
            <a:pPr marL="0" indent="0" algn="l">
              <a:buNone/>
            </a:pP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② 闭包可以对外部函数的变量进行保存</a:t>
            </a:r>
          </a:p>
          <a:p>
            <a:pPr marL="0" indent="0" algn="l">
              <a:buNone/>
            </a:pP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③ 实现闭包的标准格式</a:t>
            </a:r>
            <a:r>
              <a:rPr lang="en-US" altLang="zh-CN" b="0" i="0" dirty="0">
                <a:solidFill>
                  <a:srgbClr val="C00000"/>
                </a:solidFill>
                <a:effectLst/>
                <a:latin typeface="Helvetica Neue"/>
              </a:rPr>
              <a:t>:</a:t>
            </a:r>
            <a:endParaRPr lang="zh-CN" altLang="en-US" b="0" i="0" dirty="0">
              <a:solidFill>
                <a:srgbClr val="C00000"/>
              </a:solidFill>
              <a:effectLst/>
              <a:latin typeface="Helvetica Neue"/>
            </a:endParaRP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1B3CA34C-50A9-4BD2-9A0F-D04BFB7E6C14}"/>
              </a:ext>
            </a:extLst>
          </p:cNvPr>
          <p:cNvSpPr txBox="1"/>
          <p:nvPr/>
        </p:nvSpPr>
        <p:spPr>
          <a:xfrm>
            <a:off x="710880" y="3051589"/>
            <a:ext cx="10656452" cy="2962734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# </a:t>
            </a:r>
            <a:r>
              <a:rPr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外部函数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def test1(a):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 b = 10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 # </a:t>
            </a:r>
            <a:r>
              <a:rPr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内部函数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 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def test2():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     # </a:t>
            </a:r>
            <a:r>
              <a:rPr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内部函数使用了外部函数的变量或者参数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     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print(a, b)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 # </a:t>
            </a:r>
            <a:r>
              <a:rPr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返回内部函数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, </a:t>
            </a:r>
            <a:r>
              <a:rPr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这里返回的内部函数就是闭包实例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 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return test2</a:t>
            </a:r>
            <a:endParaRPr lang="zh-CN" altLang="zh-CN" sz="14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418305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DC7A42-DEB9-4846-9885-EF1F65B29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修改闭包内使用的外部变量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0D98B5-82FB-804B-8565-7E31DD4B40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02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914372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修改闭包内使用的外部变量</a:t>
            </a:r>
            <a:endParaRPr kumimoji="1"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F94E84-6F22-C942-A1D4-BA6A5DBD17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1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、修改闭包内使用的外部变量</a:t>
            </a:r>
          </a:p>
        </p:txBody>
      </p:sp>
      <p:sp>
        <p:nvSpPr>
          <p:cNvPr id="7" name="文本占位符 1">
            <a:extLst>
              <a:ext uri="{FF2B5EF4-FFF2-40B4-BE49-F238E27FC236}">
                <a16:creationId xmlns:a16="http://schemas.microsoft.com/office/drawing/2014/main" id="{45F11FA6-765A-41D2-AB4B-F7EE2173E50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1" y="1319212"/>
            <a:ext cx="10749598" cy="4219575"/>
          </a:xfrm>
        </p:spPr>
        <p:txBody>
          <a:bodyPr/>
          <a:lstStyle/>
          <a:p>
            <a:pPr marL="0" indent="0" algn="l">
              <a:buNone/>
            </a:pPr>
            <a:endParaRPr lang="en-US" altLang="zh-CN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r>
              <a:rPr lang="zh-CN" altLang="en-US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错误版本演示：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1B3CA34C-50A9-4BD2-9A0F-D04BFB7E6C14}"/>
              </a:ext>
            </a:extLst>
          </p:cNvPr>
          <p:cNvSpPr txBox="1"/>
          <p:nvPr/>
        </p:nvSpPr>
        <p:spPr>
          <a:xfrm>
            <a:off x="710880" y="2308853"/>
            <a:ext cx="10656452" cy="360906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def outer():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# outer</a:t>
            </a:r>
            <a:r>
              <a:rPr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函数中的局部变量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num = 10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def inner():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     num = 20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print(f'</a:t>
            </a:r>
            <a:r>
              <a:rPr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原始变量：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{num}')  # 10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inner()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print(f'</a:t>
            </a:r>
            <a:r>
              <a:rPr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修改后的变量：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{num}')  # 10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return inner</a:t>
            </a:r>
          </a:p>
          <a:p>
            <a:pPr>
              <a:lnSpc>
                <a:spcPct val="150000"/>
              </a:lnSpc>
              <a:defRPr/>
            </a:pPr>
            <a:endParaRPr lang="en-US" altLang="zh-CN" sz="14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f = outer()</a:t>
            </a:r>
            <a:endParaRPr lang="zh-CN" altLang="zh-CN" sz="14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97728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修改闭包内使用的外部变量</a:t>
            </a:r>
            <a:endParaRPr kumimoji="1"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F94E84-6F22-C942-A1D4-BA6A5DBD17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2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、修改闭包内使用的外部变量</a:t>
            </a:r>
          </a:p>
        </p:txBody>
      </p:sp>
      <p:sp>
        <p:nvSpPr>
          <p:cNvPr id="7" name="文本占位符 1">
            <a:extLst>
              <a:ext uri="{FF2B5EF4-FFF2-40B4-BE49-F238E27FC236}">
                <a16:creationId xmlns:a16="http://schemas.microsoft.com/office/drawing/2014/main" id="{45F11FA6-765A-41D2-AB4B-F7EE2173E50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1" y="1319212"/>
            <a:ext cx="10749598" cy="4219575"/>
          </a:xfrm>
        </p:spPr>
        <p:txBody>
          <a:bodyPr/>
          <a:lstStyle/>
          <a:p>
            <a:pPr marL="0" indent="0" algn="l">
              <a:buNone/>
            </a:pPr>
            <a:endParaRPr lang="en-US" altLang="zh-CN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r>
              <a:rPr lang="zh-CN" altLang="en-US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正确版本演示：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1B3CA34C-50A9-4BD2-9A0F-D04BFB7E6C14}"/>
              </a:ext>
            </a:extLst>
          </p:cNvPr>
          <p:cNvSpPr txBox="1"/>
          <p:nvPr/>
        </p:nvSpPr>
        <p:spPr>
          <a:xfrm>
            <a:off x="731521" y="2191873"/>
            <a:ext cx="10656452" cy="4255396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def outer():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# outer</a:t>
            </a:r>
            <a:r>
              <a:rPr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函数中的局部变量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num = 10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def inner():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    nonlocal num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    # inner</a:t>
            </a:r>
            <a:r>
              <a:rPr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函数中的局部变量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    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num = 20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print(f'</a:t>
            </a:r>
            <a:r>
              <a:rPr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原始变量：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{num}')  # 10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inner()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print(f'</a:t>
            </a:r>
            <a:r>
              <a:rPr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修改后的变量：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{num}')  # 20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return inner</a:t>
            </a:r>
          </a:p>
          <a:p>
            <a:pPr>
              <a:lnSpc>
                <a:spcPct val="150000"/>
              </a:lnSpc>
              <a:defRPr/>
            </a:pPr>
            <a:endParaRPr lang="en-US" altLang="zh-CN" sz="14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f = outer()</a:t>
            </a:r>
            <a:endParaRPr lang="zh-CN" altLang="zh-CN" sz="14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966832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修改闭包内使用的外部变量</a:t>
            </a:r>
            <a:endParaRPr kumimoji="1"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F94E84-6F22-C942-A1D4-BA6A5DBD17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3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、闭包综合案例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1B3CA34C-50A9-4BD2-9A0F-D04BFB7E6C14}"/>
              </a:ext>
            </a:extLst>
          </p:cNvPr>
          <p:cNvSpPr txBox="1"/>
          <p:nvPr/>
        </p:nvSpPr>
        <p:spPr>
          <a:xfrm>
            <a:off x="804027" y="1745303"/>
            <a:ext cx="10656452" cy="3932230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def outer():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result = 0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def inner(num):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    nonlocal result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    result += num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    print(result)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return inner</a:t>
            </a:r>
          </a:p>
          <a:p>
            <a:pPr>
              <a:lnSpc>
                <a:spcPct val="150000"/>
              </a:lnSpc>
              <a:defRPr/>
            </a:pPr>
            <a:endParaRPr lang="en-US" altLang="zh-CN" sz="14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f = outer()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f(1)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f(2)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f(3)  # </a:t>
            </a:r>
            <a:r>
              <a:rPr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问这次的执行结果是多少？</a:t>
            </a:r>
            <a:endParaRPr lang="zh-CN" altLang="zh-CN" sz="14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903184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DC7A42-DEB9-4846-9885-EF1F65B29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装饰器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0D98B5-82FB-804B-8565-7E31DD4B40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03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868725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装饰器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F94E84-6F22-C942-A1D4-BA6A5DBD17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1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、装饰器的定义</a:t>
            </a:r>
          </a:p>
        </p:txBody>
      </p:sp>
      <p:sp>
        <p:nvSpPr>
          <p:cNvPr id="7" name="文本占位符 1">
            <a:extLst>
              <a:ext uri="{FF2B5EF4-FFF2-40B4-BE49-F238E27FC236}">
                <a16:creationId xmlns:a16="http://schemas.microsoft.com/office/drawing/2014/main" id="{45F11FA6-765A-41D2-AB4B-F7EE2173E50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1" y="1646133"/>
            <a:ext cx="10749598" cy="4219575"/>
          </a:xfrm>
        </p:spPr>
        <p:txBody>
          <a:bodyPr/>
          <a:lstStyle/>
          <a:p>
            <a:pPr marL="0" indent="0" algn="l">
              <a:buNone/>
            </a:pPr>
            <a:r>
              <a:rPr lang="zh-CN" altLang="en-US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就是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给已有函数增加额外功能的函数</a:t>
            </a:r>
            <a:r>
              <a:rPr lang="zh-CN" altLang="en-US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，它本质上就是一个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闭包函数</a:t>
            </a:r>
            <a:r>
              <a:rPr lang="zh-CN" altLang="en-US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。</a:t>
            </a:r>
          </a:p>
          <a:p>
            <a:pPr marL="0" indent="0" algn="l">
              <a:buNone/>
            </a:pPr>
            <a:endParaRPr lang="zh-CN" altLang="en-US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r>
              <a:rPr lang="zh-CN" altLang="en-US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装饰器的功能特点</a:t>
            </a:r>
            <a:r>
              <a:rPr lang="en-US" altLang="zh-CN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"/>
              </a:rPr>
              <a:t>:</a:t>
            </a:r>
          </a:p>
          <a:p>
            <a:pPr marL="0" indent="0" algn="l">
              <a:buNone/>
            </a:pP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不修改已有函数的源代码</a:t>
            </a:r>
          </a:p>
          <a:p>
            <a:pPr marL="0" indent="0" algn="l">
              <a:buNone/>
            </a:pP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不修改已有函数的调用方式</a:t>
            </a:r>
          </a:p>
          <a:p>
            <a:pPr marL="0" indent="0" algn="l">
              <a:buNone/>
            </a:pP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给已有函数增加额外的功能</a:t>
            </a:r>
          </a:p>
        </p:txBody>
      </p:sp>
    </p:spTree>
    <p:extLst>
      <p:ext uri="{BB962C8B-B14F-4D97-AF65-F5344CB8AC3E}">
        <p14:creationId xmlns:p14="http://schemas.microsoft.com/office/powerpoint/2010/main" val="41876466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装饰器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F94E84-6F22-C942-A1D4-BA6A5DBD17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2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、装饰器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代码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7" name="文本占位符 1">
            <a:extLst>
              <a:ext uri="{FF2B5EF4-FFF2-40B4-BE49-F238E27FC236}">
                <a16:creationId xmlns:a16="http://schemas.microsoft.com/office/drawing/2014/main" id="{45F11FA6-765A-41D2-AB4B-F7EE2173E50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1" y="1457271"/>
            <a:ext cx="10749598" cy="4219575"/>
          </a:xfrm>
        </p:spPr>
        <p:txBody>
          <a:bodyPr/>
          <a:lstStyle/>
          <a:p>
            <a:pPr marL="0" indent="0" algn="l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"/>
              </a:rPr>
              <a:t>示例代码：</a:t>
            </a:r>
            <a:endParaRPr lang="zh-CN" altLang="en-US" b="0" i="0" dirty="0">
              <a:solidFill>
                <a:srgbClr val="C00000"/>
              </a:solidFill>
              <a:effectLst/>
              <a:latin typeface="Helvetica Neue"/>
            </a:endParaRP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C6B31414-EA81-42F3-94B2-C0A5E014F76E}"/>
              </a:ext>
            </a:extLst>
          </p:cNvPr>
          <p:cNvSpPr txBox="1"/>
          <p:nvPr/>
        </p:nvSpPr>
        <p:spPr>
          <a:xfrm>
            <a:off x="1903576" y="1765739"/>
            <a:ext cx="3731911" cy="4578561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# </a:t>
            </a:r>
            <a:r>
              <a:rPr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添加一个登录验证的功能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def check(</a:t>
            </a:r>
            <a:r>
              <a:rPr lang="en-US" altLang="zh-CN" sz="14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fn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):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def inner():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    print("</a:t>
            </a:r>
            <a:r>
              <a:rPr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请先登录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....")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    </a:t>
            </a:r>
            <a:r>
              <a:rPr lang="en-US" altLang="zh-CN" sz="14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fn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()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return inner</a:t>
            </a:r>
          </a:p>
          <a:p>
            <a:pPr>
              <a:lnSpc>
                <a:spcPct val="150000"/>
              </a:lnSpc>
              <a:defRPr/>
            </a:pPr>
            <a:endParaRPr lang="en-US" altLang="zh-CN" sz="14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endParaRPr lang="en-US" altLang="zh-CN" sz="14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def comment():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print("</a:t>
            </a:r>
            <a:r>
              <a:rPr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发表评论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")</a:t>
            </a:r>
          </a:p>
          <a:p>
            <a:pPr>
              <a:lnSpc>
                <a:spcPct val="150000"/>
              </a:lnSpc>
              <a:defRPr/>
            </a:pPr>
            <a:endParaRPr lang="en-US" altLang="zh-CN" sz="14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# </a:t>
            </a:r>
            <a:r>
              <a:rPr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使用装饰器来装饰函数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comment = check(comment)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comment()</a:t>
            </a:r>
            <a:endParaRPr lang="zh-CN" altLang="zh-CN" sz="14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61B0B775-949E-4041-8040-FF6235412A65}"/>
              </a:ext>
            </a:extLst>
          </p:cNvPr>
          <p:cNvSpPr txBox="1"/>
          <p:nvPr/>
        </p:nvSpPr>
        <p:spPr>
          <a:xfrm>
            <a:off x="6912897" y="2896817"/>
            <a:ext cx="3731911" cy="2316403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# </a:t>
            </a:r>
            <a:r>
              <a:rPr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装饰器的基本雏形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# def decorator(</a:t>
            </a:r>
            <a:r>
              <a:rPr lang="en-US" altLang="zh-CN" sz="14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fn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): # </a:t>
            </a:r>
            <a:r>
              <a:rPr lang="en-US" altLang="zh-CN" sz="14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fn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:</a:t>
            </a:r>
            <a:r>
              <a:rPr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目标函数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.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#     def inner():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#         '''</a:t>
            </a:r>
            <a:r>
              <a:rPr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执行函数之前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'''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#         </a:t>
            </a:r>
            <a:r>
              <a:rPr lang="en-US" altLang="zh-CN" sz="14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fn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() # </a:t>
            </a:r>
            <a:r>
              <a:rPr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执行被装饰的函数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#         '''</a:t>
            </a:r>
            <a:r>
              <a:rPr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执行函数之后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'''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#     return inner</a:t>
            </a:r>
            <a:endParaRPr lang="zh-CN" altLang="zh-CN" sz="14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6B9AC8E7-0F27-4540-B76E-EC8D0E0799F6}"/>
              </a:ext>
            </a:extLst>
          </p:cNvPr>
          <p:cNvSpPr/>
          <p:nvPr/>
        </p:nvSpPr>
        <p:spPr>
          <a:xfrm>
            <a:off x="5813678" y="3751329"/>
            <a:ext cx="921028" cy="607377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39823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装饰器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F94E84-6F22-C942-A1D4-BA6A5DBD17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3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、装饰器的语法糖写法</a:t>
            </a:r>
          </a:p>
        </p:txBody>
      </p:sp>
      <p:sp>
        <p:nvSpPr>
          <p:cNvPr id="7" name="文本占位符 1">
            <a:extLst>
              <a:ext uri="{FF2B5EF4-FFF2-40B4-BE49-F238E27FC236}">
                <a16:creationId xmlns:a16="http://schemas.microsoft.com/office/drawing/2014/main" id="{45F11FA6-765A-41D2-AB4B-F7EE2173E50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1" y="1457271"/>
            <a:ext cx="10749598" cy="4219575"/>
          </a:xfrm>
        </p:spPr>
        <p:txBody>
          <a:bodyPr/>
          <a:lstStyle/>
          <a:p>
            <a:pPr algn="l"/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如果有多个函数都需要添加登录验证的功能，每次都需要编写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Helvetica Neue"/>
              </a:rPr>
              <a:t>func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 = check(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Helvetica Neue"/>
              </a:rPr>
              <a:t>func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)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这样代码对已有函数进行装饰，这种做法还是比较麻烦。</a:t>
            </a:r>
          </a:p>
          <a:p>
            <a:pPr algn="l"/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Python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给提供了一个装饰函数更加简单的写法，那就是语法糖，语法糖的书写格式是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: @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装饰器名字，通过语法糖的方式也可以完成对已有函数的装饰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C6B31414-EA81-42F3-94B2-C0A5E014F76E}"/>
              </a:ext>
            </a:extLst>
          </p:cNvPr>
          <p:cNvSpPr txBox="1"/>
          <p:nvPr/>
        </p:nvSpPr>
        <p:spPr>
          <a:xfrm>
            <a:off x="1129086" y="3429000"/>
            <a:ext cx="3661575" cy="2316403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# </a:t>
            </a:r>
            <a:r>
              <a:rPr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添加一个登录验证的功能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def check(</a:t>
            </a:r>
            <a:r>
              <a:rPr lang="en-US" altLang="zh-CN" sz="14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fn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):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print("</a:t>
            </a:r>
            <a:r>
              <a:rPr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装饰器函数执行了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")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def inner():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    print("</a:t>
            </a:r>
            <a:r>
              <a:rPr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请先登录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....")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    </a:t>
            </a:r>
            <a:r>
              <a:rPr lang="en-US" altLang="zh-CN" sz="14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fn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()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return inner</a:t>
            </a:r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C80B4D20-D4D4-45A3-B917-7FF7F783A19C}"/>
              </a:ext>
            </a:extLst>
          </p:cNvPr>
          <p:cNvSpPr txBox="1"/>
          <p:nvPr/>
        </p:nvSpPr>
        <p:spPr>
          <a:xfrm>
            <a:off x="7268817" y="3429000"/>
            <a:ext cx="3661575" cy="2316403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# </a:t>
            </a:r>
            <a:r>
              <a:rPr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使用语法糖方式来装饰函数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@check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def comment():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print("</a:t>
            </a:r>
            <a:r>
              <a:rPr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发表评论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")</a:t>
            </a:r>
          </a:p>
          <a:p>
            <a:pPr>
              <a:lnSpc>
                <a:spcPct val="150000"/>
              </a:lnSpc>
              <a:defRPr/>
            </a:pPr>
            <a:endParaRPr lang="en-US" altLang="zh-CN" sz="14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endParaRPr lang="en-US" altLang="zh-CN" sz="14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comment()</a:t>
            </a:r>
            <a:endParaRPr lang="zh-CN" altLang="zh-CN" sz="14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9FAD85DE-FE32-409A-A1AD-7CCCC8C4ADD1}"/>
              </a:ext>
            </a:extLst>
          </p:cNvPr>
          <p:cNvSpPr/>
          <p:nvPr/>
        </p:nvSpPr>
        <p:spPr>
          <a:xfrm>
            <a:off x="5445930" y="4283512"/>
            <a:ext cx="1292800" cy="607377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43940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DC7A42-DEB9-4846-9885-EF1F65B29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装饰器的作用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0D98B5-82FB-804B-8565-7E31DD4B40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04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070658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装饰器的作用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F94E84-6F22-C942-A1D4-BA6A5DBD17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1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、装饰器的使用场景</a:t>
            </a:r>
          </a:p>
        </p:txBody>
      </p:sp>
      <p:sp>
        <p:nvSpPr>
          <p:cNvPr id="7" name="文本占位符 1">
            <a:extLst>
              <a:ext uri="{FF2B5EF4-FFF2-40B4-BE49-F238E27FC236}">
                <a16:creationId xmlns:a16="http://schemas.microsoft.com/office/drawing/2014/main" id="{45F11FA6-765A-41D2-AB4B-F7EE2173E50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1" y="1457271"/>
            <a:ext cx="10749598" cy="4219575"/>
          </a:xfrm>
        </p:spPr>
        <p:txBody>
          <a:bodyPr/>
          <a:lstStyle/>
          <a:p>
            <a:pPr marL="0" indent="0" algn="l"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① 函数执行时间的统计</a:t>
            </a:r>
          </a:p>
          <a:p>
            <a:pPr marL="0" indent="0" algn="l"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② 输出日志信息</a:t>
            </a:r>
          </a:p>
        </p:txBody>
      </p:sp>
    </p:spTree>
    <p:extLst>
      <p:ext uri="{BB962C8B-B14F-4D97-AF65-F5344CB8AC3E}">
        <p14:creationId xmlns:p14="http://schemas.microsoft.com/office/powerpoint/2010/main" val="34975099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装饰器的作用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F94E84-6F22-C942-A1D4-BA6A5DBD17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2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、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装饰器实现已有函数执行时间的统计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0F671FFC-5C27-4794-A01A-B879F2047664}"/>
              </a:ext>
            </a:extLst>
          </p:cNvPr>
          <p:cNvSpPr txBox="1"/>
          <p:nvPr/>
        </p:nvSpPr>
        <p:spPr>
          <a:xfrm>
            <a:off x="668740" y="1635973"/>
            <a:ext cx="4427650" cy="360906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import time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def </a:t>
            </a:r>
            <a:r>
              <a:rPr lang="en-US" altLang="zh-CN" sz="14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get_time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(</a:t>
            </a:r>
            <a:r>
              <a:rPr lang="en-US" altLang="zh-CN" sz="14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func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):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def inner():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    # </a:t>
            </a:r>
            <a:r>
              <a:rPr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开始计时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    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begin = </a:t>
            </a:r>
            <a:r>
              <a:rPr lang="en-US" altLang="zh-CN" sz="14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time.time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()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    </a:t>
            </a:r>
            <a:r>
              <a:rPr lang="en-US" altLang="zh-CN" sz="14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func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()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    # </a:t>
            </a:r>
            <a:r>
              <a:rPr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结束计时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    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end = </a:t>
            </a:r>
            <a:r>
              <a:rPr lang="en-US" altLang="zh-CN" sz="14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time.time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()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    print("</a:t>
            </a:r>
            <a:r>
              <a:rPr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函数执行花费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%f" % (end - begin))</a:t>
            </a:r>
          </a:p>
          <a:p>
            <a:pPr>
              <a:lnSpc>
                <a:spcPct val="150000"/>
              </a:lnSpc>
              <a:defRPr/>
            </a:pPr>
            <a:endParaRPr lang="en-US" altLang="zh-CN" sz="14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return inner</a:t>
            </a: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FDA27079-338B-469C-8832-BEA62D515239}"/>
              </a:ext>
            </a:extLst>
          </p:cNvPr>
          <p:cNvSpPr txBox="1"/>
          <p:nvPr/>
        </p:nvSpPr>
        <p:spPr>
          <a:xfrm>
            <a:off x="6950269" y="1635973"/>
            <a:ext cx="4694327" cy="1993238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@get_time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def demo():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for </a:t>
            </a:r>
            <a:r>
              <a:rPr lang="en-US" altLang="zh-CN" sz="14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i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in range(100000):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    print(</a:t>
            </a:r>
            <a:r>
              <a:rPr lang="en-US" altLang="zh-CN" sz="14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i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)</a:t>
            </a:r>
          </a:p>
          <a:p>
            <a:pPr>
              <a:lnSpc>
                <a:spcPct val="150000"/>
              </a:lnSpc>
              <a:defRPr/>
            </a:pPr>
            <a:endParaRPr lang="en-US" altLang="zh-CN" sz="14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demo()</a:t>
            </a:r>
            <a:endParaRPr lang="zh-CN" altLang="zh-CN" sz="14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3A982554-C58D-48E5-9379-6B0A3D9A6E6F}"/>
              </a:ext>
            </a:extLst>
          </p:cNvPr>
          <p:cNvSpPr/>
          <p:nvPr/>
        </p:nvSpPr>
        <p:spPr>
          <a:xfrm>
            <a:off x="5593692" y="3122453"/>
            <a:ext cx="983974" cy="636104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D9B3573A-B855-4CF1-9531-0522044485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0270" y="4001418"/>
            <a:ext cx="4694327" cy="1737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9355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DC7A42-DEB9-4846-9885-EF1F65B29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通用装饰器的使用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0D98B5-82FB-804B-8565-7E31DD4B40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05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448254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通用装饰器的使用</a:t>
            </a:r>
            <a:endParaRPr kumimoji="1"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F94E84-6F22-C942-A1D4-BA6A5DBD17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1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、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装饰带有参数的函数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C6B31414-EA81-42F3-94B2-C0A5E014F76E}"/>
              </a:ext>
            </a:extLst>
          </p:cNvPr>
          <p:cNvSpPr txBox="1"/>
          <p:nvPr/>
        </p:nvSpPr>
        <p:spPr>
          <a:xfrm>
            <a:off x="791155" y="1975497"/>
            <a:ext cx="3661575" cy="3932230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def logging(</a:t>
            </a:r>
            <a:r>
              <a:rPr lang="en-US" altLang="zh-CN" sz="14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fn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):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def inner(num1, num2):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    print('--</a:t>
            </a:r>
            <a:r>
              <a:rPr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正在努力计算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--')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    </a:t>
            </a:r>
            <a:r>
              <a:rPr lang="en-US" altLang="zh-CN" sz="1400" dirty="0" err="1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fn</a:t>
            </a:r>
            <a:r>
              <a:rPr lang="en-US" altLang="zh-CN" sz="140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(num1, num2)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return inner</a:t>
            </a:r>
          </a:p>
          <a:p>
            <a:pPr>
              <a:lnSpc>
                <a:spcPct val="150000"/>
              </a:lnSpc>
              <a:defRPr/>
            </a:pPr>
            <a:endParaRPr lang="en-US" altLang="zh-CN" sz="14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@logging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def </a:t>
            </a:r>
            <a:r>
              <a:rPr lang="en-US" altLang="zh-CN" sz="14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sum_num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(num1, num2):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result = num1 + num2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print(result)</a:t>
            </a:r>
          </a:p>
          <a:p>
            <a:pPr>
              <a:lnSpc>
                <a:spcPct val="150000"/>
              </a:lnSpc>
              <a:defRPr/>
            </a:pPr>
            <a:endParaRPr lang="en-US" altLang="zh-CN" sz="14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sum_num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(10, 20)</a:t>
            </a:r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9FAD85DE-FE32-409A-A1AD-7CCCC8C4ADD1}"/>
              </a:ext>
            </a:extLst>
          </p:cNvPr>
          <p:cNvSpPr/>
          <p:nvPr/>
        </p:nvSpPr>
        <p:spPr>
          <a:xfrm>
            <a:off x="4931314" y="3429000"/>
            <a:ext cx="1292800" cy="607377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A4FFA62-EB7A-4F40-B4EE-621203441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2698" y="2829639"/>
            <a:ext cx="5121084" cy="1806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4671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通用装饰器的使用</a:t>
            </a:r>
            <a:endParaRPr kumimoji="1"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F94E84-6F22-C942-A1D4-BA6A5DBD17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2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、装饰带有返回值的函数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C6B31414-EA81-42F3-94B2-C0A5E014F76E}"/>
              </a:ext>
            </a:extLst>
          </p:cNvPr>
          <p:cNvSpPr txBox="1"/>
          <p:nvPr/>
        </p:nvSpPr>
        <p:spPr>
          <a:xfrm>
            <a:off x="791155" y="1975497"/>
            <a:ext cx="3661575" cy="4255396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def logging(</a:t>
            </a:r>
            <a:r>
              <a:rPr lang="en-US" altLang="zh-CN" sz="14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fn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):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def inner(num1, num2):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    print('--</a:t>
            </a:r>
            <a:r>
              <a:rPr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正在努力计算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--')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    result = </a:t>
            </a:r>
            <a:r>
              <a:rPr lang="en-US" altLang="zh-CN" sz="14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fn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(num1, num2)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    </a:t>
            </a:r>
            <a:r>
              <a:rPr lang="en-US" altLang="zh-CN" sz="140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return result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return inner</a:t>
            </a:r>
          </a:p>
          <a:p>
            <a:pPr>
              <a:lnSpc>
                <a:spcPct val="150000"/>
              </a:lnSpc>
              <a:defRPr/>
            </a:pPr>
            <a:endParaRPr lang="en-US" altLang="zh-CN" sz="14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@logging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def </a:t>
            </a:r>
            <a:r>
              <a:rPr lang="en-US" altLang="zh-CN" sz="14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sum_num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(num1, num2):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result = num1 + num2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return result</a:t>
            </a:r>
          </a:p>
          <a:p>
            <a:pPr>
              <a:lnSpc>
                <a:spcPct val="150000"/>
              </a:lnSpc>
              <a:defRPr/>
            </a:pPr>
            <a:endParaRPr lang="en-US" altLang="zh-CN" sz="14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print(</a:t>
            </a:r>
            <a:r>
              <a:rPr lang="en-US" altLang="zh-CN" sz="14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sum_num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(10, 20))</a:t>
            </a:r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9FAD85DE-FE32-409A-A1AD-7CCCC8C4ADD1}"/>
              </a:ext>
            </a:extLst>
          </p:cNvPr>
          <p:cNvSpPr/>
          <p:nvPr/>
        </p:nvSpPr>
        <p:spPr>
          <a:xfrm>
            <a:off x="4792879" y="3597965"/>
            <a:ext cx="1292800" cy="607377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A4FFA62-EB7A-4F40-B4EE-621203441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2637" y="2919091"/>
            <a:ext cx="5121084" cy="1806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5960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通用装饰器的使用</a:t>
            </a:r>
            <a:endParaRPr kumimoji="1"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F94E84-6F22-C942-A1D4-BA6A5DBD17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3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、装饰带有不定长参数的函数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C6B31414-EA81-42F3-94B2-C0A5E014F76E}"/>
              </a:ext>
            </a:extLst>
          </p:cNvPr>
          <p:cNvSpPr txBox="1"/>
          <p:nvPr/>
        </p:nvSpPr>
        <p:spPr>
          <a:xfrm>
            <a:off x="791155" y="1975497"/>
            <a:ext cx="3661575" cy="1670073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def logging(</a:t>
            </a:r>
            <a:r>
              <a:rPr lang="en-US" altLang="zh-CN" sz="14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fn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):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def inner(*</a:t>
            </a:r>
            <a:r>
              <a:rPr lang="en-US" altLang="zh-CN" sz="14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args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, **</a:t>
            </a:r>
            <a:r>
              <a:rPr lang="en-US" altLang="zh-CN" sz="14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kwargs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):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    print('--</a:t>
            </a:r>
            <a:r>
              <a:rPr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正在努力计算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--')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    </a:t>
            </a:r>
            <a:r>
              <a:rPr lang="en-US" altLang="zh-CN" sz="14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fn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(*</a:t>
            </a:r>
            <a:r>
              <a:rPr lang="en-US" altLang="zh-CN" sz="14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args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, **</a:t>
            </a:r>
            <a:r>
              <a:rPr lang="en-US" altLang="zh-CN" sz="14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kwargs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)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return inner</a:t>
            </a:r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9FAD85DE-FE32-409A-A1AD-7CCCC8C4ADD1}"/>
              </a:ext>
            </a:extLst>
          </p:cNvPr>
          <p:cNvSpPr/>
          <p:nvPr/>
        </p:nvSpPr>
        <p:spPr>
          <a:xfrm rot="2111589">
            <a:off x="4964969" y="2883195"/>
            <a:ext cx="1292800" cy="607377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6565D85C-0C67-4C44-A4EA-A1AC95CE9003}"/>
              </a:ext>
            </a:extLst>
          </p:cNvPr>
          <p:cNvSpPr txBox="1"/>
          <p:nvPr/>
        </p:nvSpPr>
        <p:spPr>
          <a:xfrm>
            <a:off x="6694184" y="1975497"/>
            <a:ext cx="3661575" cy="360906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@logging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def </a:t>
            </a:r>
            <a:r>
              <a:rPr lang="en-US" altLang="zh-CN" sz="14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sum_num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(*</a:t>
            </a:r>
            <a:r>
              <a:rPr lang="en-US" altLang="zh-CN" sz="14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args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, **</a:t>
            </a:r>
            <a:r>
              <a:rPr lang="en-US" altLang="zh-CN" sz="14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kwargs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):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result = 0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for </a:t>
            </a:r>
            <a:r>
              <a:rPr lang="en-US" altLang="zh-CN" sz="14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i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in </a:t>
            </a:r>
            <a:r>
              <a:rPr lang="en-US" altLang="zh-CN" sz="14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args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: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    result += </a:t>
            </a:r>
            <a:r>
              <a:rPr lang="en-US" altLang="zh-CN" sz="14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i</a:t>
            </a:r>
            <a:endParaRPr lang="en-US" altLang="zh-CN" sz="14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endParaRPr lang="en-US" altLang="zh-CN" sz="14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for </a:t>
            </a:r>
            <a:r>
              <a:rPr lang="en-US" altLang="zh-CN" sz="14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i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in </a:t>
            </a:r>
            <a:r>
              <a:rPr lang="en-US" altLang="zh-CN" sz="14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kwargs.values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():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    result += </a:t>
            </a:r>
            <a:r>
              <a:rPr lang="en-US" altLang="zh-CN" sz="14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i</a:t>
            </a:r>
            <a:endParaRPr lang="en-US" altLang="zh-CN" sz="14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print(result)</a:t>
            </a:r>
          </a:p>
          <a:p>
            <a:pPr>
              <a:lnSpc>
                <a:spcPct val="150000"/>
              </a:lnSpc>
              <a:defRPr/>
            </a:pPr>
            <a:endParaRPr lang="en-US" altLang="zh-CN" sz="14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sum_num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(10, 20, a=30)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9963F181-968B-4104-9273-83ACEE2C05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155" y="4695143"/>
            <a:ext cx="5143946" cy="1722269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F4A673E5-0AA7-4275-9114-78B7FED7E20A}"/>
              </a:ext>
            </a:extLst>
          </p:cNvPr>
          <p:cNvSpPr txBox="1"/>
          <p:nvPr/>
        </p:nvSpPr>
        <p:spPr>
          <a:xfrm>
            <a:off x="791155" y="4163796"/>
            <a:ext cx="2081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运行结果：</a:t>
            </a:r>
          </a:p>
        </p:txBody>
      </p:sp>
    </p:spTree>
    <p:extLst>
      <p:ext uri="{BB962C8B-B14F-4D97-AF65-F5344CB8AC3E}">
        <p14:creationId xmlns:p14="http://schemas.microsoft.com/office/powerpoint/2010/main" val="11607517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通用装饰器的使用</a:t>
            </a:r>
            <a:endParaRPr kumimoji="1"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F94E84-6F22-C942-A1D4-BA6A5DBD17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4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、通用装饰器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C6B31414-EA81-42F3-94B2-C0A5E014F76E}"/>
              </a:ext>
            </a:extLst>
          </p:cNvPr>
          <p:cNvSpPr txBox="1"/>
          <p:nvPr/>
        </p:nvSpPr>
        <p:spPr>
          <a:xfrm>
            <a:off x="710881" y="2281340"/>
            <a:ext cx="3109280" cy="2639569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# </a:t>
            </a:r>
            <a:r>
              <a:rPr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添加输出日志的功能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def logging(</a:t>
            </a:r>
            <a:r>
              <a:rPr lang="en-US" altLang="zh-CN" sz="1400" dirty="0" err="1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fn</a:t>
            </a:r>
            <a:r>
              <a:rPr lang="en-US" altLang="zh-CN" sz="140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):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def inner(*</a:t>
            </a:r>
            <a:r>
              <a:rPr lang="en-US" altLang="zh-CN" sz="1400" dirty="0" err="1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args</a:t>
            </a:r>
            <a:r>
              <a:rPr lang="en-US" altLang="zh-CN" sz="140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, **</a:t>
            </a:r>
            <a:r>
              <a:rPr lang="en-US" altLang="zh-CN" sz="1400" dirty="0" err="1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kwargs</a:t>
            </a:r>
            <a:r>
              <a:rPr lang="en-US" altLang="zh-CN" sz="140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):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    print("--</a:t>
            </a:r>
            <a:r>
              <a:rPr lang="zh-CN" altLang="en-US" sz="140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正在努力计算</a:t>
            </a:r>
            <a:r>
              <a:rPr lang="en-US" altLang="zh-CN" sz="140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--")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    result = </a:t>
            </a:r>
            <a:r>
              <a:rPr lang="en-US" altLang="zh-CN" sz="1400" dirty="0" err="1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fn</a:t>
            </a:r>
            <a:r>
              <a:rPr lang="en-US" altLang="zh-CN" sz="140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(*</a:t>
            </a:r>
            <a:r>
              <a:rPr lang="en-US" altLang="zh-CN" sz="1400" dirty="0" err="1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args</a:t>
            </a:r>
            <a:r>
              <a:rPr lang="en-US" altLang="zh-CN" sz="140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, **</a:t>
            </a:r>
            <a:r>
              <a:rPr lang="en-US" altLang="zh-CN" sz="1400" dirty="0" err="1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kwargs</a:t>
            </a:r>
            <a:r>
              <a:rPr lang="en-US" altLang="zh-CN" sz="140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)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    return result</a:t>
            </a:r>
          </a:p>
          <a:p>
            <a:pPr>
              <a:lnSpc>
                <a:spcPct val="150000"/>
              </a:lnSpc>
              <a:defRPr/>
            </a:pPr>
            <a:endParaRPr lang="en-US" altLang="zh-CN" sz="1400" dirty="0">
              <a:solidFill>
                <a:srgbClr val="C00000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return inner</a:t>
            </a:r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9FAD85DE-FE32-409A-A1AD-7CCCC8C4ADD1}"/>
              </a:ext>
            </a:extLst>
          </p:cNvPr>
          <p:cNvSpPr/>
          <p:nvPr/>
        </p:nvSpPr>
        <p:spPr>
          <a:xfrm>
            <a:off x="3986030" y="3297435"/>
            <a:ext cx="519968" cy="607377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6565D85C-0C67-4C44-A4EA-A1AC95CE9003}"/>
              </a:ext>
            </a:extLst>
          </p:cNvPr>
          <p:cNvSpPr txBox="1"/>
          <p:nvPr/>
        </p:nvSpPr>
        <p:spPr>
          <a:xfrm>
            <a:off x="4671867" y="999995"/>
            <a:ext cx="2919850" cy="554805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# </a:t>
            </a:r>
            <a:r>
              <a:rPr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使用语法糖装饰函数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@logging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def </a:t>
            </a:r>
            <a:r>
              <a:rPr lang="en-US" altLang="zh-CN" sz="14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sum_num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(*</a:t>
            </a:r>
            <a:r>
              <a:rPr lang="en-US" altLang="zh-CN" sz="14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args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, **</a:t>
            </a:r>
            <a:r>
              <a:rPr lang="en-US" altLang="zh-CN" sz="14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kwargs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):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result = 0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for value in </a:t>
            </a:r>
            <a:r>
              <a:rPr lang="en-US" altLang="zh-CN" sz="14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args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: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    result += value</a:t>
            </a:r>
          </a:p>
          <a:p>
            <a:pPr>
              <a:lnSpc>
                <a:spcPct val="150000"/>
              </a:lnSpc>
              <a:defRPr/>
            </a:pPr>
            <a:endParaRPr lang="en-US" altLang="zh-CN" sz="14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for value in </a:t>
            </a:r>
            <a:r>
              <a:rPr lang="en-US" altLang="zh-CN" sz="14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kwargs.values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():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    result += value</a:t>
            </a:r>
          </a:p>
          <a:p>
            <a:pPr>
              <a:lnSpc>
                <a:spcPct val="150000"/>
              </a:lnSpc>
              <a:defRPr/>
            </a:pPr>
            <a:endParaRPr lang="en-US" altLang="zh-CN" sz="14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return result</a:t>
            </a:r>
          </a:p>
          <a:p>
            <a:pPr>
              <a:lnSpc>
                <a:spcPct val="150000"/>
              </a:lnSpc>
              <a:defRPr/>
            </a:pPr>
            <a:endParaRPr lang="en-US" altLang="zh-CN" sz="14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endParaRPr lang="en-US" altLang="zh-CN" sz="14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@logging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def subtraction(a, b):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result = a - b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print(result)</a:t>
            </a:r>
          </a:p>
        </p:txBody>
      </p:sp>
      <p:sp>
        <p:nvSpPr>
          <p:cNvPr id="13" name="TextBox 3">
            <a:extLst>
              <a:ext uri="{FF2B5EF4-FFF2-40B4-BE49-F238E27FC236}">
                <a16:creationId xmlns:a16="http://schemas.microsoft.com/office/drawing/2014/main" id="{89C1054B-1971-4AFE-AB6A-4A6C46C8C828}"/>
              </a:ext>
            </a:extLst>
          </p:cNvPr>
          <p:cNvSpPr txBox="1"/>
          <p:nvPr/>
        </p:nvSpPr>
        <p:spPr>
          <a:xfrm>
            <a:off x="8858049" y="2927669"/>
            <a:ext cx="2999334" cy="134690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result = </a:t>
            </a:r>
            <a:r>
              <a:rPr lang="en-US" altLang="zh-CN" sz="14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sum_num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(1, 2, a=10)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print(result)</a:t>
            </a:r>
          </a:p>
          <a:p>
            <a:pPr>
              <a:lnSpc>
                <a:spcPct val="150000"/>
              </a:lnSpc>
              <a:defRPr/>
            </a:pPr>
            <a:endParaRPr lang="en-US" altLang="zh-CN" sz="14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subtraction(4, 2)</a:t>
            </a:r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930301B6-A5F2-41B3-9ABE-050217088098}"/>
              </a:ext>
            </a:extLst>
          </p:cNvPr>
          <p:cNvSpPr/>
          <p:nvPr/>
        </p:nvSpPr>
        <p:spPr>
          <a:xfrm>
            <a:off x="8084265" y="3254832"/>
            <a:ext cx="519968" cy="607377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15182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DC7A42-DEB9-4846-9885-EF1F65B29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多个装饰器的使用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0D98B5-82FB-804B-8565-7E31DD4B40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06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640941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通用装饰器的使用</a:t>
            </a:r>
            <a:endParaRPr kumimoji="1"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F94E84-6F22-C942-A1D4-BA6A5DBD17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4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、通用装饰器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C6B31414-EA81-42F3-94B2-C0A5E014F76E}"/>
              </a:ext>
            </a:extLst>
          </p:cNvPr>
          <p:cNvSpPr txBox="1"/>
          <p:nvPr/>
        </p:nvSpPr>
        <p:spPr>
          <a:xfrm>
            <a:off x="710880" y="1976308"/>
            <a:ext cx="3601499" cy="1670073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def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make_div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(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func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):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"""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对被装饰的函数的返回值 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div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标签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"""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def inner():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    return "&lt;div&gt;" +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func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() + "&lt;/div&gt;"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return inner</a:t>
            </a:r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9FAD85DE-FE32-409A-A1AD-7CCCC8C4ADD1}"/>
              </a:ext>
            </a:extLst>
          </p:cNvPr>
          <p:cNvSpPr/>
          <p:nvPr/>
        </p:nvSpPr>
        <p:spPr>
          <a:xfrm>
            <a:off x="4458768" y="2533087"/>
            <a:ext cx="519968" cy="607377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6565D85C-0C67-4C44-A4EA-A1AC95CE9003}"/>
              </a:ext>
            </a:extLst>
          </p:cNvPr>
          <p:cNvSpPr txBox="1"/>
          <p:nvPr/>
        </p:nvSpPr>
        <p:spPr>
          <a:xfrm>
            <a:off x="5037178" y="2001740"/>
            <a:ext cx="3500344" cy="1670073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def </a:t>
            </a:r>
            <a:r>
              <a:rPr lang="en-US" altLang="zh-CN" sz="14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make_p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(</a:t>
            </a:r>
            <a:r>
              <a:rPr lang="en-US" altLang="zh-CN" sz="14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func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):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"""</a:t>
            </a:r>
            <a:r>
              <a:rPr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对被装饰的函数的返回值 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p</a:t>
            </a:r>
            <a:r>
              <a:rPr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标签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"""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def inner():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    return "&lt;p&gt;" + </a:t>
            </a:r>
            <a:r>
              <a:rPr lang="en-US" altLang="zh-CN" sz="14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func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() + "&lt;/p&gt;"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return inner</a:t>
            </a:r>
          </a:p>
        </p:txBody>
      </p:sp>
      <p:sp>
        <p:nvSpPr>
          <p:cNvPr id="13" name="TextBox 3">
            <a:extLst>
              <a:ext uri="{FF2B5EF4-FFF2-40B4-BE49-F238E27FC236}">
                <a16:creationId xmlns:a16="http://schemas.microsoft.com/office/drawing/2014/main" id="{89C1054B-1971-4AFE-AB6A-4A6C46C8C828}"/>
              </a:ext>
            </a:extLst>
          </p:cNvPr>
          <p:cNvSpPr txBox="1"/>
          <p:nvPr/>
        </p:nvSpPr>
        <p:spPr>
          <a:xfrm>
            <a:off x="9371651" y="1635973"/>
            <a:ext cx="2292150" cy="2316403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@make_div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@make_p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def content():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 return "</a:t>
            </a:r>
            <a:r>
              <a:rPr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人生苦短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"</a:t>
            </a:r>
          </a:p>
          <a:p>
            <a:pPr>
              <a:lnSpc>
                <a:spcPct val="150000"/>
              </a:lnSpc>
              <a:defRPr/>
            </a:pPr>
            <a:endParaRPr lang="en-US" altLang="zh-CN" sz="14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result = content()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print(result)</a:t>
            </a:r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930301B6-A5F2-41B3-9ABE-050217088098}"/>
              </a:ext>
            </a:extLst>
          </p:cNvPr>
          <p:cNvSpPr/>
          <p:nvPr/>
        </p:nvSpPr>
        <p:spPr>
          <a:xfrm>
            <a:off x="8684472" y="2581100"/>
            <a:ext cx="519968" cy="607377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占位符 1">
            <a:extLst>
              <a:ext uri="{FF2B5EF4-FFF2-40B4-BE49-F238E27FC236}">
                <a16:creationId xmlns:a16="http://schemas.microsoft.com/office/drawing/2014/main" id="{5D29938C-E167-4173-B6FF-15BA2AB3BC0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4423331"/>
            <a:ext cx="10749598" cy="1460566"/>
          </a:xfrm>
        </p:spPr>
        <p:txBody>
          <a:bodyPr/>
          <a:lstStyle/>
          <a:p>
            <a:pPr marL="0" indent="0" algn="l"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多个装饰器的装饰过程是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: 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离函数最近的装饰器先装饰，然后外面的装饰器再进行装饰，由内到外的装饰过程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。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装饰过程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: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①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 content = 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Helvetica Neue"/>
              </a:rPr>
              <a:t>make_p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(content)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②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 content = 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Helvetica Neue"/>
              </a:rPr>
              <a:t>make_div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(content)</a:t>
            </a:r>
          </a:p>
          <a:p>
            <a:pPr marL="0" indent="0" algn="l">
              <a:buNone/>
            </a:pP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content = 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Helvetica Neue"/>
              </a:rPr>
              <a:t>make_div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(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Helvetica Neue"/>
              </a:rPr>
              <a:t>make_p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(content))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8391593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DC7A42-DEB9-4846-9885-EF1F65B29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带有参数的装饰器介绍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0D98B5-82FB-804B-8565-7E31DD4B40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07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427366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带有参数的装饰器介绍</a:t>
            </a:r>
            <a:endParaRPr kumimoji="1"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F94E84-6F22-C942-A1D4-BA6A5DBD17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1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、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带有参数的装饰器介绍</a:t>
            </a:r>
          </a:p>
        </p:txBody>
      </p:sp>
      <p:sp>
        <p:nvSpPr>
          <p:cNvPr id="20" name="文本占位符 1">
            <a:extLst>
              <a:ext uri="{FF2B5EF4-FFF2-40B4-BE49-F238E27FC236}">
                <a16:creationId xmlns:a16="http://schemas.microsoft.com/office/drawing/2014/main" id="{5D29938C-E167-4173-B6FF-15BA2AB3BC0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21201" y="1635973"/>
            <a:ext cx="10749598" cy="517190"/>
          </a:xfrm>
        </p:spPr>
        <p:txBody>
          <a:bodyPr/>
          <a:lstStyle/>
          <a:p>
            <a:pPr marL="0" indent="0" algn="l"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带有参数的装饰器就是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使用装饰器装饰函数的时候可以传入指定参数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，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语法格式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: </a:t>
            </a:r>
            <a:r>
              <a:rPr lang="en-US" altLang="zh-CN" b="1" i="0" dirty="0">
                <a:solidFill>
                  <a:srgbClr val="C00000"/>
                </a:solidFill>
                <a:effectLst/>
                <a:latin typeface="Helvetica Neue"/>
              </a:rPr>
              <a:t>@</a:t>
            </a:r>
            <a:r>
              <a:rPr lang="zh-CN" altLang="en-US" b="1" i="0" dirty="0">
                <a:solidFill>
                  <a:srgbClr val="C00000"/>
                </a:solidFill>
                <a:effectLst/>
                <a:latin typeface="Helvetica Neue"/>
              </a:rPr>
              <a:t>装饰器</a:t>
            </a:r>
            <a:r>
              <a:rPr lang="en-US" altLang="zh-CN" b="1" i="0" dirty="0">
                <a:solidFill>
                  <a:srgbClr val="C00000"/>
                </a:solidFill>
                <a:effectLst/>
                <a:latin typeface="Helvetica Neue"/>
              </a:rPr>
              <a:t>(</a:t>
            </a:r>
            <a:r>
              <a:rPr lang="zh-CN" altLang="en-US" b="1" i="0" dirty="0">
                <a:solidFill>
                  <a:srgbClr val="C00000"/>
                </a:solidFill>
                <a:effectLst/>
                <a:latin typeface="Helvetica Neue"/>
              </a:rPr>
              <a:t>参数</a:t>
            </a:r>
            <a:r>
              <a:rPr lang="en-US" altLang="zh-CN" b="1" i="0" dirty="0">
                <a:solidFill>
                  <a:srgbClr val="C00000"/>
                </a:solidFill>
                <a:effectLst/>
                <a:latin typeface="Helvetica Neue"/>
              </a:rPr>
              <a:t>,...)</a:t>
            </a:r>
            <a:endParaRPr lang="zh-CN" altLang="en-US" b="0" i="0" dirty="0">
              <a:solidFill>
                <a:srgbClr val="C00000"/>
              </a:solidFill>
              <a:effectLst/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4536712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带有参数的装饰器介绍</a:t>
            </a:r>
            <a:endParaRPr kumimoji="1"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F94E84-6F22-C942-A1D4-BA6A5DBD17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1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、错误演示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C6B31414-EA81-42F3-94B2-C0A5E014F76E}"/>
              </a:ext>
            </a:extLst>
          </p:cNvPr>
          <p:cNvSpPr txBox="1"/>
          <p:nvPr/>
        </p:nvSpPr>
        <p:spPr>
          <a:xfrm>
            <a:off x="710880" y="1635973"/>
            <a:ext cx="3661575" cy="2962734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def decorator(</a:t>
            </a:r>
            <a:r>
              <a:rPr lang="en-US" altLang="zh-CN" sz="14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fn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, flag):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def inner(num1, num2):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    if flag == "+":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        print("--</a:t>
            </a:r>
            <a:r>
              <a:rPr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正在努力加法计算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--")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    </a:t>
            </a:r>
            <a:r>
              <a:rPr lang="en-US" altLang="zh-CN" sz="14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elif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flag == "-":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        print("--</a:t>
            </a:r>
            <a:r>
              <a:rPr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正在努力减法计算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--")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    result = </a:t>
            </a:r>
            <a:r>
              <a:rPr lang="en-US" altLang="zh-CN" sz="14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fn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(num1, num2)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    return result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return inner</a:t>
            </a:r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9FAD85DE-FE32-409A-A1AD-7CCCC8C4ADD1}"/>
              </a:ext>
            </a:extLst>
          </p:cNvPr>
          <p:cNvSpPr/>
          <p:nvPr/>
        </p:nvSpPr>
        <p:spPr>
          <a:xfrm>
            <a:off x="4792879" y="2813652"/>
            <a:ext cx="1292800" cy="607377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344B9067-70C6-427E-8946-E0EF6DF50086}"/>
              </a:ext>
            </a:extLst>
          </p:cNvPr>
          <p:cNvSpPr txBox="1"/>
          <p:nvPr/>
        </p:nvSpPr>
        <p:spPr>
          <a:xfrm>
            <a:off x="6435818" y="1959138"/>
            <a:ext cx="3661575" cy="2316403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@decorator('+')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def add(a, b):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result = a + b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return result</a:t>
            </a:r>
          </a:p>
          <a:p>
            <a:pPr>
              <a:lnSpc>
                <a:spcPct val="150000"/>
              </a:lnSpc>
              <a:defRPr/>
            </a:pPr>
            <a:endParaRPr lang="en-US" altLang="zh-CN" sz="14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result = add(1, 3)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print(result)</a:t>
            </a:r>
          </a:p>
        </p:txBody>
      </p:sp>
      <p:sp>
        <p:nvSpPr>
          <p:cNvPr id="10" name="文本占位符 1">
            <a:extLst>
              <a:ext uri="{FF2B5EF4-FFF2-40B4-BE49-F238E27FC236}">
                <a16:creationId xmlns:a16="http://schemas.microsoft.com/office/drawing/2014/main" id="{625FC287-F494-4E2D-A235-713967F0D97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4704837"/>
            <a:ext cx="10749598" cy="517190"/>
          </a:xfrm>
        </p:spPr>
        <p:txBody>
          <a:bodyPr/>
          <a:lstStyle/>
          <a:p>
            <a:pPr marL="0" indent="0" algn="l"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执行结果：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12" name="TextBox 3">
            <a:extLst>
              <a:ext uri="{FF2B5EF4-FFF2-40B4-BE49-F238E27FC236}">
                <a16:creationId xmlns:a16="http://schemas.microsoft.com/office/drawing/2014/main" id="{157B43CB-48F9-436E-B13C-460ECFAE3B06}"/>
              </a:ext>
            </a:extLst>
          </p:cNvPr>
          <p:cNvSpPr txBox="1"/>
          <p:nvPr/>
        </p:nvSpPr>
        <p:spPr>
          <a:xfrm>
            <a:off x="736290" y="5222027"/>
            <a:ext cx="9363487" cy="134690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Traceback (most recent call last):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File "/home/python/Desktop/test/hho.py", line 12, in &lt;module&gt;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@decorator('+')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TypeError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: decorator() missing 1 required positional argument: 'flag'</a:t>
            </a:r>
          </a:p>
        </p:txBody>
      </p:sp>
    </p:spTree>
    <p:extLst>
      <p:ext uri="{BB962C8B-B14F-4D97-AF65-F5344CB8AC3E}">
        <p14:creationId xmlns:p14="http://schemas.microsoft.com/office/powerpoint/2010/main" val="26068261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带有参数的装饰器介绍</a:t>
            </a:r>
            <a:endParaRPr kumimoji="1"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F94E84-6F22-C942-A1D4-BA6A5DBD17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2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、正确语法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C6B31414-EA81-42F3-94B2-C0A5E014F76E}"/>
              </a:ext>
            </a:extLst>
          </p:cNvPr>
          <p:cNvSpPr txBox="1"/>
          <p:nvPr/>
        </p:nvSpPr>
        <p:spPr>
          <a:xfrm>
            <a:off x="710879" y="1785618"/>
            <a:ext cx="3661575" cy="4901726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# </a:t>
            </a:r>
            <a:r>
              <a:rPr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添加输出日志的功能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def logging(flag):</a:t>
            </a:r>
          </a:p>
          <a:p>
            <a:pPr>
              <a:lnSpc>
                <a:spcPct val="150000"/>
              </a:lnSpc>
              <a:defRPr/>
            </a:pPr>
            <a:endParaRPr lang="en-US" altLang="zh-CN" sz="14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def decorator(</a:t>
            </a:r>
            <a:r>
              <a:rPr lang="en-US" altLang="zh-CN" sz="14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fn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):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    def inner(num1, num2):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        if flag == "+":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            print("--</a:t>
            </a:r>
            <a:r>
              <a:rPr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正在努力加法计算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--")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        </a:t>
            </a:r>
            <a:r>
              <a:rPr lang="en-US" altLang="zh-CN" sz="14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elif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flag == "-":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            print("--</a:t>
            </a:r>
            <a:r>
              <a:rPr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正在努力减法计算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--")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        result = </a:t>
            </a:r>
            <a:r>
              <a:rPr lang="en-US" altLang="zh-CN" sz="14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fn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(num1, num2)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        return result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    return inner</a:t>
            </a:r>
          </a:p>
          <a:p>
            <a:pPr>
              <a:lnSpc>
                <a:spcPct val="150000"/>
              </a:lnSpc>
              <a:defRPr/>
            </a:pPr>
            <a:endParaRPr lang="en-US" altLang="zh-CN" sz="14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# </a:t>
            </a:r>
            <a:r>
              <a:rPr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返回装饰器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return decorator</a:t>
            </a:r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9FAD85DE-FE32-409A-A1AD-7CCCC8C4ADD1}"/>
              </a:ext>
            </a:extLst>
          </p:cNvPr>
          <p:cNvSpPr/>
          <p:nvPr/>
        </p:nvSpPr>
        <p:spPr>
          <a:xfrm>
            <a:off x="5227901" y="3788244"/>
            <a:ext cx="1292800" cy="607377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344B9067-70C6-427E-8946-E0EF6DF50086}"/>
              </a:ext>
            </a:extLst>
          </p:cNvPr>
          <p:cNvSpPr txBox="1"/>
          <p:nvPr/>
        </p:nvSpPr>
        <p:spPr>
          <a:xfrm>
            <a:off x="7376148" y="1785618"/>
            <a:ext cx="3661575" cy="4901726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# </a:t>
            </a:r>
            <a:r>
              <a:rPr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使用装饰器装饰函数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@logging("+")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def add(a, b):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result = a + b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return result</a:t>
            </a:r>
          </a:p>
          <a:p>
            <a:pPr>
              <a:lnSpc>
                <a:spcPct val="150000"/>
              </a:lnSpc>
              <a:defRPr/>
            </a:pPr>
            <a:endParaRPr lang="en-US" altLang="zh-CN" sz="14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@logging("-")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def sub(a, b):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result = a - b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return result</a:t>
            </a:r>
          </a:p>
          <a:p>
            <a:pPr>
              <a:lnSpc>
                <a:spcPct val="150000"/>
              </a:lnSpc>
              <a:defRPr/>
            </a:pPr>
            <a:endParaRPr lang="en-US" altLang="zh-CN" sz="14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result = add(1, 2)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print(result)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result = sub(1, 2)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print(result)</a:t>
            </a:r>
          </a:p>
        </p:txBody>
      </p:sp>
      <p:sp>
        <p:nvSpPr>
          <p:cNvPr id="10" name="文本占位符 1">
            <a:extLst>
              <a:ext uri="{FF2B5EF4-FFF2-40B4-BE49-F238E27FC236}">
                <a16:creationId xmlns:a16="http://schemas.microsoft.com/office/drawing/2014/main" id="{625FC287-F494-4E2D-A235-713967F0D97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357668"/>
            <a:ext cx="10749598" cy="517190"/>
          </a:xfrm>
        </p:spPr>
        <p:txBody>
          <a:bodyPr/>
          <a:lstStyle/>
          <a:p>
            <a:pPr marL="0" indent="0" algn="l">
              <a:buNone/>
            </a:pP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在装饰器外面再包裹上一个函数，让最外面的函数接收参数，返回的是装饰器，因为</a:t>
            </a:r>
            <a:r>
              <a:rPr lang="en-US" altLang="zh-CN" b="0" i="0" dirty="0">
                <a:solidFill>
                  <a:srgbClr val="C00000"/>
                </a:solidFill>
                <a:effectLst/>
                <a:latin typeface="Helvetica Neue"/>
              </a:rPr>
              <a:t>@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符号后面必须是装饰器实例。</a:t>
            </a:r>
            <a:endParaRPr lang="en-US" altLang="zh-CN" b="0" i="0" dirty="0">
              <a:solidFill>
                <a:srgbClr val="C00000"/>
              </a:solidFill>
              <a:effectLst/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1213168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DC7A42-DEB9-4846-9885-EF1F65B29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b="1" dirty="0">
                <a:solidFill>
                  <a:srgbClr val="333333"/>
                </a:solidFill>
                <a:latin typeface="Helvetica Neue"/>
              </a:rPr>
              <a:t>类装饰器使用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0D98B5-82FB-804B-8565-7E31DD4B40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08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755997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333333"/>
                </a:solidFill>
                <a:latin typeface="Helvetica Neue"/>
              </a:rPr>
              <a:t>类装饰器使用</a:t>
            </a:r>
            <a:endParaRPr kumimoji="1"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F94E84-6F22-C942-A1D4-BA6A5DBD17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1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、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类装饰器的介绍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C6B31414-EA81-42F3-94B2-C0A5E014F76E}"/>
              </a:ext>
            </a:extLst>
          </p:cNvPr>
          <p:cNvSpPr txBox="1"/>
          <p:nvPr/>
        </p:nvSpPr>
        <p:spPr>
          <a:xfrm>
            <a:off x="710880" y="2078859"/>
            <a:ext cx="5385120" cy="360906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class Check(object):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def __</a:t>
            </a:r>
            <a:r>
              <a:rPr lang="en-US" altLang="zh-CN" sz="14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init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__(self, </a:t>
            </a:r>
            <a:r>
              <a:rPr lang="en-US" altLang="zh-CN" sz="14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fn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):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    # </a:t>
            </a:r>
            <a:r>
              <a:rPr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初始化操作在此完成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    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self.__</a:t>
            </a:r>
            <a:r>
              <a:rPr lang="en-US" altLang="zh-CN" sz="14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fn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= </a:t>
            </a:r>
            <a:r>
              <a:rPr lang="en-US" altLang="zh-CN" sz="14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fn</a:t>
            </a:r>
            <a:endParaRPr lang="en-US" altLang="zh-CN" sz="14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endParaRPr lang="en-US" altLang="zh-CN" sz="14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# </a:t>
            </a:r>
            <a:r>
              <a:rPr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实现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__call__</a:t>
            </a:r>
            <a:r>
              <a:rPr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方法，表示对象是一个可调用对象，可以像调用函数一样进行调用。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def __call__(self, *</a:t>
            </a:r>
            <a:r>
              <a:rPr lang="en-US" altLang="zh-CN" sz="14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args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, **</a:t>
            </a:r>
            <a:r>
              <a:rPr lang="en-US" altLang="zh-CN" sz="14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kwargs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):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    # </a:t>
            </a:r>
            <a:r>
              <a:rPr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添加装饰功能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    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print("</a:t>
            </a:r>
            <a:r>
              <a:rPr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请先登陆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...")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    self.__</a:t>
            </a:r>
            <a:r>
              <a:rPr lang="en-US" altLang="zh-CN" sz="14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fn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()</a:t>
            </a:r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9FAD85DE-FE32-409A-A1AD-7CCCC8C4ADD1}"/>
              </a:ext>
            </a:extLst>
          </p:cNvPr>
          <p:cNvSpPr/>
          <p:nvPr/>
        </p:nvSpPr>
        <p:spPr>
          <a:xfrm>
            <a:off x="6430537" y="3609226"/>
            <a:ext cx="1292800" cy="607377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344B9067-70C6-427E-8946-E0EF6DF50086}"/>
              </a:ext>
            </a:extLst>
          </p:cNvPr>
          <p:cNvSpPr txBox="1"/>
          <p:nvPr/>
        </p:nvSpPr>
        <p:spPr>
          <a:xfrm>
            <a:off x="7922037" y="3028476"/>
            <a:ext cx="3661575" cy="1670073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@Check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def comment():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print("</a:t>
            </a:r>
            <a:r>
              <a:rPr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发表评论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")</a:t>
            </a:r>
          </a:p>
          <a:p>
            <a:pPr>
              <a:lnSpc>
                <a:spcPct val="150000"/>
              </a:lnSpc>
              <a:defRPr/>
            </a:pPr>
            <a:endParaRPr lang="en-US" altLang="zh-CN" sz="14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comment()</a:t>
            </a:r>
          </a:p>
        </p:txBody>
      </p:sp>
      <p:sp>
        <p:nvSpPr>
          <p:cNvPr id="10" name="文本占位符 1">
            <a:extLst>
              <a:ext uri="{FF2B5EF4-FFF2-40B4-BE49-F238E27FC236}">
                <a16:creationId xmlns:a16="http://schemas.microsoft.com/office/drawing/2014/main" id="{625FC287-F494-4E2D-A235-713967F0D97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499531"/>
            <a:ext cx="10749598" cy="517190"/>
          </a:xfrm>
        </p:spPr>
        <p:txBody>
          <a:bodyPr/>
          <a:lstStyle/>
          <a:p>
            <a:pPr marL="0" indent="0" algn="l"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装饰器还有一种特殊的用法就是类装饰器，就是通过定义一个类来装饰函数。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5637083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333333"/>
                </a:solidFill>
                <a:latin typeface="Helvetica Neue"/>
              </a:rPr>
              <a:t>类装饰器使用</a:t>
            </a:r>
            <a:endParaRPr kumimoji="1"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F94E84-6F22-C942-A1D4-BA6A5DBD17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2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、代码说明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BA957977-889F-40F5-8FDC-4F9F3A19AE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@Check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等价于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comment = Check(comment),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所以需要提供一个</a:t>
            </a:r>
            <a:r>
              <a:rPr lang="en-US" altLang="zh-CN" b="1" i="0" dirty="0" err="1">
                <a:solidFill>
                  <a:srgbClr val="C00000"/>
                </a:solidFill>
                <a:effectLst/>
                <a:latin typeface="Helvetica Neue"/>
              </a:rPr>
              <a:t>init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方法，并多增加一个</a:t>
            </a:r>
            <a:r>
              <a:rPr lang="en-US" altLang="zh-CN" b="0" i="0" dirty="0" err="1">
                <a:solidFill>
                  <a:srgbClr val="C00000"/>
                </a:solidFill>
                <a:effectLst/>
                <a:latin typeface="Helvetica Neue"/>
              </a:rPr>
              <a:t>fn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参数。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要想类的实例对象能够像函数一样调用，需要在类里面使用</a:t>
            </a:r>
            <a:r>
              <a:rPr lang="en-US" altLang="zh-CN" b="1" i="0" dirty="0">
                <a:solidFill>
                  <a:srgbClr val="C00000"/>
                </a:solidFill>
                <a:effectLst/>
                <a:latin typeface="Helvetica Neue"/>
              </a:rPr>
              <a:t>call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方法，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把类的实例变成可调用对象</a:t>
            </a:r>
            <a:r>
              <a:rPr lang="en-US" altLang="zh-CN" b="0" i="0" dirty="0">
                <a:solidFill>
                  <a:srgbClr val="C00000"/>
                </a:solidFill>
                <a:effectLst/>
                <a:latin typeface="Helvetica Neue"/>
              </a:rPr>
              <a:t>(callable)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，也就是说可以像调用函数一样进行调用。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在</a:t>
            </a:r>
            <a:r>
              <a:rPr lang="en-US" altLang="zh-CN" b="1" i="0" dirty="0">
                <a:solidFill>
                  <a:srgbClr val="C00000"/>
                </a:solidFill>
                <a:effectLst/>
                <a:latin typeface="Helvetica Neue"/>
              </a:rPr>
              <a:t>call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方法里进行对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Helvetica Neue"/>
              </a:rPr>
              <a:t>fn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函数的装饰，可以添加额外的功能。</a:t>
            </a:r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9E4FDF5D-633F-4CD1-B756-40A784CF8B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880" y="3529823"/>
            <a:ext cx="10910274" cy="1966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2237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5645788"/>
      </p:ext>
    </p:extLst>
  </p:cSld>
  <p:clrMapOvr>
    <a:masterClrMapping/>
  </p:clrMapOvr>
</p:sld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8961</TotalTime>
  <Words>2793</Words>
  <Application>Microsoft Office PowerPoint</Application>
  <PresentationFormat>宽屏</PresentationFormat>
  <Paragraphs>435</Paragraphs>
  <Slides>36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36</vt:i4>
      </vt:variant>
    </vt:vector>
  </HeadingPairs>
  <TitlesOfParts>
    <vt:vector size="56" baseType="lpstr">
      <vt:lpstr>Alibaba PuHuiTi B</vt:lpstr>
      <vt:lpstr>Alibaba PuHuiTi M</vt:lpstr>
      <vt:lpstr>Alibaba PuHuiTi R</vt:lpstr>
      <vt:lpstr>-apple-system</vt:lpstr>
      <vt:lpstr>Helvetica Neue</vt:lpstr>
      <vt:lpstr>阿里巴巴普惠体</vt:lpstr>
      <vt:lpstr>等线</vt:lpstr>
      <vt:lpstr>黑体</vt:lpstr>
      <vt:lpstr>Arial</vt:lpstr>
      <vt:lpstr>Calibri</vt:lpstr>
      <vt:lpstr>Segoe UI</vt:lpstr>
      <vt:lpstr>Verdana</vt:lpstr>
      <vt:lpstr>Wingdings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Python闭包和装饰器</vt:lpstr>
      <vt:lpstr>PowerPoint 演示文稿</vt:lpstr>
      <vt:lpstr>PowerPoint 演示文稿</vt:lpstr>
      <vt:lpstr>闭包</vt:lpstr>
      <vt:lpstr>变量在内存中的存储形式</vt:lpstr>
      <vt:lpstr>闭包</vt:lpstr>
      <vt:lpstr>闭包</vt:lpstr>
      <vt:lpstr>闭包</vt:lpstr>
      <vt:lpstr>闭包</vt:lpstr>
      <vt:lpstr>闭包</vt:lpstr>
      <vt:lpstr>修改闭包内使用的外部变量</vt:lpstr>
      <vt:lpstr>修改闭包内使用的外部变量</vt:lpstr>
      <vt:lpstr>修改闭包内使用的外部变量</vt:lpstr>
      <vt:lpstr>修改闭包内使用的外部变量</vt:lpstr>
      <vt:lpstr>装饰器</vt:lpstr>
      <vt:lpstr>装饰器</vt:lpstr>
      <vt:lpstr>装饰器</vt:lpstr>
      <vt:lpstr>装饰器</vt:lpstr>
      <vt:lpstr>装饰器的作用</vt:lpstr>
      <vt:lpstr>装饰器的作用</vt:lpstr>
      <vt:lpstr>装饰器的作用</vt:lpstr>
      <vt:lpstr>通用装饰器的使用</vt:lpstr>
      <vt:lpstr>通用装饰器的使用</vt:lpstr>
      <vt:lpstr>通用装饰器的使用</vt:lpstr>
      <vt:lpstr>通用装饰器的使用</vt:lpstr>
      <vt:lpstr>通用装饰器的使用</vt:lpstr>
      <vt:lpstr>多个装饰器的使用</vt:lpstr>
      <vt:lpstr>通用装饰器的使用</vt:lpstr>
      <vt:lpstr>带有参数的装饰器介绍</vt:lpstr>
      <vt:lpstr>带有参数的装饰器介绍</vt:lpstr>
      <vt:lpstr>带有参数的装饰器介绍</vt:lpstr>
      <vt:lpstr>带有参数的装饰器介绍</vt:lpstr>
      <vt:lpstr>类装饰器使用</vt:lpstr>
      <vt:lpstr>类装饰器使用</vt:lpstr>
      <vt:lpstr>类装饰器使用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Administrator</cp:lastModifiedBy>
  <cp:revision>705</cp:revision>
  <dcterms:created xsi:type="dcterms:W3CDTF">2020-03-31T02:23:27Z</dcterms:created>
  <dcterms:modified xsi:type="dcterms:W3CDTF">2021-04-12T09:42:13Z</dcterms:modified>
</cp:coreProperties>
</file>