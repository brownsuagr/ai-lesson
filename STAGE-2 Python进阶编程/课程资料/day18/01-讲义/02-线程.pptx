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  <p:sldMasterId id="2147483651" r:id="rId2"/>
    <p:sldMasterId id="2147483665" r:id="rId3"/>
    <p:sldMasterId id="2147483660" r:id="rId4"/>
  </p:sldMasterIdLst>
  <p:notesMasterIdLst>
    <p:notesMasterId r:id="rId40"/>
  </p:notesMasterIdLst>
  <p:handoutMasterIdLst>
    <p:handoutMasterId r:id="rId41"/>
  </p:handoutMasterIdLst>
  <p:sldIdLst>
    <p:sldId id="599" r:id="rId5"/>
    <p:sldId id="710" r:id="rId6"/>
    <p:sldId id="671" r:id="rId7"/>
    <p:sldId id="624" r:id="rId8"/>
    <p:sldId id="691" r:id="rId9"/>
    <p:sldId id="631" r:id="rId10"/>
    <p:sldId id="682" r:id="rId11"/>
    <p:sldId id="711" r:id="rId12"/>
    <p:sldId id="625" r:id="rId13"/>
    <p:sldId id="680" r:id="rId14"/>
    <p:sldId id="647" r:id="rId15"/>
    <p:sldId id="668" r:id="rId16"/>
    <p:sldId id="712" r:id="rId17"/>
    <p:sldId id="645" r:id="rId18"/>
    <p:sldId id="648" r:id="rId19"/>
    <p:sldId id="649" r:id="rId20"/>
    <p:sldId id="669" r:id="rId21"/>
    <p:sldId id="706" r:id="rId22"/>
    <p:sldId id="627" r:id="rId23"/>
    <p:sldId id="653" r:id="rId24"/>
    <p:sldId id="683" r:id="rId25"/>
    <p:sldId id="713" r:id="rId26"/>
    <p:sldId id="714" r:id="rId27"/>
    <p:sldId id="723" r:id="rId28"/>
    <p:sldId id="716" r:id="rId29"/>
    <p:sldId id="715" r:id="rId30"/>
    <p:sldId id="718" r:id="rId31"/>
    <p:sldId id="708" r:id="rId32"/>
    <p:sldId id="654" r:id="rId33"/>
    <p:sldId id="722" r:id="rId34"/>
    <p:sldId id="694" r:id="rId35"/>
    <p:sldId id="695" r:id="rId36"/>
    <p:sldId id="696" r:id="rId37"/>
    <p:sldId id="697" r:id="rId38"/>
    <p:sldId id="667" r:id="rId39"/>
  </p:sldIdLst>
  <p:sldSz cx="9144000" cy="5143500" type="screen16x9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宋体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宋体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宋体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宋体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宋体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alibri" charset="0"/>
        <a:ea typeface="宋体" charset="0"/>
        <a:cs typeface="宋体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alibri" charset="0"/>
        <a:ea typeface="宋体" charset="0"/>
        <a:cs typeface="宋体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alibri" charset="0"/>
        <a:ea typeface="宋体" charset="0"/>
        <a:cs typeface="宋体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alibri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rl@itcast.cn" initials="l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D9FF"/>
    <a:srgbClr val="FF5F49"/>
    <a:srgbClr val="79AFFF"/>
    <a:srgbClr val="EBF5FF"/>
    <a:srgbClr val="EBD9FF"/>
    <a:srgbClr val="FBD5D5"/>
    <a:srgbClr val="17375E"/>
    <a:srgbClr val="EFF7FF"/>
    <a:srgbClr val="E6F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1EBBBCC-DAD2-459C-BE2E-F6DE35CF9A28}" styleName="深色样式 2 - 强调 3/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3C2FFA5D-87B4-456A-9821-1D502468CF0F}" styleName="主题样式 1 - 个性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9"/>
    <p:restoredTop sz="91417"/>
  </p:normalViewPr>
  <p:slideViewPr>
    <p:cSldViewPr>
      <p:cViewPr varScale="1">
        <p:scale>
          <a:sx n="119" d="100"/>
          <a:sy n="119" d="100"/>
        </p:scale>
        <p:origin x="427" y="91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-3876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commentAuthors" Target="commentAuthor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Calibri" pitchFamily="34" charset="0"/>
                <a:ea typeface="宋体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1B71F79F-4065-CD4F-B030-8AC9BC5EDD8C}" type="datetimeFigureOut">
              <a:rPr lang="zh-CN" altLang="en-US"/>
              <a:pPr>
                <a:defRPr/>
              </a:pPr>
              <a:t>2021/11/26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Calibri" pitchFamily="34" charset="0"/>
                <a:ea typeface="宋体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D3D60977-06C0-474F-AF9C-D6EAEC0E5E4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062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itchFamily="34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C49E8CC4-97BD-D24C-B341-9DDAC8C5942D}" type="datetimeFigureOut">
              <a:rPr lang="zh-CN" altLang="en-US"/>
              <a:pPr>
                <a:defRPr/>
              </a:pPr>
              <a:t>2021/11/26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itchFamily="34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A14D5F60-C347-6D40-8E94-8EE9446EB09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04223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14D5F60-C347-6D40-8E94-8EE9446EB09D}" type="slidenum">
              <a:rPr lang="zh-CN" altLang="en-US" smtClean="0"/>
              <a:pPr>
                <a:defRPr/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0739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7462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3450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3697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7984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8200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1023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9266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1.emf"/><Relationship Id="rId18" Type="http://schemas.openxmlformats.org/officeDocument/2006/relationships/image" Target="../media/image16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12" Type="http://schemas.openxmlformats.org/officeDocument/2006/relationships/image" Target="../media/image10.emf"/><Relationship Id="rId17" Type="http://schemas.openxmlformats.org/officeDocument/2006/relationships/image" Target="../media/image15.emf"/><Relationship Id="rId2" Type="http://schemas.openxmlformats.org/officeDocument/2006/relationships/theme" Target="../theme/theme1.xml"/><Relationship Id="rId16" Type="http://schemas.openxmlformats.org/officeDocument/2006/relationships/image" Target="../media/image14.emf"/><Relationship Id="rId20" Type="http://schemas.openxmlformats.org/officeDocument/2006/relationships/image" Target="../media/image18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11" Type="http://schemas.openxmlformats.org/officeDocument/2006/relationships/image" Target="../media/image9.emf"/><Relationship Id="rId5" Type="http://schemas.openxmlformats.org/officeDocument/2006/relationships/image" Target="../media/image3.png"/><Relationship Id="rId15" Type="http://schemas.openxmlformats.org/officeDocument/2006/relationships/image" Target="../media/image13.emf"/><Relationship Id="rId10" Type="http://schemas.openxmlformats.org/officeDocument/2006/relationships/image" Target="../media/image8.emf"/><Relationship Id="rId19" Type="http://schemas.openxmlformats.org/officeDocument/2006/relationships/image" Target="../media/image17.emf"/><Relationship Id="rId4" Type="http://schemas.openxmlformats.org/officeDocument/2006/relationships/image" Target="../media/image2.emf"/><Relationship Id="rId9" Type="http://schemas.openxmlformats.org/officeDocument/2006/relationships/image" Target="../media/image7.emf"/><Relationship Id="rId14" Type="http://schemas.openxmlformats.org/officeDocument/2006/relationships/image" Target="../media/image12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6088" y="641350"/>
            <a:ext cx="3127375" cy="344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027" name="Picture 4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9638" y="1065213"/>
            <a:ext cx="2200275" cy="245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4" name="椭圆 3"/>
          <p:cNvSpPr/>
          <p:nvPr userDrawn="1"/>
        </p:nvSpPr>
        <p:spPr bwMode="auto">
          <a:xfrm>
            <a:off x="6381750" y="1384300"/>
            <a:ext cx="463550" cy="46355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+mn-ea"/>
              <a:ea typeface="+mn-ea"/>
              <a:cs typeface="+mn-cs"/>
            </a:endParaRPr>
          </a:p>
        </p:txBody>
      </p:sp>
      <p:sp>
        <p:nvSpPr>
          <p:cNvPr id="5" name="椭圆 4"/>
          <p:cNvSpPr/>
          <p:nvPr userDrawn="1"/>
        </p:nvSpPr>
        <p:spPr bwMode="auto">
          <a:xfrm>
            <a:off x="2451100" y="1749425"/>
            <a:ext cx="184150" cy="184150"/>
          </a:xfrm>
          <a:prstGeom prst="ellipse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+mn-ea"/>
              <a:ea typeface="+mn-ea"/>
              <a:cs typeface="+mn-cs"/>
            </a:endParaRPr>
          </a:p>
        </p:txBody>
      </p:sp>
      <p:sp>
        <p:nvSpPr>
          <p:cNvPr id="6" name="椭圆 10"/>
          <p:cNvSpPr>
            <a:spLocks noChangeArrowheads="1"/>
          </p:cNvSpPr>
          <p:nvPr userDrawn="1"/>
        </p:nvSpPr>
        <p:spPr bwMode="auto">
          <a:xfrm>
            <a:off x="5240338" y="3937000"/>
            <a:ext cx="219075" cy="21907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>
              <a:latin typeface="+mn-ea"/>
              <a:ea typeface="+mn-ea"/>
              <a:cs typeface="+mn-cs"/>
            </a:endParaRPr>
          </a:p>
        </p:txBody>
      </p:sp>
      <p:sp>
        <p:nvSpPr>
          <p:cNvPr id="7" name="椭圆 6"/>
          <p:cNvSpPr/>
          <p:nvPr userDrawn="1"/>
        </p:nvSpPr>
        <p:spPr bwMode="auto">
          <a:xfrm>
            <a:off x="3265488" y="1939925"/>
            <a:ext cx="128587" cy="130175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+mn-ea"/>
              <a:ea typeface="+mn-ea"/>
              <a:cs typeface="+mn-cs"/>
            </a:endParaRPr>
          </a:p>
        </p:txBody>
      </p:sp>
      <p:pic>
        <p:nvPicPr>
          <p:cNvPr id="1032" name="图片 17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2338" y="1581150"/>
            <a:ext cx="2174875" cy="59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5"/>
          <p:cNvPicPr>
            <a:picLocks noChangeAspect="1" noChangeArrowheads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7163" y="1460500"/>
            <a:ext cx="212725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034" name="组合 43"/>
          <p:cNvGrpSpPr>
            <a:grpSpLocks/>
          </p:cNvGrpSpPr>
          <p:nvPr userDrawn="1"/>
        </p:nvGrpSpPr>
        <p:grpSpPr bwMode="auto">
          <a:xfrm>
            <a:off x="6100763" y="1751013"/>
            <a:ext cx="130175" cy="128587"/>
            <a:chOff x="6101548" y="1750326"/>
            <a:chExt cx="129654" cy="129654"/>
          </a:xfrm>
        </p:grpSpPr>
        <p:sp>
          <p:nvSpPr>
            <p:cNvPr id="13" name="椭圆 12"/>
            <p:cNvSpPr/>
            <p:nvPr/>
          </p:nvSpPr>
          <p:spPr bwMode="auto">
            <a:xfrm>
              <a:off x="6101548" y="1750326"/>
              <a:ext cx="129654" cy="129654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066" name="Picture 6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5265" y="1772735"/>
              <a:ext cx="83801" cy="848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pic>
        <p:nvPicPr>
          <p:cNvPr id="1035" name="Picture 7"/>
          <p:cNvPicPr>
            <a:picLocks noChangeAspect="1" noChangeArrowheads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5900" y="3994150"/>
            <a:ext cx="11747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036" name="组合 41"/>
          <p:cNvGrpSpPr>
            <a:grpSpLocks/>
          </p:cNvGrpSpPr>
          <p:nvPr userDrawn="1"/>
        </p:nvGrpSpPr>
        <p:grpSpPr bwMode="auto">
          <a:xfrm>
            <a:off x="3040063" y="546100"/>
            <a:ext cx="225425" cy="225425"/>
            <a:chOff x="3039900" y="545911"/>
            <a:chExt cx="225188" cy="225188"/>
          </a:xfrm>
        </p:grpSpPr>
        <p:sp>
          <p:nvSpPr>
            <p:cNvPr id="17" name="椭圆 16"/>
            <p:cNvSpPr/>
            <p:nvPr/>
          </p:nvSpPr>
          <p:spPr bwMode="auto">
            <a:xfrm>
              <a:off x="3039900" y="545911"/>
              <a:ext cx="225188" cy="225188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2" name="Picture 8"/>
            <p:cNvPicPr>
              <a:picLocks noChangeAspect="1" noChangeArrowheads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1132" y="599829"/>
              <a:ext cx="142725" cy="1110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1037" name="组合 37"/>
          <p:cNvGrpSpPr>
            <a:grpSpLocks/>
          </p:cNvGrpSpPr>
          <p:nvPr userDrawn="1"/>
        </p:nvGrpSpPr>
        <p:grpSpPr bwMode="auto">
          <a:xfrm>
            <a:off x="2586038" y="3022600"/>
            <a:ext cx="185737" cy="185738"/>
            <a:chOff x="2586251" y="3022980"/>
            <a:chExt cx="88710" cy="88710"/>
          </a:xfrm>
          <a:solidFill>
            <a:srgbClr val="C00000"/>
          </a:solidFill>
        </p:grpSpPr>
        <p:sp>
          <p:nvSpPr>
            <p:cNvPr id="20" name="椭圆 9"/>
            <p:cNvSpPr>
              <a:spLocks noChangeArrowheads="1"/>
            </p:cNvSpPr>
            <p:nvPr/>
          </p:nvSpPr>
          <p:spPr bwMode="auto">
            <a:xfrm>
              <a:off x="2586251" y="3022980"/>
              <a:ext cx="88710" cy="8871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pPr>
                <a:buFont typeface="Arial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064" name="Picture 10"/>
            <p:cNvPicPr>
              <a:picLocks noChangeAspect="1" noChangeArrowheads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1596" y="3041493"/>
              <a:ext cx="45720" cy="5168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038" name="Picture 11"/>
          <p:cNvPicPr>
            <a:picLocks noChangeAspect="1" noChangeArrowheads="1"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4063" y="1974850"/>
            <a:ext cx="71437" cy="77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3" name="椭圆 22"/>
          <p:cNvSpPr/>
          <p:nvPr userDrawn="1"/>
        </p:nvSpPr>
        <p:spPr bwMode="auto">
          <a:xfrm>
            <a:off x="7113588" y="2630488"/>
            <a:ext cx="250825" cy="249237"/>
          </a:xfrm>
          <a:prstGeom prst="ellipse">
            <a:avLst/>
          </a:prstGeom>
          <a:solidFill>
            <a:schemeClr val="tx1">
              <a:lumMod val="75000"/>
              <a:lumOff val="25000"/>
              <a:alpha val="86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+mn-ea"/>
              <a:ea typeface="+mn-ea"/>
              <a:cs typeface="+mn-cs"/>
            </a:endParaRPr>
          </a:p>
        </p:txBody>
      </p:sp>
      <p:pic>
        <p:nvPicPr>
          <p:cNvPr id="1040" name="Picture 15"/>
          <p:cNvPicPr>
            <a:picLocks noChangeAspect="1" noChangeArrowheads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00" y="2690813"/>
            <a:ext cx="133350" cy="128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041" name="组合 46"/>
          <p:cNvGrpSpPr>
            <a:grpSpLocks/>
          </p:cNvGrpSpPr>
          <p:nvPr userDrawn="1"/>
        </p:nvGrpSpPr>
        <p:grpSpPr bwMode="auto">
          <a:xfrm>
            <a:off x="2327275" y="3386138"/>
            <a:ext cx="258763" cy="258762"/>
            <a:chOff x="1798978" y="3519004"/>
            <a:chExt cx="259307" cy="259307"/>
          </a:xfrm>
        </p:grpSpPr>
        <p:sp>
          <p:nvSpPr>
            <p:cNvPr id="26" name="椭圆 25"/>
            <p:cNvSpPr/>
            <p:nvPr/>
          </p:nvSpPr>
          <p:spPr bwMode="auto">
            <a:xfrm>
              <a:off x="1798978" y="3519004"/>
              <a:ext cx="259307" cy="259307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3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062" name="Picture 2"/>
            <p:cNvPicPr>
              <a:picLocks noChangeAspect="1" noChangeArrowheads="1"/>
            </p:cNvPicPr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1931" y="3616045"/>
              <a:ext cx="173401" cy="859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1042" name="组合 38"/>
          <p:cNvGrpSpPr>
            <a:grpSpLocks/>
          </p:cNvGrpSpPr>
          <p:nvPr userDrawn="1"/>
        </p:nvGrpSpPr>
        <p:grpSpPr bwMode="auto">
          <a:xfrm>
            <a:off x="976313" y="1046163"/>
            <a:ext cx="300037" cy="300037"/>
            <a:chOff x="748396" y="764271"/>
            <a:chExt cx="300782" cy="300782"/>
          </a:xfrm>
        </p:grpSpPr>
        <p:sp>
          <p:nvSpPr>
            <p:cNvPr id="29" name="椭圆 28"/>
            <p:cNvSpPr/>
            <p:nvPr/>
          </p:nvSpPr>
          <p:spPr bwMode="auto">
            <a:xfrm>
              <a:off x="748396" y="764271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4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060" name="Picture 4"/>
            <p:cNvPicPr>
              <a:picLocks noChangeAspect="1" noChangeArrowheads="1"/>
            </p:cNvPicPr>
            <p:nvPr/>
          </p:nvPicPr>
          <p:blipFill>
            <a:blip r:embed="rId1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730" y="856575"/>
              <a:ext cx="202114" cy="116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1043" name="组合 42"/>
          <p:cNvGrpSpPr>
            <a:grpSpLocks/>
          </p:cNvGrpSpPr>
          <p:nvPr userDrawn="1"/>
        </p:nvGrpSpPr>
        <p:grpSpPr bwMode="auto">
          <a:xfrm>
            <a:off x="1763713" y="4391025"/>
            <a:ext cx="300037" cy="300038"/>
            <a:chOff x="1365228" y="4292790"/>
            <a:chExt cx="300782" cy="300782"/>
          </a:xfrm>
        </p:grpSpPr>
        <p:sp>
          <p:nvSpPr>
            <p:cNvPr id="32" name="椭圆 31"/>
            <p:cNvSpPr/>
            <p:nvPr/>
          </p:nvSpPr>
          <p:spPr bwMode="auto">
            <a:xfrm>
              <a:off x="1365228" y="4292790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058" name="Picture 5"/>
            <p:cNvPicPr>
              <a:picLocks noChangeAspect="1" noChangeArrowheads="1"/>
            </p:cNvPicPr>
            <p:nvPr/>
          </p:nvPicPr>
          <p:blipFill>
            <a:blip r:embed="rId1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7745" y="4364405"/>
              <a:ext cx="195748" cy="1575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1044" name="组合 1"/>
          <p:cNvGrpSpPr>
            <a:grpSpLocks/>
          </p:cNvGrpSpPr>
          <p:nvPr userDrawn="1"/>
        </p:nvGrpSpPr>
        <p:grpSpPr bwMode="auto">
          <a:xfrm>
            <a:off x="1169988" y="2619375"/>
            <a:ext cx="300037" cy="300038"/>
            <a:chOff x="1169908" y="2618983"/>
            <a:chExt cx="300782" cy="300782"/>
          </a:xfrm>
        </p:grpSpPr>
        <p:sp>
          <p:nvSpPr>
            <p:cNvPr id="35" name="椭圆 34"/>
            <p:cNvSpPr/>
            <p:nvPr/>
          </p:nvSpPr>
          <p:spPr bwMode="auto">
            <a:xfrm>
              <a:off x="1169908" y="2618983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056" name="Picture 6"/>
            <p:cNvPicPr>
              <a:picLocks noChangeAspect="1" noChangeArrowheads="1"/>
            </p:cNvPicPr>
            <p:nvPr/>
          </p:nvPicPr>
          <p:blipFill>
            <a:blip r:embed="rId1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4468" y="2690598"/>
              <a:ext cx="211661" cy="181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1045" name="组合 49"/>
          <p:cNvGrpSpPr>
            <a:grpSpLocks/>
          </p:cNvGrpSpPr>
          <p:nvPr userDrawn="1"/>
        </p:nvGrpSpPr>
        <p:grpSpPr bwMode="auto">
          <a:xfrm>
            <a:off x="7781925" y="4046538"/>
            <a:ext cx="320675" cy="320675"/>
            <a:chOff x="7874758" y="4418464"/>
            <a:chExt cx="320722" cy="320722"/>
          </a:xfrm>
        </p:grpSpPr>
        <p:sp>
          <p:nvSpPr>
            <p:cNvPr id="38" name="椭圆 37"/>
            <p:cNvSpPr/>
            <p:nvPr/>
          </p:nvSpPr>
          <p:spPr bwMode="auto">
            <a:xfrm>
              <a:off x="7874758" y="4418464"/>
              <a:ext cx="320722" cy="32072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054" name="Picture 7"/>
            <p:cNvPicPr>
              <a:picLocks noChangeAspect="1" noChangeArrowheads="1"/>
            </p:cNvPicPr>
            <p:nvPr/>
          </p:nvPicPr>
          <p:blipFill>
            <a:blip r:embed="rId1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16039" y="4486736"/>
              <a:ext cx="238160" cy="1841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pic>
        <p:nvPicPr>
          <p:cNvPr id="1046" name="Picture 9"/>
          <p:cNvPicPr>
            <a:picLocks noChangeAspect="1" noChangeArrowheads="1"/>
          </p:cNvPicPr>
          <p:nvPr userDrawn="1"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675" y="1773238"/>
            <a:ext cx="1270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047" name="组合 45"/>
          <p:cNvGrpSpPr>
            <a:grpSpLocks/>
          </p:cNvGrpSpPr>
          <p:nvPr userDrawn="1"/>
        </p:nvGrpSpPr>
        <p:grpSpPr bwMode="auto">
          <a:xfrm>
            <a:off x="6613525" y="3433763"/>
            <a:ext cx="258763" cy="258762"/>
            <a:chOff x="8470946" y="4206098"/>
            <a:chExt cx="259071" cy="259071"/>
          </a:xfrm>
        </p:grpSpPr>
        <p:sp>
          <p:nvSpPr>
            <p:cNvPr id="42" name="椭圆 41"/>
            <p:cNvSpPr/>
            <p:nvPr/>
          </p:nvSpPr>
          <p:spPr bwMode="auto">
            <a:xfrm>
              <a:off x="8470946" y="4206098"/>
              <a:ext cx="259071" cy="259071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23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052" name="Picture 10"/>
            <p:cNvPicPr>
              <a:picLocks noChangeAspect="1" noChangeArrowheads="1"/>
            </p:cNvPicPr>
            <p:nvPr/>
          </p:nvPicPr>
          <p:blipFill>
            <a:blip r:embed="rId1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31343" y="4263316"/>
              <a:ext cx="144635" cy="14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1048" name="组合 44"/>
          <p:cNvGrpSpPr>
            <a:grpSpLocks/>
          </p:cNvGrpSpPr>
          <p:nvPr userDrawn="1"/>
        </p:nvGrpSpPr>
        <p:grpSpPr bwMode="auto">
          <a:xfrm>
            <a:off x="7308850" y="912813"/>
            <a:ext cx="322263" cy="322262"/>
            <a:chOff x="7308304" y="912172"/>
            <a:chExt cx="323068" cy="323068"/>
          </a:xfrm>
        </p:grpSpPr>
        <p:sp>
          <p:nvSpPr>
            <p:cNvPr id="45" name="椭圆 44"/>
            <p:cNvSpPr/>
            <p:nvPr/>
          </p:nvSpPr>
          <p:spPr bwMode="auto">
            <a:xfrm>
              <a:off x="7308304" y="912172"/>
              <a:ext cx="323068" cy="323068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31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050" name="Picture 11"/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68780" y="990154"/>
              <a:ext cx="202117" cy="1671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黑体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黑体" pitchFamily="49" charset="-122"/>
          <a:cs typeface="黑体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黑体" pitchFamily="49" charset="-122"/>
          <a:cs typeface="黑体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黑体" pitchFamily="49" charset="-122"/>
          <a:cs typeface="黑体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黑体" pitchFamily="49" charset="-122"/>
          <a:cs typeface="黑体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黑体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黑体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黑体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黑体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黑体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18"/>
          <p:cNvGrpSpPr>
            <a:grpSpLocks/>
          </p:cNvGrpSpPr>
          <p:nvPr userDrawn="1"/>
        </p:nvGrpSpPr>
        <p:grpSpPr bwMode="auto">
          <a:xfrm>
            <a:off x="493713" y="219075"/>
            <a:ext cx="92075" cy="314325"/>
            <a:chOff x="457200" y="427038"/>
            <a:chExt cx="127000" cy="431800"/>
          </a:xfrm>
        </p:grpSpPr>
        <p:sp>
          <p:nvSpPr>
            <p:cNvPr id="8" name="圆角矩形 1"/>
            <p:cNvSpPr>
              <a:spLocks noChangeArrowheads="1"/>
            </p:cNvSpPr>
            <p:nvPr/>
          </p:nvSpPr>
          <p:spPr bwMode="auto">
            <a:xfrm>
              <a:off x="457200" y="427038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cs typeface="+mn-cs"/>
              </a:endParaRPr>
            </a:p>
          </p:txBody>
        </p:sp>
        <p:sp>
          <p:nvSpPr>
            <p:cNvPr id="9" name="圆角矩形 23"/>
            <p:cNvSpPr>
              <a:spLocks noChangeArrowheads="1"/>
            </p:cNvSpPr>
            <p:nvPr/>
          </p:nvSpPr>
          <p:spPr bwMode="auto">
            <a:xfrm>
              <a:off x="457200" y="579695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latin typeface="Segoe UI" pitchFamily="34" charset="0"/>
                <a:ea typeface="微软雅黑" pitchFamily="34" charset="-122"/>
                <a:cs typeface="+mn-cs"/>
              </a:endParaRPr>
            </a:p>
          </p:txBody>
        </p:sp>
        <p:sp>
          <p:nvSpPr>
            <p:cNvPr id="10" name="圆角矩形 24"/>
            <p:cNvSpPr>
              <a:spLocks noChangeArrowheads="1"/>
            </p:cNvSpPr>
            <p:nvPr/>
          </p:nvSpPr>
          <p:spPr bwMode="auto">
            <a:xfrm>
              <a:off x="457200" y="732351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cs typeface="+mn-cs"/>
              </a:endParaRPr>
            </a:p>
          </p:txBody>
        </p:sp>
      </p:grpSp>
      <p:sp>
        <p:nvSpPr>
          <p:cNvPr id="11" name="矩形 10"/>
          <p:cNvSpPr/>
          <p:nvPr userDrawn="1"/>
        </p:nvSpPr>
        <p:spPr bwMode="auto">
          <a:xfrm>
            <a:off x="8167688" y="5049838"/>
            <a:ext cx="976312" cy="936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Segoe UI" pitchFamily="34" charset="0"/>
              <a:ea typeface="微软雅黑" pitchFamily="34" charset="-122"/>
              <a:cs typeface="+mn-cs"/>
            </a:endParaRPr>
          </a:p>
        </p:txBody>
      </p:sp>
      <p:sp>
        <p:nvSpPr>
          <p:cNvPr id="2052" name="圆角矩形 3"/>
          <p:cNvSpPr>
            <a:spLocks/>
          </p:cNvSpPr>
          <p:nvPr userDrawn="1"/>
        </p:nvSpPr>
        <p:spPr bwMode="auto">
          <a:xfrm>
            <a:off x="7375525" y="-19050"/>
            <a:ext cx="1281113" cy="627063"/>
          </a:xfrm>
          <a:custGeom>
            <a:avLst/>
            <a:gdLst>
              <a:gd name="T0" fmla="*/ 89880426 w 1180531"/>
              <a:gd name="T1" fmla="*/ 0 h 577560"/>
              <a:gd name="T2" fmla="*/ 89880426 w 1180531"/>
              <a:gd name="T3" fmla="*/ 36089051 h 577560"/>
              <a:gd name="T4" fmla="*/ 81085461 w 1180531"/>
              <a:gd name="T5" fmla="*/ 45111777 h 577560"/>
              <a:gd name="T6" fmla="*/ 8794875 w 1180531"/>
              <a:gd name="T7" fmla="*/ 45111777 h 577560"/>
              <a:gd name="T8" fmla="*/ 0 w 1180531"/>
              <a:gd name="T9" fmla="*/ 36089051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053" name="图片 1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50800"/>
            <a:ext cx="1265238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0" y="5049838"/>
            <a:ext cx="8113713" cy="9366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>
              <a:latin typeface="Segoe UI" pitchFamily="34" charset="0"/>
              <a:ea typeface="微软雅黑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黑体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  <a:cs typeface="黑体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  <a:cs typeface="黑体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  <a:cs typeface="黑体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  <a:cs typeface="黑体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黑体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黑体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4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黑体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黑体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黑体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8167688" y="5049838"/>
            <a:ext cx="976312" cy="936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Segoe UI" pitchFamily="34" charset="0"/>
              <a:ea typeface="微软雅黑" pitchFamily="34" charset="-122"/>
              <a:cs typeface="+mn-cs"/>
            </a:endParaRPr>
          </a:p>
        </p:txBody>
      </p:sp>
      <p:sp>
        <p:nvSpPr>
          <p:cNvPr id="3075" name="圆角矩形 3"/>
          <p:cNvSpPr>
            <a:spLocks/>
          </p:cNvSpPr>
          <p:nvPr userDrawn="1"/>
        </p:nvSpPr>
        <p:spPr bwMode="auto">
          <a:xfrm>
            <a:off x="7375525" y="-19050"/>
            <a:ext cx="1281113" cy="627063"/>
          </a:xfrm>
          <a:custGeom>
            <a:avLst/>
            <a:gdLst>
              <a:gd name="T0" fmla="*/ 89880426 w 1180531"/>
              <a:gd name="T1" fmla="*/ 0 h 577560"/>
              <a:gd name="T2" fmla="*/ 89880426 w 1180531"/>
              <a:gd name="T3" fmla="*/ 36089051 h 577560"/>
              <a:gd name="T4" fmla="*/ 81085461 w 1180531"/>
              <a:gd name="T5" fmla="*/ 45111777 h 577560"/>
              <a:gd name="T6" fmla="*/ 8794875 w 1180531"/>
              <a:gd name="T7" fmla="*/ 45111777 h 577560"/>
              <a:gd name="T8" fmla="*/ 0 w 1180531"/>
              <a:gd name="T9" fmla="*/ 36089051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6" name="图片 1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50800"/>
            <a:ext cx="1265238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0" y="5049838"/>
            <a:ext cx="8113713" cy="9366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>
              <a:latin typeface="Segoe UI" pitchFamily="34" charset="0"/>
              <a:ea typeface="微软雅黑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黑体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  <a:cs typeface="黑体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  <a:cs typeface="黑体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  <a:cs typeface="黑体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  <a:cs typeface="黑体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黑体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黑体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4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黑体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黑体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黑体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9"/>
          <p:cNvGrpSpPr>
            <a:grpSpLocks/>
          </p:cNvGrpSpPr>
          <p:nvPr userDrawn="1"/>
        </p:nvGrpSpPr>
        <p:grpSpPr bwMode="auto">
          <a:xfrm>
            <a:off x="1944688" y="1817688"/>
            <a:ext cx="5148262" cy="787400"/>
            <a:chOff x="1944836" y="1767215"/>
            <a:chExt cx="5147444" cy="787423"/>
          </a:xfrm>
        </p:grpSpPr>
        <p:pic>
          <p:nvPicPr>
            <p:cNvPr id="4099" name="图片 5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1020" y="1767215"/>
              <a:ext cx="1907084" cy="787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9" name="直接连接符 8"/>
            <p:cNvCxnSpPr/>
            <p:nvPr/>
          </p:nvCxnSpPr>
          <p:spPr>
            <a:xfrm>
              <a:off x="1944836" y="2211728"/>
              <a:ext cx="165549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5436781" y="2211728"/>
              <a:ext cx="165549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黑体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黑体" pitchFamily="49" charset="-122"/>
          <a:cs typeface="黑体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黑体" pitchFamily="49" charset="-122"/>
          <a:cs typeface="黑体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黑体" pitchFamily="49" charset="-122"/>
          <a:cs typeface="黑体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黑体" pitchFamily="49" charset="-122"/>
          <a:cs typeface="黑体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黑体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黑体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黑体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黑体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黑体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4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4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4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Box 3"/>
          <p:cNvSpPr txBox="1">
            <a:spLocks noChangeArrowheads="1"/>
          </p:cNvSpPr>
          <p:nvPr/>
        </p:nvSpPr>
        <p:spPr bwMode="auto">
          <a:xfrm>
            <a:off x="3995778" y="2211279"/>
            <a:ext cx="110799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3600" b="1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线程</a:t>
            </a:r>
            <a:endParaRPr lang="en-US" altLang="zh-CN" sz="3600" b="1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0143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MH_Others_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58975" y="1917700"/>
            <a:ext cx="644525" cy="264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68580" tIns="34290" rIns="68580" bIns="34290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en-US" altLang="zh-CN" sz="360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Contents</a:t>
            </a:r>
          </a:p>
        </p:txBody>
      </p:sp>
      <p:sp>
        <p:nvSpPr>
          <p:cNvPr id="7" name="MH_Others_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98625" y="915988"/>
            <a:ext cx="936625" cy="93503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0">
            <a:solidFill>
              <a:srgbClr val="FFFFFF">
                <a:alpha val="49000"/>
              </a:srgbClr>
            </a:solidFill>
          </a:ln>
        </p:spPr>
        <p:txBody>
          <a:bodyPr lIns="68580" tIns="34290" rIns="68580" bIns="13500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7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</a:p>
        </p:txBody>
      </p:sp>
      <p:sp>
        <p:nvSpPr>
          <p:cNvPr id="8" name="MH_Others_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331640" y="1759696"/>
            <a:ext cx="734366" cy="734366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ln w="3175">
                  <a:solidFill>
                    <a:srgbClr val="FFFFFF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</a:p>
        </p:txBody>
      </p:sp>
      <p:sp>
        <p:nvSpPr>
          <p:cNvPr id="8196" name="TextBox 9"/>
          <p:cNvSpPr txBox="1">
            <a:spLocks noChangeArrowheads="1"/>
          </p:cNvSpPr>
          <p:nvPr/>
        </p:nvSpPr>
        <p:spPr bwMode="auto">
          <a:xfrm>
            <a:off x="3039106" y="555526"/>
            <a:ext cx="4319588" cy="347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1450" indent="-1714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endParaRPr lang="en-US" altLang="zh-CN" sz="1400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FF0000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 线程的介绍</a:t>
            </a:r>
            <a:endParaRPr lang="en-US" altLang="zh-CN" sz="1400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en-US" altLang="zh-CN" sz="1400" dirty="0">
                <a:solidFill>
                  <a:srgbClr val="000000"/>
                </a:solidFill>
                <a:latin typeface="微软雅黑" charset="-122"/>
                <a:ea typeface="微软雅黑" charset="-122"/>
              </a:rPr>
              <a:t> </a:t>
            </a:r>
            <a:r>
              <a:rPr lang="zh-CN" altLang="en-US" sz="1400" dirty="0">
                <a:latin typeface="微软雅黑" charset="-122"/>
                <a:ea typeface="微软雅黑" charset="-122"/>
              </a:rPr>
              <a:t>多线程完成多任务</a:t>
            </a:r>
            <a:endParaRPr lang="en-US" altLang="zh-CN" sz="1400" dirty="0"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latin typeface="微软雅黑" charset="-122"/>
                <a:ea typeface="微软雅黑" charset="-122"/>
              </a:rPr>
              <a:t> 线程执行带有参数的任务</a:t>
            </a:r>
            <a:endParaRPr lang="en-US" altLang="zh-CN" sz="1400" dirty="0"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</a:t>
            </a:r>
            <a:r>
              <a:rPr lang="zh-CN" altLang="en-US" sz="1400" dirty="0">
                <a:latin typeface="微软雅黑" charset="-122"/>
                <a:ea typeface="微软雅黑" charset="-122"/>
              </a:rPr>
              <a:t>主线程和子线程的结束顺序</a:t>
            </a:r>
            <a:endParaRPr lang="en-US" altLang="zh-TW" sz="1400" dirty="0"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线程间的执行顺序</a:t>
            </a:r>
            <a:endParaRPr lang="en-US" altLang="zh-CN" sz="140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线程间共享全局变量 </a:t>
            </a:r>
            <a:endParaRPr lang="en-US" altLang="zh-CN" sz="140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进程和线程对比</a:t>
            </a:r>
            <a:endParaRPr lang="en-US" altLang="zh-CN" sz="140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793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C7E91C8-CE50-254E-BEFF-6BD22C8DD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1.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线程的介绍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A99D3075-856B-0747-816F-97979A6D8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375" y="1131888"/>
            <a:ext cx="445070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1.1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实现多任务的另一种形式</a:t>
            </a:r>
          </a:p>
        </p:txBody>
      </p:sp>
      <p:sp>
        <p:nvSpPr>
          <p:cNvPr id="4" name="TextBox 15">
            <a:extLst>
              <a:ext uri="{FF2B5EF4-FFF2-40B4-BE49-F238E27FC236}">
                <a16:creationId xmlns:a16="http://schemas.microsoft.com/office/drawing/2014/main" id="{BC3DB5BB-052D-9642-B4C5-784B0126E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375" y="1981032"/>
            <a:ext cx="6826969" cy="306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在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Python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中，想要实现多任务还可以使用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多线程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来完成。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826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1.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线程的介绍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841375" y="1131888"/>
            <a:ext cx="351472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1.2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为什么使用多线程</a:t>
            </a: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?</a:t>
            </a:r>
            <a:endParaRPr lang="zh-CN" altLang="en-US" b="1" dirty="0">
              <a:solidFill>
                <a:srgbClr val="40404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0" name="TextBox 15"/>
          <p:cNvSpPr txBox="1">
            <a:spLocks noChangeArrowheads="1"/>
          </p:cNvSpPr>
          <p:nvPr/>
        </p:nvSpPr>
        <p:spPr bwMode="auto">
          <a:xfrm>
            <a:off x="841375" y="1981032"/>
            <a:ext cx="6970985" cy="1517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zh-CN" altLang="en-US" sz="1050" dirty="0">
                <a:latin typeface="微软雅黑" charset="-122"/>
                <a:ea typeface="微软雅黑" charset="-122"/>
              </a:rPr>
              <a:t>进程是分配资源的最小单位 </a:t>
            </a:r>
            <a:r>
              <a:rPr lang="en-US" altLang="zh-CN" sz="1050" dirty="0">
                <a:latin typeface="微软雅黑" charset="-122"/>
                <a:ea typeface="微软雅黑" charset="-122"/>
              </a:rPr>
              <a:t>,</a:t>
            </a:r>
            <a:r>
              <a:rPr lang="zh-CN" altLang="en-US" sz="1050" dirty="0">
                <a:latin typeface="微软雅黑" charset="-122"/>
                <a:ea typeface="微软雅黑" charset="-122"/>
              </a:rPr>
              <a:t> 一旦创建一个进程就会分配一定的资源 </a:t>
            </a:r>
            <a:r>
              <a:rPr lang="en-US" altLang="zh-CN" sz="1050" dirty="0">
                <a:latin typeface="微软雅黑" charset="-122"/>
                <a:ea typeface="微软雅黑" charset="-122"/>
              </a:rPr>
              <a:t>,</a:t>
            </a:r>
            <a:r>
              <a:rPr lang="zh-CN" altLang="en-US" sz="1050" dirty="0">
                <a:latin typeface="微软雅黑" charset="-122"/>
                <a:ea typeface="微软雅黑" charset="-122"/>
              </a:rPr>
              <a:t> 就像跟两个人聊</a:t>
            </a:r>
            <a:r>
              <a:rPr lang="en-US" altLang="zh-CN" sz="1050" dirty="0">
                <a:latin typeface="微软雅黑" charset="-122"/>
                <a:ea typeface="微软雅黑" charset="-122"/>
              </a:rPr>
              <a:t>QQ</a:t>
            </a:r>
            <a:r>
              <a:rPr lang="zh-CN" altLang="en-US" sz="1050" dirty="0">
                <a:latin typeface="微软雅黑" charset="-122"/>
                <a:ea typeface="微软雅黑" charset="-122"/>
              </a:rPr>
              <a:t>就需要打开两个</a:t>
            </a:r>
            <a:r>
              <a:rPr lang="en-US" altLang="zh-CN" sz="1050" dirty="0">
                <a:latin typeface="微软雅黑" charset="-122"/>
                <a:ea typeface="微软雅黑" charset="-122"/>
              </a:rPr>
              <a:t>QQ</a:t>
            </a:r>
            <a:r>
              <a:rPr lang="zh-CN" altLang="en-US" sz="1050" dirty="0">
                <a:latin typeface="微软雅黑" charset="-122"/>
                <a:ea typeface="微软雅黑" charset="-122"/>
              </a:rPr>
              <a:t>软件一样是比较浪费资源的 </a:t>
            </a:r>
            <a:r>
              <a:rPr lang="en-US" altLang="zh-CN" sz="1050" dirty="0">
                <a:latin typeface="微软雅黑" charset="-122"/>
                <a:ea typeface="微软雅黑" charset="-122"/>
              </a:rPr>
              <a:t>.</a:t>
            </a:r>
            <a:r>
              <a:rPr lang="zh-CN" altLang="en-US" sz="1050" dirty="0">
                <a:latin typeface="微软雅黑" charset="-122"/>
                <a:ea typeface="微软雅黑" charset="-122"/>
              </a:rPr>
              <a:t> </a:t>
            </a:r>
            <a:endParaRPr lang="en-US" altLang="zh-CN" sz="1050" dirty="0">
              <a:latin typeface="微软雅黑" charset="-122"/>
              <a:ea typeface="微软雅黑" charset="-122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050" dirty="0">
                <a:latin typeface="微软雅黑" charset="-122"/>
                <a:ea typeface="微软雅黑" charset="-122"/>
              </a:rPr>
              <a:t>线程是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程序执行的最小单位 </a:t>
            </a:r>
            <a:r>
              <a:rPr lang="en-US" altLang="zh-CN" sz="1050" dirty="0">
                <a:latin typeface="微软雅黑" charset="-122"/>
                <a:ea typeface="微软雅黑" charset="-122"/>
              </a:rPr>
              <a:t>,</a:t>
            </a:r>
            <a:r>
              <a:rPr lang="zh-CN" altLang="en-US" sz="1050" dirty="0">
                <a:latin typeface="微软雅黑" charset="-122"/>
                <a:ea typeface="微软雅黑" charset="-122"/>
              </a:rPr>
              <a:t> 实际上进程只负责分配资源 </a:t>
            </a:r>
            <a:r>
              <a:rPr lang="en-US" altLang="zh-CN" sz="1050" dirty="0">
                <a:latin typeface="微软雅黑" charset="-122"/>
                <a:ea typeface="微软雅黑" charset="-122"/>
              </a:rPr>
              <a:t>,</a:t>
            </a:r>
            <a:r>
              <a:rPr lang="zh-CN" altLang="en-US" sz="1050" dirty="0">
                <a:latin typeface="微软雅黑" charset="-122"/>
                <a:ea typeface="微软雅黑" charset="-122"/>
              </a:rPr>
              <a:t> 而利用这些资源执行程序的是线程 </a:t>
            </a:r>
            <a:r>
              <a:rPr lang="en-US" altLang="zh-CN" sz="1050" dirty="0">
                <a:latin typeface="微软雅黑" charset="-122"/>
                <a:ea typeface="微软雅黑" charset="-122"/>
              </a:rPr>
              <a:t>,</a:t>
            </a:r>
            <a:r>
              <a:rPr lang="zh-CN" altLang="en-US" sz="1050" dirty="0">
                <a:latin typeface="微软雅黑" charset="-122"/>
                <a:ea typeface="微软雅黑" charset="-122"/>
              </a:rPr>
              <a:t> 也就说进程是线程的容器 </a:t>
            </a:r>
            <a:r>
              <a:rPr lang="en-US" altLang="zh-CN" sz="1050" dirty="0">
                <a:latin typeface="微软雅黑" charset="-122"/>
                <a:ea typeface="微软雅黑" charset="-122"/>
              </a:rPr>
              <a:t>,</a:t>
            </a:r>
            <a:r>
              <a:rPr lang="zh-CN" altLang="en-US" sz="1050" dirty="0">
                <a:latin typeface="微软雅黑" charset="-122"/>
                <a:ea typeface="微软雅黑" charset="-122"/>
              </a:rPr>
              <a:t> 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一个进程中最少有一个线程</a:t>
            </a:r>
            <a:r>
              <a:rPr lang="zh-CN" altLang="en-US" sz="1050" dirty="0">
                <a:latin typeface="微软雅黑" charset="-122"/>
                <a:ea typeface="微软雅黑" charset="-122"/>
              </a:rPr>
              <a:t>来负责执行程序 </a:t>
            </a:r>
            <a:r>
              <a:rPr lang="en-US" altLang="zh-CN" sz="1050" dirty="0">
                <a:latin typeface="微软雅黑" charset="-122"/>
                <a:ea typeface="微软雅黑" charset="-122"/>
              </a:rPr>
              <a:t>.</a:t>
            </a:r>
            <a:r>
              <a:rPr lang="zh-CN" altLang="en-US" sz="1050" dirty="0">
                <a:latin typeface="微软雅黑" charset="-122"/>
                <a:ea typeface="微软雅黑" charset="-122"/>
              </a:rPr>
              <a:t>  同时线程自己不拥有系统资源，只需要一点儿在运行中必不可少的资源，但它可与同属一个进程的其它线程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共享进程所拥有的全部资源 </a:t>
            </a:r>
            <a:r>
              <a:rPr lang="en-US" altLang="zh-CN" sz="1050" dirty="0">
                <a:latin typeface="微软雅黑" charset="-122"/>
                <a:ea typeface="微软雅黑" charset="-122"/>
              </a:rPr>
              <a:t>.</a:t>
            </a:r>
            <a:r>
              <a:rPr lang="zh-CN" altLang="en-US" sz="1050" dirty="0">
                <a:latin typeface="微软雅黑" charset="-122"/>
                <a:ea typeface="微软雅黑" charset="-122"/>
              </a:rPr>
              <a:t> 这就像通过一个</a:t>
            </a:r>
            <a:r>
              <a:rPr lang="en-US" altLang="zh-CN" sz="1050" dirty="0">
                <a:latin typeface="微软雅黑" charset="-122"/>
                <a:ea typeface="微软雅黑" charset="-122"/>
              </a:rPr>
              <a:t>QQ</a:t>
            </a:r>
            <a:r>
              <a:rPr lang="zh-CN" altLang="en-US" sz="1050" dirty="0">
                <a:latin typeface="微软雅黑" charset="-122"/>
                <a:ea typeface="微软雅黑" charset="-122"/>
              </a:rPr>
              <a:t>软件</a:t>
            </a:r>
            <a:r>
              <a:rPr lang="en-US" altLang="zh-CN" sz="1050" dirty="0">
                <a:latin typeface="微软雅黑" charset="-122"/>
                <a:ea typeface="微软雅黑" charset="-122"/>
              </a:rPr>
              <a:t>(</a:t>
            </a:r>
            <a:r>
              <a:rPr lang="zh-CN" altLang="en-US" sz="1050" dirty="0">
                <a:latin typeface="微软雅黑" charset="-122"/>
                <a:ea typeface="微软雅黑" charset="-122"/>
              </a:rPr>
              <a:t>一个进程</a:t>
            </a:r>
            <a:r>
              <a:rPr lang="en-US" altLang="zh-CN" sz="1050" dirty="0">
                <a:latin typeface="微软雅黑" charset="-122"/>
                <a:ea typeface="微软雅黑" charset="-122"/>
              </a:rPr>
              <a:t>)</a:t>
            </a:r>
            <a:r>
              <a:rPr lang="zh-CN" altLang="en-US" sz="1050" dirty="0">
                <a:latin typeface="微软雅黑" charset="-122"/>
                <a:ea typeface="微软雅黑" charset="-122"/>
              </a:rPr>
              <a:t>打开两个窗口</a:t>
            </a:r>
            <a:r>
              <a:rPr lang="en-US" altLang="zh-CN" sz="1050" dirty="0">
                <a:latin typeface="微软雅黑" charset="-122"/>
                <a:ea typeface="微软雅黑" charset="-122"/>
              </a:rPr>
              <a:t>(</a:t>
            </a:r>
            <a:r>
              <a:rPr lang="zh-CN" altLang="en-US" sz="1050" dirty="0">
                <a:latin typeface="微软雅黑" charset="-122"/>
                <a:ea typeface="微软雅黑" charset="-122"/>
              </a:rPr>
              <a:t>两个线程</a:t>
            </a:r>
            <a:r>
              <a:rPr lang="en-US" altLang="zh-CN" sz="1050" dirty="0">
                <a:latin typeface="微软雅黑" charset="-122"/>
                <a:ea typeface="微软雅黑" charset="-122"/>
              </a:rPr>
              <a:t>)</a:t>
            </a:r>
            <a:r>
              <a:rPr lang="zh-CN" altLang="en-US" sz="1050" dirty="0">
                <a:latin typeface="微软雅黑" charset="-122"/>
                <a:ea typeface="微软雅黑" charset="-122"/>
              </a:rPr>
              <a:t>跟两个人聊天一样 </a:t>
            </a:r>
            <a:r>
              <a:rPr lang="en-US" altLang="zh-CN" sz="1050" dirty="0">
                <a:latin typeface="微软雅黑" charset="-122"/>
                <a:ea typeface="微软雅黑" charset="-122"/>
              </a:rPr>
              <a:t>,</a:t>
            </a:r>
            <a:r>
              <a:rPr lang="zh-CN" altLang="en-US" sz="1050" dirty="0">
                <a:latin typeface="微软雅黑" charset="-122"/>
                <a:ea typeface="微软雅黑" charset="-122"/>
              </a:rPr>
              <a:t> 实现多任务的同时也节省了资源 </a:t>
            </a:r>
            <a:r>
              <a:rPr lang="en-US" altLang="zh-CN" sz="1050" dirty="0">
                <a:latin typeface="微软雅黑" charset="-122"/>
                <a:ea typeface="微软雅黑" charset="-122"/>
              </a:rPr>
              <a:t>.</a:t>
            </a:r>
            <a:r>
              <a:rPr lang="zh-CN" altLang="en-US" sz="1050" dirty="0">
                <a:latin typeface="微软雅黑" charset="-122"/>
                <a:ea typeface="微软雅黑" charset="-122"/>
              </a:rPr>
              <a:t> </a:t>
            </a:r>
            <a:endParaRPr lang="en-US" altLang="zh-CN" sz="1050" dirty="0"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4337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C7E91C8-CE50-254E-BEFF-6BD22C8DD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1.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线程的介绍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A99D3075-856B-0747-816F-97979A6D8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375" y="1131888"/>
            <a:ext cx="445070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1.3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多线程的作用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8F2E357-4BF4-C648-B4DD-DA81C5171C8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067694"/>
            <a:ext cx="2712425" cy="1738135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1A77ED8-981E-2B41-8886-90980EA3443C}"/>
              </a:ext>
            </a:extLst>
          </p:cNvPr>
          <p:cNvSpPr txBox="1"/>
          <p:nvPr/>
        </p:nvSpPr>
        <p:spPr>
          <a:xfrm>
            <a:off x="4644008" y="2067694"/>
            <a:ext cx="17043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05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同样需求使用多线程完成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3974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1.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线程的介绍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841375" y="1131888"/>
            <a:ext cx="2218457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1.4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多线程的作用</a:t>
            </a:r>
          </a:p>
        </p:txBody>
      </p:sp>
      <p:sp>
        <p:nvSpPr>
          <p:cNvPr id="10" name="矩形 9"/>
          <p:cNvSpPr/>
          <p:nvPr/>
        </p:nvSpPr>
        <p:spPr>
          <a:xfrm>
            <a:off x="829950" y="3275564"/>
            <a:ext cx="1869842" cy="150294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  <a:cs typeface="宋体" charset="0"/>
              </a:rPr>
              <a:t>                      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  <a:cs typeface="宋体" charset="0"/>
              </a:rPr>
              <a:t>主线程执行</a:t>
            </a:r>
            <a:endParaRPr lang="en-US" altLang="zh-CN" sz="1050" b="1" dirty="0">
              <a:solidFill>
                <a:srgbClr val="FF0000"/>
              </a:solidFill>
              <a:latin typeface="微软雅黑" charset="-122"/>
              <a:ea typeface="微软雅黑" charset="-122"/>
              <a:cs typeface="宋体" charset="0"/>
            </a:endParaRPr>
          </a:p>
          <a:p>
            <a:pPr algn="ctr"/>
            <a:endParaRPr kumimoji="1" lang="en-US" altLang="zh-CN" dirty="0"/>
          </a:p>
          <a:p>
            <a:pPr algn="ctr"/>
            <a:endParaRPr kumimoji="1" lang="en-US" altLang="zh-CN" dirty="0"/>
          </a:p>
          <a:p>
            <a:pPr algn="ctr"/>
            <a:r>
              <a:rPr kumimoji="1" lang="zh-CN" altLang="en-US" dirty="0"/>
              <a:t>                 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主线程执行</a:t>
            </a:r>
            <a:endParaRPr lang="en-US" altLang="zh-CN" sz="1050" b="1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4" name="下箭头 13"/>
          <p:cNvSpPr/>
          <p:nvPr/>
        </p:nvSpPr>
        <p:spPr>
          <a:xfrm flipH="1">
            <a:off x="1697649" y="3387498"/>
            <a:ext cx="45719" cy="360622"/>
          </a:xfrm>
          <a:prstGeom prst="downArrow">
            <a:avLst/>
          </a:prstGeom>
          <a:noFill/>
          <a:ln w="889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270877" y="1887674"/>
            <a:ext cx="944984" cy="32403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hello.py</a:t>
            </a:r>
            <a:endParaRPr kumimoji="1" lang="en-US" altLang="zh-CN" dirty="0"/>
          </a:p>
        </p:txBody>
      </p:sp>
      <p:cxnSp>
        <p:nvCxnSpPr>
          <p:cNvPr id="3" name="直线箭头连接符 2"/>
          <p:cNvCxnSpPr>
            <a:cxnSpLocks/>
          </p:cNvCxnSpPr>
          <p:nvPr/>
        </p:nvCxnSpPr>
        <p:spPr>
          <a:xfrm>
            <a:off x="1720509" y="2263640"/>
            <a:ext cx="0" cy="9609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1372166" y="3822233"/>
            <a:ext cx="682991" cy="2539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050" dirty="0" err="1">
                <a:solidFill>
                  <a:srgbClr val="262626"/>
                </a:solidFill>
                <a:latin typeface="微软雅黑" charset="-122"/>
                <a:ea typeface="微软雅黑" charset="-122"/>
                <a:cs typeface="Microsoft YaHei" charset="-122"/>
              </a:rPr>
              <a:t>func_a</a:t>
            </a:r>
            <a:endParaRPr kumimoji="1"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942769" y="2286504"/>
            <a:ext cx="1811491" cy="790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050" dirty="0">
                <a:latin typeface="微软雅黑" charset="-122"/>
                <a:ea typeface="微软雅黑" charset="-122"/>
                <a:cs typeface="Microsoft YaHei" charset="-122"/>
              </a:rPr>
              <a:t>在进程中会默认有一个线程用来执行程序</a:t>
            </a:r>
            <a:r>
              <a:rPr kumimoji="1" lang="en-US" altLang="zh-CN" sz="1050" dirty="0">
                <a:latin typeface="微软雅黑" charset="-122"/>
                <a:ea typeface="微软雅黑" charset="-122"/>
                <a:cs typeface="Microsoft YaHei" charset="-122"/>
              </a:rPr>
              <a:t>,</a:t>
            </a:r>
            <a:r>
              <a:rPr kumimoji="1" lang="zh-CN" altLang="en-US" sz="1050" dirty="0">
                <a:latin typeface="微软雅黑" charset="-122"/>
                <a:ea typeface="微软雅黑" charset="-122"/>
                <a:cs typeface="Microsoft YaHei" charset="-122"/>
              </a:rPr>
              <a:t> 这个线程称之为</a:t>
            </a:r>
            <a:r>
              <a:rPr kumimoji="1"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  <a:cs typeface="Microsoft YaHei" charset="-122"/>
              </a:rPr>
              <a:t>主线程</a:t>
            </a:r>
            <a:endParaRPr kumimoji="1" lang="zh-CN" altLang="en-US" sz="1050" b="1" dirty="0">
              <a:solidFill>
                <a:srgbClr val="FF0000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427984" y="3275564"/>
            <a:ext cx="3960440" cy="150294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zh-CN" dirty="0"/>
          </a:p>
          <a:p>
            <a:pPr algn="ctr"/>
            <a:endParaRPr kumimoji="1" lang="en-US" altLang="zh-CN" dirty="0"/>
          </a:p>
          <a:p>
            <a:pPr algn="ctr"/>
            <a:endParaRPr kumimoji="1" lang="en-US" altLang="zh-CN" dirty="0"/>
          </a:p>
        </p:txBody>
      </p:sp>
      <p:sp>
        <p:nvSpPr>
          <p:cNvPr id="22" name="下箭头 21"/>
          <p:cNvSpPr/>
          <p:nvPr/>
        </p:nvSpPr>
        <p:spPr>
          <a:xfrm flipH="1">
            <a:off x="5364088" y="3396786"/>
            <a:ext cx="45719" cy="552405"/>
          </a:xfrm>
          <a:prstGeom prst="downArrow">
            <a:avLst/>
          </a:prstGeom>
          <a:noFill/>
          <a:ln w="889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5772587" y="1887674"/>
            <a:ext cx="944984" cy="32403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hello.py</a:t>
            </a:r>
            <a:endParaRPr kumimoji="1" lang="en-US" altLang="zh-CN" dirty="0"/>
          </a:p>
        </p:txBody>
      </p:sp>
      <p:cxnSp>
        <p:nvCxnSpPr>
          <p:cNvPr id="25" name="直线箭头连接符 24"/>
          <p:cNvCxnSpPr>
            <a:cxnSpLocks/>
          </p:cNvCxnSpPr>
          <p:nvPr/>
        </p:nvCxnSpPr>
        <p:spPr>
          <a:xfrm>
            <a:off x="6241631" y="2317187"/>
            <a:ext cx="0" cy="9026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4956984" y="4181699"/>
            <a:ext cx="905646" cy="2539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执行</a:t>
            </a:r>
            <a:r>
              <a:rPr lang="en-US" altLang="zh-CN" sz="1050" dirty="0" err="1">
                <a:solidFill>
                  <a:srgbClr val="262626"/>
                </a:solidFill>
                <a:latin typeface="微软雅黑" charset="-122"/>
                <a:ea typeface="微软雅黑" charset="-122"/>
              </a:rPr>
              <a:t>func_a</a:t>
            </a:r>
            <a:endParaRPr kumimoji="1"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516216" y="2211710"/>
            <a:ext cx="2088232" cy="548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在进程创建一个新的线程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  <a:cs typeface="Microsoft YaHei" charset="-122"/>
              </a:rPr>
              <a:t>这个线程称之为</a:t>
            </a:r>
            <a:r>
              <a:rPr kumimoji="1"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  <a:cs typeface="Microsoft YaHei" charset="-122"/>
              </a:rPr>
              <a:t>子线程</a:t>
            </a:r>
            <a:endParaRPr kumimoji="1" lang="zh-CN" altLang="en-US" sz="1050" b="1" dirty="0">
              <a:solidFill>
                <a:srgbClr val="FF0000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EC7702A-49C8-E74C-8B87-338B77C19B34}"/>
              </a:ext>
            </a:extLst>
          </p:cNvPr>
          <p:cNvSpPr txBox="1"/>
          <p:nvPr/>
        </p:nvSpPr>
        <p:spPr>
          <a:xfrm>
            <a:off x="829950" y="3333026"/>
            <a:ext cx="36420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b="1" dirty="0"/>
              <a:t>主</a:t>
            </a:r>
            <a:endParaRPr kumimoji="1" lang="en-US" altLang="zh-CN" sz="1400" b="1" dirty="0"/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b="1" dirty="0"/>
              <a:t>进</a:t>
            </a:r>
            <a:endParaRPr kumimoji="1" lang="en-US" altLang="zh-CN" sz="1400" b="1" dirty="0"/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b="1" dirty="0"/>
              <a:t>程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0B5C917-D91B-1341-B6C9-28DF7C842191}"/>
              </a:ext>
            </a:extLst>
          </p:cNvPr>
          <p:cNvSpPr txBox="1"/>
          <p:nvPr/>
        </p:nvSpPr>
        <p:spPr>
          <a:xfrm>
            <a:off x="1372378" y="4495860"/>
            <a:ext cx="696259" cy="2539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050" dirty="0" err="1">
                <a:solidFill>
                  <a:srgbClr val="262626"/>
                </a:solidFill>
                <a:latin typeface="微软雅黑" charset="-122"/>
                <a:ea typeface="微软雅黑" charset="-122"/>
                <a:cs typeface="Microsoft YaHei" charset="-122"/>
              </a:rPr>
              <a:t>func_b</a:t>
            </a:r>
            <a:endParaRPr kumimoji="1"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41" name="下箭头 40">
            <a:extLst>
              <a:ext uri="{FF2B5EF4-FFF2-40B4-BE49-F238E27FC236}">
                <a16:creationId xmlns:a16="http://schemas.microsoft.com/office/drawing/2014/main" id="{62349474-2A74-1841-B278-F1977155C523}"/>
              </a:ext>
            </a:extLst>
          </p:cNvPr>
          <p:cNvSpPr/>
          <p:nvPr/>
        </p:nvSpPr>
        <p:spPr>
          <a:xfrm flipH="1">
            <a:off x="1690801" y="4181699"/>
            <a:ext cx="45720" cy="193647"/>
          </a:xfrm>
          <a:prstGeom prst="downArrow">
            <a:avLst/>
          </a:prstGeom>
          <a:noFill/>
          <a:ln w="889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5FAC0B6-5DF8-D342-8E3D-7F16D537E0B9}"/>
              </a:ext>
            </a:extLst>
          </p:cNvPr>
          <p:cNvSpPr txBox="1"/>
          <p:nvPr/>
        </p:nvSpPr>
        <p:spPr>
          <a:xfrm>
            <a:off x="4427943" y="3315186"/>
            <a:ext cx="36420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b="1" dirty="0"/>
              <a:t>主</a:t>
            </a:r>
            <a:endParaRPr kumimoji="1" lang="en-US" altLang="zh-CN" sz="1400" b="1" dirty="0"/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b="1" dirty="0"/>
              <a:t>进</a:t>
            </a:r>
            <a:endParaRPr kumimoji="1" lang="en-US" altLang="zh-CN" sz="1400" b="1" dirty="0"/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b="1" dirty="0"/>
              <a:t>程</a:t>
            </a:r>
          </a:p>
        </p:txBody>
      </p:sp>
      <p:sp>
        <p:nvSpPr>
          <p:cNvPr id="29" name="下箭头 28">
            <a:extLst>
              <a:ext uri="{FF2B5EF4-FFF2-40B4-BE49-F238E27FC236}">
                <a16:creationId xmlns:a16="http://schemas.microsoft.com/office/drawing/2014/main" id="{0B2D2282-51A8-2944-B553-CBD444F9D717}"/>
              </a:ext>
            </a:extLst>
          </p:cNvPr>
          <p:cNvSpPr/>
          <p:nvPr/>
        </p:nvSpPr>
        <p:spPr>
          <a:xfrm flipH="1">
            <a:off x="7119951" y="3408316"/>
            <a:ext cx="45719" cy="552405"/>
          </a:xfrm>
          <a:prstGeom prst="downArrow">
            <a:avLst/>
          </a:prstGeom>
          <a:noFill/>
          <a:ln w="889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CD5E07B-7BD5-EE43-AC96-C1CE45939A00}"/>
              </a:ext>
            </a:extLst>
          </p:cNvPr>
          <p:cNvSpPr txBox="1"/>
          <p:nvPr/>
        </p:nvSpPr>
        <p:spPr>
          <a:xfrm>
            <a:off x="6717571" y="4181699"/>
            <a:ext cx="905646" cy="2539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执行</a:t>
            </a:r>
            <a:r>
              <a:rPr lang="en-US" altLang="zh-CN" sz="1050" dirty="0" err="1">
                <a:solidFill>
                  <a:srgbClr val="262626"/>
                </a:solidFill>
                <a:latin typeface="微软雅黑" charset="-122"/>
                <a:ea typeface="微软雅黑" charset="-122"/>
              </a:rPr>
              <a:t>func_b</a:t>
            </a:r>
            <a:endParaRPr kumimoji="1"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7A059F2-CF96-F443-AF1B-2B702CEB0872}"/>
              </a:ext>
            </a:extLst>
          </p:cNvPr>
          <p:cNvSpPr txBox="1"/>
          <p:nvPr/>
        </p:nvSpPr>
        <p:spPr>
          <a:xfrm>
            <a:off x="5415102" y="3494204"/>
            <a:ext cx="11037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主线程执行</a:t>
            </a:r>
            <a:endParaRPr lang="en-US" altLang="zh-CN" sz="1050" b="1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94BA4D8-C10D-8E46-8686-902DB808E305}"/>
              </a:ext>
            </a:extLst>
          </p:cNvPr>
          <p:cNvSpPr txBox="1"/>
          <p:nvPr/>
        </p:nvSpPr>
        <p:spPr>
          <a:xfrm>
            <a:off x="7164673" y="3494204"/>
            <a:ext cx="11037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子线程执行</a:t>
            </a:r>
            <a:endParaRPr lang="en-US" altLang="zh-CN" sz="1050" b="1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2377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4" grpId="0" animBg="1"/>
      <p:bldP spid="18" grpId="0" animBg="1"/>
      <p:bldP spid="19" grpId="0" animBg="1"/>
      <p:bldP spid="20" grpId="0"/>
      <p:bldP spid="21" grpId="0" animBg="1"/>
      <p:bldP spid="22" grpId="0" animBg="1"/>
      <p:bldP spid="24" grpId="0" animBg="1"/>
      <p:bldP spid="26" grpId="0" animBg="1"/>
      <p:bldP spid="27" grpId="0"/>
      <p:bldP spid="5" grpId="0"/>
      <p:bldP spid="39" grpId="0" animBg="1"/>
      <p:bldP spid="41" grpId="0" animBg="1"/>
      <p:bldP spid="28" grpId="0"/>
      <p:bldP spid="29" grpId="0" animBg="1"/>
      <p:bldP spid="31" grpId="0" animBg="1"/>
      <p:bldP spid="32" grpId="0"/>
      <p:bldP spid="3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1.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线程的介绍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841375" y="1131888"/>
            <a:ext cx="351472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1.5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知识要点</a:t>
            </a:r>
          </a:p>
        </p:txBody>
      </p:sp>
      <p:sp>
        <p:nvSpPr>
          <p:cNvPr id="10" name="TextBox 15"/>
          <p:cNvSpPr txBox="1">
            <a:spLocks noChangeArrowheads="1"/>
          </p:cNvSpPr>
          <p:nvPr/>
        </p:nvSpPr>
        <p:spPr bwMode="auto">
          <a:xfrm>
            <a:off x="841375" y="1981032"/>
            <a:ext cx="6970985" cy="790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1.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多线程是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Python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程序中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实现多任务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的一种方式 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.</a:t>
            </a:r>
          </a:p>
          <a:p>
            <a:pPr marL="0" indent="0">
              <a:lnSpc>
                <a:spcPct val="150000"/>
              </a:lnSpc>
            </a:pPr>
            <a:r>
              <a:rPr lang="en-US" altLang="zh-CN" sz="1050" dirty="0">
                <a:latin typeface="微软雅黑" charset="-122"/>
                <a:ea typeface="微软雅黑" charset="-122"/>
              </a:rPr>
              <a:t>2.</a:t>
            </a:r>
            <a:r>
              <a:rPr lang="zh-CN" altLang="en-US" sz="1050" dirty="0">
                <a:latin typeface="微软雅黑" charset="-122"/>
                <a:ea typeface="微软雅黑" charset="-122"/>
              </a:rPr>
              <a:t> 线程是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程序执行的最小单位 </a:t>
            </a:r>
            <a:r>
              <a:rPr lang="en-US" altLang="zh-CN" sz="1050" dirty="0">
                <a:latin typeface="微软雅黑" charset="-122"/>
                <a:ea typeface="微软雅黑" charset="-122"/>
              </a:rPr>
              <a:t>.</a:t>
            </a:r>
          </a:p>
          <a:p>
            <a:pPr marL="0" indent="0">
              <a:lnSpc>
                <a:spcPct val="150000"/>
              </a:lnSpc>
            </a:pPr>
            <a:r>
              <a:rPr lang="en-US" altLang="zh-CN" sz="1050" dirty="0">
                <a:latin typeface="微软雅黑" charset="-122"/>
                <a:ea typeface="微软雅黑" charset="-122"/>
              </a:rPr>
              <a:t>3.</a:t>
            </a:r>
            <a:r>
              <a:rPr lang="zh-CN" altLang="en-US" sz="1050" dirty="0">
                <a:latin typeface="微软雅黑" charset="-122"/>
                <a:ea typeface="微软雅黑" charset="-122"/>
              </a:rPr>
              <a:t> 同属一个进程的多个线程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共享进程所拥有的全部资源 </a:t>
            </a:r>
            <a:r>
              <a:rPr lang="en-US" altLang="zh-CN" sz="1050" dirty="0">
                <a:latin typeface="微软雅黑" charset="-122"/>
                <a:ea typeface="微软雅黑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5377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MH_Others_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58975" y="1917700"/>
            <a:ext cx="644525" cy="264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68580" tIns="34290" rIns="68580" bIns="34290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en-US" altLang="zh-CN" sz="360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Contents</a:t>
            </a:r>
          </a:p>
        </p:txBody>
      </p:sp>
      <p:sp>
        <p:nvSpPr>
          <p:cNvPr id="7" name="MH_Others_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98625" y="915988"/>
            <a:ext cx="936625" cy="93503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0">
            <a:solidFill>
              <a:srgbClr val="FFFFFF">
                <a:alpha val="49000"/>
              </a:srgbClr>
            </a:solidFill>
          </a:ln>
        </p:spPr>
        <p:txBody>
          <a:bodyPr lIns="68580" tIns="34290" rIns="68580" bIns="13500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7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</a:p>
        </p:txBody>
      </p:sp>
      <p:sp>
        <p:nvSpPr>
          <p:cNvPr id="8" name="MH_Others_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331640" y="1759696"/>
            <a:ext cx="734366" cy="734366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ln w="3175">
                  <a:solidFill>
                    <a:srgbClr val="FFFFFF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</a:p>
        </p:txBody>
      </p:sp>
      <p:sp>
        <p:nvSpPr>
          <p:cNvPr id="8196" name="TextBox 9"/>
          <p:cNvSpPr txBox="1">
            <a:spLocks noChangeArrowheads="1"/>
          </p:cNvSpPr>
          <p:nvPr/>
        </p:nvSpPr>
        <p:spPr bwMode="auto">
          <a:xfrm>
            <a:off x="3262585" y="834543"/>
            <a:ext cx="4319588" cy="347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1450" indent="-1714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latin typeface="微软雅黑" charset="-122"/>
                <a:ea typeface="微软雅黑" charset="-122"/>
              </a:rPr>
              <a:t> 线程的介绍</a:t>
            </a:r>
            <a:endParaRPr lang="en-US" altLang="zh-CN" sz="1400" dirty="0"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FF0000"/>
              </a:buClr>
              <a:buFont typeface="Wingdings" charset="2"/>
              <a:buChar char="u"/>
            </a:pPr>
            <a:r>
              <a:rPr lang="zh-CN" altLang="en-US" sz="1400" dirty="0">
                <a:latin typeface="微软雅黑" charset="-122"/>
                <a:ea typeface="微软雅黑" charset="-122"/>
              </a:rPr>
              <a:t> </a:t>
            </a:r>
            <a:r>
              <a:rPr lang="zh-CN" altLang="en-US" sz="140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多线程完成多任务</a:t>
            </a:r>
            <a:endParaRPr lang="en-US" altLang="zh-CN" sz="1400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latin typeface="微软雅黑" charset="-122"/>
                <a:ea typeface="微软雅黑" charset="-122"/>
              </a:rPr>
              <a:t> 线程执行带有参数的任务</a:t>
            </a:r>
            <a:endParaRPr lang="en-US" altLang="zh-CN" sz="1400" dirty="0"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</a:t>
            </a:r>
            <a:r>
              <a:rPr lang="zh-CN" altLang="en-US" sz="1400" dirty="0">
                <a:latin typeface="微软雅黑" charset="-122"/>
                <a:ea typeface="微软雅黑" charset="-122"/>
              </a:rPr>
              <a:t>主线程和子线程的结束顺序</a:t>
            </a:r>
            <a:endParaRPr lang="en-US" altLang="zh-TW" sz="1400" dirty="0"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线程间的执行顺序</a:t>
            </a:r>
            <a:endParaRPr lang="en-US" altLang="zh-CN" sz="140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线程间共享全局变量</a:t>
            </a:r>
            <a:endParaRPr lang="en-US" altLang="zh-CN" sz="140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线程间共享全局变量数据错误问题</a:t>
            </a:r>
            <a:endParaRPr lang="en-US" altLang="zh-CN" sz="140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进程和线程对比</a:t>
            </a:r>
            <a:endParaRPr lang="en-US" altLang="zh-CN" sz="140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6908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2.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多线程完成多任务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841375" y="1131888"/>
            <a:ext cx="351472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2.1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线程的创建步骤</a:t>
            </a:r>
          </a:p>
        </p:txBody>
      </p:sp>
      <p:sp>
        <p:nvSpPr>
          <p:cNvPr id="10" name="TextBox 15"/>
          <p:cNvSpPr txBox="1">
            <a:spLocks noChangeArrowheads="1"/>
          </p:cNvSpPr>
          <p:nvPr/>
        </p:nvSpPr>
        <p:spPr bwMode="auto">
          <a:xfrm>
            <a:off x="841252" y="1709874"/>
            <a:ext cx="3298577" cy="2245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1.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导入线程模块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    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import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 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threading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marL="0" indent="0">
              <a:lnSpc>
                <a:spcPct val="150000"/>
              </a:lnSpc>
            </a:pP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2.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通过线程类创建线程对象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    线程对象 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=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</a:t>
            </a:r>
            <a:r>
              <a:rPr lang="en-US" altLang="zh-CN" sz="1050" b="1" dirty="0" err="1">
                <a:solidFill>
                  <a:srgbClr val="FF0000"/>
                </a:solidFill>
                <a:latin typeface="微软雅黑" charset="-122"/>
                <a:ea typeface="微软雅黑" charset="-122"/>
              </a:rPr>
              <a:t>threading.Thread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(target=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任务名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)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marL="0" indent="0">
              <a:lnSpc>
                <a:spcPct val="150000"/>
              </a:lnSpc>
            </a:pP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3.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启动线程执行任务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050" b="1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   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线程对象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.start()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marL="0" indent="0">
              <a:lnSpc>
                <a:spcPct val="150000"/>
              </a:lnSpc>
            </a:pP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3918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2.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多线程完成多任务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841375" y="1131888"/>
            <a:ext cx="351472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2.2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通过线程类创建线程对象 </a:t>
            </a: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091063"/>
              </p:ext>
            </p:extLst>
          </p:nvPr>
        </p:nvGraphicFramePr>
        <p:xfrm>
          <a:off x="971600" y="2427734"/>
          <a:ext cx="4752528" cy="1332678"/>
        </p:xfrm>
        <a:graphic>
          <a:graphicData uri="http://schemas.openxmlformats.org/drawingml/2006/table">
            <a:tbl>
              <a:tblPr/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00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16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12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参数名</a:t>
                      </a:r>
                    </a:p>
                  </a:txBody>
                  <a:tcPr marL="91418" marR="91418" marT="45735" marB="4573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16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12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说明</a:t>
                      </a:r>
                    </a:p>
                  </a:txBody>
                  <a:tcPr marL="91418" marR="91418" marT="45735" marB="4573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5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8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16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12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050" dirty="0">
                          <a:solidFill>
                            <a:srgbClr val="262626"/>
                          </a:solidFill>
                          <a:latin typeface="微软雅黑" charset="-122"/>
                          <a:ea typeface="微软雅黑" charset="-122"/>
                        </a:rPr>
                        <a:t>target</a:t>
                      </a:r>
                      <a:endParaRPr kumimoji="0" lang="zh-CN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91418" marR="91418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16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12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050" dirty="0">
                          <a:solidFill>
                            <a:srgbClr val="262626"/>
                          </a:solidFill>
                          <a:latin typeface="微软雅黑" charset="-122"/>
                          <a:ea typeface="微软雅黑" charset="-122"/>
                        </a:rPr>
                        <a:t>执行的目标任务名</a:t>
                      </a:r>
                      <a:r>
                        <a:rPr lang="en-US" altLang="zh-CN" sz="1050" dirty="0">
                          <a:solidFill>
                            <a:srgbClr val="262626"/>
                          </a:solidFill>
                          <a:latin typeface="微软雅黑" charset="-122"/>
                          <a:ea typeface="微软雅黑" charset="-122"/>
                        </a:rPr>
                        <a:t>,</a:t>
                      </a:r>
                      <a:r>
                        <a:rPr lang="zh-CN" altLang="en-US" sz="1050" dirty="0">
                          <a:solidFill>
                            <a:srgbClr val="262626"/>
                          </a:solidFill>
                          <a:latin typeface="微软雅黑" charset="-122"/>
                          <a:ea typeface="微软雅黑" charset="-122"/>
                        </a:rPr>
                        <a:t>这里指的是函数名</a:t>
                      </a:r>
                      <a:r>
                        <a:rPr lang="en-US" altLang="zh-CN" sz="1050" dirty="0">
                          <a:solidFill>
                            <a:srgbClr val="262626"/>
                          </a:solidFill>
                          <a:latin typeface="微软雅黑" charset="-122"/>
                          <a:ea typeface="微软雅黑" charset="-122"/>
                        </a:rPr>
                        <a:t>(</a:t>
                      </a:r>
                      <a:r>
                        <a:rPr lang="zh-CN" altLang="en-US" sz="1050" dirty="0">
                          <a:solidFill>
                            <a:srgbClr val="262626"/>
                          </a:solidFill>
                          <a:latin typeface="微软雅黑" charset="-122"/>
                          <a:ea typeface="微软雅黑" charset="-122"/>
                        </a:rPr>
                        <a:t>方法名</a:t>
                      </a:r>
                      <a:r>
                        <a:rPr lang="en-US" altLang="zh-CN" sz="1050" dirty="0">
                          <a:solidFill>
                            <a:srgbClr val="262626"/>
                          </a:solidFill>
                          <a:latin typeface="微软雅黑" charset="-122"/>
                          <a:ea typeface="微软雅黑" charset="-122"/>
                        </a:rPr>
                        <a:t>)</a:t>
                      </a:r>
                      <a:endParaRPr kumimoji="0" lang="zh-CN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91418" marR="91418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8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16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12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050" dirty="0">
                          <a:solidFill>
                            <a:srgbClr val="262626"/>
                          </a:solidFill>
                          <a:latin typeface="微软雅黑" charset="-122"/>
                          <a:ea typeface="微软雅黑" charset="-122"/>
                        </a:rPr>
                        <a:t>name</a:t>
                      </a:r>
                      <a:endParaRPr kumimoji="0" lang="zh-CN" altLang="en-US" sz="1050" b="1" i="0" u="none" strike="noStrike" cap="none" normalizeH="0" baseline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latin typeface="Times New Roman" charset="0"/>
                        <a:ea typeface="黑体" charset="-122"/>
                      </a:endParaRPr>
                    </a:p>
                  </a:txBody>
                  <a:tcPr marL="91418" marR="91418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D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16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12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050" dirty="0">
                          <a:solidFill>
                            <a:srgbClr val="262626"/>
                          </a:solidFill>
                          <a:latin typeface="微软雅黑" charset="-122"/>
                          <a:ea typeface="微软雅黑" charset="-122"/>
                        </a:rPr>
                        <a:t>线程名，一般不用设置</a:t>
                      </a:r>
                      <a:endParaRPr kumimoji="0" lang="zh-CN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latin typeface="黑体" charset="-122"/>
                        <a:ea typeface="黑体" charset="-122"/>
                      </a:endParaRPr>
                    </a:p>
                  </a:txBody>
                  <a:tcPr marL="91418" marR="91418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D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65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16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12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050" dirty="0">
                          <a:solidFill>
                            <a:srgbClr val="262626"/>
                          </a:solidFill>
                          <a:latin typeface="微软雅黑" charset="-122"/>
                          <a:ea typeface="微软雅黑" charset="-122"/>
                        </a:rPr>
                        <a:t>group</a:t>
                      </a:r>
                      <a:endParaRPr kumimoji="0" lang="zh-CN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91418" marR="91418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16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12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050" dirty="0">
                          <a:solidFill>
                            <a:srgbClr val="262626"/>
                          </a:solidFill>
                          <a:latin typeface="微软雅黑" charset="-122"/>
                          <a:ea typeface="微软雅黑" charset="-122"/>
                        </a:rPr>
                        <a:t>线程组，目前只能使用</a:t>
                      </a:r>
                      <a:r>
                        <a:rPr lang="en-US" altLang="zh-CN" sz="1050" dirty="0">
                          <a:solidFill>
                            <a:srgbClr val="262626"/>
                          </a:solidFill>
                          <a:latin typeface="微软雅黑" charset="-122"/>
                          <a:ea typeface="微软雅黑" charset="-122"/>
                        </a:rPr>
                        <a:t>None</a:t>
                      </a:r>
                      <a:endParaRPr kumimoji="0" lang="zh-CN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91418" marR="91418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15">
            <a:extLst>
              <a:ext uri="{FF2B5EF4-FFF2-40B4-BE49-F238E27FC236}">
                <a16:creationId xmlns:a16="http://schemas.microsoft.com/office/drawing/2014/main" id="{FB0A4CB4-3439-A14C-AF15-EF252A1CE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252" y="1709874"/>
            <a:ext cx="3298577" cy="306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线程对象 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=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</a:t>
            </a:r>
            <a:r>
              <a:rPr lang="en-US" altLang="zh-CN" sz="1050" b="1" dirty="0" err="1">
                <a:solidFill>
                  <a:srgbClr val="FF0000"/>
                </a:solidFill>
                <a:latin typeface="微软雅黑" charset="-122"/>
                <a:ea typeface="微软雅黑" charset="-122"/>
              </a:rPr>
              <a:t>threading.Thread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(target=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任务名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)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 </a:t>
            </a:r>
            <a:endParaRPr lang="en-US" altLang="zh-CN" sz="1050" b="1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1280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2.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多线程完成多任务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6C4E2D24-C22B-7946-A444-4C116797061D}"/>
              </a:ext>
            </a:extLst>
          </p:cNvPr>
          <p:cNvGrpSpPr/>
          <p:nvPr/>
        </p:nvGrpSpPr>
        <p:grpSpPr>
          <a:xfrm>
            <a:off x="941885" y="1911669"/>
            <a:ext cx="6582444" cy="2100241"/>
            <a:chOff x="941885" y="1839661"/>
            <a:chExt cx="6582444" cy="2100241"/>
          </a:xfrm>
        </p:grpSpPr>
        <p:sp>
          <p:nvSpPr>
            <p:cNvPr id="10" name="矩形 9"/>
            <p:cNvSpPr/>
            <p:nvPr/>
          </p:nvSpPr>
          <p:spPr>
            <a:xfrm>
              <a:off x="941885" y="1839661"/>
              <a:ext cx="6582444" cy="2100241"/>
            </a:xfrm>
            <a:prstGeom prst="rect">
              <a:avLst/>
            </a:prstGeom>
            <a:solidFill>
              <a:srgbClr val="E6F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" name="TextBox 15"/>
            <p:cNvSpPr txBox="1">
              <a:spLocks noChangeArrowheads="1"/>
            </p:cNvSpPr>
            <p:nvPr/>
          </p:nvSpPr>
          <p:spPr bwMode="auto">
            <a:xfrm>
              <a:off x="1187624" y="1923678"/>
              <a:ext cx="6111329" cy="176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268288" indent="-268288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9pPr>
            </a:lstStyle>
            <a:p>
              <a:pPr marL="0" indent="0">
                <a:lnSpc>
                  <a:spcPct val="150000"/>
                </a:lnSpc>
              </a:pPr>
              <a:r>
                <a:rPr lang="en-US" altLang="zh-CN" sz="1050" i="1" dirty="0">
                  <a:solidFill>
                    <a:srgbClr val="808080"/>
                  </a:solidFill>
                  <a:latin typeface="Courier" pitchFamily="2" charset="0"/>
                </a:rPr>
                <a:t># </a:t>
              </a:r>
              <a: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  <a:t>创建子线程</a:t>
              </a:r>
              <a:endParaRPr lang="en-US" altLang="zh-CN" sz="1050" i="1" dirty="0">
                <a:solidFill>
                  <a:srgbClr val="808080"/>
                </a:solidFill>
                <a:latin typeface="Courier" pitchFamily="2" charset="0"/>
              </a:endParaRPr>
            </a:p>
            <a:p>
              <a:pPr marL="0" indent="0">
                <a:lnSpc>
                  <a:spcPct val="150000"/>
                </a:lnSpc>
              </a:pPr>
              <a:r>
                <a:rPr lang="en-US" altLang="zh-CN" sz="1050" dirty="0" err="1">
                  <a:latin typeface="Courier" pitchFamily="2" charset="0"/>
                </a:rPr>
                <a:t>coding_thread</a:t>
              </a:r>
              <a:r>
                <a:rPr lang="en-US" altLang="zh-CN" sz="1050" dirty="0">
                  <a:latin typeface="Courier" pitchFamily="2" charset="0"/>
                </a:rPr>
                <a:t> = </a:t>
              </a:r>
              <a:r>
                <a:rPr lang="en-US" altLang="zh-CN" sz="1050" dirty="0" err="1">
                  <a:latin typeface="Courier" pitchFamily="2" charset="0"/>
                </a:rPr>
                <a:t>threading.Thread</a:t>
              </a:r>
              <a:r>
                <a:rPr lang="en-US" altLang="zh-CN" sz="1050" dirty="0">
                  <a:latin typeface="Courier" pitchFamily="2" charset="0"/>
                </a:rPr>
                <a:t>(</a:t>
              </a:r>
              <a:r>
                <a:rPr lang="en-US" altLang="zh-CN" sz="1050" dirty="0">
                  <a:solidFill>
                    <a:srgbClr val="660099"/>
                  </a:solidFill>
                  <a:latin typeface="Courier" pitchFamily="2" charset="0"/>
                </a:rPr>
                <a:t>target</a:t>
              </a:r>
              <a:r>
                <a:rPr lang="en-US" altLang="zh-CN" sz="1050" dirty="0">
                  <a:latin typeface="Courier" pitchFamily="2" charset="0"/>
                </a:rPr>
                <a:t>=coding)</a:t>
              </a:r>
            </a:p>
            <a:p>
              <a:pPr marL="0" indent="0">
                <a:lnSpc>
                  <a:spcPct val="150000"/>
                </a:lnSpc>
              </a:pPr>
              <a:r>
                <a:rPr lang="en-US" altLang="zh-CN" sz="1050" i="1" dirty="0">
                  <a:solidFill>
                    <a:srgbClr val="808080"/>
                  </a:solidFill>
                  <a:latin typeface="Courier" pitchFamily="2" charset="0"/>
                </a:rPr>
                <a:t># </a:t>
              </a:r>
              <a: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  <a:t>创建子线程</a:t>
              </a:r>
              <a:b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</a:br>
              <a:r>
                <a:rPr lang="en-US" altLang="zh-CN" sz="1050" dirty="0" err="1">
                  <a:latin typeface="Courier" pitchFamily="2" charset="0"/>
                </a:rPr>
                <a:t>music_thread</a:t>
              </a:r>
              <a:r>
                <a:rPr lang="en-US" altLang="zh-CN" sz="1050" dirty="0">
                  <a:latin typeface="Courier" pitchFamily="2" charset="0"/>
                </a:rPr>
                <a:t> = </a:t>
              </a:r>
              <a:r>
                <a:rPr lang="en-US" altLang="zh-CN" sz="1050" dirty="0" err="1">
                  <a:latin typeface="Courier" pitchFamily="2" charset="0"/>
                </a:rPr>
                <a:t>threading.Thread</a:t>
              </a:r>
              <a:r>
                <a:rPr lang="en-US" altLang="zh-CN" sz="1050" dirty="0">
                  <a:latin typeface="Courier" pitchFamily="2" charset="0"/>
                </a:rPr>
                <a:t>(</a:t>
              </a:r>
              <a:r>
                <a:rPr lang="en-US" altLang="zh-CN" sz="1050" dirty="0">
                  <a:solidFill>
                    <a:srgbClr val="660099"/>
                  </a:solidFill>
                  <a:latin typeface="Courier" pitchFamily="2" charset="0"/>
                </a:rPr>
                <a:t>target</a:t>
              </a:r>
              <a:r>
                <a:rPr lang="en-US" altLang="zh-CN" sz="1050" dirty="0">
                  <a:latin typeface="Courier" pitchFamily="2" charset="0"/>
                </a:rPr>
                <a:t>=music)</a:t>
              </a:r>
            </a:p>
            <a:p>
              <a:pPr marL="0" indent="0">
                <a:lnSpc>
                  <a:spcPct val="150000"/>
                </a:lnSpc>
              </a:pPr>
              <a:r>
                <a:rPr lang="en-US" altLang="zh-CN" sz="1050" i="1" dirty="0">
                  <a:solidFill>
                    <a:srgbClr val="808080"/>
                  </a:solidFill>
                  <a:latin typeface="Courier" pitchFamily="2" charset="0"/>
                </a:rPr>
                <a:t># </a:t>
              </a:r>
              <a: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  <a:t>启动线程</a:t>
              </a:r>
              <a:b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</a:br>
              <a:r>
                <a:rPr lang="en-US" altLang="zh-CN" sz="1050" dirty="0" err="1">
                  <a:latin typeface="Courier" pitchFamily="2" charset="0"/>
                </a:rPr>
                <a:t>coding_thread.start</a:t>
              </a:r>
              <a:r>
                <a:rPr lang="en-US" altLang="zh-CN" sz="1050" dirty="0">
                  <a:latin typeface="Courier" pitchFamily="2" charset="0"/>
                </a:rPr>
                <a:t>()</a:t>
              </a:r>
              <a:br>
                <a:rPr lang="en-US" altLang="zh-CN" sz="1050" dirty="0">
                  <a:latin typeface="Courier" pitchFamily="2" charset="0"/>
                </a:rPr>
              </a:br>
              <a:r>
                <a:rPr lang="en-US" altLang="zh-CN" sz="1050" dirty="0" err="1">
                  <a:latin typeface="Courier" pitchFamily="2" charset="0"/>
                </a:rPr>
                <a:t>music_thread.start</a:t>
              </a:r>
              <a:r>
                <a:rPr lang="en-US" altLang="zh-CN" sz="1050" dirty="0">
                  <a:latin typeface="Courier" pitchFamily="2" charset="0"/>
                </a:rPr>
                <a:t>()</a:t>
              </a:r>
              <a:endParaRPr lang="en-US" altLang="zh-CN" sz="1050" dirty="0">
                <a:solidFill>
                  <a:srgbClr val="262626"/>
                </a:solidFill>
                <a:latin typeface="Courier" pitchFamily="2" charset="0"/>
                <a:ea typeface="微软雅黑" charset="-122"/>
              </a:endParaRPr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8D6B8EF5-9C36-C546-A4AD-50CA40BC69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375" y="1131888"/>
            <a:ext cx="351472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2.3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线程创建与启动的代码</a:t>
            </a:r>
          </a:p>
        </p:txBody>
      </p:sp>
    </p:spTree>
    <p:extLst>
      <p:ext uri="{BB962C8B-B14F-4D97-AF65-F5344CB8AC3E}">
        <p14:creationId xmlns:p14="http://schemas.microsoft.com/office/powerpoint/2010/main" val="2100975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2.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多线程完成多任务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" name="TextBox 15"/>
          <p:cNvSpPr txBox="1">
            <a:spLocks noChangeArrowheads="1"/>
          </p:cNvSpPr>
          <p:nvPr/>
        </p:nvSpPr>
        <p:spPr bwMode="auto">
          <a:xfrm>
            <a:off x="993775" y="1923678"/>
            <a:ext cx="3298577" cy="548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1.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导入线程模块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   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import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 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threading</a:t>
            </a:r>
          </a:p>
        </p:txBody>
      </p:sp>
      <p:sp>
        <p:nvSpPr>
          <p:cNvPr id="9" name="TextBox 15"/>
          <p:cNvSpPr txBox="1">
            <a:spLocks noChangeArrowheads="1"/>
          </p:cNvSpPr>
          <p:nvPr/>
        </p:nvSpPr>
        <p:spPr bwMode="auto">
          <a:xfrm>
            <a:off x="993774" y="2599331"/>
            <a:ext cx="3722242" cy="577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2.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创建子线程并指定执行的任务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    </a:t>
            </a:r>
            <a:r>
              <a:rPr lang="en-US" altLang="zh-CN" sz="1050" b="1" dirty="0" err="1">
                <a:solidFill>
                  <a:srgbClr val="FF0000"/>
                </a:solidFill>
                <a:latin typeface="微软雅黑" charset="-122"/>
                <a:ea typeface="微软雅黑" charset="-122"/>
              </a:rPr>
              <a:t>sub_thread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 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=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 </a:t>
            </a:r>
            <a:r>
              <a:rPr lang="en-US" altLang="zh-CN" sz="1050" b="1" dirty="0" err="1">
                <a:solidFill>
                  <a:srgbClr val="FF0000"/>
                </a:solidFill>
                <a:latin typeface="微软雅黑" charset="-122"/>
                <a:ea typeface="微软雅黑" charset="-122"/>
              </a:rPr>
              <a:t>threading.Thread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(target=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任务名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)</a:t>
            </a:r>
          </a:p>
        </p:txBody>
      </p:sp>
      <p:sp>
        <p:nvSpPr>
          <p:cNvPr id="11" name="TextBox 15"/>
          <p:cNvSpPr txBox="1">
            <a:spLocks noChangeArrowheads="1"/>
          </p:cNvSpPr>
          <p:nvPr/>
        </p:nvSpPr>
        <p:spPr bwMode="auto">
          <a:xfrm>
            <a:off x="993774" y="3291830"/>
            <a:ext cx="3298577" cy="577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3.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启动线程执行任务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   </a:t>
            </a:r>
            <a:r>
              <a:rPr lang="en-US" altLang="zh-CN" sz="1050" b="1" dirty="0" err="1">
                <a:solidFill>
                  <a:srgbClr val="FF0000"/>
                </a:solidFill>
                <a:latin typeface="微软雅黑" charset="-122"/>
                <a:ea typeface="微软雅黑" charset="-122"/>
              </a:rPr>
              <a:t>sub_thread.start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EDCE4F-C179-374C-B38C-CC824C226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375" y="1131888"/>
            <a:ext cx="4738737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2.4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知识要点 </a:t>
            </a:r>
          </a:p>
        </p:txBody>
      </p:sp>
    </p:spTree>
    <p:extLst>
      <p:ext uri="{BB962C8B-B14F-4D97-AF65-F5344CB8AC3E}">
        <p14:creationId xmlns:p14="http://schemas.microsoft.com/office/powerpoint/2010/main" val="22400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MH_Others_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58975" y="1917700"/>
            <a:ext cx="644525" cy="264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68580" tIns="34290" rIns="68580" bIns="34290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en-US" altLang="zh-CN" sz="360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Contents</a:t>
            </a:r>
          </a:p>
        </p:txBody>
      </p:sp>
      <p:sp>
        <p:nvSpPr>
          <p:cNvPr id="7" name="MH_Others_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98625" y="915988"/>
            <a:ext cx="936625" cy="93503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0">
            <a:solidFill>
              <a:srgbClr val="FFFFFF">
                <a:alpha val="49000"/>
              </a:srgbClr>
            </a:solidFill>
          </a:ln>
        </p:spPr>
        <p:txBody>
          <a:bodyPr lIns="68580" tIns="34290" rIns="68580" bIns="13500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7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</a:p>
        </p:txBody>
      </p:sp>
      <p:sp>
        <p:nvSpPr>
          <p:cNvPr id="8" name="MH_Others_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331640" y="1759696"/>
            <a:ext cx="734366" cy="734366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ln w="3175">
                  <a:solidFill>
                    <a:srgbClr val="FFFFFF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</a:p>
        </p:txBody>
      </p:sp>
      <p:sp>
        <p:nvSpPr>
          <p:cNvPr id="8196" name="TextBox 9"/>
          <p:cNvSpPr txBox="1">
            <a:spLocks noChangeArrowheads="1"/>
          </p:cNvSpPr>
          <p:nvPr/>
        </p:nvSpPr>
        <p:spPr bwMode="auto">
          <a:xfrm>
            <a:off x="3230835" y="1086475"/>
            <a:ext cx="4319588" cy="347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1450" indent="-1714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latin typeface="微软雅黑" charset="-122"/>
                <a:ea typeface="微软雅黑" charset="-122"/>
              </a:rPr>
              <a:t> 线程的介绍</a:t>
            </a:r>
            <a:endParaRPr lang="en-US" altLang="zh-CN" sz="1400" dirty="0"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latin typeface="微软雅黑" charset="-122"/>
                <a:ea typeface="微软雅黑" charset="-122"/>
              </a:rPr>
              <a:t> 多线程完成多任务</a:t>
            </a:r>
            <a:endParaRPr lang="en-US" altLang="zh-CN" sz="1400" dirty="0"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FF0000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 线程执行带有参数的任务</a:t>
            </a:r>
            <a:endParaRPr lang="en-US" altLang="zh-CN" sz="1400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</a:t>
            </a:r>
            <a:r>
              <a:rPr lang="zh-CN" altLang="en-US" sz="1400" dirty="0">
                <a:latin typeface="微软雅黑" charset="-122"/>
                <a:ea typeface="微软雅黑" charset="-122"/>
              </a:rPr>
              <a:t>主线程和子线程的结束顺序</a:t>
            </a:r>
            <a:endParaRPr lang="en-US" altLang="zh-TW" sz="1400" dirty="0"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线程间的执行顺序</a:t>
            </a:r>
            <a:endParaRPr lang="en-US" altLang="zh-CN" sz="140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线程间共享全局变量 </a:t>
            </a:r>
            <a:endParaRPr lang="en-US" altLang="zh-CN" sz="140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进程和线程对比</a:t>
            </a:r>
            <a:endParaRPr lang="en-US" altLang="zh-CN" sz="140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endParaRPr lang="en-US" altLang="zh-CN" sz="140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0677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151544"/>
              </p:ext>
            </p:extLst>
          </p:nvPr>
        </p:nvGraphicFramePr>
        <p:xfrm>
          <a:off x="1763688" y="2283718"/>
          <a:ext cx="5700712" cy="1209676"/>
        </p:xfrm>
        <a:graphic>
          <a:graphicData uri="http://schemas.openxmlformats.org/drawingml/2006/table">
            <a:tbl>
              <a:tblPr/>
              <a:tblGrid>
                <a:gridCol w="165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3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16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12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参数名</a:t>
                      </a:r>
                    </a:p>
                  </a:txBody>
                  <a:tcPr marL="91418" marR="91418" marT="45735" marB="4573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16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12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说明</a:t>
                      </a:r>
                    </a:p>
                  </a:txBody>
                  <a:tcPr marL="91418" marR="91418" marT="45735" marB="4573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5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16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12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050" dirty="0" err="1">
                          <a:solidFill>
                            <a:srgbClr val="262626"/>
                          </a:solidFill>
                          <a:latin typeface="微软雅黑" charset="-122"/>
                          <a:ea typeface="微软雅黑" charset="-122"/>
                        </a:rPr>
                        <a:t>args</a:t>
                      </a:r>
                      <a:endParaRPr kumimoji="0" lang="zh-CN" altLang="en-US" sz="1050" b="1" i="0" u="none" strike="noStrike" cap="none" normalizeH="0" baseline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latin typeface="Times New Roman" charset="0"/>
                        <a:ea typeface="黑体" charset="-122"/>
                      </a:endParaRPr>
                    </a:p>
                  </a:txBody>
                  <a:tcPr marL="91418" marR="91418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16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12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050" dirty="0">
                          <a:solidFill>
                            <a:srgbClr val="262626"/>
                          </a:solidFill>
                          <a:latin typeface="微软雅黑" charset="-122"/>
                          <a:ea typeface="微软雅黑" charset="-122"/>
                        </a:rPr>
                        <a:t>以元组的方式给执行任务传参</a:t>
                      </a:r>
                      <a:endParaRPr kumimoji="0" lang="zh-CN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latin typeface="黑体" charset="-122"/>
                        <a:ea typeface="黑体" charset="-122"/>
                      </a:endParaRPr>
                    </a:p>
                  </a:txBody>
                  <a:tcPr marL="91418" marR="91418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16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12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050" dirty="0" err="1">
                          <a:solidFill>
                            <a:srgbClr val="262626"/>
                          </a:solidFill>
                          <a:latin typeface="微软雅黑" charset="-122"/>
                          <a:ea typeface="微软雅黑" charset="-122"/>
                        </a:rPr>
                        <a:t>kwargs</a:t>
                      </a:r>
                      <a:endParaRPr kumimoji="0" lang="zh-CN" altLang="en-US" sz="1050" b="1" i="0" u="none" strike="noStrike" cap="none" normalizeH="0" baseline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latin typeface="Times New Roman" charset="0"/>
                        <a:ea typeface="黑体" charset="-122"/>
                      </a:endParaRPr>
                    </a:p>
                  </a:txBody>
                  <a:tcPr marL="91418" marR="91418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D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16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12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050" dirty="0">
                          <a:solidFill>
                            <a:srgbClr val="262626"/>
                          </a:solidFill>
                          <a:latin typeface="微软雅黑" charset="-122"/>
                          <a:ea typeface="微软雅黑" charset="-122"/>
                        </a:rPr>
                        <a:t>以字典方式给执行任务传参</a:t>
                      </a:r>
                      <a:endParaRPr kumimoji="0" lang="zh-CN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latin typeface="黑体" charset="-122"/>
                        <a:ea typeface="黑体" charset="-122"/>
                      </a:endParaRPr>
                    </a:p>
                  </a:txBody>
                  <a:tcPr marL="91418" marR="91418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D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3.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线程执行带有参数的任务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6"/>
          <p:cNvSpPr txBox="1">
            <a:spLocks noChangeArrowheads="1"/>
          </p:cNvSpPr>
          <p:nvPr/>
        </p:nvSpPr>
        <p:spPr bwMode="auto">
          <a:xfrm>
            <a:off x="841375" y="1131888"/>
            <a:ext cx="3514725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3.1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线程执行带有参数的任务</a:t>
            </a:r>
          </a:p>
        </p:txBody>
      </p:sp>
    </p:spTree>
    <p:extLst>
      <p:ext uri="{BB962C8B-B14F-4D97-AF65-F5344CB8AC3E}">
        <p14:creationId xmlns:p14="http://schemas.microsoft.com/office/powerpoint/2010/main" val="102354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19390080-7DB8-0240-8796-A9FCB56019E0}"/>
              </a:ext>
            </a:extLst>
          </p:cNvPr>
          <p:cNvGrpSpPr/>
          <p:nvPr/>
        </p:nvGrpSpPr>
        <p:grpSpPr>
          <a:xfrm>
            <a:off x="941884" y="1911669"/>
            <a:ext cx="6610945" cy="1452169"/>
            <a:chOff x="941884" y="1911669"/>
            <a:chExt cx="6610945" cy="1452169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8A8779F-15C2-7F4D-9DB6-7AA347C783A3}"/>
                </a:ext>
              </a:extLst>
            </p:cNvPr>
            <p:cNvSpPr/>
            <p:nvPr/>
          </p:nvSpPr>
          <p:spPr>
            <a:xfrm>
              <a:off x="941884" y="1911669"/>
              <a:ext cx="6610945" cy="1452169"/>
            </a:xfrm>
            <a:prstGeom prst="rect">
              <a:avLst/>
            </a:prstGeom>
            <a:solidFill>
              <a:srgbClr val="E6F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" name="TextBox 15"/>
            <p:cNvSpPr txBox="1">
              <a:spLocks noChangeArrowheads="1"/>
            </p:cNvSpPr>
            <p:nvPr/>
          </p:nvSpPr>
          <p:spPr bwMode="auto">
            <a:xfrm>
              <a:off x="1187624" y="2067694"/>
              <a:ext cx="5040560" cy="10618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268288" indent="-268288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9pPr>
            </a:lstStyle>
            <a:p>
              <a:pPr marL="0" indent="0">
                <a:lnSpc>
                  <a:spcPct val="150000"/>
                </a:lnSpc>
              </a:pPr>
              <a:r>
                <a:rPr lang="en-US" altLang="zh-CN" sz="1050" i="1" dirty="0">
                  <a:solidFill>
                    <a:srgbClr val="808080"/>
                  </a:solidFill>
                  <a:latin typeface="Courier" pitchFamily="2" charset="0"/>
                </a:rPr>
                <a:t># target</a:t>
              </a:r>
              <a: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  <a:t>： 线程执行的函数名</a:t>
              </a:r>
              <a:b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</a:br>
              <a:r>
                <a:rPr lang="en-US" altLang="zh-CN" sz="1050" i="1" dirty="0">
                  <a:solidFill>
                    <a:srgbClr val="808080"/>
                  </a:solidFill>
                  <a:latin typeface="Courier" pitchFamily="2" charset="0"/>
                </a:rPr>
                <a:t># </a:t>
              </a:r>
              <a:r>
                <a:rPr lang="en-US" altLang="zh-CN" sz="1050" i="1" dirty="0" err="1">
                  <a:solidFill>
                    <a:srgbClr val="808080"/>
                  </a:solidFill>
                  <a:latin typeface="Courier" pitchFamily="2" charset="0"/>
                </a:rPr>
                <a:t>args</a:t>
              </a:r>
              <a: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  <a:t>： 表示以元组的方式给函数传参</a:t>
              </a:r>
              <a:b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</a:br>
              <a:r>
                <a:rPr lang="en-US" altLang="zh-CN" sz="1050" dirty="0" err="1">
                  <a:latin typeface="Courier" pitchFamily="2" charset="0"/>
                </a:rPr>
                <a:t>coding_thread</a:t>
              </a:r>
              <a:r>
                <a:rPr lang="en-US" altLang="zh-CN" sz="1050" dirty="0">
                  <a:latin typeface="Courier" pitchFamily="2" charset="0"/>
                </a:rPr>
                <a:t> = </a:t>
              </a:r>
              <a:r>
                <a:rPr lang="en-US" altLang="zh-CN" sz="1050" dirty="0" err="1">
                  <a:latin typeface="Courier" pitchFamily="2" charset="0"/>
                </a:rPr>
                <a:t>threading.Thread</a:t>
              </a:r>
              <a:r>
                <a:rPr lang="en-US" altLang="zh-CN" sz="1050" dirty="0">
                  <a:latin typeface="Courier" pitchFamily="2" charset="0"/>
                </a:rPr>
                <a:t>(</a:t>
              </a:r>
              <a:r>
                <a:rPr lang="en-US" altLang="zh-CN" sz="1050" dirty="0">
                  <a:solidFill>
                    <a:srgbClr val="660099"/>
                  </a:solidFill>
                  <a:latin typeface="Courier" pitchFamily="2" charset="0"/>
                </a:rPr>
                <a:t>target</a:t>
              </a:r>
              <a:r>
                <a:rPr lang="en-US" altLang="zh-CN" sz="1050" dirty="0">
                  <a:latin typeface="Courier" pitchFamily="2" charset="0"/>
                </a:rPr>
                <a:t>=coding, </a:t>
              </a:r>
              <a:r>
                <a:rPr lang="en-US" altLang="zh-CN" sz="1050" dirty="0" err="1">
                  <a:solidFill>
                    <a:srgbClr val="660099"/>
                  </a:solidFill>
                  <a:latin typeface="Courier" pitchFamily="2" charset="0"/>
                </a:rPr>
                <a:t>args</a:t>
              </a:r>
              <a:r>
                <a:rPr lang="en-US" altLang="zh-CN" sz="1050" dirty="0">
                  <a:latin typeface="Courier" pitchFamily="2" charset="0"/>
                </a:rPr>
                <a:t>=(</a:t>
              </a:r>
              <a:r>
                <a:rPr lang="en-US" altLang="zh-CN" sz="1050" dirty="0">
                  <a:solidFill>
                    <a:srgbClr val="0000FF"/>
                  </a:solidFill>
                  <a:latin typeface="Courier" pitchFamily="2" charset="0"/>
                </a:rPr>
                <a:t>3</a:t>
              </a:r>
              <a:r>
                <a:rPr lang="en-US" altLang="zh-CN" sz="1050" dirty="0">
                  <a:latin typeface="Courier" pitchFamily="2" charset="0"/>
                </a:rPr>
                <a:t>,))</a:t>
              </a:r>
              <a:br>
                <a:rPr lang="en-US" altLang="zh-CN" sz="1050" dirty="0">
                  <a:latin typeface="Courier" pitchFamily="2" charset="0"/>
                </a:rPr>
              </a:br>
              <a:r>
                <a:rPr lang="en-US" altLang="zh-CN" sz="1050" dirty="0" err="1">
                  <a:latin typeface="Courier" pitchFamily="2" charset="0"/>
                </a:rPr>
                <a:t>coding_thread.start</a:t>
              </a:r>
              <a:r>
                <a:rPr lang="en-US" altLang="zh-CN" sz="1050" dirty="0">
                  <a:latin typeface="Courier" pitchFamily="2" charset="0"/>
                </a:rPr>
                <a:t>()</a:t>
              </a:r>
              <a:endParaRPr lang="en-US" altLang="zh-CN" sz="1050" dirty="0">
                <a:solidFill>
                  <a:srgbClr val="262626"/>
                </a:solidFill>
                <a:latin typeface="Courier" pitchFamily="2" charset="0"/>
                <a:ea typeface="微软雅黑" charset="-122"/>
              </a:endParaRPr>
            </a:p>
          </p:txBody>
        </p:sp>
      </p:grpSp>
      <p:sp>
        <p:nvSpPr>
          <p:cNvPr id="6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3.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线程执行带有参数的任务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841375" y="1131888"/>
            <a:ext cx="3514725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3.2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</a:t>
            </a:r>
            <a:r>
              <a:rPr lang="en-US" altLang="zh-CN" b="1" dirty="0" err="1">
                <a:solidFill>
                  <a:srgbClr val="404040"/>
                </a:solidFill>
                <a:latin typeface="微软雅黑" charset="-122"/>
                <a:ea typeface="微软雅黑" charset="-122"/>
              </a:rPr>
              <a:t>args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参数的使用</a:t>
            </a:r>
          </a:p>
        </p:txBody>
      </p:sp>
    </p:spTree>
    <p:extLst>
      <p:ext uri="{BB962C8B-B14F-4D97-AF65-F5344CB8AC3E}">
        <p14:creationId xmlns:p14="http://schemas.microsoft.com/office/powerpoint/2010/main" val="1483756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841375" y="1131888"/>
            <a:ext cx="3514725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3.3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</a:t>
            </a:r>
            <a:r>
              <a:rPr lang="en-US" altLang="zh-CN" b="1" dirty="0" err="1">
                <a:solidFill>
                  <a:srgbClr val="404040"/>
                </a:solidFill>
                <a:latin typeface="微软雅黑" charset="-122"/>
                <a:ea typeface="微软雅黑" charset="-122"/>
              </a:rPr>
              <a:t>kwargs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参数的使用</a:t>
            </a:r>
          </a:p>
        </p:txBody>
      </p:sp>
      <p:sp>
        <p:nvSpPr>
          <p:cNvPr id="6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3.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线程执行带有参数的任务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9D44124-667D-7842-921A-1A200E91508F}"/>
              </a:ext>
            </a:extLst>
          </p:cNvPr>
          <p:cNvGrpSpPr/>
          <p:nvPr/>
        </p:nvGrpSpPr>
        <p:grpSpPr>
          <a:xfrm>
            <a:off x="941884" y="1911668"/>
            <a:ext cx="6610945" cy="1812209"/>
            <a:chOff x="941884" y="1911668"/>
            <a:chExt cx="6610945" cy="1812209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923B9B4-3557-F14A-A4B9-D5EF18DD401E}"/>
                </a:ext>
              </a:extLst>
            </p:cNvPr>
            <p:cNvSpPr/>
            <p:nvPr/>
          </p:nvSpPr>
          <p:spPr>
            <a:xfrm>
              <a:off x="941884" y="1911668"/>
              <a:ext cx="6610945" cy="1812209"/>
            </a:xfrm>
            <a:prstGeom prst="rect">
              <a:avLst/>
            </a:prstGeom>
            <a:solidFill>
              <a:srgbClr val="E6F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9" name="TextBox 15">
              <a:extLst>
                <a:ext uri="{FF2B5EF4-FFF2-40B4-BE49-F238E27FC236}">
                  <a16:creationId xmlns:a16="http://schemas.microsoft.com/office/drawing/2014/main" id="{9B81E8B0-A010-2344-A6C9-DBE3BDF8DE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7624" y="2067694"/>
              <a:ext cx="5472608" cy="1304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268288" indent="-268288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9pPr>
            </a:lstStyle>
            <a:p>
              <a:pPr marL="0" indent="0">
                <a:lnSpc>
                  <a:spcPct val="150000"/>
                </a:lnSpc>
              </a:pPr>
              <a:r>
                <a:rPr lang="en-US" altLang="zh-CN" sz="1050" i="1" dirty="0">
                  <a:solidFill>
                    <a:srgbClr val="808080"/>
                  </a:solidFill>
                  <a:latin typeface="Courier" pitchFamily="2" charset="0"/>
                </a:rPr>
                <a:t># target</a:t>
              </a:r>
              <a: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  <a:t>： 线程执行的函数名</a:t>
              </a:r>
              <a:b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</a:br>
              <a:r>
                <a:rPr lang="en-US" altLang="zh-CN" sz="1050" i="1" dirty="0">
                  <a:solidFill>
                    <a:srgbClr val="808080"/>
                  </a:solidFill>
                  <a:latin typeface="Courier" pitchFamily="2" charset="0"/>
                </a:rPr>
                <a:t># </a:t>
              </a:r>
              <a:r>
                <a:rPr lang="en-US" altLang="zh-CN" sz="1050" i="1" dirty="0" err="1">
                  <a:solidFill>
                    <a:srgbClr val="808080"/>
                  </a:solidFill>
                  <a:latin typeface="Courier" pitchFamily="2" charset="0"/>
                </a:rPr>
                <a:t>kwargs</a:t>
              </a:r>
              <a:r>
                <a:rPr lang="en-US" altLang="zh-CN" sz="1050" i="1" dirty="0">
                  <a:solidFill>
                    <a:srgbClr val="808080"/>
                  </a:solidFill>
                  <a:latin typeface="Courier" pitchFamily="2" charset="0"/>
                </a:rPr>
                <a:t>: </a:t>
              </a:r>
              <a: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  <a:t>表示以字典的方式给函数传参</a:t>
              </a:r>
              <a:b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</a:br>
              <a:r>
                <a:rPr lang="en-US" altLang="zh-CN" sz="1050" dirty="0" err="1">
                  <a:latin typeface="Courier" pitchFamily="2" charset="0"/>
                </a:rPr>
                <a:t>music_thread</a:t>
              </a:r>
              <a:r>
                <a:rPr lang="en-US" altLang="zh-CN" sz="1050" dirty="0">
                  <a:latin typeface="Courier" pitchFamily="2" charset="0"/>
                </a:rPr>
                <a:t> = </a:t>
              </a:r>
              <a:r>
                <a:rPr lang="en-US" altLang="zh-CN" sz="1050" dirty="0" err="1">
                  <a:latin typeface="Courier" pitchFamily="2" charset="0"/>
                </a:rPr>
                <a:t>threading.Thread</a:t>
              </a:r>
              <a:r>
                <a:rPr lang="en-US" altLang="zh-CN" sz="1050" dirty="0">
                  <a:latin typeface="Courier" pitchFamily="2" charset="0"/>
                </a:rPr>
                <a:t>(</a:t>
              </a:r>
              <a:r>
                <a:rPr lang="en-US" altLang="zh-CN" sz="1050" dirty="0">
                  <a:solidFill>
                    <a:srgbClr val="660099"/>
                  </a:solidFill>
                  <a:latin typeface="Courier" pitchFamily="2" charset="0"/>
                </a:rPr>
                <a:t>target</a:t>
              </a:r>
              <a:r>
                <a:rPr lang="en-US" altLang="zh-CN" sz="1050" dirty="0">
                  <a:latin typeface="Courier" pitchFamily="2" charset="0"/>
                </a:rPr>
                <a:t>=music,</a:t>
              </a:r>
              <a:r>
                <a:rPr lang="zh-CN" altLang="en-US" sz="1050" dirty="0">
                  <a:latin typeface="Courier" pitchFamily="2" charset="0"/>
                </a:rPr>
                <a:t> </a:t>
              </a:r>
              <a:r>
                <a:rPr lang="en-US" altLang="zh-CN" sz="1050" dirty="0" err="1">
                  <a:solidFill>
                    <a:srgbClr val="660099"/>
                  </a:solidFill>
                  <a:latin typeface="Courier" pitchFamily="2" charset="0"/>
                </a:rPr>
                <a:t>kwargs</a:t>
              </a:r>
              <a:r>
                <a:rPr lang="en-US" altLang="zh-CN" sz="1050" dirty="0">
                  <a:latin typeface="Courier" pitchFamily="2" charset="0"/>
                </a:rPr>
                <a:t>={</a:t>
              </a:r>
              <a:r>
                <a:rPr lang="en-US" altLang="zh-CN" sz="1050" b="1" dirty="0">
                  <a:solidFill>
                    <a:srgbClr val="008080"/>
                  </a:solidFill>
                  <a:latin typeface="Courier" pitchFamily="2" charset="0"/>
                </a:rPr>
                <a:t>”count"</a:t>
              </a:r>
              <a:r>
                <a:rPr lang="en-US" altLang="zh-CN" sz="1050" dirty="0">
                  <a:latin typeface="Courier" pitchFamily="2" charset="0"/>
                </a:rPr>
                <a:t>: </a:t>
              </a:r>
              <a:r>
                <a:rPr lang="en-US" altLang="zh-CN" sz="1050" dirty="0">
                  <a:solidFill>
                    <a:srgbClr val="0000FF"/>
                  </a:solidFill>
                  <a:latin typeface="Courier" pitchFamily="2" charset="0"/>
                </a:rPr>
                <a:t>3</a:t>
              </a:r>
              <a:r>
                <a:rPr lang="en-US" altLang="zh-CN" sz="1050" dirty="0">
                  <a:latin typeface="Courier" pitchFamily="2" charset="0"/>
                </a:rPr>
                <a:t>})</a:t>
              </a:r>
              <a:br>
                <a:rPr lang="en-US" altLang="zh-CN" sz="1050" dirty="0">
                  <a:latin typeface="Courier" pitchFamily="2" charset="0"/>
                </a:rPr>
              </a:br>
              <a:r>
                <a:rPr lang="en-US" altLang="zh-CN" sz="1050" i="1" dirty="0">
                  <a:solidFill>
                    <a:srgbClr val="808080"/>
                  </a:solidFill>
                  <a:latin typeface="Courier" pitchFamily="2" charset="0"/>
                </a:rPr>
                <a:t># </a:t>
              </a:r>
              <a: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  <a:t>开启线程</a:t>
              </a:r>
              <a:b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</a:br>
              <a:r>
                <a:rPr lang="en-US" altLang="zh-CN" sz="1050" dirty="0" err="1">
                  <a:latin typeface="Courier" pitchFamily="2" charset="0"/>
                </a:rPr>
                <a:t>music_thread.start</a:t>
              </a:r>
              <a:r>
                <a:rPr lang="en-US" altLang="zh-CN" sz="1050" dirty="0">
                  <a:latin typeface="Courier" pitchFamily="2" charset="0"/>
                </a:rPr>
                <a:t>()</a:t>
              </a:r>
              <a:endParaRPr lang="en-US" altLang="zh-CN" sz="1050" dirty="0">
                <a:solidFill>
                  <a:srgbClr val="262626"/>
                </a:solidFill>
                <a:latin typeface="Courier" pitchFamily="2" charset="0"/>
                <a:ea typeface="微软雅黑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6580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5"/>
          <p:cNvSpPr txBox="1">
            <a:spLocks noChangeArrowheads="1"/>
          </p:cNvSpPr>
          <p:nvPr/>
        </p:nvSpPr>
        <p:spPr bwMode="auto">
          <a:xfrm>
            <a:off x="993775" y="1923678"/>
            <a:ext cx="5522441" cy="790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线程执行带有参数的任务传参有两种方式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: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marL="228600" indent="-228600">
              <a:lnSpc>
                <a:spcPct val="150000"/>
              </a:lnSpc>
              <a:buFontTx/>
              <a:buAutoNum type="arabicPeriod"/>
            </a:pP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元组方式传参 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：元组方式传参一定要和参数的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顺序保持一致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。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marL="228600" indent="-228600">
              <a:lnSpc>
                <a:spcPct val="150000"/>
              </a:lnSpc>
              <a:buFontTx/>
              <a:buAutoNum type="arabicPeriod"/>
            </a:pP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字典方式传参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：字典方式传参字典中的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key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一定要和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参数名保持一致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。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6"/>
          <p:cNvSpPr txBox="1">
            <a:spLocks noChangeArrowheads="1"/>
          </p:cNvSpPr>
          <p:nvPr/>
        </p:nvSpPr>
        <p:spPr bwMode="auto">
          <a:xfrm>
            <a:off x="841375" y="1131888"/>
            <a:ext cx="3514725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3.4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知识要点</a:t>
            </a:r>
          </a:p>
        </p:txBody>
      </p:sp>
      <p:sp>
        <p:nvSpPr>
          <p:cNvPr id="8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3.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线程执行带有参数的任务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92907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MH_Others_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58975" y="1917700"/>
            <a:ext cx="644525" cy="264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68580" tIns="34290" rIns="68580" bIns="34290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en-US" altLang="zh-CN" sz="360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Contents</a:t>
            </a:r>
          </a:p>
        </p:txBody>
      </p:sp>
      <p:sp>
        <p:nvSpPr>
          <p:cNvPr id="7" name="MH_Others_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98625" y="915988"/>
            <a:ext cx="936625" cy="93503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0">
            <a:solidFill>
              <a:srgbClr val="FFFFFF">
                <a:alpha val="49000"/>
              </a:srgbClr>
            </a:solidFill>
          </a:ln>
        </p:spPr>
        <p:txBody>
          <a:bodyPr lIns="68580" tIns="34290" rIns="68580" bIns="13500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7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</a:p>
        </p:txBody>
      </p:sp>
      <p:sp>
        <p:nvSpPr>
          <p:cNvPr id="8" name="MH_Others_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331640" y="1759696"/>
            <a:ext cx="734366" cy="734366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ln w="3175">
                  <a:solidFill>
                    <a:srgbClr val="FFFFFF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</a:p>
        </p:txBody>
      </p:sp>
      <p:sp>
        <p:nvSpPr>
          <p:cNvPr id="8196" name="TextBox 9"/>
          <p:cNvSpPr txBox="1">
            <a:spLocks noChangeArrowheads="1"/>
          </p:cNvSpPr>
          <p:nvPr/>
        </p:nvSpPr>
        <p:spPr bwMode="auto">
          <a:xfrm>
            <a:off x="3230835" y="987574"/>
            <a:ext cx="4319588" cy="347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1450" indent="-1714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en-US" altLang="zh-CN" sz="1400" dirty="0">
                <a:solidFill>
                  <a:srgbClr val="000000"/>
                </a:solidFill>
                <a:latin typeface="微软雅黑" charset="-122"/>
                <a:ea typeface="微软雅黑" charset="-122"/>
              </a:rPr>
              <a:t> </a:t>
            </a:r>
            <a:r>
              <a:rPr lang="zh-CN" altLang="en-US" sz="1400" dirty="0">
                <a:solidFill>
                  <a:srgbClr val="000000"/>
                </a:solidFill>
                <a:latin typeface="微软雅黑" charset="-122"/>
                <a:ea typeface="微软雅黑" charset="-122"/>
              </a:rPr>
              <a:t>线程的介绍</a:t>
            </a:r>
            <a:endParaRPr lang="en-US" altLang="zh-CN" sz="1400" dirty="0">
              <a:solidFill>
                <a:srgbClr val="00000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en-US" altLang="zh-CN" sz="1400" dirty="0">
                <a:solidFill>
                  <a:srgbClr val="000000"/>
                </a:solidFill>
                <a:latin typeface="微软雅黑" charset="-122"/>
                <a:ea typeface="微软雅黑" charset="-122"/>
              </a:rPr>
              <a:t> </a:t>
            </a:r>
            <a:r>
              <a:rPr lang="zh-CN" altLang="en-US" sz="1400" dirty="0">
                <a:latin typeface="微软雅黑" charset="-122"/>
                <a:ea typeface="微软雅黑" charset="-122"/>
              </a:rPr>
              <a:t>多线程完成多任务</a:t>
            </a:r>
            <a:endParaRPr lang="en-US" altLang="zh-CN" sz="1400" dirty="0"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latin typeface="微软雅黑" charset="-122"/>
                <a:ea typeface="微软雅黑" charset="-122"/>
              </a:rPr>
              <a:t> 线程执行带有参数的任务</a:t>
            </a:r>
            <a:endParaRPr lang="en-US" altLang="zh-CN" sz="1400" dirty="0"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FF0000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</a:t>
            </a:r>
            <a:r>
              <a:rPr lang="zh-CN" altLang="en-US" sz="140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主线程和子线程的结束顺序</a:t>
            </a:r>
            <a:endParaRPr lang="en-US" altLang="zh-TW" sz="1400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线程间的执行顺序</a:t>
            </a:r>
            <a:endParaRPr lang="en-US" altLang="zh-CN" sz="140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线程间共享全局变量 </a:t>
            </a:r>
            <a:endParaRPr lang="en-US" altLang="zh-CN" sz="140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进程和线程对比</a:t>
            </a:r>
            <a:endParaRPr lang="en-US" altLang="zh-CN" sz="140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endParaRPr lang="en-US" altLang="zh-CN" sz="140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72810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4.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主线程和子线程的结束顺序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15"/>
          <p:cNvSpPr txBox="1">
            <a:spLocks noChangeArrowheads="1"/>
          </p:cNvSpPr>
          <p:nvPr/>
        </p:nvSpPr>
        <p:spPr bwMode="auto">
          <a:xfrm>
            <a:off x="971600" y="1131590"/>
            <a:ext cx="7538665" cy="689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228600" marR="0" lvl="0" indent="-22860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zh-CN" altLang="en-US" sz="105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对比进程</a:t>
            </a:r>
            <a:endParaRPr lang="en-US" altLang="zh-CN" sz="1050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pPr marL="228600" marR="0" lvl="0" indent="-22860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主线程不会等待所有的子线程执行结束后主线程再结束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99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841375" y="1131888"/>
            <a:ext cx="3514725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4.1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设置守护主线程</a:t>
            </a:r>
          </a:p>
        </p:txBody>
      </p:sp>
      <p:sp>
        <p:nvSpPr>
          <p:cNvPr id="7" name="标题占位符 1"/>
          <p:cNvSpPr txBox="1">
            <a:spLocks noChangeArrowheads="1"/>
          </p:cNvSpPr>
          <p:nvPr/>
        </p:nvSpPr>
        <p:spPr bwMode="auto">
          <a:xfrm>
            <a:off x="755576" y="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4.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主线程和子线程的结束顺序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6884BFB1-52CF-B14A-81F7-8163D9B18F86}"/>
              </a:ext>
            </a:extLst>
          </p:cNvPr>
          <p:cNvGrpSpPr/>
          <p:nvPr/>
        </p:nvGrpSpPr>
        <p:grpSpPr>
          <a:xfrm>
            <a:off x="899592" y="2283718"/>
            <a:ext cx="6610945" cy="2304256"/>
            <a:chOff x="941884" y="1911669"/>
            <a:chExt cx="6610945" cy="2304256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8D1AAEDD-C3BE-9A4E-ABCC-9D7F1343FE54}"/>
                </a:ext>
              </a:extLst>
            </p:cNvPr>
            <p:cNvSpPr/>
            <p:nvPr/>
          </p:nvSpPr>
          <p:spPr>
            <a:xfrm>
              <a:off x="941884" y="1911669"/>
              <a:ext cx="6610945" cy="2304256"/>
            </a:xfrm>
            <a:prstGeom prst="rect">
              <a:avLst/>
            </a:prstGeom>
            <a:solidFill>
              <a:srgbClr val="E6F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0" name="TextBox 15">
              <a:extLst>
                <a:ext uri="{FF2B5EF4-FFF2-40B4-BE49-F238E27FC236}">
                  <a16:creationId xmlns:a16="http://schemas.microsoft.com/office/drawing/2014/main" id="{C28D6F9C-25AC-6A42-882A-4A55D932A9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7624" y="1973543"/>
              <a:ext cx="5544616" cy="203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268288" indent="-268288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1050" i="1" dirty="0">
                  <a:solidFill>
                    <a:srgbClr val="808080"/>
                  </a:solidFill>
                  <a:latin typeface="Courier" pitchFamily="2" charset="0"/>
                </a:rPr>
                <a:t># </a:t>
              </a:r>
              <a: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  <a:t>设置守护主线程方式</a:t>
              </a:r>
              <a:r>
                <a:rPr lang="en-US" altLang="zh-CN" sz="1050" i="1" dirty="0">
                  <a:solidFill>
                    <a:srgbClr val="808080"/>
                  </a:solidFill>
                  <a:latin typeface="Courier" pitchFamily="2" charset="0"/>
                </a:rPr>
                <a:t>1</a:t>
              </a:r>
              <a: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  <a:t>，</a:t>
              </a:r>
              <a:r>
                <a:rPr lang="en-US" altLang="zh-CN" sz="1050" i="1" dirty="0">
                  <a:solidFill>
                    <a:srgbClr val="808080"/>
                  </a:solidFill>
                  <a:latin typeface="Courier" pitchFamily="2" charset="0"/>
                </a:rPr>
                <a:t>daemon=True</a:t>
              </a:r>
              <a: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  <a:t> 守护主线程</a:t>
              </a:r>
              <a:endParaRPr lang="en-US" altLang="zh-CN" sz="1050" i="1" dirty="0">
                <a:solidFill>
                  <a:srgbClr val="808080"/>
                </a:solidFill>
                <a:latin typeface="Courier" pitchFamily="2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050" dirty="0" err="1">
                  <a:latin typeface="Courier" pitchFamily="2" charset="0"/>
                </a:rPr>
                <a:t>work_thread</a:t>
              </a:r>
              <a:r>
                <a:rPr lang="en-US" altLang="zh-CN" sz="1050" dirty="0">
                  <a:latin typeface="Courier" pitchFamily="2" charset="0"/>
                </a:rPr>
                <a:t> = </a:t>
              </a:r>
              <a:r>
                <a:rPr lang="en-US" altLang="zh-CN" sz="1050" dirty="0" err="1">
                  <a:latin typeface="Courier" pitchFamily="2" charset="0"/>
                </a:rPr>
                <a:t>threading.Thread</a:t>
              </a:r>
              <a:r>
                <a:rPr lang="en-US" altLang="zh-CN" sz="1050" dirty="0">
                  <a:latin typeface="Courier" pitchFamily="2" charset="0"/>
                </a:rPr>
                <a:t>(</a:t>
              </a:r>
              <a:r>
                <a:rPr lang="en-US" altLang="zh-CN" sz="1050" dirty="0">
                  <a:solidFill>
                    <a:srgbClr val="660099"/>
                  </a:solidFill>
                  <a:latin typeface="Courier" pitchFamily="2" charset="0"/>
                </a:rPr>
                <a:t>target</a:t>
              </a:r>
              <a:r>
                <a:rPr lang="en-US" altLang="zh-CN" sz="1050" dirty="0">
                  <a:latin typeface="Courier" pitchFamily="2" charset="0"/>
                </a:rPr>
                <a:t>=work, </a:t>
              </a:r>
              <a:r>
                <a:rPr lang="en-US" altLang="zh-CN" sz="1050" dirty="0">
                  <a:solidFill>
                    <a:srgbClr val="660099"/>
                  </a:solidFill>
                  <a:latin typeface="Courier" pitchFamily="2" charset="0"/>
                </a:rPr>
                <a:t>daemon</a:t>
              </a:r>
              <a:r>
                <a:rPr lang="en-US" altLang="zh-CN" sz="1050" dirty="0">
                  <a:latin typeface="Courier" pitchFamily="2" charset="0"/>
                </a:rPr>
                <a:t>=</a:t>
              </a:r>
              <a:r>
                <a:rPr lang="en-US" altLang="zh-CN" sz="1050" b="1" dirty="0">
                  <a:solidFill>
                    <a:srgbClr val="000080"/>
                  </a:solidFill>
                  <a:latin typeface="Courier" pitchFamily="2" charset="0"/>
                </a:rPr>
                <a:t>True</a:t>
              </a:r>
              <a:r>
                <a:rPr lang="en-US" altLang="zh-CN" sz="1050" dirty="0">
                  <a:latin typeface="Courier" pitchFamily="2" charset="0"/>
                </a:rPr>
                <a:t>)</a:t>
              </a:r>
              <a:endParaRPr lang="en-US" altLang="zh-CN" sz="1050" i="1" dirty="0">
                <a:solidFill>
                  <a:srgbClr val="808080"/>
                </a:solidFill>
                <a:latin typeface="Courier" pitchFamily="2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050" i="1" dirty="0">
                  <a:solidFill>
                    <a:srgbClr val="808080"/>
                  </a:solidFill>
                  <a:latin typeface="Courier" pitchFamily="2" charset="0"/>
                </a:rPr>
                <a:t># </a:t>
              </a:r>
              <a: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  <a:t>设置守护主线程方式</a:t>
              </a:r>
              <a:r>
                <a:rPr lang="en-US" altLang="zh-CN" sz="1050" i="1" dirty="0">
                  <a:solidFill>
                    <a:srgbClr val="808080"/>
                  </a:solidFill>
                  <a:latin typeface="Courier" pitchFamily="2" charset="0"/>
                </a:rPr>
                <a:t>2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50" i="1" dirty="0">
                  <a:solidFill>
                    <a:srgbClr val="808080"/>
                  </a:solidFill>
                  <a:latin typeface="Courier" pitchFamily="2" charset="0"/>
                </a:rPr>
                <a:t># </a:t>
              </a:r>
              <a:r>
                <a:rPr lang="en-US" altLang="zh-CN" sz="1050" i="1" dirty="0" err="1">
                  <a:solidFill>
                    <a:srgbClr val="808080"/>
                  </a:solidFill>
                  <a:latin typeface="Courier" pitchFamily="2" charset="0"/>
                </a:rPr>
                <a:t>work_thread.setDaemon</a:t>
              </a:r>
              <a:r>
                <a:rPr lang="en-US" altLang="zh-CN" sz="1050" i="1" dirty="0">
                  <a:solidFill>
                    <a:srgbClr val="808080"/>
                  </a:solidFill>
                  <a:latin typeface="Courier" pitchFamily="2" charset="0"/>
                </a:rPr>
                <a:t>(True)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50" dirty="0" err="1">
                  <a:latin typeface="Courier" pitchFamily="2" charset="0"/>
                </a:rPr>
                <a:t>work_thread.start</a:t>
              </a:r>
              <a:r>
                <a:rPr lang="en-US" altLang="zh-CN" sz="1050" dirty="0">
                  <a:latin typeface="Courier" pitchFamily="2" charset="0"/>
                </a:rPr>
                <a:t>()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50" i="1" dirty="0">
                  <a:solidFill>
                    <a:srgbClr val="808080"/>
                  </a:solidFill>
                  <a:latin typeface="Courier" pitchFamily="2" charset="0"/>
                </a:rPr>
                <a:t># </a:t>
              </a:r>
              <a: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  <a:t>主线程延时</a:t>
              </a:r>
              <a:r>
                <a:rPr lang="en-US" altLang="zh-CN" sz="1050" i="1" dirty="0">
                  <a:solidFill>
                    <a:srgbClr val="808080"/>
                  </a:solidFill>
                  <a:latin typeface="Courier" pitchFamily="2" charset="0"/>
                </a:rPr>
                <a:t>1</a:t>
              </a:r>
              <a: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  <a:t>秒</a:t>
              </a:r>
              <a:endParaRPr lang="en-US" altLang="zh-CN" sz="1050" i="1" dirty="0">
                <a:solidFill>
                  <a:srgbClr val="808080"/>
                </a:solidFill>
                <a:latin typeface="Courier" pitchFamily="2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050" dirty="0" err="1">
                  <a:latin typeface="Courier" pitchFamily="2" charset="0"/>
                </a:rPr>
                <a:t>time.sleep</a:t>
              </a:r>
              <a:r>
                <a:rPr lang="en-US" altLang="zh-CN" sz="1050" dirty="0">
                  <a:latin typeface="Courier" pitchFamily="2" charset="0"/>
                </a:rPr>
                <a:t>(</a:t>
              </a:r>
              <a:r>
                <a:rPr lang="en-US" altLang="zh-CN" sz="1050" dirty="0">
                  <a:solidFill>
                    <a:srgbClr val="0000FF"/>
                  </a:solidFill>
                  <a:latin typeface="Courier" pitchFamily="2" charset="0"/>
                </a:rPr>
                <a:t>1</a:t>
              </a:r>
              <a:r>
                <a:rPr lang="en-US" altLang="zh-CN" sz="1050" dirty="0">
                  <a:latin typeface="Courier" pitchFamily="2" charset="0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50" dirty="0">
                  <a:solidFill>
                    <a:srgbClr val="000080"/>
                  </a:solidFill>
                  <a:latin typeface="Courier" pitchFamily="2" charset="0"/>
                </a:rPr>
                <a:t>print</a:t>
              </a:r>
              <a:r>
                <a:rPr lang="en-US" altLang="zh-CN" sz="1050" dirty="0">
                  <a:latin typeface="Courier" pitchFamily="2" charset="0"/>
                </a:rPr>
                <a:t>(</a:t>
              </a:r>
              <a:r>
                <a:rPr lang="en-US" altLang="zh-CN" sz="1050" b="1" dirty="0">
                  <a:solidFill>
                    <a:srgbClr val="008080"/>
                  </a:solidFill>
                  <a:latin typeface="Courier" pitchFamily="2" charset="0"/>
                </a:rPr>
                <a:t>"over"</a:t>
              </a:r>
              <a:r>
                <a:rPr lang="en-US" altLang="zh-CN" sz="1050" dirty="0">
                  <a:latin typeface="Courier" pitchFamily="2" charset="0"/>
                </a:rPr>
                <a:t>)</a:t>
              </a:r>
              <a:endParaRPr lang="zh-CN" altLang="en-US" sz="1050" dirty="0">
                <a:latin typeface="Courier" pitchFamily="2" charset="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841375" y="1785175"/>
            <a:ext cx="4572000" cy="2539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要想主线程不等待子线程执行完成可以设置守护主线程。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6626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841375" y="1131888"/>
            <a:ext cx="3514725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4.2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知识要点</a:t>
            </a:r>
          </a:p>
        </p:txBody>
      </p:sp>
      <p:sp>
        <p:nvSpPr>
          <p:cNvPr id="7" name="标题占位符 1"/>
          <p:cNvSpPr txBox="1">
            <a:spLocks noChangeArrowheads="1"/>
          </p:cNvSpPr>
          <p:nvPr/>
        </p:nvSpPr>
        <p:spPr bwMode="auto">
          <a:xfrm>
            <a:off x="611560" y="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4.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主线程和子线程的结束顺序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841375" y="1981032"/>
            <a:ext cx="7538665" cy="1304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设置守护主线程的目的是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主线程退出子线程销毁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，不让主线程再等待子线程去执行。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marL="0" indent="0">
              <a:lnSpc>
                <a:spcPct val="150000"/>
              </a:lnSpc>
            </a:pP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设置守护主线程有两种方式：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marL="0" indent="0">
              <a:lnSpc>
                <a:spcPct val="150000"/>
              </a:lnSpc>
            </a:pP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1.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</a:t>
            </a:r>
            <a:r>
              <a:rPr lang="en-US" altLang="zh-CN" sz="1050" dirty="0" err="1"/>
              <a:t>threading.Thread</a:t>
            </a:r>
            <a:r>
              <a:rPr lang="en-US" altLang="zh-CN" sz="1050" dirty="0"/>
              <a:t>(target=work, </a:t>
            </a:r>
            <a:r>
              <a:rPr lang="en-US" altLang="zh-CN" sz="1050" b="1" dirty="0">
                <a:solidFill>
                  <a:srgbClr val="FF0000"/>
                </a:solidFill>
              </a:rPr>
              <a:t>daemon=True</a:t>
            </a:r>
            <a:r>
              <a:rPr lang="en-US" altLang="zh-CN" sz="1050" dirty="0"/>
              <a:t>)</a:t>
            </a:r>
          </a:p>
          <a:p>
            <a:pPr marL="0" indent="0">
              <a:lnSpc>
                <a:spcPct val="150000"/>
              </a:lnSpc>
            </a:pP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2.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线程对象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.</a:t>
            </a:r>
            <a:r>
              <a:rPr lang="en-US" altLang="zh-CN" sz="1050" b="1" dirty="0" err="1">
                <a:solidFill>
                  <a:srgbClr val="FF0000"/>
                </a:solidFill>
                <a:latin typeface="微软雅黑" charset="-122"/>
                <a:ea typeface="微软雅黑" charset="-122"/>
              </a:rPr>
              <a:t>setDaemon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(True)</a:t>
            </a:r>
          </a:p>
        </p:txBody>
      </p:sp>
    </p:spTree>
    <p:extLst>
      <p:ext uri="{BB962C8B-B14F-4D97-AF65-F5344CB8AC3E}">
        <p14:creationId xmlns:p14="http://schemas.microsoft.com/office/powerpoint/2010/main" val="1427881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MH_Others_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58975" y="1917700"/>
            <a:ext cx="644525" cy="264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68580" tIns="34290" rIns="68580" bIns="34290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en-US" altLang="zh-CN" sz="360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Contents</a:t>
            </a:r>
          </a:p>
        </p:txBody>
      </p:sp>
      <p:sp>
        <p:nvSpPr>
          <p:cNvPr id="7" name="MH_Others_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98625" y="915988"/>
            <a:ext cx="936625" cy="93503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0">
            <a:solidFill>
              <a:srgbClr val="FFFFFF">
                <a:alpha val="49000"/>
              </a:srgbClr>
            </a:solidFill>
          </a:ln>
        </p:spPr>
        <p:txBody>
          <a:bodyPr lIns="68580" tIns="34290" rIns="68580" bIns="13500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7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</a:p>
        </p:txBody>
      </p:sp>
      <p:sp>
        <p:nvSpPr>
          <p:cNvPr id="8" name="MH_Others_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331640" y="1759696"/>
            <a:ext cx="734366" cy="734366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ln w="3175">
                  <a:solidFill>
                    <a:srgbClr val="FFFFFF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</a:p>
        </p:txBody>
      </p:sp>
      <p:sp>
        <p:nvSpPr>
          <p:cNvPr id="8196" name="TextBox 9"/>
          <p:cNvSpPr txBox="1">
            <a:spLocks noChangeArrowheads="1"/>
          </p:cNvSpPr>
          <p:nvPr/>
        </p:nvSpPr>
        <p:spPr bwMode="auto">
          <a:xfrm>
            <a:off x="3230835" y="1086475"/>
            <a:ext cx="4319588" cy="347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1450" indent="-1714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latin typeface="微软雅黑" charset="-122"/>
                <a:ea typeface="微软雅黑" charset="-122"/>
              </a:rPr>
              <a:t> 线程的介绍</a:t>
            </a:r>
            <a:endParaRPr lang="en-US" altLang="zh-CN" sz="1400" dirty="0"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latin typeface="微软雅黑" charset="-122"/>
                <a:ea typeface="微软雅黑" charset="-122"/>
              </a:rPr>
              <a:t> 多线程完成多任务</a:t>
            </a:r>
            <a:endParaRPr lang="en-US" altLang="zh-CN" sz="1400" dirty="0"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latin typeface="微软雅黑" charset="-122"/>
                <a:ea typeface="微软雅黑" charset="-122"/>
              </a:rPr>
              <a:t> 线程执行带有参数的任务</a:t>
            </a:r>
            <a:endParaRPr lang="en-US" altLang="zh-CN" sz="1400" dirty="0"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</a:t>
            </a:r>
            <a:r>
              <a:rPr lang="zh-CN" altLang="en-US" sz="1400" dirty="0">
                <a:latin typeface="微软雅黑" charset="-122"/>
                <a:ea typeface="微软雅黑" charset="-122"/>
              </a:rPr>
              <a:t>主线程和子线程的结束顺序</a:t>
            </a:r>
            <a:endParaRPr lang="en-US" altLang="zh-TW" sz="1400" dirty="0"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FF0000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 线程间的执行顺序</a:t>
            </a:r>
            <a:endParaRPr lang="en-US" altLang="zh-CN" sz="1400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线程间共享全局变量 </a:t>
            </a:r>
            <a:endParaRPr lang="en-US" altLang="zh-CN" sz="140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进程和线程对比</a:t>
            </a:r>
            <a:endParaRPr lang="en-US" altLang="zh-CN" sz="140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endParaRPr lang="en-US" altLang="zh-CN" sz="140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21561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5.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线程间的执行顺序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003566" y="1023083"/>
            <a:ext cx="3514725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线程间执行顺序</a:t>
            </a:r>
          </a:p>
        </p:txBody>
      </p:sp>
      <p:sp>
        <p:nvSpPr>
          <p:cNvPr id="7" name="矩形 6"/>
          <p:cNvSpPr/>
          <p:nvPr/>
        </p:nvSpPr>
        <p:spPr>
          <a:xfrm>
            <a:off x="2153157" y="2283716"/>
            <a:ext cx="5904656" cy="150294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zh-CN" dirty="0"/>
          </a:p>
          <a:p>
            <a:pPr algn="ctr"/>
            <a:endParaRPr kumimoji="1" lang="en-US" altLang="zh-CN" dirty="0"/>
          </a:p>
          <a:p>
            <a:pPr algn="ctr"/>
            <a:endParaRPr kumimoji="1" lang="en-US" altLang="zh-CN" dirty="0"/>
          </a:p>
        </p:txBody>
      </p:sp>
      <p:sp>
        <p:nvSpPr>
          <p:cNvPr id="8" name="下箭头 7"/>
          <p:cNvSpPr/>
          <p:nvPr/>
        </p:nvSpPr>
        <p:spPr>
          <a:xfrm flipH="1">
            <a:off x="3266245" y="2483730"/>
            <a:ext cx="45719" cy="1102914"/>
          </a:xfrm>
          <a:prstGeom prst="downArrow">
            <a:avLst/>
          </a:prstGeom>
          <a:noFill/>
          <a:ln w="889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5FAC0B6-5DF8-D342-8E3D-7F16D537E0B9}"/>
              </a:ext>
            </a:extLst>
          </p:cNvPr>
          <p:cNvSpPr txBox="1"/>
          <p:nvPr/>
        </p:nvSpPr>
        <p:spPr>
          <a:xfrm>
            <a:off x="2281512" y="2296522"/>
            <a:ext cx="36420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1" lang="en-US" altLang="zh-CN" sz="1400" b="1" dirty="0"/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b="1" dirty="0"/>
              <a:t>进</a:t>
            </a:r>
            <a:endParaRPr kumimoji="1" lang="en-US" altLang="zh-CN" sz="1400" b="1" dirty="0"/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b="1" dirty="0"/>
              <a:t>程</a:t>
            </a:r>
          </a:p>
        </p:txBody>
      </p:sp>
      <p:sp>
        <p:nvSpPr>
          <p:cNvPr id="16" name="下箭头 15">
            <a:extLst>
              <a:ext uri="{FF2B5EF4-FFF2-40B4-BE49-F238E27FC236}">
                <a16:creationId xmlns:a16="http://schemas.microsoft.com/office/drawing/2014/main" id="{0B2D2282-51A8-2944-B553-CBD444F9D717}"/>
              </a:ext>
            </a:extLst>
          </p:cNvPr>
          <p:cNvSpPr/>
          <p:nvPr/>
        </p:nvSpPr>
        <p:spPr>
          <a:xfrm flipH="1">
            <a:off x="5027026" y="2453492"/>
            <a:ext cx="45719" cy="1163392"/>
          </a:xfrm>
          <a:prstGeom prst="downArrow">
            <a:avLst/>
          </a:prstGeom>
          <a:noFill/>
          <a:ln w="889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7A059F2-CF96-F443-AF1B-2B702CEB0872}"/>
              </a:ext>
            </a:extLst>
          </p:cNvPr>
          <p:cNvSpPr txBox="1"/>
          <p:nvPr/>
        </p:nvSpPr>
        <p:spPr>
          <a:xfrm>
            <a:off x="3355087" y="2531343"/>
            <a:ext cx="11037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线程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1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94BA4D8-C10D-8E46-8686-902DB808E305}"/>
              </a:ext>
            </a:extLst>
          </p:cNvPr>
          <p:cNvSpPr txBox="1"/>
          <p:nvPr/>
        </p:nvSpPr>
        <p:spPr>
          <a:xfrm>
            <a:off x="5105485" y="2531343"/>
            <a:ext cx="11037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b="1">
                <a:solidFill>
                  <a:srgbClr val="FF0000"/>
                </a:solidFill>
                <a:latin typeface="微软雅黑" charset="-122"/>
                <a:ea typeface="微软雅黑" charset="-122"/>
              </a:rPr>
              <a:t>线程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2</a:t>
            </a:r>
          </a:p>
        </p:txBody>
      </p:sp>
      <p:sp>
        <p:nvSpPr>
          <p:cNvPr id="20" name="下箭头 19">
            <a:extLst>
              <a:ext uri="{FF2B5EF4-FFF2-40B4-BE49-F238E27FC236}">
                <a16:creationId xmlns:a16="http://schemas.microsoft.com/office/drawing/2014/main" id="{0B2D2282-51A8-2944-B553-CBD444F9D717}"/>
              </a:ext>
            </a:extLst>
          </p:cNvPr>
          <p:cNvSpPr/>
          <p:nvPr/>
        </p:nvSpPr>
        <p:spPr>
          <a:xfrm flipH="1">
            <a:off x="6625318" y="2455926"/>
            <a:ext cx="45719" cy="1163392"/>
          </a:xfrm>
          <a:prstGeom prst="downArrow">
            <a:avLst/>
          </a:prstGeom>
          <a:noFill/>
          <a:ln w="889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94BA4D8-C10D-8E46-8686-902DB808E305}"/>
              </a:ext>
            </a:extLst>
          </p:cNvPr>
          <p:cNvSpPr txBox="1"/>
          <p:nvPr/>
        </p:nvSpPr>
        <p:spPr>
          <a:xfrm>
            <a:off x="6799367" y="2531343"/>
            <a:ext cx="11037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线程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57907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5" grpId="0"/>
      <p:bldP spid="16" grpId="0" animBg="1"/>
      <p:bldP spid="18" grpId="0"/>
      <p:bldP spid="19" grpId="0"/>
      <p:bldP spid="20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5.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线程间的执行顺序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841375" y="1131888"/>
            <a:ext cx="351472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5.1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线程之间执行是无序的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6AFD303-6663-1840-82D3-2F007F8FF737}"/>
              </a:ext>
            </a:extLst>
          </p:cNvPr>
          <p:cNvGrpSpPr/>
          <p:nvPr/>
        </p:nvGrpSpPr>
        <p:grpSpPr>
          <a:xfrm>
            <a:off x="941884" y="2055685"/>
            <a:ext cx="6610945" cy="1164137"/>
            <a:chOff x="941884" y="1911668"/>
            <a:chExt cx="6610945" cy="1164137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FB13DBD-72D9-044C-8DC1-0001ED89978D}"/>
                </a:ext>
              </a:extLst>
            </p:cNvPr>
            <p:cNvSpPr/>
            <p:nvPr/>
          </p:nvSpPr>
          <p:spPr>
            <a:xfrm>
              <a:off x="941884" y="1911668"/>
              <a:ext cx="6610945" cy="1164137"/>
            </a:xfrm>
            <a:prstGeom prst="rect">
              <a:avLst/>
            </a:prstGeom>
            <a:solidFill>
              <a:srgbClr val="E6F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/>
            </a:p>
          </p:txBody>
        </p:sp>
        <p:sp>
          <p:nvSpPr>
            <p:cNvPr id="10" name="TextBox 15">
              <a:extLst>
                <a:ext uri="{FF2B5EF4-FFF2-40B4-BE49-F238E27FC236}">
                  <a16:creationId xmlns:a16="http://schemas.microsoft.com/office/drawing/2014/main" id="{B4D25244-E9B9-D34B-9487-6DE8998965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7624" y="1973543"/>
              <a:ext cx="4608511" cy="819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268288" indent="-268288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1050" b="1" dirty="0">
                  <a:solidFill>
                    <a:srgbClr val="000080"/>
                  </a:solidFill>
                  <a:latin typeface="Courier" pitchFamily="2" charset="0"/>
                </a:rPr>
                <a:t>for </a:t>
              </a:r>
              <a:r>
                <a:rPr lang="en-US" altLang="zh-CN" sz="1050" dirty="0" err="1">
                  <a:latin typeface="Courier" pitchFamily="2" charset="0"/>
                </a:rPr>
                <a:t>i</a:t>
              </a:r>
              <a:r>
                <a:rPr lang="en-US" altLang="zh-CN" sz="1050" dirty="0">
                  <a:latin typeface="Courier" pitchFamily="2" charset="0"/>
                </a:rPr>
                <a:t> </a:t>
              </a:r>
              <a:r>
                <a:rPr lang="en-US" altLang="zh-CN" sz="1050" b="1" dirty="0">
                  <a:solidFill>
                    <a:srgbClr val="000080"/>
                  </a:solidFill>
                  <a:latin typeface="Courier" pitchFamily="2" charset="0"/>
                </a:rPr>
                <a:t>in </a:t>
              </a:r>
              <a:r>
                <a:rPr lang="en-US" altLang="zh-CN" sz="1050" dirty="0">
                  <a:solidFill>
                    <a:srgbClr val="000080"/>
                  </a:solidFill>
                  <a:latin typeface="Courier" pitchFamily="2" charset="0"/>
                </a:rPr>
                <a:t>range</a:t>
              </a:r>
              <a:r>
                <a:rPr lang="en-US" altLang="zh-CN" sz="1050" dirty="0">
                  <a:latin typeface="Courier" pitchFamily="2" charset="0"/>
                </a:rPr>
                <a:t>(</a:t>
              </a:r>
              <a:r>
                <a:rPr lang="en-US" altLang="zh-CN" sz="1050" dirty="0">
                  <a:solidFill>
                    <a:srgbClr val="0000FF"/>
                  </a:solidFill>
                  <a:latin typeface="Courier" pitchFamily="2" charset="0"/>
                </a:rPr>
                <a:t>5</a:t>
              </a:r>
              <a:r>
                <a:rPr lang="en-US" altLang="zh-CN" sz="1050" dirty="0">
                  <a:latin typeface="Courier" pitchFamily="2" charset="0"/>
                </a:rPr>
                <a:t>):</a:t>
              </a:r>
              <a:br>
                <a:rPr lang="en-US" altLang="zh-CN" sz="1050" dirty="0">
                  <a:latin typeface="Courier" pitchFamily="2" charset="0"/>
                </a:rPr>
              </a:br>
              <a:r>
                <a:rPr lang="en-US" altLang="zh-CN" sz="1050" dirty="0" err="1">
                  <a:latin typeface="Courier" pitchFamily="2" charset="0"/>
                </a:rPr>
                <a:t>sub_thread</a:t>
              </a:r>
              <a:r>
                <a:rPr lang="en-US" altLang="zh-CN" sz="1050" dirty="0">
                  <a:latin typeface="Courier" pitchFamily="2" charset="0"/>
                </a:rPr>
                <a:t> = </a:t>
              </a:r>
              <a:r>
                <a:rPr lang="en-US" altLang="zh-CN" sz="1050" dirty="0" err="1">
                  <a:latin typeface="Courier" pitchFamily="2" charset="0"/>
                </a:rPr>
                <a:t>threading.Thread</a:t>
              </a:r>
              <a:r>
                <a:rPr lang="en-US" altLang="zh-CN" sz="1050" dirty="0">
                  <a:latin typeface="Courier" pitchFamily="2" charset="0"/>
                </a:rPr>
                <a:t>(</a:t>
              </a:r>
              <a:r>
                <a:rPr lang="en-US" altLang="zh-CN" sz="1050" dirty="0">
                  <a:solidFill>
                    <a:srgbClr val="660099"/>
                  </a:solidFill>
                  <a:latin typeface="Courier" pitchFamily="2" charset="0"/>
                </a:rPr>
                <a:t>target</a:t>
              </a:r>
              <a:r>
                <a:rPr lang="en-US" altLang="zh-CN" sz="1050" dirty="0">
                  <a:latin typeface="Courier" pitchFamily="2" charset="0"/>
                </a:rPr>
                <a:t>=task)</a:t>
              </a:r>
              <a:br>
                <a:rPr lang="en-US" altLang="zh-CN" sz="1050" dirty="0">
                  <a:latin typeface="Courier" pitchFamily="2" charset="0"/>
                </a:rPr>
              </a:br>
              <a:r>
                <a:rPr lang="en-US" altLang="zh-CN" sz="1050" dirty="0" err="1">
                  <a:latin typeface="Courier" pitchFamily="2" charset="0"/>
                </a:rPr>
                <a:t>sub_thread.start</a:t>
              </a:r>
              <a:r>
                <a:rPr lang="en-US" altLang="zh-CN" sz="1050" dirty="0">
                  <a:latin typeface="Courier" pitchFamily="2" charset="0"/>
                </a:rPr>
                <a:t>()</a:t>
              </a:r>
              <a:endParaRPr lang="zh-CN" altLang="en-US" sz="1050" dirty="0">
                <a:latin typeface="Courier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649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5.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线程间的执行顺序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841375" y="1131888"/>
            <a:ext cx="3514725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5.2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获取当前的线程信息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6AFD303-6663-1840-82D3-2F007F8FF737}"/>
              </a:ext>
            </a:extLst>
          </p:cNvPr>
          <p:cNvGrpSpPr/>
          <p:nvPr/>
        </p:nvGrpSpPr>
        <p:grpSpPr>
          <a:xfrm>
            <a:off x="941884" y="2055685"/>
            <a:ext cx="6610945" cy="1164137"/>
            <a:chOff x="941884" y="1911668"/>
            <a:chExt cx="6610945" cy="1164137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FB13DBD-72D9-044C-8DC1-0001ED89978D}"/>
                </a:ext>
              </a:extLst>
            </p:cNvPr>
            <p:cNvSpPr/>
            <p:nvPr/>
          </p:nvSpPr>
          <p:spPr>
            <a:xfrm>
              <a:off x="941884" y="1911668"/>
              <a:ext cx="6610945" cy="1164137"/>
            </a:xfrm>
            <a:prstGeom prst="rect">
              <a:avLst/>
            </a:prstGeom>
            <a:solidFill>
              <a:srgbClr val="E6F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0" name="TextBox 15">
              <a:extLst>
                <a:ext uri="{FF2B5EF4-FFF2-40B4-BE49-F238E27FC236}">
                  <a16:creationId xmlns:a16="http://schemas.microsoft.com/office/drawing/2014/main" id="{B4D25244-E9B9-D34B-9487-6DE8998965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7624" y="1973543"/>
              <a:ext cx="4968552" cy="10618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268288" indent="-268288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1050" i="1" dirty="0">
                  <a:solidFill>
                    <a:srgbClr val="808080"/>
                  </a:solidFill>
                  <a:latin typeface="Courier" pitchFamily="2" charset="0"/>
                </a:rPr>
                <a:t># </a:t>
              </a:r>
              <a: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  <a:t>通过</a:t>
              </a:r>
              <a:r>
                <a:rPr lang="en-US" altLang="zh-CN" sz="1050" i="1" dirty="0" err="1">
                  <a:solidFill>
                    <a:srgbClr val="808080"/>
                  </a:solidFill>
                  <a:latin typeface="Courier" pitchFamily="2" charset="0"/>
                </a:rPr>
                <a:t>current_thread</a:t>
              </a:r>
              <a: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  <a:t>方法获取线程对象</a:t>
              </a:r>
              <a:endParaRPr lang="en-US" altLang="zh-CN" sz="1050" i="1" dirty="0">
                <a:solidFill>
                  <a:srgbClr val="808080"/>
                </a:solidFill>
                <a:latin typeface="Courier" pitchFamily="2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050" dirty="0" err="1">
                  <a:latin typeface="Courier" pitchFamily="2" charset="0"/>
                </a:rPr>
                <a:t>current_thread</a:t>
              </a:r>
              <a:r>
                <a:rPr lang="zh-CN" altLang="en-US" sz="1050" dirty="0">
                  <a:latin typeface="Courier" pitchFamily="2" charset="0"/>
                </a:rPr>
                <a:t> </a:t>
              </a:r>
              <a:r>
                <a:rPr lang="en-US" altLang="zh-CN" sz="1050" dirty="0">
                  <a:latin typeface="Courier" pitchFamily="2" charset="0"/>
                </a:rPr>
                <a:t>=</a:t>
              </a:r>
              <a:r>
                <a:rPr lang="zh-CN" altLang="en-US" sz="1050" dirty="0">
                  <a:latin typeface="Courier" pitchFamily="2" charset="0"/>
                </a:rPr>
                <a:t> </a:t>
              </a:r>
              <a:r>
                <a:rPr lang="en-US" altLang="zh-CN" sz="1050" dirty="0" err="1">
                  <a:latin typeface="Courier" pitchFamily="2" charset="0"/>
                </a:rPr>
                <a:t>threading.current_thread</a:t>
              </a:r>
              <a:r>
                <a:rPr lang="en-US" altLang="zh-CN" sz="1050" dirty="0">
                  <a:latin typeface="Courier" pitchFamily="2" charset="0"/>
                </a:rPr>
                <a:t>()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50" i="1" dirty="0">
                  <a:solidFill>
                    <a:srgbClr val="808080"/>
                  </a:solidFill>
                  <a:latin typeface="Courier" pitchFamily="2" charset="0"/>
                </a:rPr>
                <a:t># </a:t>
              </a:r>
              <a: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  <a:t>通过</a:t>
              </a:r>
              <a:r>
                <a:rPr lang="en-US" altLang="zh-CN" sz="1050" i="1" dirty="0" err="1">
                  <a:solidFill>
                    <a:srgbClr val="808080"/>
                  </a:solidFill>
                  <a:latin typeface="Courier" pitchFamily="2" charset="0"/>
                </a:rPr>
                <a:t>current_thread</a:t>
              </a:r>
              <a: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  <a:t>对象可以知道线程的相关信息，例如被创建的顺序</a:t>
              </a:r>
              <a:endParaRPr lang="en-US" altLang="zh-CN" sz="1050" dirty="0">
                <a:latin typeface="Courier" pitchFamily="2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050" dirty="0">
                  <a:latin typeface="Courier" pitchFamily="2" charset="0"/>
                </a:rPr>
                <a:t>print(</a:t>
              </a:r>
              <a:r>
                <a:rPr lang="en-US" altLang="zh-CN" sz="1050" dirty="0" err="1">
                  <a:latin typeface="Courier" pitchFamily="2" charset="0"/>
                </a:rPr>
                <a:t>current_thread</a:t>
              </a:r>
              <a:r>
                <a:rPr lang="en-US" altLang="zh-CN" sz="1050" dirty="0">
                  <a:latin typeface="Courier" pitchFamily="2" charset="0"/>
                </a:rPr>
                <a:t>)</a:t>
              </a:r>
              <a:endParaRPr lang="zh-CN" altLang="en-US" sz="1050" dirty="0">
                <a:latin typeface="Courier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1555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841375" y="1131888"/>
            <a:ext cx="3514725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5.3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知识要点</a:t>
            </a:r>
          </a:p>
        </p:txBody>
      </p:sp>
      <p:sp>
        <p:nvSpPr>
          <p:cNvPr id="7" name="TextBox 15"/>
          <p:cNvSpPr txBox="1">
            <a:spLocks noChangeArrowheads="1"/>
          </p:cNvSpPr>
          <p:nvPr/>
        </p:nvSpPr>
        <p:spPr bwMode="auto">
          <a:xfrm>
            <a:off x="841375" y="1813678"/>
            <a:ext cx="7538665" cy="306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线程之间执行是无序的，是由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CPU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调度决定某个线程先执行的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。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标题占位符 1">
            <a:extLst>
              <a:ext uri="{FF2B5EF4-FFF2-40B4-BE49-F238E27FC236}">
                <a16:creationId xmlns:a16="http://schemas.microsoft.com/office/drawing/2014/main" id="{0B26585C-82E5-A44D-9AB7-D44B2C838E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5.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线程间的执行顺序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4353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MH_Others_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58975" y="1917700"/>
            <a:ext cx="644525" cy="264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68580" tIns="34290" rIns="68580" bIns="34290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en-US" altLang="zh-CN" sz="360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Contents</a:t>
            </a:r>
          </a:p>
        </p:txBody>
      </p:sp>
      <p:sp>
        <p:nvSpPr>
          <p:cNvPr id="7" name="MH_Others_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98625" y="915988"/>
            <a:ext cx="936625" cy="93503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0">
            <a:solidFill>
              <a:srgbClr val="FFFFFF">
                <a:alpha val="49000"/>
              </a:srgbClr>
            </a:solidFill>
          </a:ln>
        </p:spPr>
        <p:txBody>
          <a:bodyPr lIns="68580" tIns="34290" rIns="68580" bIns="13500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7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</a:p>
        </p:txBody>
      </p:sp>
      <p:sp>
        <p:nvSpPr>
          <p:cNvPr id="8" name="MH_Others_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331640" y="1759696"/>
            <a:ext cx="734366" cy="734366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ln w="3175">
                  <a:solidFill>
                    <a:srgbClr val="FFFFFF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</a:p>
        </p:txBody>
      </p:sp>
      <p:sp>
        <p:nvSpPr>
          <p:cNvPr id="8196" name="TextBox 9"/>
          <p:cNvSpPr txBox="1">
            <a:spLocks noChangeArrowheads="1"/>
          </p:cNvSpPr>
          <p:nvPr/>
        </p:nvSpPr>
        <p:spPr bwMode="auto">
          <a:xfrm>
            <a:off x="3230835" y="987574"/>
            <a:ext cx="4319588" cy="347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1450" indent="-1714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latin typeface="微软雅黑" charset="-122"/>
                <a:ea typeface="微软雅黑" charset="-122"/>
              </a:rPr>
              <a:t> 线程的介绍</a:t>
            </a:r>
            <a:endParaRPr lang="en-US" altLang="zh-CN" sz="1400" dirty="0"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latin typeface="微软雅黑" charset="-122"/>
                <a:ea typeface="微软雅黑" charset="-122"/>
              </a:rPr>
              <a:t> 多线程完成多任务</a:t>
            </a:r>
            <a:endParaRPr lang="en-US" altLang="zh-CN" sz="1400" dirty="0"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latin typeface="微软雅黑" charset="-122"/>
                <a:ea typeface="微软雅黑" charset="-122"/>
              </a:rPr>
              <a:t> 线程执行带有参数的任务</a:t>
            </a:r>
            <a:endParaRPr lang="en-US" altLang="zh-CN" sz="1400" dirty="0"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</a:t>
            </a:r>
            <a:r>
              <a:rPr lang="zh-CN" altLang="en-US" sz="1400" dirty="0">
                <a:latin typeface="微软雅黑" charset="-122"/>
                <a:ea typeface="微软雅黑" charset="-122"/>
              </a:rPr>
              <a:t>主线程和子线程的结束顺序</a:t>
            </a:r>
            <a:endParaRPr lang="en-US" altLang="zh-TW" sz="1400" dirty="0"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 </a:t>
            </a:r>
            <a:r>
              <a:rPr lang="zh-CN" altLang="en-US" sz="1400" dirty="0">
                <a:latin typeface="微软雅黑" charset="-122"/>
                <a:ea typeface="微软雅黑" charset="-122"/>
              </a:rPr>
              <a:t>线程间的执行顺序</a:t>
            </a:r>
            <a:endParaRPr lang="en-US" altLang="zh-CN" sz="1400" dirty="0"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FF0000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</a:t>
            </a:r>
            <a:r>
              <a:rPr lang="zh-CN" altLang="en-US" sz="140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线程间共享全局变量 </a:t>
            </a:r>
            <a:endParaRPr lang="en-US" altLang="zh-CN" sz="140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进程和线程对比</a:t>
            </a:r>
            <a:endParaRPr lang="en-US" altLang="zh-CN" sz="140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endParaRPr lang="en-US" altLang="zh-CN" sz="140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5346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6.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线程间共享全局变量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827584" y="1689512"/>
            <a:ext cx="6768752" cy="306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050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多个线程都是在同一个进程中 </a:t>
            </a:r>
            <a:r>
              <a:rPr lang="en-US" altLang="zh-CN" sz="1050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,</a:t>
            </a:r>
            <a:r>
              <a:rPr lang="zh-CN" altLang="en-US" sz="1050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多个线程使用的资源都是</a:t>
            </a:r>
            <a:r>
              <a:rPr lang="zh-CN" altLang="en-US" sz="105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同一个进程中的资源</a:t>
            </a:r>
            <a:r>
              <a:rPr lang="zh-CN" altLang="en-US" sz="1050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</a:t>
            </a:r>
            <a:r>
              <a:rPr lang="en-US" altLang="zh-CN" sz="1050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,</a:t>
            </a:r>
            <a:r>
              <a:rPr lang="zh-CN" altLang="en-US" sz="1050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因此多线程间是共享全局变量</a:t>
            </a:r>
          </a:p>
        </p:txBody>
      </p:sp>
      <p:sp>
        <p:nvSpPr>
          <p:cNvPr id="21" name="矩形 20"/>
          <p:cNvSpPr/>
          <p:nvPr/>
        </p:nvSpPr>
        <p:spPr>
          <a:xfrm>
            <a:off x="2483768" y="3290849"/>
            <a:ext cx="3960440" cy="150294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zh-CN" dirty="0"/>
          </a:p>
          <a:p>
            <a:pPr algn="ctr"/>
            <a:endParaRPr kumimoji="1" lang="en-US" altLang="zh-CN" dirty="0"/>
          </a:p>
          <a:p>
            <a:pPr algn="ctr"/>
            <a:endParaRPr kumimoji="1" lang="en-US" altLang="zh-CN" dirty="0"/>
          </a:p>
        </p:txBody>
      </p:sp>
      <p:sp>
        <p:nvSpPr>
          <p:cNvPr id="22" name="下箭头 21"/>
          <p:cNvSpPr/>
          <p:nvPr/>
        </p:nvSpPr>
        <p:spPr>
          <a:xfrm flipH="1">
            <a:off x="3271679" y="3670671"/>
            <a:ext cx="45719" cy="552405"/>
          </a:xfrm>
          <a:prstGeom prst="downArrow">
            <a:avLst/>
          </a:prstGeom>
          <a:noFill/>
          <a:ln w="889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3890766" y="2247714"/>
            <a:ext cx="944984" cy="32403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hello.py</a:t>
            </a:r>
            <a:endParaRPr kumimoji="1" lang="en-US" altLang="zh-CN" dirty="0"/>
          </a:p>
        </p:txBody>
      </p:sp>
      <p:cxnSp>
        <p:nvCxnSpPr>
          <p:cNvPr id="25" name="直线箭头连接符 24"/>
          <p:cNvCxnSpPr>
            <a:cxnSpLocks/>
            <a:stCxn id="24" idx="2"/>
          </p:cNvCxnSpPr>
          <p:nvPr/>
        </p:nvCxnSpPr>
        <p:spPr>
          <a:xfrm>
            <a:off x="4363258" y="2571750"/>
            <a:ext cx="0" cy="7190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2841715" y="4381475"/>
            <a:ext cx="905646" cy="2539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执行</a:t>
            </a:r>
            <a:r>
              <a:rPr lang="en-US" altLang="zh-CN" sz="1050" dirty="0" err="1">
                <a:solidFill>
                  <a:srgbClr val="262626"/>
                </a:solidFill>
                <a:latin typeface="微软雅黑" charset="-122"/>
                <a:ea typeface="微软雅黑" charset="-122"/>
              </a:rPr>
              <a:t>func_a</a:t>
            </a:r>
            <a:endParaRPr kumimoji="1"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5FAC0B6-5DF8-D342-8E3D-7F16D537E0B9}"/>
              </a:ext>
            </a:extLst>
          </p:cNvPr>
          <p:cNvSpPr txBox="1"/>
          <p:nvPr/>
        </p:nvSpPr>
        <p:spPr>
          <a:xfrm>
            <a:off x="2424698" y="3301339"/>
            <a:ext cx="36420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b="1" dirty="0"/>
              <a:t>主</a:t>
            </a:r>
            <a:endParaRPr kumimoji="1" lang="en-US" altLang="zh-CN" sz="1400" b="1" dirty="0"/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b="1" dirty="0"/>
              <a:t>进</a:t>
            </a:r>
            <a:endParaRPr kumimoji="1" lang="en-US" altLang="zh-CN" sz="1400" b="1" dirty="0"/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b="1" dirty="0"/>
              <a:t>程</a:t>
            </a:r>
          </a:p>
        </p:txBody>
      </p:sp>
      <p:sp>
        <p:nvSpPr>
          <p:cNvPr id="29" name="下箭头 28">
            <a:extLst>
              <a:ext uri="{FF2B5EF4-FFF2-40B4-BE49-F238E27FC236}">
                <a16:creationId xmlns:a16="http://schemas.microsoft.com/office/drawing/2014/main" id="{0B2D2282-51A8-2944-B553-CBD444F9D717}"/>
              </a:ext>
            </a:extLst>
          </p:cNvPr>
          <p:cNvSpPr/>
          <p:nvPr/>
        </p:nvSpPr>
        <p:spPr>
          <a:xfrm flipH="1">
            <a:off x="5401483" y="3670671"/>
            <a:ext cx="45719" cy="552405"/>
          </a:xfrm>
          <a:prstGeom prst="downArrow">
            <a:avLst/>
          </a:prstGeom>
          <a:noFill/>
          <a:ln w="889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CD5E07B-7BD5-EE43-AC96-C1CE45939A00}"/>
              </a:ext>
            </a:extLst>
          </p:cNvPr>
          <p:cNvSpPr txBox="1"/>
          <p:nvPr/>
        </p:nvSpPr>
        <p:spPr>
          <a:xfrm>
            <a:off x="5004048" y="4391402"/>
            <a:ext cx="905646" cy="2539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执行</a:t>
            </a:r>
            <a:r>
              <a:rPr lang="en-US" altLang="zh-CN" sz="1050" dirty="0" err="1">
                <a:solidFill>
                  <a:srgbClr val="262626"/>
                </a:solidFill>
                <a:latin typeface="微软雅黑" charset="-122"/>
                <a:ea typeface="微软雅黑" charset="-122"/>
              </a:rPr>
              <a:t>func_b</a:t>
            </a:r>
            <a:endParaRPr kumimoji="1"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7A059F2-CF96-F443-AF1B-2B702CEB0872}"/>
              </a:ext>
            </a:extLst>
          </p:cNvPr>
          <p:cNvSpPr txBox="1"/>
          <p:nvPr/>
        </p:nvSpPr>
        <p:spPr>
          <a:xfrm>
            <a:off x="2847970" y="3396786"/>
            <a:ext cx="11037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主线程执行</a:t>
            </a:r>
            <a:endParaRPr lang="en-US" altLang="zh-CN" sz="1050" b="1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94BA4D8-C10D-8E46-8686-902DB808E305}"/>
              </a:ext>
            </a:extLst>
          </p:cNvPr>
          <p:cNvSpPr txBox="1"/>
          <p:nvPr/>
        </p:nvSpPr>
        <p:spPr>
          <a:xfrm>
            <a:off x="5004048" y="3396786"/>
            <a:ext cx="11037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子线程执行</a:t>
            </a:r>
            <a:endParaRPr lang="en-US" altLang="zh-CN" sz="1050" b="1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001621" y="3809587"/>
            <a:ext cx="72327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050" b="1" dirty="0">
                <a:solidFill>
                  <a:srgbClr val="FF0000"/>
                </a:solidFill>
                <a:latin typeface="+mn-lt"/>
                <a:ea typeface="+mn-ea"/>
              </a:rPr>
              <a:t>全局变量</a:t>
            </a:r>
          </a:p>
        </p:txBody>
      </p:sp>
      <p:cxnSp>
        <p:nvCxnSpPr>
          <p:cNvPr id="8" name="直线箭头连接符 7"/>
          <p:cNvCxnSpPr/>
          <p:nvPr/>
        </p:nvCxnSpPr>
        <p:spPr>
          <a:xfrm flipV="1">
            <a:off x="3779912" y="4063503"/>
            <a:ext cx="472492" cy="444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/>
          <p:cNvCxnSpPr/>
          <p:nvPr/>
        </p:nvCxnSpPr>
        <p:spPr>
          <a:xfrm flipH="1" flipV="1">
            <a:off x="4463988" y="4063504"/>
            <a:ext cx="472639" cy="444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6">
            <a:extLst>
              <a:ext uri="{FF2B5EF4-FFF2-40B4-BE49-F238E27FC236}">
                <a16:creationId xmlns:a16="http://schemas.microsoft.com/office/drawing/2014/main" id="{EEC9E16E-23F5-B849-A1CD-B8C287A66A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375" y="1131888"/>
            <a:ext cx="3514725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6.1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线程之间共享全局变量</a:t>
            </a:r>
          </a:p>
        </p:txBody>
      </p:sp>
    </p:spTree>
    <p:extLst>
      <p:ext uri="{BB962C8B-B14F-4D97-AF65-F5344CB8AC3E}">
        <p14:creationId xmlns:p14="http://schemas.microsoft.com/office/powerpoint/2010/main" val="881697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1" grpId="0" animBg="1"/>
      <p:bldP spid="22" grpId="0" animBg="1"/>
      <p:bldP spid="22" grpId="1" animBg="1"/>
      <p:bldP spid="24" grpId="0" animBg="1"/>
      <p:bldP spid="26" grpId="0" animBg="1"/>
      <p:bldP spid="26" grpId="1" animBg="1"/>
      <p:bldP spid="28" grpId="0"/>
      <p:bldP spid="29" grpId="0" animBg="1"/>
      <p:bldP spid="29" grpId="1" animBg="1"/>
      <p:bldP spid="31" grpId="0" animBg="1"/>
      <p:bldP spid="31" grpId="1" animBg="1"/>
      <p:bldP spid="32" grpId="0"/>
      <p:bldP spid="33" grpId="0"/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841375" y="1131888"/>
            <a:ext cx="3514725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6.2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线程之间共享全局变量</a:t>
            </a:r>
          </a:p>
        </p:txBody>
      </p:sp>
      <p:sp>
        <p:nvSpPr>
          <p:cNvPr id="8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6.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线程间共享全局变量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862F2BF-8E71-0C4D-BAE7-EC12043AD7EB}"/>
              </a:ext>
            </a:extLst>
          </p:cNvPr>
          <p:cNvGrpSpPr/>
          <p:nvPr/>
        </p:nvGrpSpPr>
        <p:grpSpPr>
          <a:xfrm>
            <a:off x="941884" y="1923678"/>
            <a:ext cx="6610945" cy="2952328"/>
            <a:chOff x="941884" y="1911668"/>
            <a:chExt cx="6610945" cy="2952328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9097B1C-A153-0E42-B38D-EA02CEA11EDF}"/>
                </a:ext>
              </a:extLst>
            </p:cNvPr>
            <p:cNvSpPr/>
            <p:nvPr/>
          </p:nvSpPr>
          <p:spPr>
            <a:xfrm>
              <a:off x="941884" y="1911668"/>
              <a:ext cx="6610945" cy="2952328"/>
            </a:xfrm>
            <a:prstGeom prst="rect">
              <a:avLst/>
            </a:prstGeom>
            <a:solidFill>
              <a:srgbClr val="E6F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1" name="TextBox 15">
              <a:extLst>
                <a:ext uri="{FF2B5EF4-FFF2-40B4-BE49-F238E27FC236}">
                  <a16:creationId xmlns:a16="http://schemas.microsoft.com/office/drawing/2014/main" id="{96AEB502-4B32-9449-99FE-4163676C1B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7624" y="1973543"/>
              <a:ext cx="5472608" cy="2737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268288" indent="-268288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mr-IN" altLang="zh-CN" sz="1050" i="1" dirty="0">
                  <a:solidFill>
                    <a:srgbClr val="808080"/>
                  </a:solidFill>
                  <a:latin typeface="Courier" pitchFamily="2" charset="0"/>
                </a:rPr>
                <a:t># </a:t>
              </a:r>
              <a:r>
                <a:rPr lang="zh-CN" altLang="mr-IN" sz="1050" i="1" dirty="0">
                  <a:solidFill>
                    <a:srgbClr val="808080"/>
                  </a:solidFill>
                  <a:latin typeface="Courier" pitchFamily="2" charset="0"/>
                </a:rPr>
                <a:t>定义全局变量</a:t>
              </a:r>
              <a:endParaRPr lang="en-US" altLang="zh-CN" sz="1050" i="1" dirty="0">
                <a:solidFill>
                  <a:srgbClr val="808080"/>
                </a:solidFill>
                <a:latin typeface="Courier" pitchFamily="2" charset="0"/>
              </a:endParaRPr>
            </a:p>
            <a:p>
              <a:pPr>
                <a:lnSpc>
                  <a:spcPct val="150000"/>
                </a:lnSpc>
              </a:pPr>
              <a:r>
                <a:rPr lang="mr-IN" altLang="zh-CN" sz="1050" dirty="0" err="1">
                  <a:latin typeface="Courier" pitchFamily="2" charset="0"/>
                </a:rPr>
                <a:t>my_list</a:t>
              </a:r>
              <a:r>
                <a:rPr lang="mr-IN" altLang="zh-CN" sz="1050" dirty="0">
                  <a:latin typeface="Courier" pitchFamily="2" charset="0"/>
                </a:rPr>
                <a:t> = </a:t>
              </a:r>
              <a:r>
                <a:rPr lang="mr-IN" altLang="zh-CN" sz="1050" dirty="0" err="1">
                  <a:solidFill>
                    <a:srgbClr val="000080"/>
                  </a:solidFill>
                  <a:latin typeface="Courier" pitchFamily="2" charset="0"/>
                </a:rPr>
                <a:t>list</a:t>
              </a:r>
              <a:r>
                <a:rPr lang="en-US" altLang="zh-CN" sz="1050" dirty="0">
                  <a:latin typeface="Courier" pitchFamily="2" charset="0"/>
                </a:rPr>
                <a:t>()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50" b="1" dirty="0">
                  <a:solidFill>
                    <a:srgbClr val="000080"/>
                  </a:solidFill>
                  <a:latin typeface="Courier" pitchFamily="2" charset="0"/>
                </a:rPr>
                <a:t>if </a:t>
              </a:r>
              <a:r>
                <a:rPr lang="en-US" altLang="zh-CN" sz="1050" dirty="0">
                  <a:latin typeface="Courier" pitchFamily="2" charset="0"/>
                </a:rPr>
                <a:t>__name__ == </a:t>
              </a:r>
              <a:r>
                <a:rPr lang="en-US" altLang="zh-CN" sz="1050" b="1" dirty="0">
                  <a:solidFill>
                    <a:srgbClr val="008080"/>
                  </a:solidFill>
                  <a:latin typeface="Courier" pitchFamily="2" charset="0"/>
                </a:rPr>
                <a:t>'__main__'</a:t>
              </a:r>
              <a:r>
                <a:rPr lang="en-US" altLang="zh-CN" sz="1050" dirty="0">
                  <a:latin typeface="Courier" pitchFamily="2" charset="0"/>
                </a:rPr>
                <a:t>:</a:t>
              </a:r>
              <a:br>
                <a:rPr lang="en-US" altLang="zh-CN" sz="1050" dirty="0">
                  <a:latin typeface="Courier" pitchFamily="2" charset="0"/>
                </a:rPr>
              </a:br>
              <a:r>
                <a:rPr lang="en-US" altLang="zh-CN" sz="1050" i="1" dirty="0">
                  <a:solidFill>
                    <a:srgbClr val="808080"/>
                  </a:solidFill>
                  <a:latin typeface="Courier" pitchFamily="2" charset="0"/>
                </a:rPr>
                <a:t># </a:t>
              </a:r>
              <a: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  <a:t>创建写入数据的线程</a:t>
              </a:r>
              <a:b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</a:br>
              <a:r>
                <a:rPr lang="en-US" altLang="zh-CN" sz="1050" dirty="0" err="1">
                  <a:latin typeface="Courier" pitchFamily="2" charset="0"/>
                </a:rPr>
                <a:t>write_thread</a:t>
              </a:r>
              <a:r>
                <a:rPr lang="en-US" altLang="zh-CN" sz="1050" dirty="0">
                  <a:latin typeface="Courier" pitchFamily="2" charset="0"/>
                </a:rPr>
                <a:t> = </a:t>
              </a:r>
              <a:r>
                <a:rPr lang="en-US" altLang="zh-CN" sz="1050" dirty="0" err="1">
                  <a:latin typeface="Courier" pitchFamily="2" charset="0"/>
                </a:rPr>
                <a:t>threading.Thread</a:t>
              </a:r>
              <a:r>
                <a:rPr lang="en-US" altLang="zh-CN" sz="1050" dirty="0">
                  <a:latin typeface="Courier" pitchFamily="2" charset="0"/>
                </a:rPr>
                <a:t>(</a:t>
              </a:r>
              <a:r>
                <a:rPr lang="en-US" altLang="zh-CN" sz="1050" dirty="0">
                  <a:solidFill>
                    <a:srgbClr val="660099"/>
                  </a:solidFill>
                  <a:latin typeface="Courier" pitchFamily="2" charset="0"/>
                </a:rPr>
                <a:t>target</a:t>
              </a:r>
              <a:r>
                <a:rPr lang="en-US" altLang="zh-CN" sz="1050" dirty="0">
                  <a:latin typeface="Courier" pitchFamily="2" charset="0"/>
                </a:rPr>
                <a:t>=</a:t>
              </a:r>
              <a:r>
                <a:rPr lang="en-US" altLang="zh-CN" sz="1050" dirty="0" err="1">
                  <a:latin typeface="Courier" pitchFamily="2" charset="0"/>
                </a:rPr>
                <a:t>write_data</a:t>
              </a:r>
              <a:r>
                <a:rPr lang="en-US" altLang="zh-CN" sz="1050" dirty="0">
                  <a:latin typeface="Courier" pitchFamily="2" charset="0"/>
                </a:rPr>
                <a:t>)</a:t>
              </a:r>
              <a:br>
                <a:rPr lang="en-US" altLang="zh-CN" sz="1050" dirty="0">
                  <a:latin typeface="Courier" pitchFamily="2" charset="0"/>
                </a:rPr>
              </a:br>
              <a:r>
                <a:rPr lang="en-US" altLang="zh-CN" sz="1050" i="1" dirty="0">
                  <a:solidFill>
                    <a:srgbClr val="808080"/>
                  </a:solidFill>
                  <a:latin typeface="Courier" pitchFamily="2" charset="0"/>
                </a:rPr>
                <a:t># </a:t>
              </a:r>
              <a: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  <a:t>创建读取数据的线程</a:t>
              </a:r>
              <a:b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</a:br>
              <a:r>
                <a:rPr lang="en-US" altLang="zh-CN" sz="1050" dirty="0" err="1">
                  <a:latin typeface="Courier" pitchFamily="2" charset="0"/>
                </a:rPr>
                <a:t>read_thread</a:t>
              </a:r>
              <a:r>
                <a:rPr lang="en-US" altLang="zh-CN" sz="1050" dirty="0">
                  <a:latin typeface="Courier" pitchFamily="2" charset="0"/>
                </a:rPr>
                <a:t> = </a:t>
              </a:r>
              <a:r>
                <a:rPr lang="en-US" altLang="zh-CN" sz="1050" dirty="0" err="1">
                  <a:latin typeface="Courier" pitchFamily="2" charset="0"/>
                </a:rPr>
                <a:t>threading.Thread</a:t>
              </a:r>
              <a:r>
                <a:rPr lang="en-US" altLang="zh-CN" sz="1050" dirty="0">
                  <a:latin typeface="Courier" pitchFamily="2" charset="0"/>
                </a:rPr>
                <a:t>(</a:t>
              </a:r>
              <a:r>
                <a:rPr lang="en-US" altLang="zh-CN" sz="1050" dirty="0">
                  <a:solidFill>
                    <a:srgbClr val="660099"/>
                  </a:solidFill>
                  <a:latin typeface="Courier" pitchFamily="2" charset="0"/>
                </a:rPr>
                <a:t>target</a:t>
              </a:r>
              <a:r>
                <a:rPr lang="en-US" altLang="zh-CN" sz="1050" dirty="0">
                  <a:latin typeface="Courier" pitchFamily="2" charset="0"/>
                </a:rPr>
                <a:t>=</a:t>
              </a:r>
              <a:r>
                <a:rPr lang="en-US" altLang="zh-CN" sz="1050" dirty="0" err="1">
                  <a:latin typeface="Courier" pitchFamily="2" charset="0"/>
                </a:rPr>
                <a:t>read_data</a:t>
              </a:r>
              <a:r>
                <a:rPr lang="en-US" altLang="zh-CN" sz="1050" dirty="0">
                  <a:latin typeface="Courier" pitchFamily="2" charset="0"/>
                </a:rPr>
                <a:t>)</a:t>
              </a:r>
              <a:br>
                <a:rPr lang="en-US" altLang="zh-CN" sz="1050" dirty="0">
                  <a:latin typeface="Courier" pitchFamily="2" charset="0"/>
                </a:rPr>
              </a:br>
              <a:r>
                <a:rPr lang="en-US" altLang="zh-CN" sz="1050" dirty="0" err="1">
                  <a:latin typeface="Courier" pitchFamily="2" charset="0"/>
                </a:rPr>
                <a:t>write_thread.start</a:t>
              </a:r>
              <a:r>
                <a:rPr lang="en-US" altLang="zh-CN" sz="1050" dirty="0">
                  <a:latin typeface="Courier" pitchFamily="2" charset="0"/>
                </a:rPr>
                <a:t>()</a:t>
              </a:r>
              <a:br>
                <a:rPr lang="en-US" altLang="zh-CN" sz="1050" i="1" dirty="0">
                  <a:solidFill>
                    <a:srgbClr val="808080"/>
                  </a:solidFill>
                  <a:latin typeface="Courier" pitchFamily="2" charset="0"/>
                </a:rPr>
              </a:br>
              <a:r>
                <a:rPr lang="en-US" altLang="zh-CN" sz="1050" i="1" dirty="0">
                  <a:solidFill>
                    <a:srgbClr val="808080"/>
                  </a:solidFill>
                  <a:latin typeface="Courier" pitchFamily="2" charset="0"/>
                </a:rPr>
                <a:t># </a:t>
              </a:r>
              <a: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  <a:t>主线程等待写入线程执行完成以后代码在继续往下执行</a:t>
              </a:r>
              <a:b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</a:br>
              <a:r>
                <a:rPr lang="en-US" altLang="zh-CN" sz="1050" dirty="0" err="1">
                  <a:latin typeface="Courier" pitchFamily="2" charset="0"/>
                </a:rPr>
                <a:t>time.sleep</a:t>
              </a:r>
              <a:r>
                <a:rPr lang="en-US" altLang="zh-CN" sz="1050" dirty="0">
                  <a:latin typeface="Courier" pitchFamily="2" charset="0"/>
                </a:rPr>
                <a:t>(1)</a:t>
              </a:r>
              <a:br>
                <a:rPr lang="en-US" altLang="zh-CN" sz="1050" dirty="0">
                  <a:latin typeface="Courier" pitchFamily="2" charset="0"/>
                </a:rPr>
              </a:br>
              <a:r>
                <a:rPr lang="en-US" altLang="zh-CN" sz="1050" dirty="0" err="1">
                  <a:latin typeface="Courier" pitchFamily="2" charset="0"/>
                </a:rPr>
                <a:t>read_thread.start</a:t>
              </a:r>
              <a:r>
                <a:rPr lang="en-US" altLang="zh-CN" sz="1050" dirty="0">
                  <a:latin typeface="Courier" pitchFamily="2" charset="0"/>
                </a:rPr>
                <a:t>()</a:t>
              </a:r>
              <a:endParaRPr lang="zh-CN" altLang="en-US" sz="1050" dirty="0">
                <a:latin typeface="Courier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0596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MH_Others_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58975" y="1917700"/>
            <a:ext cx="644525" cy="264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68580" tIns="34290" rIns="68580" bIns="34290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en-US" altLang="zh-CN" sz="360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Contents</a:t>
            </a:r>
          </a:p>
        </p:txBody>
      </p:sp>
      <p:sp>
        <p:nvSpPr>
          <p:cNvPr id="7" name="MH_Others_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98625" y="915988"/>
            <a:ext cx="936625" cy="93503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0">
            <a:solidFill>
              <a:srgbClr val="FFFFFF">
                <a:alpha val="49000"/>
              </a:srgbClr>
            </a:solidFill>
          </a:ln>
        </p:spPr>
        <p:txBody>
          <a:bodyPr lIns="68580" tIns="34290" rIns="68580" bIns="13500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7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</a:p>
        </p:txBody>
      </p:sp>
      <p:sp>
        <p:nvSpPr>
          <p:cNvPr id="8" name="MH_Others_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331640" y="1759696"/>
            <a:ext cx="734366" cy="734366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ln w="3175">
                  <a:solidFill>
                    <a:srgbClr val="FFFFFF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</a:p>
        </p:txBody>
      </p:sp>
      <p:sp>
        <p:nvSpPr>
          <p:cNvPr id="8196" name="TextBox 9"/>
          <p:cNvSpPr txBox="1">
            <a:spLocks noChangeArrowheads="1"/>
          </p:cNvSpPr>
          <p:nvPr/>
        </p:nvSpPr>
        <p:spPr bwMode="auto">
          <a:xfrm>
            <a:off x="3223042" y="834543"/>
            <a:ext cx="4319588" cy="347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1450" indent="-1714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latin typeface="微软雅黑" charset="-122"/>
                <a:ea typeface="微软雅黑" charset="-122"/>
              </a:rPr>
              <a:t> 线程的介绍</a:t>
            </a:r>
            <a:endParaRPr lang="en-US" altLang="zh-CN" sz="1400" dirty="0"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latin typeface="微软雅黑" charset="-122"/>
                <a:ea typeface="微软雅黑" charset="-122"/>
              </a:rPr>
              <a:t> 多线程完成多任务</a:t>
            </a:r>
            <a:endParaRPr lang="en-US" altLang="zh-CN" sz="1400" dirty="0"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latin typeface="微软雅黑" charset="-122"/>
                <a:ea typeface="微软雅黑" charset="-122"/>
              </a:rPr>
              <a:t> 线程执行带有参数的任务</a:t>
            </a:r>
            <a:endParaRPr lang="en-US" altLang="zh-CN" sz="1400" dirty="0"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</a:t>
            </a:r>
            <a:r>
              <a:rPr lang="zh-CN" altLang="en-US" sz="1400" dirty="0">
                <a:latin typeface="微软雅黑" charset="-122"/>
                <a:ea typeface="微软雅黑" charset="-122"/>
              </a:rPr>
              <a:t>主线程和子线程的结束顺序</a:t>
            </a:r>
            <a:endParaRPr lang="en-US" altLang="zh-TW" sz="1400" dirty="0"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 </a:t>
            </a:r>
            <a:r>
              <a:rPr lang="zh-CN" altLang="en-US" sz="1400" dirty="0">
                <a:latin typeface="微软雅黑" charset="-122"/>
                <a:ea typeface="微软雅黑" charset="-122"/>
              </a:rPr>
              <a:t>线程间的执行顺序</a:t>
            </a:r>
            <a:endParaRPr lang="en-US" altLang="zh-CN" sz="1400" dirty="0"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</a:t>
            </a:r>
            <a:r>
              <a:rPr lang="zh-CN" altLang="en-US" sz="1400" dirty="0">
                <a:latin typeface="微软雅黑" charset="-122"/>
                <a:ea typeface="微软雅黑" charset="-122"/>
              </a:rPr>
              <a:t>线程间共享全局变量 </a:t>
            </a:r>
            <a:endParaRPr lang="en-US" altLang="zh-CN" sz="1400" dirty="0"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进程和线程对比</a:t>
            </a:r>
            <a:endParaRPr lang="en-US" altLang="zh-CN" sz="1400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FF0000"/>
              </a:buClr>
              <a:buFont typeface="Wingdings" charset="2"/>
              <a:buChar char="u"/>
            </a:pPr>
            <a:endParaRPr lang="en-US" altLang="zh-CN" sz="1400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00827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9.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 进程和线程对比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0" name="TextBox 7"/>
          <p:cNvSpPr txBox="1">
            <a:spLocks noChangeArrowheads="1"/>
          </p:cNvSpPr>
          <p:nvPr/>
        </p:nvSpPr>
        <p:spPr bwMode="auto">
          <a:xfrm>
            <a:off x="971600" y="1707654"/>
            <a:ext cx="55435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r>
              <a:rPr lang="en-US" altLang="zh-CN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1.</a:t>
            </a: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关系对比</a:t>
            </a:r>
            <a:endParaRPr lang="en-US" altLang="zh-CN" sz="140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4" name="TextBox 7"/>
          <p:cNvSpPr txBox="1">
            <a:spLocks noChangeArrowheads="1"/>
          </p:cNvSpPr>
          <p:nvPr/>
        </p:nvSpPr>
        <p:spPr bwMode="auto">
          <a:xfrm>
            <a:off x="971600" y="2139702"/>
            <a:ext cx="55435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r>
              <a:rPr lang="en-US" altLang="zh-CN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2.</a:t>
            </a: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区别对比</a:t>
            </a:r>
            <a:endParaRPr lang="en-US" altLang="zh-CN" sz="140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5" name="TextBox 7"/>
          <p:cNvSpPr txBox="1">
            <a:spLocks noChangeArrowheads="1"/>
          </p:cNvSpPr>
          <p:nvPr/>
        </p:nvSpPr>
        <p:spPr bwMode="auto">
          <a:xfrm>
            <a:off x="971600" y="2571750"/>
            <a:ext cx="55435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r>
              <a:rPr lang="en-US" altLang="zh-CN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3.</a:t>
            </a: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优缺点对比</a:t>
            </a:r>
            <a:endParaRPr lang="en-US" altLang="zh-CN" sz="140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26385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9.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 进程和线程对比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841375" y="1779662"/>
            <a:ext cx="6480175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rgbClr val="262626"/>
                </a:solidFill>
                <a:latin typeface="微软雅黑" charset="0"/>
                <a:ea typeface="微软雅黑" charset="0"/>
                <a:cs typeface="微软雅黑" charset="0"/>
              </a:rPr>
              <a:t>1.</a:t>
            </a:r>
            <a:r>
              <a:rPr lang="zh-CN" altLang="en-US" sz="1050" dirty="0">
                <a:solidFill>
                  <a:srgbClr val="262626"/>
                </a:solidFill>
                <a:latin typeface="微软雅黑" charset="0"/>
                <a:ea typeface="微软雅黑" charset="0"/>
                <a:cs typeface="微软雅黑" charset="0"/>
              </a:rPr>
              <a:t> 线程是依附在进程里面的，没有进程就没有线程。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41375" y="2139702"/>
            <a:ext cx="6480175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rgbClr val="262626"/>
                </a:solidFill>
                <a:latin typeface="微软雅黑" charset="0"/>
                <a:ea typeface="微软雅黑" charset="0"/>
                <a:cs typeface="微软雅黑" charset="0"/>
              </a:rPr>
              <a:t>2.</a:t>
            </a:r>
            <a:r>
              <a:rPr lang="zh-CN" altLang="en-US" sz="1050" dirty="0">
                <a:solidFill>
                  <a:srgbClr val="262626"/>
                </a:solidFill>
                <a:latin typeface="微软雅黑" charset="0"/>
                <a:ea typeface="微软雅黑" charset="0"/>
                <a:cs typeface="微软雅黑" charset="0"/>
              </a:rPr>
              <a:t> 一个进程默认提供一条线程，进程可以创建多个线程。</a:t>
            </a:r>
          </a:p>
        </p:txBody>
      </p:sp>
      <p:sp>
        <p:nvSpPr>
          <p:cNvPr id="2" name="矩形 1"/>
          <p:cNvSpPr/>
          <p:nvPr/>
        </p:nvSpPr>
        <p:spPr>
          <a:xfrm>
            <a:off x="2627784" y="2787774"/>
            <a:ext cx="2592288" cy="18002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dirty="0"/>
          </a:p>
          <a:p>
            <a:pPr algn="ctr"/>
            <a:endParaRPr kumimoji="1" lang="en-US" altLang="zh-CN" dirty="0"/>
          </a:p>
          <a:p>
            <a:pPr algn="ctr"/>
            <a:endParaRPr kumimoji="1" lang="en-US" altLang="zh-CN" dirty="0"/>
          </a:p>
          <a:p>
            <a:pPr algn="ctr"/>
            <a:endParaRPr kumimoji="1" lang="en-US" altLang="zh-CN" dirty="0"/>
          </a:p>
          <a:p>
            <a:pPr algn="ctr"/>
            <a:endParaRPr kumimoji="1" lang="en-US" altLang="zh-CN" dirty="0"/>
          </a:p>
          <a:p>
            <a:pPr algn="ctr"/>
            <a:r>
              <a:rPr kumimoji="1" lang="zh-CN" altLang="en-US" dirty="0"/>
              <a:t>进程</a:t>
            </a:r>
          </a:p>
        </p:txBody>
      </p:sp>
      <p:sp>
        <p:nvSpPr>
          <p:cNvPr id="9" name="下箭头 8"/>
          <p:cNvSpPr/>
          <p:nvPr/>
        </p:nvSpPr>
        <p:spPr>
          <a:xfrm flipH="1">
            <a:off x="3289243" y="3118416"/>
            <a:ext cx="45719" cy="552405"/>
          </a:xfrm>
          <a:prstGeom prst="downArrow">
            <a:avLst/>
          </a:prstGeom>
          <a:noFill/>
          <a:ln w="889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419198" y="3272889"/>
            <a:ext cx="65616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主线程</a:t>
            </a:r>
            <a:endParaRPr kumimoji="1" lang="zh-CN" altLang="en-US" sz="1050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1" name="下箭头 10"/>
          <p:cNvSpPr/>
          <p:nvPr/>
        </p:nvSpPr>
        <p:spPr>
          <a:xfrm flipH="1">
            <a:off x="4226145" y="3118416"/>
            <a:ext cx="45719" cy="552405"/>
          </a:xfrm>
          <a:prstGeom prst="downArrow">
            <a:avLst/>
          </a:prstGeom>
          <a:noFill/>
          <a:ln w="889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356100" y="3272889"/>
            <a:ext cx="83597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子线程</a:t>
            </a:r>
            <a:r>
              <a:rPr lang="is-IS" altLang="zh-CN" sz="1050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…</a:t>
            </a:r>
            <a:endParaRPr kumimoji="1" lang="zh-CN" altLang="en-US" sz="1050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34054161-498B-8B4E-8A7F-8C18E5AC7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375" y="1131888"/>
            <a:ext cx="351472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9.1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关系对比 </a:t>
            </a:r>
          </a:p>
        </p:txBody>
      </p:sp>
    </p:spTree>
    <p:extLst>
      <p:ext uri="{BB962C8B-B14F-4D97-AF65-F5344CB8AC3E}">
        <p14:creationId xmlns:p14="http://schemas.microsoft.com/office/powerpoint/2010/main" val="3123013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2" grpId="0" animBg="1"/>
      <p:bldP spid="9" grpId="0" animBg="1"/>
      <p:bldP spid="10" grpId="0"/>
      <p:bldP spid="11" grpId="0" animBg="1"/>
      <p:bldP spid="1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827585" y="1851670"/>
            <a:ext cx="6480175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rgbClr val="262626"/>
                </a:solidFill>
                <a:latin typeface="微软雅黑" charset="0"/>
                <a:ea typeface="微软雅黑" charset="0"/>
                <a:cs typeface="微软雅黑" charset="0"/>
              </a:rPr>
              <a:t>1.</a:t>
            </a:r>
            <a:r>
              <a:rPr lang="zh-CN" altLang="en-US" sz="1050" dirty="0">
                <a:solidFill>
                  <a:srgbClr val="262626"/>
                </a:solidFill>
                <a:latin typeface="微软雅黑" charset="0"/>
                <a:ea typeface="微软雅黑" charset="0"/>
                <a:cs typeface="微软雅黑" charset="0"/>
              </a:rPr>
              <a:t> 进程之间不共享全局变量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27585" y="2211710"/>
            <a:ext cx="6480175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rgbClr val="262626"/>
                </a:solidFill>
                <a:latin typeface="微软雅黑" charset="0"/>
                <a:ea typeface="微软雅黑" charset="0"/>
                <a:cs typeface="微软雅黑" charset="0"/>
              </a:rPr>
              <a:t>2.</a:t>
            </a:r>
            <a:r>
              <a:rPr lang="zh-CN" altLang="en-US" sz="1050" dirty="0">
                <a:solidFill>
                  <a:srgbClr val="262626"/>
                </a:solidFill>
                <a:latin typeface="微软雅黑" charset="0"/>
                <a:ea typeface="微软雅黑" charset="0"/>
                <a:cs typeface="微软雅黑" charset="0"/>
              </a:rPr>
              <a:t> 线程之间共享全局变量</a:t>
            </a: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827584" y="2573814"/>
            <a:ext cx="6480175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rgbClr val="262626"/>
                </a:solidFill>
                <a:latin typeface="微软雅黑" charset="0"/>
                <a:ea typeface="微软雅黑" charset="0"/>
                <a:cs typeface="微软雅黑" charset="0"/>
              </a:rPr>
              <a:t>3.</a:t>
            </a:r>
            <a:r>
              <a:rPr lang="zh-CN" altLang="en-US" sz="1050" dirty="0">
                <a:solidFill>
                  <a:srgbClr val="262626"/>
                </a:solidFill>
                <a:latin typeface="微软雅黑" charset="0"/>
                <a:ea typeface="微软雅黑" charset="0"/>
                <a:cs typeface="微软雅黑" charset="0"/>
              </a:rPr>
              <a:t> 创建进程的资源开销要比创建线程的资源开销要大</a:t>
            </a:r>
          </a:p>
        </p:txBody>
      </p:sp>
      <p:sp>
        <p:nvSpPr>
          <p:cNvPr id="11" name="TextBox 7"/>
          <p:cNvSpPr txBox="1">
            <a:spLocks noChangeArrowheads="1"/>
          </p:cNvSpPr>
          <p:nvPr/>
        </p:nvSpPr>
        <p:spPr bwMode="auto">
          <a:xfrm>
            <a:off x="827584" y="2933854"/>
            <a:ext cx="6480175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rgbClr val="262626"/>
                </a:solidFill>
                <a:latin typeface="微软雅黑" charset="0"/>
                <a:ea typeface="微软雅黑" charset="0"/>
                <a:cs typeface="微软雅黑" charset="0"/>
              </a:rPr>
              <a:t>4.</a:t>
            </a:r>
            <a:r>
              <a:rPr lang="zh-CN" altLang="en-US" sz="1050" dirty="0">
                <a:solidFill>
                  <a:srgbClr val="262626"/>
                </a:solidFill>
                <a:latin typeface="微软雅黑" charset="0"/>
                <a:ea typeface="微软雅黑" charset="0"/>
                <a:cs typeface="微软雅黑" charset="0"/>
              </a:rPr>
              <a:t> 进程是操作系统资源分配的基本单位，线程是</a:t>
            </a:r>
            <a:r>
              <a:rPr lang="en-US" altLang="zh-CN" sz="1050" dirty="0">
                <a:solidFill>
                  <a:srgbClr val="262626"/>
                </a:solidFill>
                <a:latin typeface="微软雅黑" charset="0"/>
                <a:ea typeface="微软雅黑" charset="0"/>
                <a:cs typeface="微软雅黑" charset="0"/>
              </a:rPr>
              <a:t>CPU</a:t>
            </a:r>
            <a:r>
              <a:rPr lang="zh-CN" altLang="en-US" sz="1050" dirty="0">
                <a:solidFill>
                  <a:srgbClr val="262626"/>
                </a:solidFill>
                <a:latin typeface="微软雅黑" charset="0"/>
                <a:ea typeface="微软雅黑" charset="0"/>
                <a:cs typeface="微软雅黑" charset="0"/>
              </a:rPr>
              <a:t>调度的基本单位</a:t>
            </a:r>
          </a:p>
        </p:txBody>
      </p:sp>
      <p:sp>
        <p:nvSpPr>
          <p:cNvPr id="12" name="TextBox 7"/>
          <p:cNvSpPr txBox="1">
            <a:spLocks noChangeArrowheads="1"/>
          </p:cNvSpPr>
          <p:nvPr/>
        </p:nvSpPr>
        <p:spPr bwMode="auto">
          <a:xfrm>
            <a:off x="827584" y="3293894"/>
            <a:ext cx="6480175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rgbClr val="262626"/>
                </a:solidFill>
                <a:latin typeface="微软雅黑" charset="0"/>
                <a:ea typeface="微软雅黑" charset="0"/>
                <a:cs typeface="微软雅黑" charset="0"/>
              </a:rPr>
              <a:t>5.</a:t>
            </a:r>
            <a:r>
              <a:rPr lang="zh-CN" altLang="en-US" sz="1050" dirty="0">
                <a:solidFill>
                  <a:srgbClr val="262626"/>
                </a:solidFill>
                <a:latin typeface="微软雅黑" charset="0"/>
                <a:ea typeface="微软雅黑" charset="0"/>
                <a:cs typeface="微软雅黑" charset="0"/>
              </a:rPr>
              <a:t> 线程不能够独立执行，必须依存在进程中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8B9A9AA0-A735-8A44-9113-B55BD1BAC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375" y="1131888"/>
            <a:ext cx="351472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9.2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区别对比 </a:t>
            </a:r>
          </a:p>
        </p:txBody>
      </p:sp>
      <p:sp>
        <p:nvSpPr>
          <p:cNvPr id="14" name="标题占位符 1">
            <a:extLst>
              <a:ext uri="{FF2B5EF4-FFF2-40B4-BE49-F238E27FC236}">
                <a16:creationId xmlns:a16="http://schemas.microsoft.com/office/drawing/2014/main" id="{A7AA32DD-5F63-F141-B441-BCB32F1CB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9.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 进程和线程对比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0341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1" grpId="0"/>
      <p:bldP spid="1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841375" y="1933282"/>
            <a:ext cx="6480175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rgbClr val="262626"/>
                </a:solidFill>
                <a:latin typeface="微软雅黑" charset="0"/>
                <a:ea typeface="微软雅黑" charset="0"/>
                <a:cs typeface="微软雅黑" charset="0"/>
              </a:rPr>
              <a:t>1.</a:t>
            </a:r>
            <a:r>
              <a:rPr lang="zh-CN" altLang="en-US" sz="1050" dirty="0">
                <a:solidFill>
                  <a:srgbClr val="262626"/>
                </a:solidFill>
                <a:latin typeface="微软雅黑" charset="0"/>
                <a:ea typeface="微软雅黑" charset="0"/>
                <a:cs typeface="微软雅黑" charset="0"/>
              </a:rPr>
              <a:t> 进程优缺点</a:t>
            </a:r>
            <a:r>
              <a:rPr lang="en-US" altLang="zh-CN" sz="1050" dirty="0">
                <a:solidFill>
                  <a:srgbClr val="262626"/>
                </a:solidFill>
                <a:latin typeface="微软雅黑" charset="0"/>
                <a:ea typeface="微软雅黑" charset="0"/>
                <a:cs typeface="微软雅黑" charset="0"/>
              </a:rPr>
              <a:t>:</a:t>
            </a:r>
            <a:endParaRPr lang="zh-CN" altLang="en-US" sz="1050" dirty="0">
              <a:solidFill>
                <a:srgbClr val="262626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043608" y="2207064"/>
            <a:ext cx="6480175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en-US" sz="1050" dirty="0">
                <a:solidFill>
                  <a:srgbClr val="262626"/>
                </a:solidFill>
                <a:latin typeface="微软雅黑" charset="0"/>
                <a:ea typeface="微软雅黑" charset="0"/>
                <a:cs typeface="微软雅黑" charset="0"/>
              </a:rPr>
              <a:t>优点：适合</a:t>
            </a:r>
            <a:r>
              <a:rPr lang="en-US" altLang="zh-CN" sz="1050" dirty="0">
                <a:solidFill>
                  <a:srgbClr val="262626"/>
                </a:solidFill>
                <a:latin typeface="微软雅黑" charset="0"/>
                <a:ea typeface="微软雅黑" charset="0"/>
                <a:cs typeface="微软雅黑" charset="0"/>
              </a:rPr>
              <a:t>CPU</a:t>
            </a:r>
            <a:r>
              <a:rPr lang="zh-CN" altLang="en-US" sz="1050" dirty="0">
                <a:solidFill>
                  <a:srgbClr val="262626"/>
                </a:solidFill>
                <a:latin typeface="微软雅黑" charset="0"/>
                <a:ea typeface="微软雅黑" charset="0"/>
                <a:cs typeface="微软雅黑" charset="0"/>
              </a:rPr>
              <a:t>密集型应用，因为其可以用多核</a:t>
            </a: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1043607" y="2570937"/>
            <a:ext cx="6480175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en-US" sz="1050" dirty="0">
                <a:solidFill>
                  <a:srgbClr val="262626"/>
                </a:solidFill>
                <a:latin typeface="微软雅黑" charset="0"/>
                <a:ea typeface="微软雅黑" charset="0"/>
                <a:cs typeface="微软雅黑" charset="0"/>
              </a:rPr>
              <a:t>缺点：资源开销大</a:t>
            </a:r>
          </a:p>
        </p:txBody>
      </p:sp>
      <p:sp>
        <p:nvSpPr>
          <p:cNvPr id="11" name="TextBox 7"/>
          <p:cNvSpPr txBox="1">
            <a:spLocks noChangeArrowheads="1"/>
          </p:cNvSpPr>
          <p:nvPr/>
        </p:nvSpPr>
        <p:spPr bwMode="auto">
          <a:xfrm>
            <a:off x="852339" y="3208592"/>
            <a:ext cx="6480175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defRPr/>
            </a:pPr>
            <a:r>
              <a:rPr lang="en-US" altLang="zh-CN" sz="1050" dirty="0">
                <a:solidFill>
                  <a:srgbClr val="262626"/>
                </a:solidFill>
                <a:latin typeface="微软雅黑" charset="0"/>
                <a:ea typeface="微软雅黑" charset="0"/>
                <a:cs typeface="微软雅黑" charset="0"/>
              </a:rPr>
              <a:t>2.</a:t>
            </a:r>
            <a:r>
              <a:rPr lang="zh-CN" altLang="en-US" sz="1050" dirty="0">
                <a:solidFill>
                  <a:srgbClr val="262626"/>
                </a:solidFill>
                <a:latin typeface="微软雅黑" charset="0"/>
                <a:ea typeface="微软雅黑" charset="0"/>
                <a:cs typeface="微软雅黑" charset="0"/>
              </a:rPr>
              <a:t> 线程优缺点</a:t>
            </a:r>
            <a:r>
              <a:rPr lang="en-US" altLang="zh-CN" sz="1050" dirty="0">
                <a:solidFill>
                  <a:srgbClr val="262626"/>
                </a:solidFill>
                <a:latin typeface="微软雅黑" charset="0"/>
                <a:ea typeface="微软雅黑" charset="0"/>
                <a:cs typeface="微软雅黑" charset="0"/>
              </a:rPr>
              <a:t>:</a:t>
            </a:r>
            <a:endParaRPr lang="zh-CN" altLang="en-US" sz="1050" dirty="0">
              <a:solidFill>
                <a:srgbClr val="262626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2" name="TextBox 7"/>
          <p:cNvSpPr txBox="1">
            <a:spLocks noChangeArrowheads="1"/>
          </p:cNvSpPr>
          <p:nvPr/>
        </p:nvSpPr>
        <p:spPr bwMode="auto">
          <a:xfrm>
            <a:off x="1021407" y="3572465"/>
            <a:ext cx="6480175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en-US" sz="1050" dirty="0">
                <a:solidFill>
                  <a:srgbClr val="262626"/>
                </a:solidFill>
                <a:latin typeface="微软雅黑" charset="0"/>
                <a:ea typeface="微软雅黑" charset="0"/>
                <a:cs typeface="微软雅黑" charset="0"/>
              </a:rPr>
              <a:t>优点：适合</a:t>
            </a:r>
            <a:r>
              <a:rPr lang="en-US" altLang="zh-CN" sz="1050" dirty="0">
                <a:solidFill>
                  <a:srgbClr val="262626"/>
                </a:solidFill>
                <a:latin typeface="微软雅黑" charset="0"/>
                <a:ea typeface="微软雅黑" charset="0"/>
                <a:cs typeface="微软雅黑" charset="0"/>
              </a:rPr>
              <a:t>IO</a:t>
            </a:r>
            <a:r>
              <a:rPr lang="zh-CN" altLang="en-US" sz="1050" dirty="0">
                <a:solidFill>
                  <a:srgbClr val="262626"/>
                </a:solidFill>
                <a:latin typeface="微软雅黑" charset="0"/>
                <a:ea typeface="微软雅黑" charset="0"/>
                <a:cs typeface="微软雅黑" charset="0"/>
              </a:rPr>
              <a:t>密集型应用（文件、网络），资源开销小，因为只需要进程中的一点点资源就可以运行</a:t>
            </a:r>
          </a:p>
        </p:txBody>
      </p:sp>
      <p:sp>
        <p:nvSpPr>
          <p:cNvPr id="13" name="TextBox 7"/>
          <p:cNvSpPr txBox="1">
            <a:spLocks noChangeArrowheads="1"/>
          </p:cNvSpPr>
          <p:nvPr/>
        </p:nvSpPr>
        <p:spPr bwMode="auto">
          <a:xfrm>
            <a:off x="1021406" y="3936338"/>
            <a:ext cx="6480175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en-US" sz="1050" dirty="0">
                <a:solidFill>
                  <a:srgbClr val="262626"/>
                </a:solidFill>
                <a:latin typeface="微软雅黑" charset="0"/>
                <a:ea typeface="微软雅黑" charset="0"/>
                <a:cs typeface="微软雅黑" charset="0"/>
              </a:rPr>
              <a:t>缺点：不能使用多核</a:t>
            </a:r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FCEA40B8-4DDB-FF41-AB59-CF3319C4E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9.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 进程和线程对比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28062B02-4334-1140-AE22-C12B9553B1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375" y="1131888"/>
            <a:ext cx="351472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9.3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优缺点对比 </a:t>
            </a:r>
          </a:p>
        </p:txBody>
      </p:sp>
    </p:spTree>
    <p:extLst>
      <p:ext uri="{BB962C8B-B14F-4D97-AF65-F5344CB8AC3E}">
        <p14:creationId xmlns:p14="http://schemas.microsoft.com/office/powerpoint/2010/main" val="3548374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1" grpId="0"/>
      <p:bldP spid="12" grpId="0"/>
      <p:bldP spid="1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44243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8890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30456</TotalTime>
  <Words>1819</Words>
  <Application>Microsoft Office PowerPoint</Application>
  <PresentationFormat>全屏显示(16:9)</PresentationFormat>
  <Paragraphs>258</Paragraphs>
  <Slides>35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35</vt:i4>
      </vt:variant>
    </vt:vector>
  </HeadingPairs>
  <TitlesOfParts>
    <vt:vector size="48" baseType="lpstr">
      <vt:lpstr>Courier</vt:lpstr>
      <vt:lpstr>黑体</vt:lpstr>
      <vt:lpstr>微软雅黑</vt:lpstr>
      <vt:lpstr>微软雅黑</vt:lpstr>
      <vt:lpstr>Arial</vt:lpstr>
      <vt:lpstr>Calibri</vt:lpstr>
      <vt:lpstr>Segoe UI</vt:lpstr>
      <vt:lpstr>Times New Roman</vt:lpstr>
      <vt:lpstr>Wingdings</vt:lpstr>
      <vt:lpstr>1_自定义设计方案</vt:lpstr>
      <vt:lpstr>自定义设计方案</vt:lpstr>
      <vt:lpstr>3_自定义设计方案</vt:lpstr>
      <vt:lpstr>2_自定义设计方案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</dc:creator>
  <cp:lastModifiedBy>任 逍遥</cp:lastModifiedBy>
  <cp:revision>1103</cp:revision>
  <dcterms:created xsi:type="dcterms:W3CDTF">2015-06-29T07:19:00Z</dcterms:created>
  <dcterms:modified xsi:type="dcterms:W3CDTF">2021-11-26T09:16:48Z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2052-10.1.0.5777</vt:lpwstr>
  </property>
</Properties>
</file>